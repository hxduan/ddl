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Calibri (MS)" panose="020B0604020202020204" charset="0"/>
      <p:regular r:id="rId22"/>
    </p:embeddedFont>
    <p:embeddedFont>
      <p:font typeface="Calibri (MS) Bold" panose="020B0604020202020204" charset="0"/>
      <p:regular r:id="rId23"/>
    </p:embeddedFont>
    <p:embeddedFont>
      <p:font typeface="Calibri (MS) Italics" panose="020B0604020202020204" charset="0"/>
      <p:regular r:id="rId24"/>
    </p:embeddedFont>
    <p:embeddedFont>
      <p:font typeface="Roboto" panose="02000000000000000000" pitchFamily="2" charset="0"/>
      <p:regular r:id="rId25"/>
    </p:embeddedFont>
    <p:embeddedFont>
      <p:font typeface="Roboto Bold"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2" d="100"/>
          <a:sy n="82" d="100"/>
        </p:scale>
        <p:origin x="114" y="24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1.png"/><Relationship Id="rId21" Type="http://schemas.openxmlformats.org/officeDocument/2006/relationships/image" Target="../media/image5.jpe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 Type="http://schemas.openxmlformats.org/officeDocument/2006/relationships/notesSlide" Target="../notesSlides/notesSlide2.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13" Type="http://schemas.openxmlformats.org/officeDocument/2006/relationships/image" Target="../media/image32.png"/><Relationship Id="rId18" Type="http://schemas.openxmlformats.org/officeDocument/2006/relationships/image" Target="../media/image37.png"/><Relationship Id="rId26" Type="http://schemas.openxmlformats.org/officeDocument/2006/relationships/image" Target="../media/image45.png"/><Relationship Id="rId3" Type="http://schemas.openxmlformats.org/officeDocument/2006/relationships/image" Target="../media/image23.png"/><Relationship Id="rId21" Type="http://schemas.openxmlformats.org/officeDocument/2006/relationships/image" Target="../media/image40.png"/><Relationship Id="rId34" Type="http://schemas.openxmlformats.org/officeDocument/2006/relationships/image" Target="../media/image53.png"/><Relationship Id="rId7" Type="http://schemas.openxmlformats.org/officeDocument/2006/relationships/image" Target="../media/image26.png"/><Relationship Id="rId12" Type="http://schemas.openxmlformats.org/officeDocument/2006/relationships/image" Target="../media/image31.png"/><Relationship Id="rId17" Type="http://schemas.openxmlformats.org/officeDocument/2006/relationships/image" Target="../media/image36.png"/><Relationship Id="rId25" Type="http://schemas.openxmlformats.org/officeDocument/2006/relationships/image" Target="../media/image44.png"/><Relationship Id="rId33" Type="http://schemas.openxmlformats.org/officeDocument/2006/relationships/image" Target="../media/image52.png"/><Relationship Id="rId2" Type="http://schemas.openxmlformats.org/officeDocument/2006/relationships/notesSlide" Target="../notesSlides/notesSlide3.xml"/><Relationship Id="rId16" Type="http://schemas.openxmlformats.org/officeDocument/2006/relationships/image" Target="../media/image35.png"/><Relationship Id="rId20" Type="http://schemas.openxmlformats.org/officeDocument/2006/relationships/image" Target="../media/image39.png"/><Relationship Id="rId29" Type="http://schemas.openxmlformats.org/officeDocument/2006/relationships/image" Target="../media/image48.png"/><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30.png"/><Relationship Id="rId24" Type="http://schemas.openxmlformats.org/officeDocument/2006/relationships/image" Target="../media/image43.png"/><Relationship Id="rId32" Type="http://schemas.openxmlformats.org/officeDocument/2006/relationships/image" Target="../media/image51.png"/><Relationship Id="rId5" Type="http://schemas.openxmlformats.org/officeDocument/2006/relationships/image" Target="../media/image24.png"/><Relationship Id="rId15" Type="http://schemas.openxmlformats.org/officeDocument/2006/relationships/image" Target="../media/image34.png"/><Relationship Id="rId23" Type="http://schemas.openxmlformats.org/officeDocument/2006/relationships/image" Target="../media/image42.png"/><Relationship Id="rId28" Type="http://schemas.openxmlformats.org/officeDocument/2006/relationships/image" Target="../media/image47.png"/><Relationship Id="rId36" Type="http://schemas.openxmlformats.org/officeDocument/2006/relationships/image" Target="../media/image5.jpeg"/><Relationship Id="rId10" Type="http://schemas.openxmlformats.org/officeDocument/2006/relationships/image" Target="../media/image29.png"/><Relationship Id="rId19" Type="http://schemas.openxmlformats.org/officeDocument/2006/relationships/image" Target="../media/image38.png"/><Relationship Id="rId31" Type="http://schemas.openxmlformats.org/officeDocument/2006/relationships/image" Target="../media/image50.png"/><Relationship Id="rId4" Type="http://schemas.openxmlformats.org/officeDocument/2006/relationships/image" Target="../media/image1.png"/><Relationship Id="rId9" Type="http://schemas.openxmlformats.org/officeDocument/2006/relationships/image" Target="../media/image28.png"/><Relationship Id="rId14" Type="http://schemas.openxmlformats.org/officeDocument/2006/relationships/image" Target="../media/image33.png"/><Relationship Id="rId22" Type="http://schemas.openxmlformats.org/officeDocument/2006/relationships/image" Target="../media/image41.png"/><Relationship Id="rId27" Type="http://schemas.openxmlformats.org/officeDocument/2006/relationships/image" Target="../media/image46.png"/><Relationship Id="rId30" Type="http://schemas.openxmlformats.org/officeDocument/2006/relationships/image" Target="../media/image49.png"/><Relationship Id="rId35" Type="http://schemas.openxmlformats.org/officeDocument/2006/relationships/image" Target="../media/image54.png"/><Relationship Id="rId8" Type="http://schemas.openxmlformats.org/officeDocument/2006/relationships/image" Target="../media/image27.png"/></Relationships>
</file>

<file path=ppt/slides/_rels/slide4.xml.rels><?xml version="1.0" encoding="UTF-8" standalone="yes"?>
<Relationships xmlns="http://schemas.openxmlformats.org/package/2006/relationships"><Relationship Id="rId13" Type="http://schemas.openxmlformats.org/officeDocument/2006/relationships/image" Target="../media/image65.png"/><Relationship Id="rId18" Type="http://schemas.openxmlformats.org/officeDocument/2006/relationships/image" Target="../media/image70.png"/><Relationship Id="rId26" Type="http://schemas.openxmlformats.org/officeDocument/2006/relationships/image" Target="../media/image78.png"/><Relationship Id="rId21" Type="http://schemas.openxmlformats.org/officeDocument/2006/relationships/image" Target="../media/image73.png"/><Relationship Id="rId34" Type="http://schemas.openxmlformats.org/officeDocument/2006/relationships/image" Target="../media/image86.png"/><Relationship Id="rId7" Type="http://schemas.openxmlformats.org/officeDocument/2006/relationships/image" Target="../media/image59.png"/><Relationship Id="rId12" Type="http://schemas.openxmlformats.org/officeDocument/2006/relationships/image" Target="../media/image64.png"/><Relationship Id="rId17" Type="http://schemas.openxmlformats.org/officeDocument/2006/relationships/image" Target="../media/image69.png"/><Relationship Id="rId25" Type="http://schemas.openxmlformats.org/officeDocument/2006/relationships/image" Target="../media/image77.png"/><Relationship Id="rId33" Type="http://schemas.openxmlformats.org/officeDocument/2006/relationships/image" Target="../media/image85.png"/><Relationship Id="rId2" Type="http://schemas.openxmlformats.org/officeDocument/2006/relationships/notesSlide" Target="../notesSlides/notesSlide4.xml"/><Relationship Id="rId16" Type="http://schemas.openxmlformats.org/officeDocument/2006/relationships/image" Target="../media/image68.png"/><Relationship Id="rId20" Type="http://schemas.openxmlformats.org/officeDocument/2006/relationships/image" Target="../media/image72.png"/><Relationship Id="rId29" Type="http://schemas.openxmlformats.org/officeDocument/2006/relationships/image" Target="../media/image81.png"/><Relationship Id="rId1" Type="http://schemas.openxmlformats.org/officeDocument/2006/relationships/slideLayout" Target="../slideLayouts/slideLayout7.xml"/><Relationship Id="rId6" Type="http://schemas.openxmlformats.org/officeDocument/2006/relationships/image" Target="../media/image58.png"/><Relationship Id="rId11" Type="http://schemas.openxmlformats.org/officeDocument/2006/relationships/image" Target="../media/image63.png"/><Relationship Id="rId24" Type="http://schemas.openxmlformats.org/officeDocument/2006/relationships/image" Target="../media/image76.png"/><Relationship Id="rId32" Type="http://schemas.openxmlformats.org/officeDocument/2006/relationships/image" Target="../media/image84.png"/><Relationship Id="rId37" Type="http://schemas.openxmlformats.org/officeDocument/2006/relationships/image" Target="../media/image5.jpeg"/><Relationship Id="rId5" Type="http://schemas.openxmlformats.org/officeDocument/2006/relationships/image" Target="../media/image57.png"/><Relationship Id="rId15" Type="http://schemas.openxmlformats.org/officeDocument/2006/relationships/image" Target="../media/image67.png"/><Relationship Id="rId23" Type="http://schemas.openxmlformats.org/officeDocument/2006/relationships/image" Target="../media/image75.png"/><Relationship Id="rId28" Type="http://schemas.openxmlformats.org/officeDocument/2006/relationships/image" Target="../media/image80.png"/><Relationship Id="rId36" Type="http://schemas.openxmlformats.org/officeDocument/2006/relationships/image" Target="../media/image88.png"/><Relationship Id="rId10" Type="http://schemas.openxmlformats.org/officeDocument/2006/relationships/image" Target="../media/image62.png"/><Relationship Id="rId19" Type="http://schemas.openxmlformats.org/officeDocument/2006/relationships/image" Target="../media/image71.png"/><Relationship Id="rId31" Type="http://schemas.openxmlformats.org/officeDocument/2006/relationships/image" Target="../media/image83.png"/><Relationship Id="rId4" Type="http://schemas.openxmlformats.org/officeDocument/2006/relationships/image" Target="../media/image56.png"/><Relationship Id="rId9" Type="http://schemas.openxmlformats.org/officeDocument/2006/relationships/image" Target="../media/image61.png"/><Relationship Id="rId14" Type="http://schemas.openxmlformats.org/officeDocument/2006/relationships/image" Target="../media/image66.png"/><Relationship Id="rId22" Type="http://schemas.openxmlformats.org/officeDocument/2006/relationships/image" Target="../media/image74.png"/><Relationship Id="rId27" Type="http://schemas.openxmlformats.org/officeDocument/2006/relationships/image" Target="../media/image79.png"/><Relationship Id="rId30" Type="http://schemas.openxmlformats.org/officeDocument/2006/relationships/image" Target="../media/image82.png"/><Relationship Id="rId35" Type="http://schemas.openxmlformats.org/officeDocument/2006/relationships/image" Target="../media/image87.png"/><Relationship Id="rId8" Type="http://schemas.openxmlformats.org/officeDocument/2006/relationships/image" Target="../media/image60.png"/><Relationship Id="rId3" Type="http://schemas.openxmlformats.org/officeDocument/2006/relationships/image" Target="../media/image55.png"/></Relationships>
</file>

<file path=ppt/slides/_rels/slide5.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5.jpeg"/><Relationship Id="rId3" Type="http://schemas.openxmlformats.org/officeDocument/2006/relationships/image" Target="../media/image1.png"/><Relationship Id="rId7" Type="http://schemas.openxmlformats.org/officeDocument/2006/relationships/image" Target="../media/image91.png"/><Relationship Id="rId12" Type="http://schemas.openxmlformats.org/officeDocument/2006/relationships/image" Target="../media/image9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0.png"/><Relationship Id="rId11" Type="http://schemas.openxmlformats.org/officeDocument/2006/relationships/image" Target="../media/image95.png"/><Relationship Id="rId5" Type="http://schemas.openxmlformats.org/officeDocument/2006/relationships/image" Target="../media/image89.png"/><Relationship Id="rId10" Type="http://schemas.openxmlformats.org/officeDocument/2006/relationships/image" Target="../media/image94.png"/><Relationship Id="rId4" Type="http://schemas.openxmlformats.org/officeDocument/2006/relationships/image" Target="../media/image6.png"/><Relationship Id="rId9" Type="http://schemas.openxmlformats.org/officeDocument/2006/relationships/image" Target="../media/image93.png"/></Relationships>
</file>

<file path=ppt/slides/_rels/slide6.xml.rels><?xml version="1.0" encoding="UTF-8" standalone="yes"?>
<Relationships xmlns="http://schemas.openxmlformats.org/package/2006/relationships"><Relationship Id="rId8" Type="http://schemas.openxmlformats.org/officeDocument/2006/relationships/image" Target="../media/image100.png"/><Relationship Id="rId13" Type="http://schemas.openxmlformats.org/officeDocument/2006/relationships/image" Target="../media/image105.png"/><Relationship Id="rId3" Type="http://schemas.openxmlformats.org/officeDocument/2006/relationships/image" Target="../media/image1.png"/><Relationship Id="rId7" Type="http://schemas.openxmlformats.org/officeDocument/2006/relationships/image" Target="../media/image99.png"/><Relationship Id="rId12" Type="http://schemas.openxmlformats.org/officeDocument/2006/relationships/image" Target="../media/image104.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8.png"/><Relationship Id="rId11" Type="http://schemas.openxmlformats.org/officeDocument/2006/relationships/image" Target="../media/image103.png"/><Relationship Id="rId5" Type="http://schemas.openxmlformats.org/officeDocument/2006/relationships/image" Target="../media/image97.png"/><Relationship Id="rId15" Type="http://schemas.openxmlformats.org/officeDocument/2006/relationships/image" Target="../media/image5.jpeg"/><Relationship Id="rId10" Type="http://schemas.openxmlformats.org/officeDocument/2006/relationships/image" Target="../media/image102.png"/><Relationship Id="rId4" Type="http://schemas.openxmlformats.org/officeDocument/2006/relationships/image" Target="../media/image6.png"/><Relationship Id="rId9" Type="http://schemas.openxmlformats.org/officeDocument/2006/relationships/image" Target="../media/image101.png"/><Relationship Id="rId14" Type="http://schemas.openxmlformats.org/officeDocument/2006/relationships/image" Target="../media/image106.jpeg"/></Relationships>
</file>

<file path=ppt/slides/_rels/slide7.xml.rels><?xml version="1.0" encoding="UTF-8" standalone="yes"?>
<Relationships xmlns="http://schemas.openxmlformats.org/package/2006/relationships"><Relationship Id="rId8" Type="http://schemas.openxmlformats.org/officeDocument/2006/relationships/image" Target="../media/image111.png"/><Relationship Id="rId13" Type="http://schemas.openxmlformats.org/officeDocument/2006/relationships/image" Target="../media/image115.png"/><Relationship Id="rId18" Type="http://schemas.openxmlformats.org/officeDocument/2006/relationships/image" Target="../media/image120.png"/><Relationship Id="rId3" Type="http://schemas.openxmlformats.org/officeDocument/2006/relationships/image" Target="../media/image1.png"/><Relationship Id="rId21" Type="http://schemas.openxmlformats.org/officeDocument/2006/relationships/image" Target="../media/image123.png"/><Relationship Id="rId7" Type="http://schemas.openxmlformats.org/officeDocument/2006/relationships/image" Target="../media/image110.png"/><Relationship Id="rId12" Type="http://schemas.openxmlformats.org/officeDocument/2006/relationships/image" Target="../media/image114.png"/><Relationship Id="rId17" Type="http://schemas.openxmlformats.org/officeDocument/2006/relationships/image" Target="../media/image119.png"/><Relationship Id="rId2" Type="http://schemas.openxmlformats.org/officeDocument/2006/relationships/notesSlide" Target="../notesSlides/notesSlide7.xml"/><Relationship Id="rId16" Type="http://schemas.openxmlformats.org/officeDocument/2006/relationships/image" Target="../media/image118.png"/><Relationship Id="rId20" Type="http://schemas.openxmlformats.org/officeDocument/2006/relationships/image" Target="../media/image122.png"/><Relationship Id="rId1" Type="http://schemas.openxmlformats.org/officeDocument/2006/relationships/slideLayout" Target="../slideLayouts/slideLayout7.xml"/><Relationship Id="rId6" Type="http://schemas.openxmlformats.org/officeDocument/2006/relationships/image" Target="../media/image109.png"/><Relationship Id="rId11" Type="http://schemas.openxmlformats.org/officeDocument/2006/relationships/image" Target="../media/image113.png"/><Relationship Id="rId5" Type="http://schemas.openxmlformats.org/officeDocument/2006/relationships/image" Target="../media/image108.png"/><Relationship Id="rId15" Type="http://schemas.openxmlformats.org/officeDocument/2006/relationships/image" Target="../media/image117.png"/><Relationship Id="rId10" Type="http://schemas.openxmlformats.org/officeDocument/2006/relationships/image" Target="../media/image14.png"/><Relationship Id="rId19" Type="http://schemas.openxmlformats.org/officeDocument/2006/relationships/image" Target="../media/image121.png"/><Relationship Id="rId4" Type="http://schemas.openxmlformats.org/officeDocument/2006/relationships/image" Target="../media/image107.png"/><Relationship Id="rId9" Type="http://schemas.openxmlformats.org/officeDocument/2006/relationships/image" Target="../media/image112.png"/><Relationship Id="rId14" Type="http://schemas.openxmlformats.org/officeDocument/2006/relationships/image" Target="../media/image116.png"/><Relationship Id="rId22" Type="http://schemas.openxmlformats.org/officeDocument/2006/relationships/image" Target="../media/image5.jpeg"/></Relationships>
</file>

<file path=ppt/slides/_rels/slide8.xml.rels><?xml version="1.0" encoding="UTF-8" standalone="yes"?>
<Relationships xmlns="http://schemas.openxmlformats.org/package/2006/relationships"><Relationship Id="rId8" Type="http://schemas.openxmlformats.org/officeDocument/2006/relationships/image" Target="../media/image127.png"/><Relationship Id="rId3" Type="http://schemas.openxmlformats.org/officeDocument/2006/relationships/image" Target="../media/image1.png"/><Relationship Id="rId7" Type="http://schemas.openxmlformats.org/officeDocument/2006/relationships/image" Target="../media/image126.png"/><Relationship Id="rId12"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25.png"/><Relationship Id="rId11" Type="http://schemas.openxmlformats.org/officeDocument/2006/relationships/image" Target="../media/image130.png"/><Relationship Id="rId5" Type="http://schemas.openxmlformats.org/officeDocument/2006/relationships/image" Target="../media/image124.png"/><Relationship Id="rId10" Type="http://schemas.openxmlformats.org/officeDocument/2006/relationships/image" Target="../media/image129.png"/><Relationship Id="rId4" Type="http://schemas.openxmlformats.org/officeDocument/2006/relationships/image" Target="../media/image6.png"/><Relationship Id="rId9" Type="http://schemas.openxmlformats.org/officeDocument/2006/relationships/image" Target="../media/image128.png"/></Relationships>
</file>

<file path=ppt/slides/_rels/slide9.xml.rels><?xml version="1.0" encoding="UTF-8" standalone="yes"?>
<Relationships xmlns="http://schemas.openxmlformats.org/package/2006/relationships"><Relationship Id="rId8" Type="http://schemas.openxmlformats.org/officeDocument/2006/relationships/image" Target="../media/image134.png"/><Relationship Id="rId13" Type="http://schemas.openxmlformats.org/officeDocument/2006/relationships/image" Target="../media/image138.png"/><Relationship Id="rId18" Type="http://schemas.openxmlformats.org/officeDocument/2006/relationships/image" Target="../media/image5.jpeg"/><Relationship Id="rId3" Type="http://schemas.openxmlformats.org/officeDocument/2006/relationships/image" Target="../media/image1.png"/><Relationship Id="rId7" Type="http://schemas.openxmlformats.org/officeDocument/2006/relationships/image" Target="../media/image133.png"/><Relationship Id="rId12" Type="http://schemas.openxmlformats.org/officeDocument/2006/relationships/image" Target="../media/image137.png"/><Relationship Id="rId17" Type="http://schemas.openxmlformats.org/officeDocument/2006/relationships/image" Target="../media/image142.png"/><Relationship Id="rId2" Type="http://schemas.openxmlformats.org/officeDocument/2006/relationships/notesSlide" Target="../notesSlides/notesSlide9.xml"/><Relationship Id="rId16" Type="http://schemas.openxmlformats.org/officeDocument/2006/relationships/image" Target="../media/image141.png"/><Relationship Id="rId1" Type="http://schemas.openxmlformats.org/officeDocument/2006/relationships/slideLayout" Target="../slideLayouts/slideLayout7.xml"/><Relationship Id="rId6" Type="http://schemas.openxmlformats.org/officeDocument/2006/relationships/image" Target="../media/image132.png"/><Relationship Id="rId11" Type="http://schemas.openxmlformats.org/officeDocument/2006/relationships/image" Target="../media/image136.png"/><Relationship Id="rId5" Type="http://schemas.openxmlformats.org/officeDocument/2006/relationships/image" Target="../media/image131.png"/><Relationship Id="rId15" Type="http://schemas.openxmlformats.org/officeDocument/2006/relationships/image" Target="../media/image140.png"/><Relationship Id="rId10" Type="http://schemas.openxmlformats.org/officeDocument/2006/relationships/image" Target="../media/image135.png"/><Relationship Id="rId4" Type="http://schemas.openxmlformats.org/officeDocument/2006/relationships/image" Target="../media/image6.png"/><Relationship Id="rId9" Type="http://schemas.openxmlformats.org/officeDocument/2006/relationships/image" Target="../media/image90.png"/><Relationship Id="rId14" Type="http://schemas.openxmlformats.org/officeDocument/2006/relationships/image" Target="../media/image139.png"/></Relationships>
</file>

<file path=ppt/slides/_rels/slide10.xml.rels><?xml version="1.0" encoding="UTF-8" standalone="yes"?>
<Relationships xmlns="http://schemas.openxmlformats.org/package/2006/relationships"><Relationship Id="rId8" Type="http://schemas.openxmlformats.org/officeDocument/2006/relationships/image" Target="../media/image145.png"/><Relationship Id="rId13" Type="http://schemas.openxmlformats.org/officeDocument/2006/relationships/image" Target="../media/image150.png"/><Relationship Id="rId3" Type="http://schemas.openxmlformats.org/officeDocument/2006/relationships/image" Target="../media/image1.png"/><Relationship Id="rId7" Type="http://schemas.openxmlformats.org/officeDocument/2006/relationships/image" Target="../media/image125.png"/><Relationship Id="rId12" Type="http://schemas.openxmlformats.org/officeDocument/2006/relationships/image" Target="../media/image149.png"/><Relationship Id="rId2" Type="http://schemas.openxmlformats.org/officeDocument/2006/relationships/notesSlide" Target="../notesSlides/notesSlide10.xml"/><Relationship Id="rId16"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44.png"/><Relationship Id="rId11" Type="http://schemas.openxmlformats.org/officeDocument/2006/relationships/image" Target="../media/image148.png"/><Relationship Id="rId5" Type="http://schemas.openxmlformats.org/officeDocument/2006/relationships/image" Target="../media/image143.png"/><Relationship Id="rId15" Type="http://schemas.openxmlformats.org/officeDocument/2006/relationships/image" Target="../media/image152.png"/><Relationship Id="rId10" Type="http://schemas.openxmlformats.org/officeDocument/2006/relationships/image" Target="../media/image147.png"/><Relationship Id="rId4" Type="http://schemas.openxmlformats.org/officeDocument/2006/relationships/image" Target="../media/image6.png"/><Relationship Id="rId9" Type="http://schemas.openxmlformats.org/officeDocument/2006/relationships/image" Target="../media/image146.png"/><Relationship Id="rId14" Type="http://schemas.openxmlformats.org/officeDocument/2006/relationships/image" Target="../media/image151.png"/></Relationships>
</file>

<file path=ppt/slides/_rels/slide11.xml.rels><?xml version="1.0" encoding="UTF-8" standalone="yes"?>
<Relationships xmlns="http://schemas.openxmlformats.org/package/2006/relationships"><Relationship Id="rId8" Type="http://schemas.openxmlformats.org/officeDocument/2006/relationships/image" Target="../media/image157.png"/><Relationship Id="rId13" Type="http://schemas.openxmlformats.org/officeDocument/2006/relationships/image" Target="../media/image162.png"/><Relationship Id="rId18" Type="http://schemas.openxmlformats.org/officeDocument/2006/relationships/image" Target="../media/image167.png"/><Relationship Id="rId3" Type="http://schemas.openxmlformats.org/officeDocument/2006/relationships/image" Target="../media/image153.png"/><Relationship Id="rId7" Type="http://schemas.openxmlformats.org/officeDocument/2006/relationships/image" Target="../media/image156.png"/><Relationship Id="rId12" Type="http://schemas.openxmlformats.org/officeDocument/2006/relationships/image" Target="../media/image161.png"/><Relationship Id="rId17" Type="http://schemas.openxmlformats.org/officeDocument/2006/relationships/image" Target="../media/image166.png"/><Relationship Id="rId2" Type="http://schemas.openxmlformats.org/officeDocument/2006/relationships/notesSlide" Target="../notesSlides/notesSlide11.xml"/><Relationship Id="rId16" Type="http://schemas.openxmlformats.org/officeDocument/2006/relationships/image" Target="../media/image165.png"/><Relationship Id="rId20" Type="http://schemas.openxmlformats.org/officeDocument/2006/relationships/image" Target="../media/image5.jpeg"/><Relationship Id="rId1" Type="http://schemas.openxmlformats.org/officeDocument/2006/relationships/slideLayout" Target="../slideLayouts/slideLayout7.xml"/><Relationship Id="rId6" Type="http://schemas.openxmlformats.org/officeDocument/2006/relationships/image" Target="../media/image155.png"/><Relationship Id="rId11" Type="http://schemas.openxmlformats.org/officeDocument/2006/relationships/image" Target="../media/image160.png"/><Relationship Id="rId5" Type="http://schemas.openxmlformats.org/officeDocument/2006/relationships/image" Target="../media/image154.png"/><Relationship Id="rId15" Type="http://schemas.openxmlformats.org/officeDocument/2006/relationships/image" Target="../media/image164.png"/><Relationship Id="rId10" Type="http://schemas.openxmlformats.org/officeDocument/2006/relationships/image" Target="../media/image159.png"/><Relationship Id="rId19" Type="http://schemas.openxmlformats.org/officeDocument/2006/relationships/image" Target="../media/image14.png"/><Relationship Id="rId4" Type="http://schemas.openxmlformats.org/officeDocument/2006/relationships/image" Target="../media/image1.png"/><Relationship Id="rId9" Type="http://schemas.openxmlformats.org/officeDocument/2006/relationships/image" Target="../media/image158.png"/><Relationship Id="rId14" Type="http://schemas.openxmlformats.org/officeDocument/2006/relationships/image" Target="../media/image163.png"/></Relationships>
</file>

<file path=ppt/slides/_rels/slide12.xml.rels><?xml version="1.0" encoding="UTF-8" standalone="yes"?>
<Relationships xmlns="http://schemas.openxmlformats.org/package/2006/relationships"><Relationship Id="rId8" Type="http://schemas.openxmlformats.org/officeDocument/2006/relationships/image" Target="../media/image170.png"/><Relationship Id="rId13" Type="http://schemas.openxmlformats.org/officeDocument/2006/relationships/image" Target="../media/image175.png"/><Relationship Id="rId18" Type="http://schemas.openxmlformats.org/officeDocument/2006/relationships/image" Target="../media/image5.jpeg"/><Relationship Id="rId3" Type="http://schemas.openxmlformats.org/officeDocument/2006/relationships/image" Target="../media/image23.png"/><Relationship Id="rId7" Type="http://schemas.openxmlformats.org/officeDocument/2006/relationships/image" Target="../media/image169.png"/><Relationship Id="rId12" Type="http://schemas.openxmlformats.org/officeDocument/2006/relationships/image" Target="../media/image174.png"/><Relationship Id="rId17" Type="http://schemas.openxmlformats.org/officeDocument/2006/relationships/image" Target="../media/image179.png"/><Relationship Id="rId2" Type="http://schemas.openxmlformats.org/officeDocument/2006/relationships/notesSlide" Target="../notesSlides/notesSlide12.xml"/><Relationship Id="rId16" Type="http://schemas.openxmlformats.org/officeDocument/2006/relationships/image" Target="../media/image178.png"/><Relationship Id="rId1" Type="http://schemas.openxmlformats.org/officeDocument/2006/relationships/slideLayout" Target="../slideLayouts/slideLayout7.xml"/><Relationship Id="rId6" Type="http://schemas.openxmlformats.org/officeDocument/2006/relationships/image" Target="../media/image168.png"/><Relationship Id="rId11" Type="http://schemas.openxmlformats.org/officeDocument/2006/relationships/image" Target="../media/image173.png"/><Relationship Id="rId5" Type="http://schemas.openxmlformats.org/officeDocument/2006/relationships/image" Target="../media/image6.png"/><Relationship Id="rId15" Type="http://schemas.openxmlformats.org/officeDocument/2006/relationships/image" Target="../media/image177.png"/><Relationship Id="rId10" Type="http://schemas.openxmlformats.org/officeDocument/2006/relationships/image" Target="../media/image172.png"/><Relationship Id="rId4" Type="http://schemas.openxmlformats.org/officeDocument/2006/relationships/image" Target="../media/image1.png"/><Relationship Id="rId9" Type="http://schemas.openxmlformats.org/officeDocument/2006/relationships/image" Target="../media/image171.png"/><Relationship Id="rId14" Type="http://schemas.openxmlformats.org/officeDocument/2006/relationships/image" Target="../media/image176.png"/></Relationships>
</file>

<file path=ppt/slides/_rels/slide13.xml.rels><?xml version="1.0" encoding="UTF-8" standalone="yes"?>
<Relationships xmlns="http://schemas.openxmlformats.org/package/2006/relationships"><Relationship Id="rId8" Type="http://schemas.openxmlformats.org/officeDocument/2006/relationships/image" Target="../media/image182.png"/><Relationship Id="rId13" Type="http://schemas.openxmlformats.org/officeDocument/2006/relationships/image" Target="../media/image186.png"/><Relationship Id="rId18" Type="http://schemas.openxmlformats.org/officeDocument/2006/relationships/image" Target="../media/image191.png"/><Relationship Id="rId3" Type="http://schemas.openxmlformats.org/officeDocument/2006/relationships/image" Target="../media/image1.png"/><Relationship Id="rId7" Type="http://schemas.openxmlformats.org/officeDocument/2006/relationships/image" Target="../media/image181.png"/><Relationship Id="rId12" Type="http://schemas.openxmlformats.org/officeDocument/2006/relationships/image" Target="../media/image185.png"/><Relationship Id="rId17" Type="http://schemas.openxmlformats.org/officeDocument/2006/relationships/image" Target="../media/image190.png"/><Relationship Id="rId2" Type="http://schemas.openxmlformats.org/officeDocument/2006/relationships/notesSlide" Target="../notesSlides/notesSlide13.xml"/><Relationship Id="rId16" Type="http://schemas.openxmlformats.org/officeDocument/2006/relationships/image" Target="../media/image189.png"/><Relationship Id="rId1" Type="http://schemas.openxmlformats.org/officeDocument/2006/relationships/slideLayout" Target="../slideLayouts/slideLayout7.xml"/><Relationship Id="rId6" Type="http://schemas.openxmlformats.org/officeDocument/2006/relationships/image" Target="../media/image90.png"/><Relationship Id="rId11" Type="http://schemas.openxmlformats.org/officeDocument/2006/relationships/image" Target="../media/image184.png"/><Relationship Id="rId5" Type="http://schemas.openxmlformats.org/officeDocument/2006/relationships/image" Target="../media/image180.png"/><Relationship Id="rId15" Type="http://schemas.openxmlformats.org/officeDocument/2006/relationships/image" Target="../media/image188.png"/><Relationship Id="rId10" Type="http://schemas.openxmlformats.org/officeDocument/2006/relationships/image" Target="../media/image183.png"/><Relationship Id="rId19" Type="http://schemas.openxmlformats.org/officeDocument/2006/relationships/image" Target="../media/image5.jpeg"/><Relationship Id="rId4" Type="http://schemas.openxmlformats.org/officeDocument/2006/relationships/image" Target="../media/image6.png"/><Relationship Id="rId9" Type="http://schemas.openxmlformats.org/officeDocument/2006/relationships/image" Target="../media/image98.png"/><Relationship Id="rId14" Type="http://schemas.openxmlformats.org/officeDocument/2006/relationships/image" Target="../media/image187.png"/></Relationships>
</file>

<file path=ppt/slides/_rels/slide14.xml.rels><?xml version="1.0" encoding="UTF-8" standalone="yes"?>
<Relationships xmlns="http://schemas.openxmlformats.org/package/2006/relationships"><Relationship Id="rId8" Type="http://schemas.openxmlformats.org/officeDocument/2006/relationships/image" Target="../media/image194.png"/><Relationship Id="rId13" Type="http://schemas.openxmlformats.org/officeDocument/2006/relationships/image" Target="../media/image199.png"/><Relationship Id="rId18" Type="http://schemas.openxmlformats.org/officeDocument/2006/relationships/image" Target="../media/image204.png"/><Relationship Id="rId3" Type="http://schemas.openxmlformats.org/officeDocument/2006/relationships/image" Target="../media/image153.png"/><Relationship Id="rId21" Type="http://schemas.openxmlformats.org/officeDocument/2006/relationships/image" Target="../media/image5.jpeg"/><Relationship Id="rId7" Type="http://schemas.openxmlformats.org/officeDocument/2006/relationships/image" Target="../media/image193.png"/><Relationship Id="rId12" Type="http://schemas.openxmlformats.org/officeDocument/2006/relationships/image" Target="../media/image198.png"/><Relationship Id="rId17" Type="http://schemas.openxmlformats.org/officeDocument/2006/relationships/image" Target="../media/image203.png"/><Relationship Id="rId2" Type="http://schemas.openxmlformats.org/officeDocument/2006/relationships/notesSlide" Target="../notesSlides/notesSlide14.xml"/><Relationship Id="rId16" Type="http://schemas.openxmlformats.org/officeDocument/2006/relationships/image" Target="../media/image202.png"/><Relationship Id="rId20" Type="http://schemas.openxmlformats.org/officeDocument/2006/relationships/image" Target="../media/image206.png"/><Relationship Id="rId1" Type="http://schemas.openxmlformats.org/officeDocument/2006/relationships/slideLayout" Target="../slideLayouts/slideLayout7.xml"/><Relationship Id="rId6" Type="http://schemas.openxmlformats.org/officeDocument/2006/relationships/image" Target="../media/image192.png"/><Relationship Id="rId11" Type="http://schemas.openxmlformats.org/officeDocument/2006/relationships/image" Target="../media/image197.png"/><Relationship Id="rId5" Type="http://schemas.openxmlformats.org/officeDocument/2006/relationships/image" Target="../media/image6.png"/><Relationship Id="rId15" Type="http://schemas.openxmlformats.org/officeDocument/2006/relationships/image" Target="../media/image201.png"/><Relationship Id="rId10" Type="http://schemas.openxmlformats.org/officeDocument/2006/relationships/image" Target="../media/image196.png"/><Relationship Id="rId19" Type="http://schemas.openxmlformats.org/officeDocument/2006/relationships/image" Target="../media/image205.png"/><Relationship Id="rId4" Type="http://schemas.openxmlformats.org/officeDocument/2006/relationships/image" Target="../media/image1.png"/><Relationship Id="rId9" Type="http://schemas.openxmlformats.org/officeDocument/2006/relationships/image" Target="../media/image195.png"/><Relationship Id="rId14" Type="http://schemas.openxmlformats.org/officeDocument/2006/relationships/image" Target="../media/image200.png"/></Relationships>
</file>

<file path=ppt/slides/_rels/slide15.xml.rels><?xml version="1.0" encoding="UTF-8" standalone="yes"?>
<Relationships xmlns="http://schemas.openxmlformats.org/package/2006/relationships"><Relationship Id="rId8" Type="http://schemas.openxmlformats.org/officeDocument/2006/relationships/image" Target="../media/image210.png"/><Relationship Id="rId13" Type="http://schemas.openxmlformats.org/officeDocument/2006/relationships/image" Target="../media/image215.png"/><Relationship Id="rId18" Type="http://schemas.openxmlformats.org/officeDocument/2006/relationships/image" Target="../media/image220.png"/><Relationship Id="rId3" Type="http://schemas.openxmlformats.org/officeDocument/2006/relationships/image" Target="../media/image1.png"/><Relationship Id="rId7" Type="http://schemas.openxmlformats.org/officeDocument/2006/relationships/image" Target="../media/image209.png"/><Relationship Id="rId12" Type="http://schemas.openxmlformats.org/officeDocument/2006/relationships/image" Target="../media/image214.png"/><Relationship Id="rId17" Type="http://schemas.openxmlformats.org/officeDocument/2006/relationships/image" Target="../media/image219.png"/><Relationship Id="rId2" Type="http://schemas.openxmlformats.org/officeDocument/2006/relationships/notesSlide" Target="../notesSlides/notesSlide15.xml"/><Relationship Id="rId16" Type="http://schemas.openxmlformats.org/officeDocument/2006/relationships/image" Target="../media/image218.png"/><Relationship Id="rId1" Type="http://schemas.openxmlformats.org/officeDocument/2006/relationships/slideLayout" Target="../slideLayouts/slideLayout7.xml"/><Relationship Id="rId6" Type="http://schemas.openxmlformats.org/officeDocument/2006/relationships/image" Target="../media/image208.png"/><Relationship Id="rId11" Type="http://schemas.openxmlformats.org/officeDocument/2006/relationships/image" Target="../media/image213.png"/><Relationship Id="rId5" Type="http://schemas.openxmlformats.org/officeDocument/2006/relationships/image" Target="../media/image207.png"/><Relationship Id="rId15" Type="http://schemas.openxmlformats.org/officeDocument/2006/relationships/image" Target="../media/image217.png"/><Relationship Id="rId10" Type="http://schemas.openxmlformats.org/officeDocument/2006/relationships/image" Target="../media/image212.png"/><Relationship Id="rId19" Type="http://schemas.openxmlformats.org/officeDocument/2006/relationships/image" Target="../media/image5.jpeg"/><Relationship Id="rId4" Type="http://schemas.openxmlformats.org/officeDocument/2006/relationships/image" Target="../media/image6.png"/><Relationship Id="rId9" Type="http://schemas.openxmlformats.org/officeDocument/2006/relationships/image" Target="../media/image211.png"/><Relationship Id="rId14" Type="http://schemas.openxmlformats.org/officeDocument/2006/relationships/image" Target="../media/image2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47625"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stretch>
                <a:fillRect/>
              </a:stretch>
            </a:blipFill>
          </p:spPr>
        </p:sp>
      </p:grpSp>
      <p:grpSp>
        <p:nvGrpSpPr>
          <p:cNvPr id="7" name="Group 7"/>
          <p:cNvGrpSpPr/>
          <p:nvPr/>
        </p:nvGrpSpPr>
        <p:grpSpPr>
          <a:xfrm>
            <a:off x="1143000" y="857250"/>
            <a:ext cx="1385888" cy="1285875"/>
            <a:chOff x="0" y="0"/>
            <a:chExt cx="1847850" cy="1714500"/>
          </a:xfrm>
        </p:grpSpPr>
        <p:sp>
          <p:nvSpPr>
            <p:cNvPr id="8" name="Freeform 8" descr="preencoded.png"/>
            <p:cNvSpPr/>
            <p:nvPr/>
          </p:nvSpPr>
          <p:spPr>
            <a:xfrm>
              <a:off x="0" y="0"/>
              <a:ext cx="1847850" cy="1714500"/>
            </a:xfrm>
            <a:custGeom>
              <a:avLst/>
              <a:gdLst/>
              <a:ahLst/>
              <a:cxnLst/>
              <a:rect l="l" t="t" r="r" b="b"/>
              <a:pathLst>
                <a:path w="1847850" h="1714500">
                  <a:moveTo>
                    <a:pt x="0" y="0"/>
                  </a:moveTo>
                  <a:lnTo>
                    <a:pt x="1847850" y="0"/>
                  </a:lnTo>
                  <a:lnTo>
                    <a:pt x="1847850" y="1714500"/>
                  </a:lnTo>
                  <a:lnTo>
                    <a:pt x="0" y="1714500"/>
                  </a:lnTo>
                  <a:lnTo>
                    <a:pt x="0" y="0"/>
                  </a:lnTo>
                  <a:close/>
                </a:path>
              </a:pathLst>
            </a:custGeom>
            <a:blipFill>
              <a:blip r:embed="rId5"/>
              <a:stretch>
                <a:fillRect/>
              </a:stretch>
            </a:blipFill>
          </p:spPr>
        </p:sp>
      </p:grpSp>
      <p:grpSp>
        <p:nvGrpSpPr>
          <p:cNvPr id="9" name="Group 9"/>
          <p:cNvGrpSpPr/>
          <p:nvPr/>
        </p:nvGrpSpPr>
        <p:grpSpPr>
          <a:xfrm>
            <a:off x="1143000" y="8292332"/>
            <a:ext cx="16002000" cy="1685925"/>
            <a:chOff x="0" y="0"/>
            <a:chExt cx="21336000" cy="2247900"/>
          </a:xfrm>
        </p:grpSpPr>
        <p:sp>
          <p:nvSpPr>
            <p:cNvPr id="10" name="Freeform 10" descr="preencoded.png"/>
            <p:cNvSpPr/>
            <p:nvPr/>
          </p:nvSpPr>
          <p:spPr>
            <a:xfrm>
              <a:off x="0" y="0"/>
              <a:ext cx="21336000" cy="2247900"/>
            </a:xfrm>
            <a:custGeom>
              <a:avLst/>
              <a:gdLst/>
              <a:ahLst/>
              <a:cxnLst/>
              <a:rect l="l" t="t" r="r" b="b"/>
              <a:pathLst>
                <a:path w="21336000" h="2247900">
                  <a:moveTo>
                    <a:pt x="0" y="0"/>
                  </a:moveTo>
                  <a:lnTo>
                    <a:pt x="21336000" y="0"/>
                  </a:lnTo>
                  <a:lnTo>
                    <a:pt x="21336000" y="2247900"/>
                  </a:lnTo>
                  <a:lnTo>
                    <a:pt x="0" y="2247900"/>
                  </a:lnTo>
                  <a:lnTo>
                    <a:pt x="0" y="0"/>
                  </a:lnTo>
                  <a:close/>
                </a:path>
              </a:pathLst>
            </a:custGeom>
            <a:blipFill>
              <a:blip r:embed="rId6"/>
              <a:stretch>
                <a:fillRect t="-423" b="-423"/>
              </a:stretch>
            </a:blipFill>
          </p:spPr>
        </p:sp>
      </p:grpSp>
      <p:grpSp>
        <p:nvGrpSpPr>
          <p:cNvPr id="11" name="Group 11"/>
          <p:cNvGrpSpPr/>
          <p:nvPr/>
        </p:nvGrpSpPr>
        <p:grpSpPr>
          <a:xfrm>
            <a:off x="2814638" y="1064419"/>
            <a:ext cx="10561320" cy="471488"/>
            <a:chOff x="0" y="0"/>
            <a:chExt cx="14081760" cy="628650"/>
          </a:xfrm>
        </p:grpSpPr>
        <p:sp>
          <p:nvSpPr>
            <p:cNvPr id="12" name="Freeform 12"/>
            <p:cNvSpPr/>
            <p:nvPr/>
          </p:nvSpPr>
          <p:spPr>
            <a:xfrm>
              <a:off x="0" y="0"/>
              <a:ext cx="14081761" cy="628650"/>
            </a:xfrm>
            <a:custGeom>
              <a:avLst/>
              <a:gdLst/>
              <a:ahLst/>
              <a:cxnLst/>
              <a:rect l="l" t="t" r="r" b="b"/>
              <a:pathLst>
                <a:path w="14081761" h="628650">
                  <a:moveTo>
                    <a:pt x="0" y="0"/>
                  </a:moveTo>
                  <a:lnTo>
                    <a:pt x="14081761" y="0"/>
                  </a:lnTo>
                  <a:lnTo>
                    <a:pt x="14081761" y="628650"/>
                  </a:lnTo>
                  <a:lnTo>
                    <a:pt x="0" y="628650"/>
                  </a:lnTo>
                  <a:close/>
                </a:path>
              </a:pathLst>
            </a:custGeom>
            <a:blipFill>
              <a:blip r:embed="rId7">
                <a:alphaModFix amt="0"/>
              </a:blip>
              <a:stretch>
                <a:fillRect t="-386464" b="-386464"/>
              </a:stretch>
            </a:blipFill>
          </p:spPr>
        </p:sp>
        <p:sp>
          <p:nvSpPr>
            <p:cNvPr id="13" name="TextBox 13"/>
            <p:cNvSpPr txBox="1"/>
            <p:nvPr/>
          </p:nvSpPr>
          <p:spPr>
            <a:xfrm>
              <a:off x="0" y="-85725"/>
              <a:ext cx="14081760" cy="714375"/>
            </a:xfrm>
            <a:prstGeom prst="rect">
              <a:avLst/>
            </a:prstGeom>
          </p:spPr>
          <p:txBody>
            <a:bodyPr lIns="0" tIns="0" rIns="0" bIns="0" rtlCol="0" anchor="ctr"/>
            <a:lstStyle/>
            <a:p>
              <a:pPr algn="l">
                <a:lnSpc>
                  <a:spcPts val="3712"/>
                </a:lnSpc>
              </a:pPr>
              <a:r>
                <a:rPr lang="en-US" sz="2475" b="1" spc="90">
                  <a:solidFill>
                    <a:srgbClr val="FFFFFF"/>
                  </a:solidFill>
                  <a:latin typeface="Roboto Bold"/>
                  <a:ea typeface="Roboto Bold"/>
                  <a:cs typeface="Roboto Bold"/>
                  <a:sym typeface="Roboto Bold"/>
                </a:rPr>
                <a:t>TRƯỜNG ĐẠI HỌC MỎ - ĐỊA CHẤT</a:t>
              </a:r>
            </a:p>
          </p:txBody>
        </p:sp>
      </p:grpSp>
      <p:grpSp>
        <p:nvGrpSpPr>
          <p:cNvPr id="14" name="Group 14"/>
          <p:cNvGrpSpPr/>
          <p:nvPr/>
        </p:nvGrpSpPr>
        <p:grpSpPr>
          <a:xfrm>
            <a:off x="2814638" y="1593056"/>
            <a:ext cx="8778240" cy="342900"/>
            <a:chOff x="0" y="0"/>
            <a:chExt cx="11704320" cy="457200"/>
          </a:xfrm>
        </p:grpSpPr>
        <p:sp>
          <p:nvSpPr>
            <p:cNvPr id="15" name="Freeform 15"/>
            <p:cNvSpPr/>
            <p:nvPr/>
          </p:nvSpPr>
          <p:spPr>
            <a:xfrm>
              <a:off x="0" y="0"/>
              <a:ext cx="11704320" cy="457200"/>
            </a:xfrm>
            <a:custGeom>
              <a:avLst/>
              <a:gdLst/>
              <a:ahLst/>
              <a:cxnLst/>
              <a:rect l="l" t="t" r="r" b="b"/>
              <a:pathLst>
                <a:path w="11704320" h="457200">
                  <a:moveTo>
                    <a:pt x="0" y="0"/>
                  </a:moveTo>
                  <a:lnTo>
                    <a:pt x="11704320" y="0"/>
                  </a:lnTo>
                  <a:lnTo>
                    <a:pt x="11704320" y="457200"/>
                  </a:lnTo>
                  <a:lnTo>
                    <a:pt x="0" y="457200"/>
                  </a:lnTo>
                  <a:close/>
                </a:path>
              </a:pathLst>
            </a:custGeom>
            <a:blipFill>
              <a:blip r:embed="rId7">
                <a:alphaModFix amt="0"/>
              </a:blip>
              <a:stretch>
                <a:fillRect t="-448816" b="-448816"/>
              </a:stretch>
            </a:blipFill>
          </p:spPr>
        </p:sp>
        <p:sp>
          <p:nvSpPr>
            <p:cNvPr id="16" name="TextBox 16"/>
            <p:cNvSpPr txBox="1"/>
            <p:nvPr/>
          </p:nvSpPr>
          <p:spPr>
            <a:xfrm>
              <a:off x="0" y="-66675"/>
              <a:ext cx="11704320" cy="523875"/>
            </a:xfrm>
            <a:prstGeom prst="rect">
              <a:avLst/>
            </a:prstGeom>
          </p:spPr>
          <p:txBody>
            <a:bodyPr lIns="0" tIns="0" rIns="0" bIns="0" rtlCol="0" anchor="ctr"/>
            <a:lstStyle/>
            <a:p>
              <a:pPr algn="l">
                <a:lnSpc>
                  <a:spcPts val="2700"/>
                </a:lnSpc>
              </a:pPr>
              <a:r>
                <a:rPr lang="en-US" sz="1800">
                  <a:solidFill>
                    <a:srgbClr val="007ACC"/>
                  </a:solidFill>
                  <a:latin typeface="Roboto"/>
                  <a:ea typeface="Roboto"/>
                  <a:cs typeface="Roboto"/>
                  <a:sym typeface="Roboto"/>
                </a:rPr>
                <a:t>KHOA CÔNG NGHỆ THÔNG TIN ĐỊA HỌC</a:t>
              </a:r>
            </a:p>
          </p:txBody>
        </p:sp>
      </p:grpSp>
      <p:grpSp>
        <p:nvGrpSpPr>
          <p:cNvPr id="17" name="Group 17"/>
          <p:cNvGrpSpPr/>
          <p:nvPr/>
        </p:nvGrpSpPr>
        <p:grpSpPr>
          <a:xfrm>
            <a:off x="1143000" y="3571875"/>
            <a:ext cx="16002000" cy="385762"/>
            <a:chOff x="0" y="0"/>
            <a:chExt cx="21336000" cy="514350"/>
          </a:xfrm>
        </p:grpSpPr>
        <p:sp>
          <p:nvSpPr>
            <p:cNvPr id="18" name="Freeform 18"/>
            <p:cNvSpPr/>
            <p:nvPr/>
          </p:nvSpPr>
          <p:spPr>
            <a:xfrm>
              <a:off x="0" y="0"/>
              <a:ext cx="21336000" cy="514350"/>
            </a:xfrm>
            <a:custGeom>
              <a:avLst/>
              <a:gdLst/>
              <a:ahLst/>
              <a:cxnLst/>
              <a:rect l="l" t="t" r="r" b="b"/>
              <a:pathLst>
                <a:path w="21336000" h="514350">
                  <a:moveTo>
                    <a:pt x="0" y="0"/>
                  </a:moveTo>
                  <a:lnTo>
                    <a:pt x="21336000" y="0"/>
                  </a:lnTo>
                  <a:lnTo>
                    <a:pt x="21336000" y="514350"/>
                  </a:lnTo>
                  <a:lnTo>
                    <a:pt x="0" y="514350"/>
                  </a:lnTo>
                  <a:close/>
                </a:path>
              </a:pathLst>
            </a:custGeom>
            <a:blipFill>
              <a:blip r:embed="rId7">
                <a:alphaModFix amt="0"/>
              </a:blip>
              <a:stretch>
                <a:fillRect t="-758268" b="-758268"/>
              </a:stretch>
            </a:blipFill>
          </p:spPr>
        </p:sp>
        <p:sp>
          <p:nvSpPr>
            <p:cNvPr id="19" name="TextBox 19"/>
            <p:cNvSpPr txBox="1"/>
            <p:nvPr/>
          </p:nvSpPr>
          <p:spPr>
            <a:xfrm>
              <a:off x="0" y="-76200"/>
              <a:ext cx="21336000" cy="590550"/>
            </a:xfrm>
            <a:prstGeom prst="rect">
              <a:avLst/>
            </a:prstGeom>
          </p:spPr>
          <p:txBody>
            <a:bodyPr lIns="0" tIns="0" rIns="0" bIns="0" rtlCol="0" anchor="ctr"/>
            <a:lstStyle/>
            <a:p>
              <a:pPr algn="l">
                <a:lnSpc>
                  <a:spcPts val="3037"/>
                </a:lnSpc>
              </a:pPr>
              <a:r>
                <a:rPr lang="en-US" sz="2025" b="1" spc="180">
                  <a:solidFill>
                    <a:srgbClr val="E67E22"/>
                  </a:solidFill>
                  <a:latin typeface="Roboto Bold"/>
                  <a:ea typeface="Roboto Bold"/>
                  <a:cs typeface="Roboto Bold"/>
                  <a:sym typeface="Roboto Bold"/>
                </a:rPr>
                <a:t>DỮ LIỆU LỚN VÀ ỨNG DỤNG</a:t>
              </a:r>
            </a:p>
          </p:txBody>
        </p:sp>
      </p:grpSp>
      <p:grpSp>
        <p:nvGrpSpPr>
          <p:cNvPr id="20" name="Group 20"/>
          <p:cNvGrpSpPr/>
          <p:nvPr/>
        </p:nvGrpSpPr>
        <p:grpSpPr>
          <a:xfrm>
            <a:off x="1143000" y="4129088"/>
            <a:ext cx="14401800" cy="2734494"/>
            <a:chOff x="0" y="0"/>
            <a:chExt cx="19202400" cy="3645992"/>
          </a:xfrm>
        </p:grpSpPr>
        <p:sp>
          <p:nvSpPr>
            <p:cNvPr id="21" name="Freeform 21"/>
            <p:cNvSpPr/>
            <p:nvPr/>
          </p:nvSpPr>
          <p:spPr>
            <a:xfrm>
              <a:off x="0" y="0"/>
              <a:ext cx="19202400" cy="3645992"/>
            </a:xfrm>
            <a:custGeom>
              <a:avLst/>
              <a:gdLst/>
              <a:ahLst/>
              <a:cxnLst/>
              <a:rect l="l" t="t" r="r" b="b"/>
              <a:pathLst>
                <a:path w="19202400" h="3645992">
                  <a:moveTo>
                    <a:pt x="0" y="0"/>
                  </a:moveTo>
                  <a:lnTo>
                    <a:pt x="19202400" y="0"/>
                  </a:lnTo>
                  <a:lnTo>
                    <a:pt x="19202400" y="3645992"/>
                  </a:lnTo>
                  <a:lnTo>
                    <a:pt x="0" y="3645992"/>
                  </a:lnTo>
                  <a:close/>
                </a:path>
              </a:pathLst>
            </a:custGeom>
            <a:blipFill>
              <a:blip r:embed="rId7">
                <a:alphaModFix amt="0"/>
              </a:blip>
              <a:stretch>
                <a:fillRect t="-52622" b="-52622"/>
              </a:stretch>
            </a:blipFill>
          </p:spPr>
        </p:sp>
        <p:sp>
          <p:nvSpPr>
            <p:cNvPr id="22" name="TextBox 22"/>
            <p:cNvSpPr txBox="1"/>
            <p:nvPr/>
          </p:nvSpPr>
          <p:spPr>
            <a:xfrm>
              <a:off x="0" y="47625"/>
              <a:ext cx="19202400" cy="3598367"/>
            </a:xfrm>
            <a:prstGeom prst="rect">
              <a:avLst/>
            </a:prstGeom>
          </p:spPr>
          <p:txBody>
            <a:bodyPr lIns="0" tIns="0" rIns="0" bIns="0" rtlCol="0" anchor="ctr"/>
            <a:lstStyle/>
            <a:p>
              <a:pPr algn="l">
                <a:lnSpc>
                  <a:spcPts val="7177"/>
                </a:lnSpc>
              </a:pPr>
              <a:r>
                <a:rPr lang="en-US" sz="6525" b="1">
                  <a:solidFill>
                    <a:srgbClr val="FFFFFF"/>
                  </a:solidFill>
                  <a:latin typeface="Roboto Bold"/>
                  <a:ea typeface="Roboto Bold"/>
                  <a:cs typeface="Roboto Bold"/>
                  <a:sym typeface="Roboto Bold"/>
                </a:rPr>
                <a:t>PHÂN TÍCH HOẠT ĐỘNG KINH DOANH</a:t>
              </a:r>
            </a:p>
            <a:p>
              <a:pPr algn="l">
                <a:lnSpc>
                  <a:spcPts val="7177"/>
                </a:lnSpc>
              </a:pPr>
              <a:r>
                <a:rPr lang="en-US" sz="6525" b="1">
                  <a:solidFill>
                    <a:srgbClr val="FFFFFF"/>
                  </a:solidFill>
                  <a:latin typeface="Roboto Bold"/>
                  <a:ea typeface="Roboto Bold"/>
                  <a:cs typeface="Roboto Bold"/>
                  <a:sym typeface="Roboto Bold"/>
                </a:rPr>
                <a:t>CHUỖI SIÊU THỊ ĐIỆN MÁY</a:t>
              </a:r>
            </a:p>
          </p:txBody>
        </p:sp>
      </p:grpSp>
      <p:grpSp>
        <p:nvGrpSpPr>
          <p:cNvPr id="23" name="Group 23"/>
          <p:cNvGrpSpPr/>
          <p:nvPr/>
        </p:nvGrpSpPr>
        <p:grpSpPr>
          <a:xfrm>
            <a:off x="1143000" y="7206482"/>
            <a:ext cx="16459200" cy="514350"/>
            <a:chOff x="0" y="0"/>
            <a:chExt cx="21945600" cy="685800"/>
          </a:xfrm>
        </p:grpSpPr>
        <p:sp>
          <p:nvSpPr>
            <p:cNvPr id="24" name="Freeform 24"/>
            <p:cNvSpPr/>
            <p:nvPr/>
          </p:nvSpPr>
          <p:spPr>
            <a:xfrm>
              <a:off x="0" y="0"/>
              <a:ext cx="21945600" cy="685800"/>
            </a:xfrm>
            <a:custGeom>
              <a:avLst/>
              <a:gdLst/>
              <a:ahLst/>
              <a:cxnLst/>
              <a:rect l="l" t="t" r="r" b="b"/>
              <a:pathLst>
                <a:path w="21945600" h="685800">
                  <a:moveTo>
                    <a:pt x="0" y="0"/>
                  </a:moveTo>
                  <a:lnTo>
                    <a:pt x="21945600" y="0"/>
                  </a:lnTo>
                  <a:lnTo>
                    <a:pt x="21945600" y="685800"/>
                  </a:lnTo>
                  <a:lnTo>
                    <a:pt x="0" y="685800"/>
                  </a:lnTo>
                  <a:close/>
                </a:path>
              </a:pathLst>
            </a:custGeom>
            <a:blipFill>
              <a:blip r:embed="rId7">
                <a:alphaModFix amt="0"/>
              </a:blip>
              <a:stretch>
                <a:fillRect t="-573521" b="-573521"/>
              </a:stretch>
            </a:blipFill>
          </p:spPr>
        </p:sp>
        <p:sp>
          <p:nvSpPr>
            <p:cNvPr id="25" name="TextBox 25"/>
            <p:cNvSpPr txBox="1"/>
            <p:nvPr/>
          </p:nvSpPr>
          <p:spPr>
            <a:xfrm>
              <a:off x="0" y="-85725"/>
              <a:ext cx="21945600" cy="771525"/>
            </a:xfrm>
            <a:prstGeom prst="rect">
              <a:avLst/>
            </a:prstGeom>
          </p:spPr>
          <p:txBody>
            <a:bodyPr lIns="0" tIns="0" rIns="0" bIns="0" rtlCol="0" anchor="ctr"/>
            <a:lstStyle/>
            <a:p>
              <a:pPr algn="l">
                <a:lnSpc>
                  <a:spcPts val="4050"/>
                </a:lnSpc>
              </a:pPr>
              <a:r>
                <a:rPr lang="en-US" sz="2700">
                  <a:solidFill>
                    <a:srgbClr val="007ACC"/>
                  </a:solidFill>
                  <a:latin typeface="Roboto"/>
                  <a:ea typeface="Roboto"/>
                  <a:cs typeface="Roboto"/>
                  <a:sym typeface="Roboto"/>
                </a:rPr>
                <a:t>Nền tảng:</a:t>
              </a:r>
              <a:r>
                <a:rPr lang="en-US" sz="2700" b="1">
                  <a:solidFill>
                    <a:srgbClr val="FFFFFF"/>
                  </a:solidFill>
                  <a:latin typeface="Roboto Bold"/>
                  <a:ea typeface="Roboto Bold"/>
                  <a:cs typeface="Roboto Bold"/>
                  <a:sym typeface="Roboto Bold"/>
                </a:rPr>
                <a:t>Apache Hive</a:t>
              </a:r>
              <a:r>
                <a:rPr lang="en-US" sz="2700">
                  <a:solidFill>
                    <a:srgbClr val="007ACC"/>
                  </a:solidFill>
                  <a:latin typeface="Roboto"/>
                  <a:ea typeface="Roboto"/>
                  <a:cs typeface="Roboto"/>
                  <a:sym typeface="Roboto"/>
                </a:rPr>
                <a:t>| Ngôn ngữ:</a:t>
              </a:r>
              <a:r>
                <a:rPr lang="en-US" sz="2700" b="1">
                  <a:solidFill>
                    <a:srgbClr val="FFFFFF"/>
                  </a:solidFill>
                  <a:latin typeface="Roboto Bold"/>
                  <a:ea typeface="Roboto Bold"/>
                  <a:cs typeface="Roboto Bold"/>
                  <a:sym typeface="Roboto Bold"/>
                </a:rPr>
                <a:t>HiveQL</a:t>
              </a:r>
            </a:p>
          </p:txBody>
        </p:sp>
      </p:grpSp>
      <p:grpSp>
        <p:nvGrpSpPr>
          <p:cNvPr id="26" name="Group 26"/>
          <p:cNvGrpSpPr/>
          <p:nvPr/>
        </p:nvGrpSpPr>
        <p:grpSpPr>
          <a:xfrm>
            <a:off x="1143000" y="8720957"/>
            <a:ext cx="4800600" cy="300038"/>
            <a:chOff x="0" y="0"/>
            <a:chExt cx="6400800" cy="400050"/>
          </a:xfrm>
        </p:grpSpPr>
        <p:sp>
          <p:nvSpPr>
            <p:cNvPr id="27" name="Freeform 27"/>
            <p:cNvSpPr/>
            <p:nvPr/>
          </p:nvSpPr>
          <p:spPr>
            <a:xfrm>
              <a:off x="0" y="0"/>
              <a:ext cx="6400800" cy="400050"/>
            </a:xfrm>
            <a:custGeom>
              <a:avLst/>
              <a:gdLst/>
              <a:ahLst/>
              <a:cxnLst/>
              <a:rect l="l" t="t" r="r" b="b"/>
              <a:pathLst>
                <a:path w="6400800" h="400050">
                  <a:moveTo>
                    <a:pt x="0" y="0"/>
                  </a:moveTo>
                  <a:lnTo>
                    <a:pt x="6400800" y="0"/>
                  </a:lnTo>
                  <a:lnTo>
                    <a:pt x="6400800" y="400050"/>
                  </a:lnTo>
                  <a:lnTo>
                    <a:pt x="0" y="400050"/>
                  </a:lnTo>
                  <a:close/>
                </a:path>
              </a:pathLst>
            </a:custGeom>
            <a:blipFill>
              <a:blip r:embed="rId7">
                <a:alphaModFix amt="0"/>
              </a:blip>
              <a:stretch>
                <a:fillRect t="-261760" b="-261760"/>
              </a:stretch>
            </a:blipFill>
          </p:spPr>
        </p:sp>
        <p:sp>
          <p:nvSpPr>
            <p:cNvPr id="28" name="TextBox 28"/>
            <p:cNvSpPr txBox="1"/>
            <p:nvPr/>
          </p:nvSpPr>
          <p:spPr>
            <a:xfrm>
              <a:off x="0" y="-57150"/>
              <a:ext cx="6400800" cy="457200"/>
            </a:xfrm>
            <a:prstGeom prst="rect">
              <a:avLst/>
            </a:prstGeom>
          </p:spPr>
          <p:txBody>
            <a:bodyPr lIns="0" tIns="0" rIns="0" bIns="0" rtlCol="0" anchor="ctr"/>
            <a:lstStyle/>
            <a:p>
              <a:pPr algn="l">
                <a:lnSpc>
                  <a:spcPts val="2362"/>
                </a:lnSpc>
              </a:pPr>
              <a:r>
                <a:rPr lang="en-US" sz="1575" spc="90">
                  <a:solidFill>
                    <a:srgbClr val="007ACC"/>
                  </a:solidFill>
                  <a:latin typeface="Roboto"/>
                  <a:ea typeface="Roboto"/>
                  <a:cs typeface="Roboto"/>
                  <a:sym typeface="Roboto"/>
                </a:rPr>
                <a:t>GIẢNG VIÊN HƯỚNG DẪN</a:t>
              </a:r>
            </a:p>
          </p:txBody>
        </p:sp>
      </p:grpSp>
      <p:grpSp>
        <p:nvGrpSpPr>
          <p:cNvPr id="29" name="Group 29"/>
          <p:cNvGrpSpPr/>
          <p:nvPr/>
        </p:nvGrpSpPr>
        <p:grpSpPr>
          <a:xfrm>
            <a:off x="1143000" y="9135294"/>
            <a:ext cx="5486400" cy="428625"/>
            <a:chOff x="0" y="0"/>
            <a:chExt cx="7315200" cy="571500"/>
          </a:xfrm>
        </p:grpSpPr>
        <p:sp>
          <p:nvSpPr>
            <p:cNvPr id="30" name="Freeform 30"/>
            <p:cNvSpPr/>
            <p:nvPr/>
          </p:nvSpPr>
          <p:spPr>
            <a:xfrm>
              <a:off x="0" y="0"/>
              <a:ext cx="7315200" cy="571500"/>
            </a:xfrm>
            <a:custGeom>
              <a:avLst/>
              <a:gdLst/>
              <a:ahLst/>
              <a:cxnLst/>
              <a:rect l="l" t="t" r="r" b="b"/>
              <a:pathLst>
                <a:path w="7315200" h="571500">
                  <a:moveTo>
                    <a:pt x="0" y="0"/>
                  </a:moveTo>
                  <a:lnTo>
                    <a:pt x="7315200" y="0"/>
                  </a:lnTo>
                  <a:lnTo>
                    <a:pt x="7315200" y="571500"/>
                  </a:lnTo>
                  <a:lnTo>
                    <a:pt x="0" y="571500"/>
                  </a:lnTo>
                  <a:close/>
                </a:path>
              </a:pathLst>
            </a:custGeom>
            <a:blipFill>
              <a:blip r:embed="rId7">
                <a:alphaModFix amt="0"/>
              </a:blip>
              <a:stretch>
                <a:fillRect t="-199408" b="-199408"/>
              </a:stretch>
            </a:blipFill>
          </p:spPr>
        </p:sp>
        <p:sp>
          <p:nvSpPr>
            <p:cNvPr id="31" name="TextBox 31"/>
            <p:cNvSpPr txBox="1"/>
            <p:nvPr/>
          </p:nvSpPr>
          <p:spPr>
            <a:xfrm>
              <a:off x="0" y="-76200"/>
              <a:ext cx="7315200" cy="647700"/>
            </a:xfrm>
            <a:prstGeom prst="rect">
              <a:avLst/>
            </a:prstGeom>
          </p:spPr>
          <p:txBody>
            <a:bodyPr lIns="0" tIns="0" rIns="0" bIns="0" rtlCol="0" anchor="ctr"/>
            <a:lstStyle/>
            <a:p>
              <a:pPr algn="l">
                <a:lnSpc>
                  <a:spcPts val="3375"/>
                </a:lnSpc>
              </a:pPr>
              <a:r>
                <a:rPr lang="en-US" sz="2250" b="1">
                  <a:solidFill>
                    <a:srgbClr val="FFFFFF"/>
                  </a:solidFill>
                  <a:latin typeface="Roboto Bold"/>
                  <a:ea typeface="Roboto Bold"/>
                  <a:cs typeface="Roboto Bold"/>
                  <a:sym typeface="Roboto Bold"/>
                </a:rPr>
                <a:t>Nguyễn Văn Thắng</a:t>
              </a:r>
            </a:p>
          </p:txBody>
        </p:sp>
      </p:grpSp>
      <p:grpSp>
        <p:nvGrpSpPr>
          <p:cNvPr id="32" name="Group 32"/>
          <p:cNvGrpSpPr/>
          <p:nvPr/>
        </p:nvGrpSpPr>
        <p:grpSpPr>
          <a:xfrm>
            <a:off x="4586288" y="8720957"/>
            <a:ext cx="4560570" cy="300038"/>
            <a:chOff x="0" y="0"/>
            <a:chExt cx="6080760" cy="400050"/>
          </a:xfrm>
        </p:grpSpPr>
        <p:sp>
          <p:nvSpPr>
            <p:cNvPr id="33" name="Freeform 33"/>
            <p:cNvSpPr/>
            <p:nvPr/>
          </p:nvSpPr>
          <p:spPr>
            <a:xfrm>
              <a:off x="0" y="0"/>
              <a:ext cx="6080760" cy="400050"/>
            </a:xfrm>
            <a:custGeom>
              <a:avLst/>
              <a:gdLst/>
              <a:ahLst/>
              <a:cxnLst/>
              <a:rect l="l" t="t" r="r" b="b"/>
              <a:pathLst>
                <a:path w="6080760" h="400050">
                  <a:moveTo>
                    <a:pt x="0" y="0"/>
                  </a:moveTo>
                  <a:lnTo>
                    <a:pt x="6080760" y="0"/>
                  </a:lnTo>
                  <a:lnTo>
                    <a:pt x="6080760" y="400050"/>
                  </a:lnTo>
                  <a:lnTo>
                    <a:pt x="0" y="400050"/>
                  </a:lnTo>
                  <a:close/>
                </a:path>
              </a:pathLst>
            </a:custGeom>
            <a:blipFill>
              <a:blip r:embed="rId7">
                <a:alphaModFix amt="0"/>
              </a:blip>
              <a:stretch>
                <a:fillRect t="-246172" b="-246172"/>
              </a:stretch>
            </a:blipFill>
          </p:spPr>
        </p:sp>
        <p:sp>
          <p:nvSpPr>
            <p:cNvPr id="34" name="TextBox 34"/>
            <p:cNvSpPr txBox="1"/>
            <p:nvPr/>
          </p:nvSpPr>
          <p:spPr>
            <a:xfrm>
              <a:off x="0" y="-57150"/>
              <a:ext cx="6080760" cy="457200"/>
            </a:xfrm>
            <a:prstGeom prst="rect">
              <a:avLst/>
            </a:prstGeom>
          </p:spPr>
          <p:txBody>
            <a:bodyPr lIns="0" tIns="0" rIns="0" bIns="0" rtlCol="0" anchor="ctr"/>
            <a:lstStyle/>
            <a:p>
              <a:pPr algn="l">
                <a:lnSpc>
                  <a:spcPts val="2362"/>
                </a:lnSpc>
              </a:pPr>
              <a:r>
                <a:rPr lang="en-US" sz="1575" spc="90">
                  <a:solidFill>
                    <a:srgbClr val="007ACC"/>
                  </a:solidFill>
                  <a:latin typeface="Roboto"/>
                  <a:ea typeface="Roboto"/>
                  <a:cs typeface="Roboto"/>
                  <a:sym typeface="Roboto"/>
                </a:rPr>
                <a:t>SINH VIÊN THỰC HIỆN</a:t>
              </a:r>
            </a:p>
          </p:txBody>
        </p:sp>
      </p:grpSp>
      <p:grpSp>
        <p:nvGrpSpPr>
          <p:cNvPr id="35" name="Group 35"/>
          <p:cNvGrpSpPr/>
          <p:nvPr/>
        </p:nvGrpSpPr>
        <p:grpSpPr>
          <a:xfrm>
            <a:off x="4586288" y="9135294"/>
            <a:ext cx="5143500" cy="428625"/>
            <a:chOff x="0" y="0"/>
            <a:chExt cx="6858000" cy="571500"/>
          </a:xfrm>
        </p:grpSpPr>
        <p:sp>
          <p:nvSpPr>
            <p:cNvPr id="36" name="Freeform 36"/>
            <p:cNvSpPr/>
            <p:nvPr/>
          </p:nvSpPr>
          <p:spPr>
            <a:xfrm>
              <a:off x="0" y="0"/>
              <a:ext cx="6858000" cy="571500"/>
            </a:xfrm>
            <a:custGeom>
              <a:avLst/>
              <a:gdLst/>
              <a:ahLst/>
              <a:cxnLst/>
              <a:rect l="l" t="t" r="r" b="b"/>
              <a:pathLst>
                <a:path w="6858000" h="571500">
                  <a:moveTo>
                    <a:pt x="0" y="0"/>
                  </a:moveTo>
                  <a:lnTo>
                    <a:pt x="6858000" y="0"/>
                  </a:lnTo>
                  <a:lnTo>
                    <a:pt x="6858000" y="571500"/>
                  </a:lnTo>
                  <a:lnTo>
                    <a:pt x="0" y="571500"/>
                  </a:lnTo>
                  <a:close/>
                </a:path>
              </a:pathLst>
            </a:custGeom>
            <a:blipFill>
              <a:blip r:embed="rId7">
                <a:alphaModFix amt="0"/>
              </a:blip>
              <a:stretch>
                <a:fillRect t="-183820" b="-183820"/>
              </a:stretch>
            </a:blipFill>
          </p:spPr>
        </p:sp>
        <p:sp>
          <p:nvSpPr>
            <p:cNvPr id="37" name="TextBox 37"/>
            <p:cNvSpPr txBox="1"/>
            <p:nvPr/>
          </p:nvSpPr>
          <p:spPr>
            <a:xfrm>
              <a:off x="0" y="-76200"/>
              <a:ext cx="6858000" cy="647700"/>
            </a:xfrm>
            <a:prstGeom prst="rect">
              <a:avLst/>
            </a:prstGeom>
          </p:spPr>
          <p:txBody>
            <a:bodyPr lIns="0" tIns="0" rIns="0" bIns="0" rtlCol="0" anchor="ctr"/>
            <a:lstStyle/>
            <a:p>
              <a:pPr algn="l">
                <a:lnSpc>
                  <a:spcPts val="3375"/>
                </a:lnSpc>
              </a:pPr>
              <a:r>
                <a:rPr lang="en-US" sz="2250" b="1">
                  <a:solidFill>
                    <a:srgbClr val="FFFFFF"/>
                  </a:solidFill>
                  <a:latin typeface="Roboto Bold"/>
                  <a:ea typeface="Roboto Bold"/>
                  <a:cs typeface="Roboto Bold"/>
                  <a:sym typeface="Roboto Bold"/>
                </a:rPr>
                <a:t>Hoàng Xuân Duẩn</a:t>
              </a:r>
            </a:p>
          </p:txBody>
        </p:sp>
      </p:grpSp>
      <p:grpSp>
        <p:nvGrpSpPr>
          <p:cNvPr id="38" name="Group 38"/>
          <p:cNvGrpSpPr/>
          <p:nvPr/>
        </p:nvGrpSpPr>
        <p:grpSpPr>
          <a:xfrm>
            <a:off x="4586288" y="9678219"/>
            <a:ext cx="5440680" cy="300038"/>
            <a:chOff x="0" y="0"/>
            <a:chExt cx="7254240" cy="400050"/>
          </a:xfrm>
        </p:grpSpPr>
        <p:sp>
          <p:nvSpPr>
            <p:cNvPr id="39" name="Freeform 39"/>
            <p:cNvSpPr/>
            <p:nvPr/>
          </p:nvSpPr>
          <p:spPr>
            <a:xfrm>
              <a:off x="0" y="0"/>
              <a:ext cx="7254240" cy="400050"/>
            </a:xfrm>
            <a:custGeom>
              <a:avLst/>
              <a:gdLst/>
              <a:ahLst/>
              <a:cxnLst/>
              <a:rect l="l" t="t" r="r" b="b"/>
              <a:pathLst>
                <a:path w="7254240" h="400050">
                  <a:moveTo>
                    <a:pt x="0" y="0"/>
                  </a:moveTo>
                  <a:lnTo>
                    <a:pt x="7254240" y="0"/>
                  </a:lnTo>
                  <a:lnTo>
                    <a:pt x="7254240" y="400050"/>
                  </a:lnTo>
                  <a:lnTo>
                    <a:pt x="0" y="400050"/>
                  </a:lnTo>
                  <a:close/>
                </a:path>
              </a:pathLst>
            </a:custGeom>
            <a:blipFill>
              <a:blip r:embed="rId7">
                <a:alphaModFix amt="0"/>
              </a:blip>
              <a:stretch>
                <a:fillRect t="-303328" b="-303328"/>
              </a:stretch>
            </a:blipFill>
          </p:spPr>
        </p:sp>
        <p:sp>
          <p:nvSpPr>
            <p:cNvPr id="40" name="TextBox 40"/>
            <p:cNvSpPr txBox="1"/>
            <p:nvPr/>
          </p:nvSpPr>
          <p:spPr>
            <a:xfrm>
              <a:off x="0" y="-57150"/>
              <a:ext cx="7254240" cy="457200"/>
            </a:xfrm>
            <a:prstGeom prst="rect">
              <a:avLst/>
            </a:prstGeom>
          </p:spPr>
          <p:txBody>
            <a:bodyPr lIns="0" tIns="0" rIns="0" bIns="0" rtlCol="0" anchor="ctr"/>
            <a:lstStyle/>
            <a:p>
              <a:pPr algn="l">
                <a:lnSpc>
                  <a:spcPts val="2362"/>
                </a:lnSpc>
              </a:pPr>
              <a:r>
                <a:rPr lang="en-US" sz="1575">
                  <a:solidFill>
                    <a:srgbClr val="FFFFFF"/>
                  </a:solidFill>
                  <a:latin typeface="Roboto"/>
                  <a:ea typeface="Roboto"/>
                  <a:cs typeface="Roboto"/>
                  <a:sym typeface="Roboto"/>
                </a:rPr>
                <a:t>MSSV: 2221050668</a:t>
              </a:r>
            </a:p>
          </p:txBody>
        </p:sp>
      </p:grpSp>
      <p:grpSp>
        <p:nvGrpSpPr>
          <p:cNvPr id="41" name="Group 41"/>
          <p:cNvGrpSpPr/>
          <p:nvPr/>
        </p:nvGrpSpPr>
        <p:grpSpPr>
          <a:xfrm>
            <a:off x="7729538" y="8720957"/>
            <a:ext cx="4080510" cy="300038"/>
            <a:chOff x="0" y="0"/>
            <a:chExt cx="5440680" cy="400050"/>
          </a:xfrm>
        </p:grpSpPr>
        <p:sp>
          <p:nvSpPr>
            <p:cNvPr id="42" name="Freeform 42"/>
            <p:cNvSpPr/>
            <p:nvPr/>
          </p:nvSpPr>
          <p:spPr>
            <a:xfrm>
              <a:off x="0" y="0"/>
              <a:ext cx="5440680" cy="400050"/>
            </a:xfrm>
            <a:custGeom>
              <a:avLst/>
              <a:gdLst/>
              <a:ahLst/>
              <a:cxnLst/>
              <a:rect l="l" t="t" r="r" b="b"/>
              <a:pathLst>
                <a:path w="5440680" h="400050">
                  <a:moveTo>
                    <a:pt x="0" y="0"/>
                  </a:moveTo>
                  <a:lnTo>
                    <a:pt x="5440680" y="0"/>
                  </a:lnTo>
                  <a:lnTo>
                    <a:pt x="5440680" y="400050"/>
                  </a:lnTo>
                  <a:lnTo>
                    <a:pt x="0" y="400050"/>
                  </a:lnTo>
                  <a:close/>
                </a:path>
              </a:pathLst>
            </a:custGeom>
            <a:blipFill>
              <a:blip r:embed="rId7">
                <a:alphaModFix amt="0"/>
              </a:blip>
              <a:stretch>
                <a:fillRect t="-214996" b="-214996"/>
              </a:stretch>
            </a:blipFill>
          </p:spPr>
        </p:sp>
        <p:sp>
          <p:nvSpPr>
            <p:cNvPr id="43" name="TextBox 43"/>
            <p:cNvSpPr txBox="1"/>
            <p:nvPr/>
          </p:nvSpPr>
          <p:spPr>
            <a:xfrm>
              <a:off x="0" y="-57150"/>
              <a:ext cx="5440680" cy="457200"/>
            </a:xfrm>
            <a:prstGeom prst="rect">
              <a:avLst/>
            </a:prstGeom>
          </p:spPr>
          <p:txBody>
            <a:bodyPr lIns="0" tIns="0" rIns="0" bIns="0" rtlCol="0" anchor="ctr"/>
            <a:lstStyle/>
            <a:p>
              <a:pPr algn="l">
                <a:lnSpc>
                  <a:spcPts val="2362"/>
                </a:lnSpc>
              </a:pPr>
              <a:r>
                <a:rPr lang="en-US" sz="1575" spc="90">
                  <a:solidFill>
                    <a:srgbClr val="007ACC"/>
                  </a:solidFill>
                  <a:latin typeface="Roboto"/>
                  <a:ea typeface="Roboto"/>
                  <a:cs typeface="Roboto"/>
                  <a:sym typeface="Roboto"/>
                </a:rPr>
                <a:t>THỜI GIAN BÁO CÁO</a:t>
              </a:r>
            </a:p>
          </p:txBody>
        </p:sp>
      </p:grpSp>
      <p:grpSp>
        <p:nvGrpSpPr>
          <p:cNvPr id="44" name="Group 44"/>
          <p:cNvGrpSpPr/>
          <p:nvPr/>
        </p:nvGrpSpPr>
        <p:grpSpPr>
          <a:xfrm>
            <a:off x="7729538" y="9135294"/>
            <a:ext cx="6172200" cy="428625"/>
            <a:chOff x="0" y="0"/>
            <a:chExt cx="8229600" cy="571500"/>
          </a:xfrm>
        </p:grpSpPr>
        <p:sp>
          <p:nvSpPr>
            <p:cNvPr id="45" name="Freeform 45"/>
            <p:cNvSpPr/>
            <p:nvPr/>
          </p:nvSpPr>
          <p:spPr>
            <a:xfrm>
              <a:off x="0" y="0"/>
              <a:ext cx="8229600" cy="571500"/>
            </a:xfrm>
            <a:custGeom>
              <a:avLst/>
              <a:gdLst/>
              <a:ahLst/>
              <a:cxnLst/>
              <a:rect l="l" t="t" r="r" b="b"/>
              <a:pathLst>
                <a:path w="8229600" h="571500">
                  <a:moveTo>
                    <a:pt x="0" y="0"/>
                  </a:moveTo>
                  <a:lnTo>
                    <a:pt x="8229600" y="0"/>
                  </a:lnTo>
                  <a:lnTo>
                    <a:pt x="8229600" y="571500"/>
                  </a:lnTo>
                  <a:lnTo>
                    <a:pt x="0" y="571500"/>
                  </a:lnTo>
                  <a:close/>
                </a:path>
              </a:pathLst>
            </a:custGeom>
            <a:blipFill>
              <a:blip r:embed="rId7">
                <a:alphaModFix amt="0"/>
              </a:blip>
              <a:stretch>
                <a:fillRect t="-230584" b="-230584"/>
              </a:stretch>
            </a:blipFill>
          </p:spPr>
        </p:sp>
        <p:sp>
          <p:nvSpPr>
            <p:cNvPr id="46" name="TextBox 46"/>
            <p:cNvSpPr txBox="1"/>
            <p:nvPr/>
          </p:nvSpPr>
          <p:spPr>
            <a:xfrm>
              <a:off x="0" y="-76200"/>
              <a:ext cx="8229600" cy="647700"/>
            </a:xfrm>
            <a:prstGeom prst="rect">
              <a:avLst/>
            </a:prstGeom>
          </p:spPr>
          <p:txBody>
            <a:bodyPr lIns="0" tIns="0" rIns="0" bIns="0" rtlCol="0" anchor="ctr"/>
            <a:lstStyle/>
            <a:p>
              <a:pPr algn="l">
                <a:lnSpc>
                  <a:spcPts val="3375"/>
                </a:lnSpc>
              </a:pPr>
              <a:r>
                <a:rPr lang="en-US" sz="2250" b="1">
                  <a:solidFill>
                    <a:srgbClr val="FFFFFF"/>
                  </a:solidFill>
                  <a:latin typeface="Roboto Bold"/>
                  <a:ea typeface="Roboto Bold"/>
                  <a:cs typeface="Roboto Bold"/>
                  <a:sym typeface="Roboto Bold"/>
                </a:rPr>
                <a:t>Tháng 05, 2026</a:t>
              </a:r>
            </a:p>
          </p:txBody>
        </p:sp>
      </p:grpSp>
    </p:spTree>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0"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7" name="Group 7"/>
          <p:cNvGrpSpPr/>
          <p:nvPr/>
        </p:nvGrpSpPr>
        <p:grpSpPr>
          <a:xfrm>
            <a:off x="571500" y="428625"/>
            <a:ext cx="17145000" cy="1314450"/>
            <a:chOff x="0" y="0"/>
            <a:chExt cx="22860000" cy="1752600"/>
          </a:xfrm>
        </p:grpSpPr>
        <p:sp>
          <p:nvSpPr>
            <p:cNvPr id="8" name="Freeform 8"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4"/>
              <a:stretch>
                <a:fillRect/>
              </a:stretch>
            </a:blipFill>
          </p:spPr>
        </p:sp>
      </p:grpSp>
      <p:grpSp>
        <p:nvGrpSpPr>
          <p:cNvPr id="9" name="Group 9"/>
          <p:cNvGrpSpPr/>
          <p:nvPr/>
        </p:nvGrpSpPr>
        <p:grpSpPr>
          <a:xfrm>
            <a:off x="571500" y="2028825"/>
            <a:ext cx="8358188" cy="4343400"/>
            <a:chOff x="0" y="0"/>
            <a:chExt cx="11144250" cy="5791200"/>
          </a:xfrm>
        </p:grpSpPr>
        <p:sp>
          <p:nvSpPr>
            <p:cNvPr id="10" name="Freeform 10" descr="preencoded.png"/>
            <p:cNvSpPr/>
            <p:nvPr/>
          </p:nvSpPr>
          <p:spPr>
            <a:xfrm>
              <a:off x="0" y="0"/>
              <a:ext cx="11144250" cy="5791200"/>
            </a:xfrm>
            <a:custGeom>
              <a:avLst/>
              <a:gdLst/>
              <a:ahLst/>
              <a:cxnLst/>
              <a:rect l="l" t="t" r="r" b="b"/>
              <a:pathLst>
                <a:path w="11144250" h="5791200">
                  <a:moveTo>
                    <a:pt x="0" y="0"/>
                  </a:moveTo>
                  <a:lnTo>
                    <a:pt x="11144250" y="0"/>
                  </a:lnTo>
                  <a:lnTo>
                    <a:pt x="11144250" y="5791200"/>
                  </a:lnTo>
                  <a:lnTo>
                    <a:pt x="0" y="5791200"/>
                  </a:lnTo>
                  <a:lnTo>
                    <a:pt x="0" y="0"/>
                  </a:lnTo>
                  <a:close/>
                </a:path>
              </a:pathLst>
            </a:custGeom>
            <a:blipFill>
              <a:blip r:embed="rId5"/>
              <a:stretch>
                <a:fillRect t="-657" b="-657"/>
              </a:stretch>
            </a:blipFill>
          </p:spPr>
        </p:sp>
      </p:grpSp>
      <p:grpSp>
        <p:nvGrpSpPr>
          <p:cNvPr id="11" name="Group 11"/>
          <p:cNvGrpSpPr/>
          <p:nvPr/>
        </p:nvGrpSpPr>
        <p:grpSpPr>
          <a:xfrm>
            <a:off x="928688" y="2386012"/>
            <a:ext cx="642938" cy="642938"/>
            <a:chOff x="0" y="0"/>
            <a:chExt cx="857250" cy="857250"/>
          </a:xfrm>
        </p:grpSpPr>
        <p:sp>
          <p:nvSpPr>
            <p:cNvPr id="12" name="Freeform 12" descr="preencoded.png"/>
            <p:cNvSpPr/>
            <p:nvPr/>
          </p:nvSpPr>
          <p:spPr>
            <a:xfrm>
              <a:off x="0" y="0"/>
              <a:ext cx="857250" cy="857250"/>
            </a:xfrm>
            <a:custGeom>
              <a:avLst/>
              <a:gdLst/>
              <a:ahLst/>
              <a:cxnLst/>
              <a:rect l="l" t="t" r="r" b="b"/>
              <a:pathLst>
                <a:path w="857250" h="857250">
                  <a:moveTo>
                    <a:pt x="0" y="0"/>
                  </a:moveTo>
                  <a:lnTo>
                    <a:pt x="857250" y="0"/>
                  </a:lnTo>
                  <a:lnTo>
                    <a:pt x="857250" y="857250"/>
                  </a:lnTo>
                  <a:lnTo>
                    <a:pt x="0" y="857250"/>
                  </a:lnTo>
                  <a:lnTo>
                    <a:pt x="0" y="0"/>
                  </a:lnTo>
                  <a:close/>
                </a:path>
              </a:pathLst>
            </a:custGeom>
            <a:blipFill>
              <a:blip r:embed="rId6"/>
              <a:stretch>
                <a:fillRect/>
              </a:stretch>
            </a:blipFill>
          </p:spPr>
        </p:sp>
      </p:grpSp>
      <p:grpSp>
        <p:nvGrpSpPr>
          <p:cNvPr id="13" name="Group 13"/>
          <p:cNvGrpSpPr/>
          <p:nvPr/>
        </p:nvGrpSpPr>
        <p:grpSpPr>
          <a:xfrm>
            <a:off x="1071562" y="2564606"/>
            <a:ext cx="357188" cy="285750"/>
            <a:chOff x="0" y="0"/>
            <a:chExt cx="476250" cy="381000"/>
          </a:xfrm>
        </p:grpSpPr>
        <p:sp>
          <p:nvSpPr>
            <p:cNvPr id="14" name="Freeform 14"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7"/>
              <a:stretch>
                <a:fillRect/>
              </a:stretch>
            </a:blipFill>
          </p:spPr>
        </p:sp>
      </p:grpSp>
      <p:grpSp>
        <p:nvGrpSpPr>
          <p:cNvPr id="15" name="Group 15"/>
          <p:cNvGrpSpPr/>
          <p:nvPr/>
        </p:nvGrpSpPr>
        <p:grpSpPr>
          <a:xfrm>
            <a:off x="928688" y="3371850"/>
            <a:ext cx="250031" cy="250031"/>
            <a:chOff x="0" y="0"/>
            <a:chExt cx="333375" cy="333375"/>
          </a:xfrm>
        </p:grpSpPr>
        <p:sp>
          <p:nvSpPr>
            <p:cNvPr id="16" name="Freeform 16" descr="preencoded.png"/>
            <p:cNvSpPr/>
            <p:nvPr/>
          </p:nvSpPr>
          <p:spPr>
            <a:xfrm>
              <a:off x="0" y="0"/>
              <a:ext cx="333375" cy="333375"/>
            </a:xfrm>
            <a:custGeom>
              <a:avLst/>
              <a:gdLst/>
              <a:ahLst/>
              <a:cxnLst/>
              <a:rect l="l" t="t" r="r" b="b"/>
              <a:pathLst>
                <a:path w="333375" h="333375">
                  <a:moveTo>
                    <a:pt x="0" y="0"/>
                  </a:moveTo>
                  <a:lnTo>
                    <a:pt x="333375" y="0"/>
                  </a:lnTo>
                  <a:lnTo>
                    <a:pt x="333375" y="333375"/>
                  </a:lnTo>
                  <a:lnTo>
                    <a:pt x="0" y="333375"/>
                  </a:lnTo>
                  <a:lnTo>
                    <a:pt x="0" y="0"/>
                  </a:lnTo>
                  <a:close/>
                </a:path>
              </a:pathLst>
            </a:custGeom>
            <a:blipFill>
              <a:blip r:embed="rId8"/>
              <a:stretch>
                <a:fillRect/>
              </a:stretch>
            </a:blipFill>
          </p:spPr>
        </p:sp>
      </p:grpSp>
      <p:grpSp>
        <p:nvGrpSpPr>
          <p:cNvPr id="17" name="Group 17"/>
          <p:cNvGrpSpPr/>
          <p:nvPr/>
        </p:nvGrpSpPr>
        <p:grpSpPr>
          <a:xfrm>
            <a:off x="928688" y="4271962"/>
            <a:ext cx="250031" cy="291551"/>
            <a:chOff x="0" y="0"/>
            <a:chExt cx="333375" cy="388734"/>
          </a:xfrm>
        </p:grpSpPr>
        <p:sp>
          <p:nvSpPr>
            <p:cNvPr id="18" name="Freeform 18" descr="preencoded.png"/>
            <p:cNvSpPr/>
            <p:nvPr/>
          </p:nvSpPr>
          <p:spPr>
            <a:xfrm>
              <a:off x="0" y="0"/>
              <a:ext cx="333375" cy="388747"/>
            </a:xfrm>
            <a:custGeom>
              <a:avLst/>
              <a:gdLst/>
              <a:ahLst/>
              <a:cxnLst/>
              <a:rect l="l" t="t" r="r" b="b"/>
              <a:pathLst>
                <a:path w="333375" h="388747">
                  <a:moveTo>
                    <a:pt x="0" y="0"/>
                  </a:moveTo>
                  <a:lnTo>
                    <a:pt x="333375" y="0"/>
                  </a:lnTo>
                  <a:lnTo>
                    <a:pt x="333375" y="388747"/>
                  </a:lnTo>
                  <a:lnTo>
                    <a:pt x="0" y="388747"/>
                  </a:lnTo>
                  <a:lnTo>
                    <a:pt x="0" y="0"/>
                  </a:lnTo>
                  <a:close/>
                </a:path>
              </a:pathLst>
            </a:custGeom>
            <a:blipFill>
              <a:blip r:embed="rId9"/>
              <a:stretch>
                <a:fillRect t="-26" b="-22"/>
              </a:stretch>
            </a:blipFill>
          </p:spPr>
        </p:sp>
      </p:grpSp>
      <p:grpSp>
        <p:nvGrpSpPr>
          <p:cNvPr id="19" name="Group 19"/>
          <p:cNvGrpSpPr/>
          <p:nvPr/>
        </p:nvGrpSpPr>
        <p:grpSpPr>
          <a:xfrm>
            <a:off x="928688" y="5172075"/>
            <a:ext cx="250031" cy="218780"/>
            <a:chOff x="0" y="0"/>
            <a:chExt cx="333375" cy="291706"/>
          </a:xfrm>
        </p:grpSpPr>
        <p:sp>
          <p:nvSpPr>
            <p:cNvPr id="20" name="Freeform 20" descr="preencoded.png"/>
            <p:cNvSpPr/>
            <p:nvPr/>
          </p:nvSpPr>
          <p:spPr>
            <a:xfrm>
              <a:off x="0" y="0"/>
              <a:ext cx="333375" cy="291719"/>
            </a:xfrm>
            <a:custGeom>
              <a:avLst/>
              <a:gdLst/>
              <a:ahLst/>
              <a:cxnLst/>
              <a:rect l="l" t="t" r="r" b="b"/>
              <a:pathLst>
                <a:path w="333375" h="291719">
                  <a:moveTo>
                    <a:pt x="0" y="0"/>
                  </a:moveTo>
                  <a:lnTo>
                    <a:pt x="333375" y="0"/>
                  </a:lnTo>
                  <a:lnTo>
                    <a:pt x="333375" y="291719"/>
                  </a:lnTo>
                  <a:lnTo>
                    <a:pt x="0" y="291719"/>
                  </a:lnTo>
                  <a:lnTo>
                    <a:pt x="0" y="0"/>
                  </a:lnTo>
                  <a:close/>
                </a:path>
              </a:pathLst>
            </a:custGeom>
            <a:blipFill>
              <a:blip r:embed="rId10"/>
              <a:stretch>
                <a:fillRect b="4"/>
              </a:stretch>
            </a:blipFill>
          </p:spPr>
        </p:sp>
      </p:grpSp>
      <p:grpSp>
        <p:nvGrpSpPr>
          <p:cNvPr id="21" name="Group 21"/>
          <p:cNvGrpSpPr/>
          <p:nvPr/>
        </p:nvGrpSpPr>
        <p:grpSpPr>
          <a:xfrm>
            <a:off x="9358312" y="2028825"/>
            <a:ext cx="8358188" cy="4343400"/>
            <a:chOff x="0" y="0"/>
            <a:chExt cx="11144250" cy="5791200"/>
          </a:xfrm>
        </p:grpSpPr>
        <p:sp>
          <p:nvSpPr>
            <p:cNvPr id="22" name="Freeform 22" descr="preencoded.png"/>
            <p:cNvSpPr/>
            <p:nvPr/>
          </p:nvSpPr>
          <p:spPr>
            <a:xfrm>
              <a:off x="0" y="0"/>
              <a:ext cx="11144250" cy="5791200"/>
            </a:xfrm>
            <a:custGeom>
              <a:avLst/>
              <a:gdLst/>
              <a:ahLst/>
              <a:cxnLst/>
              <a:rect l="l" t="t" r="r" b="b"/>
              <a:pathLst>
                <a:path w="11144250" h="5791200">
                  <a:moveTo>
                    <a:pt x="0" y="0"/>
                  </a:moveTo>
                  <a:lnTo>
                    <a:pt x="11144250" y="0"/>
                  </a:lnTo>
                  <a:lnTo>
                    <a:pt x="11144250" y="5791200"/>
                  </a:lnTo>
                  <a:lnTo>
                    <a:pt x="0" y="5791200"/>
                  </a:lnTo>
                  <a:lnTo>
                    <a:pt x="0" y="0"/>
                  </a:lnTo>
                  <a:close/>
                </a:path>
              </a:pathLst>
            </a:custGeom>
            <a:blipFill>
              <a:blip r:embed="rId5"/>
              <a:stretch>
                <a:fillRect t="-657" b="-657"/>
              </a:stretch>
            </a:blipFill>
          </p:spPr>
        </p:sp>
      </p:grpSp>
      <p:grpSp>
        <p:nvGrpSpPr>
          <p:cNvPr id="23" name="Group 23"/>
          <p:cNvGrpSpPr/>
          <p:nvPr/>
        </p:nvGrpSpPr>
        <p:grpSpPr>
          <a:xfrm>
            <a:off x="9715500" y="2386012"/>
            <a:ext cx="642938" cy="642938"/>
            <a:chOff x="0" y="0"/>
            <a:chExt cx="857250" cy="857250"/>
          </a:xfrm>
        </p:grpSpPr>
        <p:sp>
          <p:nvSpPr>
            <p:cNvPr id="24" name="Freeform 24" descr="preencoded.png"/>
            <p:cNvSpPr/>
            <p:nvPr/>
          </p:nvSpPr>
          <p:spPr>
            <a:xfrm>
              <a:off x="0" y="0"/>
              <a:ext cx="857250" cy="857250"/>
            </a:xfrm>
            <a:custGeom>
              <a:avLst/>
              <a:gdLst/>
              <a:ahLst/>
              <a:cxnLst/>
              <a:rect l="l" t="t" r="r" b="b"/>
              <a:pathLst>
                <a:path w="857250" h="857250">
                  <a:moveTo>
                    <a:pt x="0" y="0"/>
                  </a:moveTo>
                  <a:lnTo>
                    <a:pt x="857250" y="0"/>
                  </a:lnTo>
                  <a:lnTo>
                    <a:pt x="857250" y="857250"/>
                  </a:lnTo>
                  <a:lnTo>
                    <a:pt x="0" y="857250"/>
                  </a:lnTo>
                  <a:lnTo>
                    <a:pt x="0" y="0"/>
                  </a:lnTo>
                  <a:close/>
                </a:path>
              </a:pathLst>
            </a:custGeom>
            <a:blipFill>
              <a:blip r:embed="rId11"/>
              <a:stretch>
                <a:fillRect/>
              </a:stretch>
            </a:blipFill>
          </p:spPr>
        </p:sp>
      </p:grpSp>
      <p:grpSp>
        <p:nvGrpSpPr>
          <p:cNvPr id="25" name="Group 25"/>
          <p:cNvGrpSpPr/>
          <p:nvPr/>
        </p:nvGrpSpPr>
        <p:grpSpPr>
          <a:xfrm>
            <a:off x="9858375" y="2564606"/>
            <a:ext cx="357188" cy="285750"/>
            <a:chOff x="0" y="0"/>
            <a:chExt cx="476250" cy="381000"/>
          </a:xfrm>
        </p:grpSpPr>
        <p:sp>
          <p:nvSpPr>
            <p:cNvPr id="26" name="Freeform 26"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12"/>
              <a:stretch>
                <a:fillRect/>
              </a:stretch>
            </a:blipFill>
          </p:spPr>
        </p:sp>
      </p:grpSp>
      <p:grpSp>
        <p:nvGrpSpPr>
          <p:cNvPr id="27" name="Group 27"/>
          <p:cNvGrpSpPr/>
          <p:nvPr/>
        </p:nvGrpSpPr>
        <p:grpSpPr>
          <a:xfrm>
            <a:off x="9715500" y="3371850"/>
            <a:ext cx="250031" cy="250031"/>
            <a:chOff x="0" y="0"/>
            <a:chExt cx="333375" cy="333375"/>
          </a:xfrm>
        </p:grpSpPr>
        <p:sp>
          <p:nvSpPr>
            <p:cNvPr id="28" name="Freeform 28" descr="preencoded.png"/>
            <p:cNvSpPr/>
            <p:nvPr/>
          </p:nvSpPr>
          <p:spPr>
            <a:xfrm>
              <a:off x="0" y="0"/>
              <a:ext cx="333375" cy="333375"/>
            </a:xfrm>
            <a:custGeom>
              <a:avLst/>
              <a:gdLst/>
              <a:ahLst/>
              <a:cxnLst/>
              <a:rect l="l" t="t" r="r" b="b"/>
              <a:pathLst>
                <a:path w="333375" h="333375">
                  <a:moveTo>
                    <a:pt x="0" y="0"/>
                  </a:moveTo>
                  <a:lnTo>
                    <a:pt x="333375" y="0"/>
                  </a:lnTo>
                  <a:lnTo>
                    <a:pt x="333375" y="333375"/>
                  </a:lnTo>
                  <a:lnTo>
                    <a:pt x="0" y="333375"/>
                  </a:lnTo>
                  <a:lnTo>
                    <a:pt x="0" y="0"/>
                  </a:lnTo>
                  <a:close/>
                </a:path>
              </a:pathLst>
            </a:custGeom>
            <a:blipFill>
              <a:blip r:embed="rId13"/>
              <a:stretch>
                <a:fillRect/>
              </a:stretch>
            </a:blipFill>
          </p:spPr>
        </p:sp>
      </p:grpSp>
      <p:grpSp>
        <p:nvGrpSpPr>
          <p:cNvPr id="29" name="Group 29"/>
          <p:cNvGrpSpPr/>
          <p:nvPr/>
        </p:nvGrpSpPr>
        <p:grpSpPr>
          <a:xfrm>
            <a:off x="9715500" y="4271962"/>
            <a:ext cx="250031" cy="250031"/>
            <a:chOff x="0" y="0"/>
            <a:chExt cx="333375" cy="333375"/>
          </a:xfrm>
        </p:grpSpPr>
        <p:sp>
          <p:nvSpPr>
            <p:cNvPr id="30" name="Freeform 30" descr="preencoded.png"/>
            <p:cNvSpPr/>
            <p:nvPr/>
          </p:nvSpPr>
          <p:spPr>
            <a:xfrm>
              <a:off x="0" y="0"/>
              <a:ext cx="333375" cy="333375"/>
            </a:xfrm>
            <a:custGeom>
              <a:avLst/>
              <a:gdLst/>
              <a:ahLst/>
              <a:cxnLst/>
              <a:rect l="l" t="t" r="r" b="b"/>
              <a:pathLst>
                <a:path w="333375" h="333375">
                  <a:moveTo>
                    <a:pt x="0" y="0"/>
                  </a:moveTo>
                  <a:lnTo>
                    <a:pt x="333375" y="0"/>
                  </a:lnTo>
                  <a:lnTo>
                    <a:pt x="333375" y="333375"/>
                  </a:lnTo>
                  <a:lnTo>
                    <a:pt x="0" y="333375"/>
                  </a:lnTo>
                  <a:lnTo>
                    <a:pt x="0" y="0"/>
                  </a:lnTo>
                  <a:close/>
                </a:path>
              </a:pathLst>
            </a:custGeom>
            <a:blipFill>
              <a:blip r:embed="rId13"/>
              <a:stretch>
                <a:fillRect/>
              </a:stretch>
            </a:blipFill>
          </p:spPr>
        </p:sp>
      </p:grpSp>
      <p:grpSp>
        <p:nvGrpSpPr>
          <p:cNvPr id="31" name="Group 31"/>
          <p:cNvGrpSpPr/>
          <p:nvPr/>
        </p:nvGrpSpPr>
        <p:grpSpPr>
          <a:xfrm>
            <a:off x="9715500" y="5172075"/>
            <a:ext cx="250031" cy="250031"/>
            <a:chOff x="0" y="0"/>
            <a:chExt cx="333375" cy="333375"/>
          </a:xfrm>
        </p:grpSpPr>
        <p:sp>
          <p:nvSpPr>
            <p:cNvPr id="32" name="Freeform 32" descr="preencoded.png"/>
            <p:cNvSpPr/>
            <p:nvPr/>
          </p:nvSpPr>
          <p:spPr>
            <a:xfrm>
              <a:off x="0" y="0"/>
              <a:ext cx="333375" cy="333375"/>
            </a:xfrm>
            <a:custGeom>
              <a:avLst/>
              <a:gdLst/>
              <a:ahLst/>
              <a:cxnLst/>
              <a:rect l="l" t="t" r="r" b="b"/>
              <a:pathLst>
                <a:path w="333375" h="333375">
                  <a:moveTo>
                    <a:pt x="0" y="0"/>
                  </a:moveTo>
                  <a:lnTo>
                    <a:pt x="333375" y="0"/>
                  </a:lnTo>
                  <a:lnTo>
                    <a:pt x="333375" y="333375"/>
                  </a:lnTo>
                  <a:lnTo>
                    <a:pt x="0" y="333375"/>
                  </a:lnTo>
                  <a:lnTo>
                    <a:pt x="0" y="0"/>
                  </a:lnTo>
                  <a:close/>
                </a:path>
              </a:pathLst>
            </a:custGeom>
            <a:blipFill>
              <a:blip r:embed="rId13"/>
              <a:stretch>
                <a:fillRect/>
              </a:stretch>
            </a:blipFill>
          </p:spPr>
        </p:sp>
      </p:grpSp>
      <p:grpSp>
        <p:nvGrpSpPr>
          <p:cNvPr id="33" name="Group 33"/>
          <p:cNvGrpSpPr/>
          <p:nvPr/>
        </p:nvGrpSpPr>
        <p:grpSpPr>
          <a:xfrm>
            <a:off x="571500" y="6943725"/>
            <a:ext cx="4071938" cy="1485900"/>
            <a:chOff x="0" y="0"/>
            <a:chExt cx="5429250" cy="1981200"/>
          </a:xfrm>
        </p:grpSpPr>
        <p:sp>
          <p:nvSpPr>
            <p:cNvPr id="34" name="Freeform 34" descr="preencoded.png"/>
            <p:cNvSpPr/>
            <p:nvPr/>
          </p:nvSpPr>
          <p:spPr>
            <a:xfrm>
              <a:off x="0" y="0"/>
              <a:ext cx="5429250" cy="1981200"/>
            </a:xfrm>
            <a:custGeom>
              <a:avLst/>
              <a:gdLst/>
              <a:ahLst/>
              <a:cxnLst/>
              <a:rect l="l" t="t" r="r" b="b"/>
              <a:pathLst>
                <a:path w="5429250" h="1981200">
                  <a:moveTo>
                    <a:pt x="0" y="0"/>
                  </a:moveTo>
                  <a:lnTo>
                    <a:pt x="5429250" y="0"/>
                  </a:lnTo>
                  <a:lnTo>
                    <a:pt x="5429250" y="1981200"/>
                  </a:lnTo>
                  <a:lnTo>
                    <a:pt x="0" y="1981200"/>
                  </a:lnTo>
                  <a:lnTo>
                    <a:pt x="0" y="0"/>
                  </a:lnTo>
                  <a:close/>
                </a:path>
              </a:pathLst>
            </a:custGeom>
            <a:blipFill>
              <a:blip r:embed="rId14"/>
              <a:stretch>
                <a:fillRect t="-961" b="-961"/>
              </a:stretch>
            </a:blipFill>
          </p:spPr>
        </p:sp>
      </p:grpSp>
      <p:grpSp>
        <p:nvGrpSpPr>
          <p:cNvPr id="35" name="Group 35"/>
          <p:cNvGrpSpPr/>
          <p:nvPr/>
        </p:nvGrpSpPr>
        <p:grpSpPr>
          <a:xfrm>
            <a:off x="2071468" y="7158038"/>
            <a:ext cx="1071782" cy="314325"/>
            <a:chOff x="0" y="0"/>
            <a:chExt cx="1429042" cy="419100"/>
          </a:xfrm>
        </p:grpSpPr>
        <p:sp>
          <p:nvSpPr>
            <p:cNvPr id="36" name="Freeform 36" descr="preencoded.png"/>
            <p:cNvSpPr/>
            <p:nvPr/>
          </p:nvSpPr>
          <p:spPr>
            <a:xfrm>
              <a:off x="0" y="0"/>
              <a:ext cx="1429004" cy="419100"/>
            </a:xfrm>
            <a:custGeom>
              <a:avLst/>
              <a:gdLst/>
              <a:ahLst/>
              <a:cxnLst/>
              <a:rect l="l" t="t" r="r" b="b"/>
              <a:pathLst>
                <a:path w="1429004" h="419100">
                  <a:moveTo>
                    <a:pt x="0" y="0"/>
                  </a:moveTo>
                  <a:lnTo>
                    <a:pt x="1429004" y="0"/>
                  </a:lnTo>
                  <a:lnTo>
                    <a:pt x="1429004" y="419100"/>
                  </a:lnTo>
                  <a:lnTo>
                    <a:pt x="0" y="419100"/>
                  </a:lnTo>
                  <a:lnTo>
                    <a:pt x="0" y="0"/>
                  </a:lnTo>
                  <a:close/>
                </a:path>
              </a:pathLst>
            </a:custGeom>
            <a:blipFill>
              <a:blip r:embed="rId15"/>
              <a:stretch>
                <a:fillRect t="-9" r="-2" b="-12"/>
              </a:stretch>
            </a:blipFill>
          </p:spPr>
        </p:sp>
      </p:grpSp>
      <p:grpSp>
        <p:nvGrpSpPr>
          <p:cNvPr id="37" name="Group 37"/>
          <p:cNvGrpSpPr/>
          <p:nvPr/>
        </p:nvGrpSpPr>
        <p:grpSpPr>
          <a:xfrm>
            <a:off x="4929188" y="6943725"/>
            <a:ext cx="4071938" cy="1485900"/>
            <a:chOff x="0" y="0"/>
            <a:chExt cx="5429250" cy="1981200"/>
          </a:xfrm>
        </p:grpSpPr>
        <p:sp>
          <p:nvSpPr>
            <p:cNvPr id="38" name="Freeform 38" descr="preencoded.png"/>
            <p:cNvSpPr/>
            <p:nvPr/>
          </p:nvSpPr>
          <p:spPr>
            <a:xfrm>
              <a:off x="0" y="0"/>
              <a:ext cx="5429250" cy="1981200"/>
            </a:xfrm>
            <a:custGeom>
              <a:avLst/>
              <a:gdLst/>
              <a:ahLst/>
              <a:cxnLst/>
              <a:rect l="l" t="t" r="r" b="b"/>
              <a:pathLst>
                <a:path w="5429250" h="1981200">
                  <a:moveTo>
                    <a:pt x="0" y="0"/>
                  </a:moveTo>
                  <a:lnTo>
                    <a:pt x="5429250" y="0"/>
                  </a:lnTo>
                  <a:lnTo>
                    <a:pt x="5429250" y="1981200"/>
                  </a:lnTo>
                  <a:lnTo>
                    <a:pt x="0" y="1981200"/>
                  </a:lnTo>
                  <a:lnTo>
                    <a:pt x="0" y="0"/>
                  </a:lnTo>
                  <a:close/>
                </a:path>
              </a:pathLst>
            </a:custGeom>
            <a:blipFill>
              <a:blip r:embed="rId16"/>
              <a:stretch>
                <a:fillRect t="-961" b="-961"/>
              </a:stretch>
            </a:blipFill>
          </p:spPr>
        </p:sp>
      </p:grpSp>
      <p:grpSp>
        <p:nvGrpSpPr>
          <p:cNvPr id="39" name="Group 39"/>
          <p:cNvGrpSpPr/>
          <p:nvPr/>
        </p:nvGrpSpPr>
        <p:grpSpPr>
          <a:xfrm>
            <a:off x="6429156" y="7158038"/>
            <a:ext cx="1071782" cy="314325"/>
            <a:chOff x="0" y="0"/>
            <a:chExt cx="1429042" cy="419100"/>
          </a:xfrm>
        </p:grpSpPr>
        <p:sp>
          <p:nvSpPr>
            <p:cNvPr id="40" name="Freeform 40" descr="preencoded.png"/>
            <p:cNvSpPr/>
            <p:nvPr/>
          </p:nvSpPr>
          <p:spPr>
            <a:xfrm>
              <a:off x="0" y="0"/>
              <a:ext cx="1429004" cy="419100"/>
            </a:xfrm>
            <a:custGeom>
              <a:avLst/>
              <a:gdLst/>
              <a:ahLst/>
              <a:cxnLst/>
              <a:rect l="l" t="t" r="r" b="b"/>
              <a:pathLst>
                <a:path w="1429004" h="419100">
                  <a:moveTo>
                    <a:pt x="0" y="0"/>
                  </a:moveTo>
                  <a:lnTo>
                    <a:pt x="1429004" y="0"/>
                  </a:lnTo>
                  <a:lnTo>
                    <a:pt x="1429004" y="419100"/>
                  </a:lnTo>
                  <a:lnTo>
                    <a:pt x="0" y="419100"/>
                  </a:lnTo>
                  <a:lnTo>
                    <a:pt x="0" y="0"/>
                  </a:lnTo>
                  <a:close/>
                </a:path>
              </a:pathLst>
            </a:custGeom>
            <a:blipFill>
              <a:blip r:embed="rId17"/>
              <a:stretch>
                <a:fillRect t="-9" r="-2" b="-12"/>
              </a:stretch>
            </a:blipFill>
          </p:spPr>
        </p:sp>
      </p:grpSp>
      <p:grpSp>
        <p:nvGrpSpPr>
          <p:cNvPr id="41" name="Group 41"/>
          <p:cNvGrpSpPr/>
          <p:nvPr/>
        </p:nvGrpSpPr>
        <p:grpSpPr>
          <a:xfrm>
            <a:off x="9286875" y="6943725"/>
            <a:ext cx="4071938" cy="1485900"/>
            <a:chOff x="0" y="0"/>
            <a:chExt cx="5429250" cy="1981200"/>
          </a:xfrm>
        </p:grpSpPr>
        <p:sp>
          <p:nvSpPr>
            <p:cNvPr id="42" name="Freeform 42" descr="preencoded.png"/>
            <p:cNvSpPr/>
            <p:nvPr/>
          </p:nvSpPr>
          <p:spPr>
            <a:xfrm>
              <a:off x="0" y="0"/>
              <a:ext cx="5429250" cy="1981200"/>
            </a:xfrm>
            <a:custGeom>
              <a:avLst/>
              <a:gdLst/>
              <a:ahLst/>
              <a:cxnLst/>
              <a:rect l="l" t="t" r="r" b="b"/>
              <a:pathLst>
                <a:path w="5429250" h="1981200">
                  <a:moveTo>
                    <a:pt x="0" y="0"/>
                  </a:moveTo>
                  <a:lnTo>
                    <a:pt x="5429250" y="0"/>
                  </a:lnTo>
                  <a:lnTo>
                    <a:pt x="5429250" y="1981200"/>
                  </a:lnTo>
                  <a:lnTo>
                    <a:pt x="0" y="1981200"/>
                  </a:lnTo>
                  <a:lnTo>
                    <a:pt x="0" y="0"/>
                  </a:lnTo>
                  <a:close/>
                </a:path>
              </a:pathLst>
            </a:custGeom>
            <a:blipFill>
              <a:blip r:embed="rId18"/>
              <a:stretch>
                <a:fillRect t="-783" b="-783"/>
              </a:stretch>
            </a:blipFill>
          </p:spPr>
        </p:sp>
      </p:grpSp>
      <p:grpSp>
        <p:nvGrpSpPr>
          <p:cNvPr id="43" name="Group 43"/>
          <p:cNvGrpSpPr/>
          <p:nvPr/>
        </p:nvGrpSpPr>
        <p:grpSpPr>
          <a:xfrm>
            <a:off x="10786843" y="7158038"/>
            <a:ext cx="1071782" cy="314325"/>
            <a:chOff x="0" y="0"/>
            <a:chExt cx="1429042" cy="419100"/>
          </a:xfrm>
        </p:grpSpPr>
        <p:sp>
          <p:nvSpPr>
            <p:cNvPr id="44" name="Freeform 44" descr="preencoded.png"/>
            <p:cNvSpPr/>
            <p:nvPr/>
          </p:nvSpPr>
          <p:spPr>
            <a:xfrm>
              <a:off x="0" y="0"/>
              <a:ext cx="1429004" cy="419100"/>
            </a:xfrm>
            <a:custGeom>
              <a:avLst/>
              <a:gdLst/>
              <a:ahLst/>
              <a:cxnLst/>
              <a:rect l="l" t="t" r="r" b="b"/>
              <a:pathLst>
                <a:path w="1429004" h="419100">
                  <a:moveTo>
                    <a:pt x="0" y="0"/>
                  </a:moveTo>
                  <a:lnTo>
                    <a:pt x="1429004" y="0"/>
                  </a:lnTo>
                  <a:lnTo>
                    <a:pt x="1429004" y="419100"/>
                  </a:lnTo>
                  <a:lnTo>
                    <a:pt x="0" y="419100"/>
                  </a:lnTo>
                  <a:lnTo>
                    <a:pt x="0" y="0"/>
                  </a:lnTo>
                  <a:close/>
                </a:path>
              </a:pathLst>
            </a:custGeom>
            <a:blipFill>
              <a:blip r:embed="rId19"/>
              <a:stretch>
                <a:fillRect t="-9" r="-2" b="-12"/>
              </a:stretch>
            </a:blipFill>
          </p:spPr>
        </p:sp>
      </p:grpSp>
      <p:grpSp>
        <p:nvGrpSpPr>
          <p:cNvPr id="45" name="Group 45"/>
          <p:cNvGrpSpPr/>
          <p:nvPr/>
        </p:nvGrpSpPr>
        <p:grpSpPr>
          <a:xfrm>
            <a:off x="13644562" y="6943725"/>
            <a:ext cx="4071938" cy="1485900"/>
            <a:chOff x="0" y="0"/>
            <a:chExt cx="5429250" cy="1981200"/>
          </a:xfrm>
        </p:grpSpPr>
        <p:sp>
          <p:nvSpPr>
            <p:cNvPr id="46" name="Freeform 46" descr="preencoded.png"/>
            <p:cNvSpPr/>
            <p:nvPr/>
          </p:nvSpPr>
          <p:spPr>
            <a:xfrm>
              <a:off x="0" y="0"/>
              <a:ext cx="5429250" cy="1981200"/>
            </a:xfrm>
            <a:custGeom>
              <a:avLst/>
              <a:gdLst/>
              <a:ahLst/>
              <a:cxnLst/>
              <a:rect l="l" t="t" r="r" b="b"/>
              <a:pathLst>
                <a:path w="5429250" h="1981200">
                  <a:moveTo>
                    <a:pt x="0" y="0"/>
                  </a:moveTo>
                  <a:lnTo>
                    <a:pt x="5429250" y="0"/>
                  </a:lnTo>
                  <a:lnTo>
                    <a:pt x="5429250" y="1981200"/>
                  </a:lnTo>
                  <a:lnTo>
                    <a:pt x="0" y="1981200"/>
                  </a:lnTo>
                  <a:lnTo>
                    <a:pt x="0" y="0"/>
                  </a:lnTo>
                  <a:close/>
                </a:path>
              </a:pathLst>
            </a:custGeom>
            <a:blipFill>
              <a:blip r:embed="rId20"/>
              <a:stretch>
                <a:fillRect t="-783" b="-783"/>
              </a:stretch>
            </a:blipFill>
          </p:spPr>
        </p:sp>
      </p:grpSp>
      <p:grpSp>
        <p:nvGrpSpPr>
          <p:cNvPr id="47" name="Group 47"/>
          <p:cNvGrpSpPr/>
          <p:nvPr/>
        </p:nvGrpSpPr>
        <p:grpSpPr>
          <a:xfrm>
            <a:off x="15144531" y="7158038"/>
            <a:ext cx="1071782" cy="314325"/>
            <a:chOff x="0" y="0"/>
            <a:chExt cx="1429042" cy="419100"/>
          </a:xfrm>
        </p:grpSpPr>
        <p:sp>
          <p:nvSpPr>
            <p:cNvPr id="48" name="Freeform 48" descr="preencoded.png"/>
            <p:cNvSpPr/>
            <p:nvPr/>
          </p:nvSpPr>
          <p:spPr>
            <a:xfrm>
              <a:off x="0" y="0"/>
              <a:ext cx="1429004" cy="419100"/>
            </a:xfrm>
            <a:custGeom>
              <a:avLst/>
              <a:gdLst/>
              <a:ahLst/>
              <a:cxnLst/>
              <a:rect l="l" t="t" r="r" b="b"/>
              <a:pathLst>
                <a:path w="1429004" h="419100">
                  <a:moveTo>
                    <a:pt x="0" y="0"/>
                  </a:moveTo>
                  <a:lnTo>
                    <a:pt x="1429004" y="0"/>
                  </a:lnTo>
                  <a:lnTo>
                    <a:pt x="1429004" y="419100"/>
                  </a:lnTo>
                  <a:lnTo>
                    <a:pt x="0" y="419100"/>
                  </a:lnTo>
                  <a:lnTo>
                    <a:pt x="0" y="0"/>
                  </a:lnTo>
                  <a:close/>
                </a:path>
              </a:pathLst>
            </a:custGeom>
            <a:blipFill>
              <a:blip r:embed="rId15"/>
              <a:stretch>
                <a:fillRect t="-9" r="-2" b="-12"/>
              </a:stretch>
            </a:blipFill>
          </p:spPr>
        </p:sp>
      </p:grpSp>
      <p:grpSp>
        <p:nvGrpSpPr>
          <p:cNvPr id="49" name="Group 49"/>
          <p:cNvGrpSpPr/>
          <p:nvPr/>
        </p:nvGrpSpPr>
        <p:grpSpPr>
          <a:xfrm>
            <a:off x="1000125" y="642938"/>
            <a:ext cx="16287750" cy="514350"/>
            <a:chOff x="0" y="0"/>
            <a:chExt cx="21717000" cy="685800"/>
          </a:xfrm>
        </p:grpSpPr>
        <p:sp>
          <p:nvSpPr>
            <p:cNvPr id="50" name="Freeform 50"/>
            <p:cNvSpPr/>
            <p:nvPr/>
          </p:nvSpPr>
          <p:spPr>
            <a:xfrm>
              <a:off x="0" y="0"/>
              <a:ext cx="21717000" cy="685800"/>
            </a:xfrm>
            <a:custGeom>
              <a:avLst/>
              <a:gdLst/>
              <a:ahLst/>
              <a:cxnLst/>
              <a:rect l="l" t="t" r="r" b="b"/>
              <a:pathLst>
                <a:path w="21717000" h="685800">
                  <a:moveTo>
                    <a:pt x="0" y="0"/>
                  </a:moveTo>
                  <a:lnTo>
                    <a:pt x="21717000" y="0"/>
                  </a:lnTo>
                  <a:lnTo>
                    <a:pt x="21717000" y="685800"/>
                  </a:lnTo>
                  <a:lnTo>
                    <a:pt x="0" y="685800"/>
                  </a:lnTo>
                  <a:close/>
                </a:path>
              </a:pathLst>
            </a:custGeom>
            <a:blipFill>
              <a:blip r:embed="rId21">
                <a:alphaModFix amt="0"/>
              </a:blip>
              <a:stretch>
                <a:fillRect t="-567026" b="-567026"/>
              </a:stretch>
            </a:blipFill>
          </p:spPr>
        </p:sp>
        <p:sp>
          <p:nvSpPr>
            <p:cNvPr id="51" name="TextBox 51"/>
            <p:cNvSpPr txBox="1"/>
            <p:nvPr/>
          </p:nvSpPr>
          <p:spPr>
            <a:xfrm>
              <a:off x="0" y="-133350"/>
              <a:ext cx="217170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MỞ ĐẦU VÀ MỤC TIÊU ĐỀ TÀI</a:t>
              </a:r>
            </a:p>
          </p:txBody>
        </p:sp>
      </p:grpSp>
      <p:grpSp>
        <p:nvGrpSpPr>
          <p:cNvPr id="52" name="Group 52"/>
          <p:cNvGrpSpPr/>
          <p:nvPr/>
        </p:nvGrpSpPr>
        <p:grpSpPr>
          <a:xfrm>
            <a:off x="1000125" y="1228725"/>
            <a:ext cx="17287875" cy="300038"/>
            <a:chOff x="0" y="0"/>
            <a:chExt cx="23050500" cy="400050"/>
          </a:xfrm>
        </p:grpSpPr>
        <p:sp>
          <p:nvSpPr>
            <p:cNvPr id="53" name="Freeform 53"/>
            <p:cNvSpPr/>
            <p:nvPr/>
          </p:nvSpPr>
          <p:spPr>
            <a:xfrm>
              <a:off x="0" y="0"/>
              <a:ext cx="23050500" cy="400050"/>
            </a:xfrm>
            <a:custGeom>
              <a:avLst/>
              <a:gdLst/>
              <a:ahLst/>
              <a:cxnLst/>
              <a:rect l="l" t="t" r="r" b="b"/>
              <a:pathLst>
                <a:path w="23050500" h="400050">
                  <a:moveTo>
                    <a:pt x="0" y="0"/>
                  </a:moveTo>
                  <a:lnTo>
                    <a:pt x="23050500" y="0"/>
                  </a:lnTo>
                  <a:lnTo>
                    <a:pt x="23050500" y="400050"/>
                  </a:lnTo>
                  <a:lnTo>
                    <a:pt x="0" y="400050"/>
                  </a:lnTo>
                  <a:close/>
                </a:path>
              </a:pathLst>
            </a:custGeom>
            <a:blipFill>
              <a:blip r:embed="rId21">
                <a:alphaModFix amt="0"/>
              </a:blip>
              <a:stretch>
                <a:fillRect t="-1072709" b="-1072709"/>
              </a:stretch>
            </a:blipFill>
          </p:spPr>
        </p:sp>
        <p:sp>
          <p:nvSpPr>
            <p:cNvPr id="54" name="TextBox 54"/>
            <p:cNvSpPr txBox="1"/>
            <p:nvPr/>
          </p:nvSpPr>
          <p:spPr>
            <a:xfrm>
              <a:off x="0" y="-66675"/>
              <a:ext cx="230505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Vai trò của Big Data trong bán lẻ &amp; Quy trình xây dựng hệ thống phân tích</a:t>
              </a:r>
            </a:p>
          </p:txBody>
        </p:sp>
      </p:grpSp>
      <p:grpSp>
        <p:nvGrpSpPr>
          <p:cNvPr id="55" name="Group 55"/>
          <p:cNvGrpSpPr/>
          <p:nvPr/>
        </p:nvGrpSpPr>
        <p:grpSpPr>
          <a:xfrm>
            <a:off x="1785938" y="2514600"/>
            <a:ext cx="7715250" cy="385762"/>
            <a:chOff x="0" y="0"/>
            <a:chExt cx="10287000" cy="514350"/>
          </a:xfrm>
        </p:grpSpPr>
        <p:sp>
          <p:nvSpPr>
            <p:cNvPr id="56" name="Freeform 56"/>
            <p:cNvSpPr/>
            <p:nvPr/>
          </p:nvSpPr>
          <p:spPr>
            <a:xfrm>
              <a:off x="0" y="0"/>
              <a:ext cx="10287000" cy="514350"/>
            </a:xfrm>
            <a:custGeom>
              <a:avLst/>
              <a:gdLst/>
              <a:ahLst/>
              <a:cxnLst/>
              <a:rect l="l" t="t" r="r" b="b"/>
              <a:pathLst>
                <a:path w="10287000" h="514350">
                  <a:moveTo>
                    <a:pt x="0" y="0"/>
                  </a:moveTo>
                  <a:lnTo>
                    <a:pt x="10287000" y="0"/>
                  </a:lnTo>
                  <a:lnTo>
                    <a:pt x="10287000" y="514350"/>
                  </a:lnTo>
                  <a:lnTo>
                    <a:pt x="0" y="514350"/>
                  </a:lnTo>
                  <a:close/>
                </a:path>
              </a:pathLst>
            </a:custGeom>
            <a:blipFill>
              <a:blip r:embed="rId21">
                <a:alphaModFix amt="0"/>
              </a:blip>
              <a:stretch>
                <a:fillRect t="-339700" b="-339700"/>
              </a:stretch>
            </a:blipFill>
          </p:spPr>
        </p:sp>
        <p:sp>
          <p:nvSpPr>
            <p:cNvPr id="57" name="TextBox 57"/>
            <p:cNvSpPr txBox="1"/>
            <p:nvPr/>
          </p:nvSpPr>
          <p:spPr>
            <a:xfrm>
              <a:off x="0" y="-95250"/>
              <a:ext cx="1028700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Bối cảnh &amp; Tầm quan trọng</a:t>
              </a:r>
            </a:p>
          </p:txBody>
        </p:sp>
      </p:grpSp>
      <p:grpSp>
        <p:nvGrpSpPr>
          <p:cNvPr id="58" name="Group 58"/>
          <p:cNvGrpSpPr/>
          <p:nvPr/>
        </p:nvGrpSpPr>
        <p:grpSpPr>
          <a:xfrm>
            <a:off x="1350169" y="3314700"/>
            <a:ext cx="7222331" cy="685800"/>
            <a:chOff x="0" y="0"/>
            <a:chExt cx="9629775" cy="914400"/>
          </a:xfrm>
        </p:grpSpPr>
        <p:sp>
          <p:nvSpPr>
            <p:cNvPr id="59" name="Freeform 59"/>
            <p:cNvSpPr/>
            <p:nvPr/>
          </p:nvSpPr>
          <p:spPr>
            <a:xfrm>
              <a:off x="0" y="0"/>
              <a:ext cx="9629776" cy="914400"/>
            </a:xfrm>
            <a:custGeom>
              <a:avLst/>
              <a:gdLst/>
              <a:ahLst/>
              <a:cxnLst/>
              <a:rect l="l" t="t" r="r" b="b"/>
              <a:pathLst>
                <a:path w="9629776" h="914400">
                  <a:moveTo>
                    <a:pt x="0" y="0"/>
                  </a:moveTo>
                  <a:lnTo>
                    <a:pt x="9629776" y="0"/>
                  </a:lnTo>
                  <a:lnTo>
                    <a:pt x="9629776" y="914400"/>
                  </a:lnTo>
                  <a:lnTo>
                    <a:pt x="0" y="914400"/>
                  </a:lnTo>
                  <a:close/>
                </a:path>
              </a:pathLst>
            </a:custGeom>
            <a:blipFill>
              <a:blip r:embed="rId21">
                <a:alphaModFix amt="0"/>
              </a:blip>
              <a:stretch>
                <a:fillRect t="-155201" b="-155201"/>
              </a:stretch>
            </a:blipFill>
          </p:spPr>
        </p:sp>
        <p:sp>
          <p:nvSpPr>
            <p:cNvPr id="60" name="TextBox 60"/>
            <p:cNvSpPr txBox="1"/>
            <p:nvPr/>
          </p:nvSpPr>
          <p:spPr>
            <a:xfrm>
              <a:off x="0" y="-104775"/>
              <a:ext cx="9629775"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Trong kỷ nguyên số, Big Data là chìa khóa giúp doanh nghiệp bán lẻ tối ưu hóa chiến lược kinh doanh.</a:t>
              </a:r>
            </a:p>
          </p:txBody>
        </p:sp>
      </p:grpSp>
      <p:grpSp>
        <p:nvGrpSpPr>
          <p:cNvPr id="61" name="Group 61"/>
          <p:cNvGrpSpPr/>
          <p:nvPr/>
        </p:nvGrpSpPr>
        <p:grpSpPr>
          <a:xfrm>
            <a:off x="1350169" y="4214812"/>
            <a:ext cx="7222331" cy="685800"/>
            <a:chOff x="0" y="0"/>
            <a:chExt cx="9629775" cy="914400"/>
          </a:xfrm>
        </p:grpSpPr>
        <p:sp>
          <p:nvSpPr>
            <p:cNvPr id="62" name="Freeform 62"/>
            <p:cNvSpPr/>
            <p:nvPr/>
          </p:nvSpPr>
          <p:spPr>
            <a:xfrm>
              <a:off x="0" y="0"/>
              <a:ext cx="9629776" cy="914400"/>
            </a:xfrm>
            <a:custGeom>
              <a:avLst/>
              <a:gdLst/>
              <a:ahLst/>
              <a:cxnLst/>
              <a:rect l="l" t="t" r="r" b="b"/>
              <a:pathLst>
                <a:path w="9629776" h="914400">
                  <a:moveTo>
                    <a:pt x="0" y="0"/>
                  </a:moveTo>
                  <a:lnTo>
                    <a:pt x="9629776" y="0"/>
                  </a:lnTo>
                  <a:lnTo>
                    <a:pt x="9629776" y="914400"/>
                  </a:lnTo>
                  <a:lnTo>
                    <a:pt x="0" y="914400"/>
                  </a:lnTo>
                  <a:close/>
                </a:path>
              </a:pathLst>
            </a:custGeom>
            <a:blipFill>
              <a:blip r:embed="rId21">
                <a:alphaModFix amt="0"/>
              </a:blip>
              <a:stretch>
                <a:fillRect t="-155201" b="-155201"/>
              </a:stretch>
            </a:blipFill>
          </p:spPr>
        </p:sp>
        <p:sp>
          <p:nvSpPr>
            <p:cNvPr id="63" name="TextBox 63"/>
            <p:cNvSpPr txBox="1"/>
            <p:nvPr/>
          </p:nvSpPr>
          <p:spPr>
            <a:xfrm>
              <a:off x="0" y="-104775"/>
              <a:ext cx="9629775"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Phân tích dữ liệu lớn giúp thấu hiểu sâu sắc hành vi khách hàng và dự báo xu hướng thị trường chính xác.</a:t>
              </a:r>
            </a:p>
          </p:txBody>
        </p:sp>
      </p:grpSp>
      <p:grpSp>
        <p:nvGrpSpPr>
          <p:cNvPr id="64" name="Group 64"/>
          <p:cNvGrpSpPr/>
          <p:nvPr/>
        </p:nvGrpSpPr>
        <p:grpSpPr>
          <a:xfrm>
            <a:off x="1350169" y="5114925"/>
            <a:ext cx="7222331" cy="685800"/>
            <a:chOff x="0" y="0"/>
            <a:chExt cx="9629775" cy="914400"/>
          </a:xfrm>
        </p:grpSpPr>
        <p:sp>
          <p:nvSpPr>
            <p:cNvPr id="65" name="Freeform 65"/>
            <p:cNvSpPr/>
            <p:nvPr/>
          </p:nvSpPr>
          <p:spPr>
            <a:xfrm>
              <a:off x="0" y="0"/>
              <a:ext cx="9629776" cy="914400"/>
            </a:xfrm>
            <a:custGeom>
              <a:avLst/>
              <a:gdLst/>
              <a:ahLst/>
              <a:cxnLst/>
              <a:rect l="l" t="t" r="r" b="b"/>
              <a:pathLst>
                <a:path w="9629776" h="914400">
                  <a:moveTo>
                    <a:pt x="0" y="0"/>
                  </a:moveTo>
                  <a:lnTo>
                    <a:pt x="9629776" y="0"/>
                  </a:lnTo>
                  <a:lnTo>
                    <a:pt x="9629776" y="914400"/>
                  </a:lnTo>
                  <a:lnTo>
                    <a:pt x="0" y="914400"/>
                  </a:lnTo>
                  <a:close/>
                </a:path>
              </a:pathLst>
            </a:custGeom>
            <a:blipFill>
              <a:blip r:embed="rId21">
                <a:alphaModFix amt="0"/>
              </a:blip>
              <a:stretch>
                <a:fillRect t="-155201" b="-155201"/>
              </a:stretch>
            </a:blipFill>
          </p:spPr>
        </p:sp>
        <p:sp>
          <p:nvSpPr>
            <p:cNvPr id="66" name="TextBox 66"/>
            <p:cNvSpPr txBox="1"/>
            <p:nvPr/>
          </p:nvSpPr>
          <p:spPr>
            <a:xfrm>
              <a:off x="0" y="-104775"/>
              <a:ext cx="9629775"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Nâng cao hiệu quả vận hành chuỗi siêu thị thông qua việc quản lý kho và dòng tiền dựa trên dữ liệu.</a:t>
              </a:r>
            </a:p>
          </p:txBody>
        </p:sp>
      </p:grpSp>
      <p:grpSp>
        <p:nvGrpSpPr>
          <p:cNvPr id="67" name="Group 67"/>
          <p:cNvGrpSpPr/>
          <p:nvPr/>
        </p:nvGrpSpPr>
        <p:grpSpPr>
          <a:xfrm>
            <a:off x="10572750" y="2514600"/>
            <a:ext cx="5863590" cy="385762"/>
            <a:chOff x="0" y="0"/>
            <a:chExt cx="7818120" cy="514350"/>
          </a:xfrm>
        </p:grpSpPr>
        <p:sp>
          <p:nvSpPr>
            <p:cNvPr id="68" name="Freeform 68"/>
            <p:cNvSpPr/>
            <p:nvPr/>
          </p:nvSpPr>
          <p:spPr>
            <a:xfrm>
              <a:off x="0" y="0"/>
              <a:ext cx="7818120" cy="514350"/>
            </a:xfrm>
            <a:custGeom>
              <a:avLst/>
              <a:gdLst/>
              <a:ahLst/>
              <a:cxnLst/>
              <a:rect l="l" t="t" r="r" b="b"/>
              <a:pathLst>
                <a:path w="7818120" h="514350">
                  <a:moveTo>
                    <a:pt x="0" y="0"/>
                  </a:moveTo>
                  <a:lnTo>
                    <a:pt x="7818120" y="0"/>
                  </a:lnTo>
                  <a:lnTo>
                    <a:pt x="7818120" y="514350"/>
                  </a:lnTo>
                  <a:lnTo>
                    <a:pt x="0" y="514350"/>
                  </a:lnTo>
                  <a:close/>
                </a:path>
              </a:pathLst>
            </a:custGeom>
            <a:blipFill>
              <a:blip r:embed="rId21">
                <a:alphaModFix amt="0"/>
              </a:blip>
              <a:stretch>
                <a:fillRect t="-246172" b="-246172"/>
              </a:stretch>
            </a:blipFill>
          </p:spPr>
        </p:sp>
        <p:sp>
          <p:nvSpPr>
            <p:cNvPr id="69" name="TextBox 69"/>
            <p:cNvSpPr txBox="1"/>
            <p:nvPr/>
          </p:nvSpPr>
          <p:spPr>
            <a:xfrm>
              <a:off x="0" y="-95250"/>
              <a:ext cx="781812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Mục tiêu của Đề tài</a:t>
              </a:r>
            </a:p>
          </p:txBody>
        </p:sp>
      </p:grpSp>
      <p:grpSp>
        <p:nvGrpSpPr>
          <p:cNvPr id="70" name="Group 70"/>
          <p:cNvGrpSpPr/>
          <p:nvPr/>
        </p:nvGrpSpPr>
        <p:grpSpPr>
          <a:xfrm>
            <a:off x="10136981" y="3314700"/>
            <a:ext cx="7222331" cy="685800"/>
            <a:chOff x="0" y="0"/>
            <a:chExt cx="9629775" cy="914400"/>
          </a:xfrm>
        </p:grpSpPr>
        <p:sp>
          <p:nvSpPr>
            <p:cNvPr id="71" name="Freeform 71"/>
            <p:cNvSpPr/>
            <p:nvPr/>
          </p:nvSpPr>
          <p:spPr>
            <a:xfrm>
              <a:off x="0" y="0"/>
              <a:ext cx="9629776" cy="914400"/>
            </a:xfrm>
            <a:custGeom>
              <a:avLst/>
              <a:gdLst/>
              <a:ahLst/>
              <a:cxnLst/>
              <a:rect l="l" t="t" r="r" b="b"/>
              <a:pathLst>
                <a:path w="9629776" h="914400">
                  <a:moveTo>
                    <a:pt x="0" y="0"/>
                  </a:moveTo>
                  <a:lnTo>
                    <a:pt x="9629776" y="0"/>
                  </a:lnTo>
                  <a:lnTo>
                    <a:pt x="9629776" y="914400"/>
                  </a:lnTo>
                  <a:lnTo>
                    <a:pt x="0" y="914400"/>
                  </a:lnTo>
                  <a:close/>
                </a:path>
              </a:pathLst>
            </a:custGeom>
            <a:blipFill>
              <a:blip r:embed="rId21">
                <a:alphaModFix amt="0"/>
              </a:blip>
              <a:stretch>
                <a:fillRect t="-155201" b="-155201"/>
              </a:stretch>
            </a:blipFill>
          </p:spPr>
        </p:sp>
        <p:sp>
          <p:nvSpPr>
            <p:cNvPr id="72" name="TextBox 72"/>
            <p:cNvSpPr txBox="1"/>
            <p:nvPr/>
          </p:nvSpPr>
          <p:spPr>
            <a:xfrm>
              <a:off x="0" y="-104775"/>
              <a:ext cx="9629775"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Xây dựng hệ thống phân tích dữ liệu chuyên sâu cho Chuỗi Siêu thị Điện máy trên nền tảng Apache Hive.</a:t>
              </a:r>
            </a:p>
          </p:txBody>
        </p:sp>
      </p:grpSp>
      <p:grpSp>
        <p:nvGrpSpPr>
          <p:cNvPr id="73" name="Group 73"/>
          <p:cNvGrpSpPr/>
          <p:nvPr/>
        </p:nvGrpSpPr>
        <p:grpSpPr>
          <a:xfrm>
            <a:off x="10136981" y="4214812"/>
            <a:ext cx="7222331" cy="685800"/>
            <a:chOff x="0" y="0"/>
            <a:chExt cx="9629775" cy="914400"/>
          </a:xfrm>
        </p:grpSpPr>
        <p:sp>
          <p:nvSpPr>
            <p:cNvPr id="74" name="Freeform 74"/>
            <p:cNvSpPr/>
            <p:nvPr/>
          </p:nvSpPr>
          <p:spPr>
            <a:xfrm>
              <a:off x="0" y="0"/>
              <a:ext cx="9629776" cy="914400"/>
            </a:xfrm>
            <a:custGeom>
              <a:avLst/>
              <a:gdLst/>
              <a:ahLst/>
              <a:cxnLst/>
              <a:rect l="l" t="t" r="r" b="b"/>
              <a:pathLst>
                <a:path w="9629776" h="914400">
                  <a:moveTo>
                    <a:pt x="0" y="0"/>
                  </a:moveTo>
                  <a:lnTo>
                    <a:pt x="9629776" y="0"/>
                  </a:lnTo>
                  <a:lnTo>
                    <a:pt x="9629776" y="914400"/>
                  </a:lnTo>
                  <a:lnTo>
                    <a:pt x="0" y="914400"/>
                  </a:lnTo>
                  <a:close/>
                </a:path>
              </a:pathLst>
            </a:custGeom>
            <a:blipFill>
              <a:blip r:embed="rId21">
                <a:alphaModFix amt="0"/>
              </a:blip>
              <a:stretch>
                <a:fillRect t="-155201" b="-155201"/>
              </a:stretch>
            </a:blipFill>
          </p:spPr>
        </p:sp>
        <p:sp>
          <p:nvSpPr>
            <p:cNvPr id="75" name="TextBox 75"/>
            <p:cNvSpPr txBox="1"/>
            <p:nvPr/>
          </p:nvSpPr>
          <p:spPr>
            <a:xfrm>
              <a:off x="0" y="-104775"/>
              <a:ext cx="9629775"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Giả lập bộ dữ liệu thực tế (&gt;1000 bản ghi) bằng Python để thực nghiệm các kịch bản kinh doanh.</a:t>
              </a:r>
            </a:p>
          </p:txBody>
        </p:sp>
      </p:grpSp>
      <p:grpSp>
        <p:nvGrpSpPr>
          <p:cNvPr id="76" name="Group 76"/>
          <p:cNvGrpSpPr/>
          <p:nvPr/>
        </p:nvGrpSpPr>
        <p:grpSpPr>
          <a:xfrm>
            <a:off x="10136981" y="5114925"/>
            <a:ext cx="7222331" cy="685800"/>
            <a:chOff x="0" y="0"/>
            <a:chExt cx="9629775" cy="914400"/>
          </a:xfrm>
        </p:grpSpPr>
        <p:sp>
          <p:nvSpPr>
            <p:cNvPr id="77" name="Freeform 77"/>
            <p:cNvSpPr/>
            <p:nvPr/>
          </p:nvSpPr>
          <p:spPr>
            <a:xfrm>
              <a:off x="0" y="0"/>
              <a:ext cx="9629776" cy="914400"/>
            </a:xfrm>
            <a:custGeom>
              <a:avLst/>
              <a:gdLst/>
              <a:ahLst/>
              <a:cxnLst/>
              <a:rect l="l" t="t" r="r" b="b"/>
              <a:pathLst>
                <a:path w="9629776" h="914400">
                  <a:moveTo>
                    <a:pt x="0" y="0"/>
                  </a:moveTo>
                  <a:lnTo>
                    <a:pt x="9629776" y="0"/>
                  </a:lnTo>
                  <a:lnTo>
                    <a:pt x="9629776" y="914400"/>
                  </a:lnTo>
                  <a:lnTo>
                    <a:pt x="0" y="914400"/>
                  </a:lnTo>
                  <a:close/>
                </a:path>
              </a:pathLst>
            </a:custGeom>
            <a:blipFill>
              <a:blip r:embed="rId21">
                <a:alphaModFix amt="0"/>
              </a:blip>
              <a:stretch>
                <a:fillRect t="-155201" b="-155201"/>
              </a:stretch>
            </a:blipFill>
          </p:spPr>
        </p:sp>
        <p:sp>
          <p:nvSpPr>
            <p:cNvPr id="78" name="TextBox 78"/>
            <p:cNvSpPr txBox="1"/>
            <p:nvPr/>
          </p:nvSpPr>
          <p:spPr>
            <a:xfrm>
              <a:off x="0" y="-104775"/>
              <a:ext cx="9629775"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Thực thi 10 kịch bản phân tích chiến lược bằng HiveQL nhằm đưa ra các đề xuất tối ưu hóa (Insights).</a:t>
              </a:r>
            </a:p>
          </p:txBody>
        </p:sp>
      </p:grpSp>
      <p:grpSp>
        <p:nvGrpSpPr>
          <p:cNvPr id="79" name="Group 79"/>
          <p:cNvGrpSpPr/>
          <p:nvPr/>
        </p:nvGrpSpPr>
        <p:grpSpPr>
          <a:xfrm>
            <a:off x="2071468" y="7158038"/>
            <a:ext cx="786032" cy="314325"/>
            <a:chOff x="0" y="0"/>
            <a:chExt cx="1048042" cy="419100"/>
          </a:xfrm>
        </p:grpSpPr>
        <p:sp>
          <p:nvSpPr>
            <p:cNvPr id="80" name="Freeform 80"/>
            <p:cNvSpPr/>
            <p:nvPr/>
          </p:nvSpPr>
          <p:spPr>
            <a:xfrm>
              <a:off x="0" y="0"/>
              <a:ext cx="1048048" cy="419100"/>
            </a:xfrm>
            <a:custGeom>
              <a:avLst/>
              <a:gdLst/>
              <a:ahLst/>
              <a:cxnLst/>
              <a:rect l="l" t="t" r="r" b="b"/>
              <a:pathLst>
                <a:path w="1048048" h="419100">
                  <a:moveTo>
                    <a:pt x="0" y="0"/>
                  </a:moveTo>
                  <a:lnTo>
                    <a:pt x="1048048" y="0"/>
                  </a:lnTo>
                  <a:lnTo>
                    <a:pt x="1048048" y="419100"/>
                  </a:lnTo>
                  <a:lnTo>
                    <a:pt x="0" y="419100"/>
                  </a:lnTo>
                  <a:close/>
                </a:path>
              </a:pathLst>
            </a:custGeom>
            <a:blipFill>
              <a:blip r:embed="rId21">
                <a:alphaModFix amt="0"/>
              </a:blip>
              <a:stretch>
                <a:fillRect l="-1307" r="-1306"/>
              </a:stretch>
            </a:blipFill>
          </p:spPr>
        </p:sp>
        <p:sp>
          <p:nvSpPr>
            <p:cNvPr id="81" name="TextBox 81"/>
            <p:cNvSpPr txBox="1"/>
            <p:nvPr/>
          </p:nvSpPr>
          <p:spPr>
            <a:xfrm>
              <a:off x="0" y="-66675"/>
              <a:ext cx="1048042" cy="485775"/>
            </a:xfrm>
            <a:prstGeom prst="rect">
              <a:avLst/>
            </a:prstGeom>
          </p:spPr>
          <p:txBody>
            <a:bodyPr lIns="0" tIns="0" rIns="0" bIns="0" rtlCol="0" anchor="ctr"/>
            <a:lstStyle/>
            <a:p>
              <a:pPr algn="ctr">
                <a:lnSpc>
                  <a:spcPts val="2025"/>
                </a:lnSpc>
              </a:pPr>
              <a:r>
                <a:rPr lang="en-US" sz="1350" b="1">
                  <a:solidFill>
                    <a:srgbClr val="007ACC"/>
                  </a:solidFill>
                  <a:latin typeface="Calibri (MS) Bold"/>
                  <a:ea typeface="Calibri (MS) Bold"/>
                  <a:cs typeface="Calibri (MS) Bold"/>
                  <a:sym typeface="Calibri (MS) Bold"/>
                </a:rPr>
                <a:t>BƯỚC 01</a:t>
              </a:r>
            </a:p>
          </p:txBody>
        </p:sp>
      </p:grpSp>
      <p:grpSp>
        <p:nvGrpSpPr>
          <p:cNvPr id="82" name="Group 82"/>
          <p:cNvGrpSpPr/>
          <p:nvPr/>
        </p:nvGrpSpPr>
        <p:grpSpPr>
          <a:xfrm>
            <a:off x="2017662" y="7586662"/>
            <a:ext cx="1179614" cy="300038"/>
            <a:chOff x="0" y="0"/>
            <a:chExt cx="1572819" cy="400050"/>
          </a:xfrm>
        </p:grpSpPr>
        <p:sp>
          <p:nvSpPr>
            <p:cNvPr id="83" name="Freeform 83"/>
            <p:cNvSpPr/>
            <p:nvPr/>
          </p:nvSpPr>
          <p:spPr>
            <a:xfrm>
              <a:off x="0" y="0"/>
              <a:ext cx="1572816" cy="400050"/>
            </a:xfrm>
            <a:custGeom>
              <a:avLst/>
              <a:gdLst/>
              <a:ahLst/>
              <a:cxnLst/>
              <a:rect l="l" t="t" r="r" b="b"/>
              <a:pathLst>
                <a:path w="1572816" h="400050">
                  <a:moveTo>
                    <a:pt x="0" y="0"/>
                  </a:moveTo>
                  <a:lnTo>
                    <a:pt x="1572816" y="0"/>
                  </a:lnTo>
                  <a:lnTo>
                    <a:pt x="1572816" y="400050"/>
                  </a:lnTo>
                  <a:lnTo>
                    <a:pt x="0" y="400050"/>
                  </a:lnTo>
                  <a:close/>
                </a:path>
              </a:pathLst>
            </a:custGeom>
            <a:blipFill>
              <a:blip r:embed="rId21">
                <a:alphaModFix amt="0"/>
              </a:blip>
              <a:stretch>
                <a:fillRect t="-26606" b="-26606"/>
              </a:stretch>
            </a:blipFill>
          </p:spPr>
        </p:sp>
        <p:sp>
          <p:nvSpPr>
            <p:cNvPr id="84" name="TextBox 84"/>
            <p:cNvSpPr txBox="1"/>
            <p:nvPr/>
          </p:nvSpPr>
          <p:spPr>
            <a:xfrm>
              <a:off x="0" y="-66675"/>
              <a:ext cx="1572819" cy="466725"/>
            </a:xfrm>
            <a:prstGeom prst="rect">
              <a:avLst/>
            </a:prstGeom>
          </p:spPr>
          <p:txBody>
            <a:bodyPr lIns="0" tIns="0" rIns="0" bIns="0" rtlCol="0" anchor="ctr"/>
            <a:lstStyle/>
            <a:p>
              <a:pPr algn="ctr">
                <a:lnSpc>
                  <a:spcPts val="2362"/>
                </a:lnSpc>
              </a:pPr>
              <a:r>
                <a:rPr lang="en-US" sz="1575" b="1">
                  <a:solidFill>
                    <a:srgbClr val="2C3E50"/>
                  </a:solidFill>
                  <a:latin typeface="Calibri (MS) Bold"/>
                  <a:ea typeface="Calibri (MS) Bold"/>
                  <a:cs typeface="Calibri (MS) Bold"/>
                  <a:sym typeface="Calibri (MS) Bold"/>
                </a:rPr>
                <a:t>Sinh Dữ liệu</a:t>
              </a:r>
            </a:p>
          </p:txBody>
        </p:sp>
      </p:grpSp>
      <p:grpSp>
        <p:nvGrpSpPr>
          <p:cNvPr id="85" name="Group 85"/>
          <p:cNvGrpSpPr/>
          <p:nvPr/>
        </p:nvGrpSpPr>
        <p:grpSpPr>
          <a:xfrm>
            <a:off x="918191" y="7958138"/>
            <a:ext cx="3378546" cy="257175"/>
            <a:chOff x="0" y="0"/>
            <a:chExt cx="4504728" cy="342900"/>
          </a:xfrm>
        </p:grpSpPr>
        <p:sp>
          <p:nvSpPr>
            <p:cNvPr id="86" name="Freeform 86"/>
            <p:cNvSpPr/>
            <p:nvPr/>
          </p:nvSpPr>
          <p:spPr>
            <a:xfrm>
              <a:off x="0" y="0"/>
              <a:ext cx="4504730" cy="342900"/>
            </a:xfrm>
            <a:custGeom>
              <a:avLst/>
              <a:gdLst/>
              <a:ahLst/>
              <a:cxnLst/>
              <a:rect l="l" t="t" r="r" b="b"/>
              <a:pathLst>
                <a:path w="4504730" h="342900">
                  <a:moveTo>
                    <a:pt x="0" y="0"/>
                  </a:moveTo>
                  <a:lnTo>
                    <a:pt x="4504730" y="0"/>
                  </a:lnTo>
                  <a:lnTo>
                    <a:pt x="4504730" y="342900"/>
                  </a:lnTo>
                  <a:lnTo>
                    <a:pt x="0" y="342900"/>
                  </a:lnTo>
                  <a:close/>
                </a:path>
              </a:pathLst>
            </a:custGeom>
            <a:blipFill>
              <a:blip r:embed="rId21">
                <a:alphaModFix amt="0"/>
              </a:blip>
              <a:stretch>
                <a:fillRect t="-205977" b="-205977"/>
              </a:stretch>
            </a:blipFill>
          </p:spPr>
        </p:sp>
        <p:sp>
          <p:nvSpPr>
            <p:cNvPr id="87" name="TextBox 87"/>
            <p:cNvSpPr txBox="1"/>
            <p:nvPr/>
          </p:nvSpPr>
          <p:spPr>
            <a:xfrm>
              <a:off x="0" y="-66675"/>
              <a:ext cx="4504728" cy="409575"/>
            </a:xfrm>
            <a:prstGeom prst="rect">
              <a:avLst/>
            </a:prstGeom>
          </p:spPr>
          <p:txBody>
            <a:bodyPr lIns="0" tIns="0" rIns="0" bIns="0" rtlCol="0" anchor="ctr"/>
            <a:lstStyle/>
            <a:p>
              <a:pPr algn="ctr">
                <a:lnSpc>
                  <a:spcPts val="2025"/>
                </a:lnSpc>
              </a:pPr>
              <a:r>
                <a:rPr lang="en-US" sz="1350">
                  <a:solidFill>
                    <a:srgbClr val="7F8C8D"/>
                  </a:solidFill>
                  <a:latin typeface="Calibri (MS)"/>
                  <a:ea typeface="Calibri (MS)"/>
                  <a:cs typeface="Calibri (MS)"/>
                  <a:sym typeface="Calibri (MS)"/>
                </a:rPr>
                <a:t>Sử dụng Python để giả lập dữ liệu giao dịch</a:t>
              </a:r>
            </a:p>
          </p:txBody>
        </p:sp>
      </p:grpSp>
      <p:grpSp>
        <p:nvGrpSpPr>
          <p:cNvPr id="88" name="Group 88"/>
          <p:cNvGrpSpPr/>
          <p:nvPr/>
        </p:nvGrpSpPr>
        <p:grpSpPr>
          <a:xfrm>
            <a:off x="6429156" y="7158038"/>
            <a:ext cx="786032" cy="314325"/>
            <a:chOff x="0" y="0"/>
            <a:chExt cx="1048042" cy="419100"/>
          </a:xfrm>
        </p:grpSpPr>
        <p:sp>
          <p:nvSpPr>
            <p:cNvPr id="89" name="Freeform 89"/>
            <p:cNvSpPr/>
            <p:nvPr/>
          </p:nvSpPr>
          <p:spPr>
            <a:xfrm>
              <a:off x="0" y="0"/>
              <a:ext cx="1048048" cy="419100"/>
            </a:xfrm>
            <a:custGeom>
              <a:avLst/>
              <a:gdLst/>
              <a:ahLst/>
              <a:cxnLst/>
              <a:rect l="l" t="t" r="r" b="b"/>
              <a:pathLst>
                <a:path w="1048048" h="419100">
                  <a:moveTo>
                    <a:pt x="0" y="0"/>
                  </a:moveTo>
                  <a:lnTo>
                    <a:pt x="1048048" y="0"/>
                  </a:lnTo>
                  <a:lnTo>
                    <a:pt x="1048048" y="419100"/>
                  </a:lnTo>
                  <a:lnTo>
                    <a:pt x="0" y="419100"/>
                  </a:lnTo>
                  <a:close/>
                </a:path>
              </a:pathLst>
            </a:custGeom>
            <a:blipFill>
              <a:blip r:embed="rId21">
                <a:alphaModFix amt="0"/>
              </a:blip>
              <a:stretch>
                <a:fillRect l="-1307" r="-1306"/>
              </a:stretch>
            </a:blipFill>
          </p:spPr>
        </p:sp>
        <p:sp>
          <p:nvSpPr>
            <p:cNvPr id="90" name="TextBox 90"/>
            <p:cNvSpPr txBox="1"/>
            <p:nvPr/>
          </p:nvSpPr>
          <p:spPr>
            <a:xfrm>
              <a:off x="0" y="-66675"/>
              <a:ext cx="1048042" cy="485775"/>
            </a:xfrm>
            <a:prstGeom prst="rect">
              <a:avLst/>
            </a:prstGeom>
          </p:spPr>
          <p:txBody>
            <a:bodyPr lIns="0" tIns="0" rIns="0" bIns="0" rtlCol="0" anchor="ctr"/>
            <a:lstStyle/>
            <a:p>
              <a:pPr algn="ctr">
                <a:lnSpc>
                  <a:spcPts val="2025"/>
                </a:lnSpc>
              </a:pPr>
              <a:r>
                <a:rPr lang="en-US" sz="1350" b="1">
                  <a:solidFill>
                    <a:srgbClr val="007ACC"/>
                  </a:solidFill>
                  <a:latin typeface="Calibri (MS) Bold"/>
                  <a:ea typeface="Calibri (MS) Bold"/>
                  <a:cs typeface="Calibri (MS) Bold"/>
                  <a:sym typeface="Calibri (MS) Bold"/>
                </a:rPr>
                <a:t>BƯỚC 02</a:t>
              </a:r>
            </a:p>
          </p:txBody>
        </p:sp>
      </p:grpSp>
      <p:grpSp>
        <p:nvGrpSpPr>
          <p:cNvPr id="91" name="Group 91"/>
          <p:cNvGrpSpPr/>
          <p:nvPr/>
        </p:nvGrpSpPr>
        <p:grpSpPr>
          <a:xfrm>
            <a:off x="6314180" y="7586662"/>
            <a:ext cx="1301725" cy="300038"/>
            <a:chOff x="0" y="0"/>
            <a:chExt cx="1735633" cy="400050"/>
          </a:xfrm>
        </p:grpSpPr>
        <p:sp>
          <p:nvSpPr>
            <p:cNvPr id="92" name="Freeform 92"/>
            <p:cNvSpPr/>
            <p:nvPr/>
          </p:nvSpPr>
          <p:spPr>
            <a:xfrm>
              <a:off x="0" y="0"/>
              <a:ext cx="1735634" cy="400050"/>
            </a:xfrm>
            <a:custGeom>
              <a:avLst/>
              <a:gdLst/>
              <a:ahLst/>
              <a:cxnLst/>
              <a:rect l="l" t="t" r="r" b="b"/>
              <a:pathLst>
                <a:path w="1735634" h="400050">
                  <a:moveTo>
                    <a:pt x="0" y="0"/>
                  </a:moveTo>
                  <a:lnTo>
                    <a:pt x="1735634" y="0"/>
                  </a:lnTo>
                  <a:lnTo>
                    <a:pt x="1735634" y="400050"/>
                  </a:lnTo>
                  <a:lnTo>
                    <a:pt x="0" y="400050"/>
                  </a:lnTo>
                  <a:close/>
                </a:path>
              </a:pathLst>
            </a:custGeom>
            <a:blipFill>
              <a:blip r:embed="rId21">
                <a:alphaModFix amt="0"/>
              </a:blip>
              <a:stretch>
                <a:fillRect t="-34536" b="-34536"/>
              </a:stretch>
            </a:blipFill>
          </p:spPr>
        </p:sp>
        <p:sp>
          <p:nvSpPr>
            <p:cNvPr id="93" name="TextBox 93"/>
            <p:cNvSpPr txBox="1"/>
            <p:nvPr/>
          </p:nvSpPr>
          <p:spPr>
            <a:xfrm>
              <a:off x="0" y="-66675"/>
              <a:ext cx="1735633" cy="466725"/>
            </a:xfrm>
            <a:prstGeom prst="rect">
              <a:avLst/>
            </a:prstGeom>
          </p:spPr>
          <p:txBody>
            <a:bodyPr lIns="0" tIns="0" rIns="0" bIns="0" rtlCol="0" anchor="ctr"/>
            <a:lstStyle/>
            <a:p>
              <a:pPr algn="ctr">
                <a:lnSpc>
                  <a:spcPts val="2362"/>
                </a:lnSpc>
              </a:pPr>
              <a:r>
                <a:rPr lang="en-US" sz="1575" b="1">
                  <a:solidFill>
                    <a:srgbClr val="2C3E50"/>
                  </a:solidFill>
                  <a:latin typeface="Calibri (MS) Bold"/>
                  <a:ea typeface="Calibri (MS) Bold"/>
                  <a:cs typeface="Calibri (MS) Bold"/>
                  <a:sym typeface="Calibri (MS) Bold"/>
                </a:rPr>
                <a:t>Lưu trữ HDFS</a:t>
              </a:r>
            </a:p>
          </p:txBody>
        </p:sp>
      </p:grpSp>
      <p:grpSp>
        <p:nvGrpSpPr>
          <p:cNvPr id="94" name="Group 94"/>
          <p:cNvGrpSpPr/>
          <p:nvPr/>
        </p:nvGrpSpPr>
        <p:grpSpPr>
          <a:xfrm>
            <a:off x="5354469" y="7958138"/>
            <a:ext cx="3354711" cy="267837"/>
            <a:chOff x="0" y="0"/>
            <a:chExt cx="4294886" cy="342900"/>
          </a:xfrm>
        </p:grpSpPr>
        <p:sp>
          <p:nvSpPr>
            <p:cNvPr id="95" name="Freeform 95"/>
            <p:cNvSpPr/>
            <p:nvPr/>
          </p:nvSpPr>
          <p:spPr>
            <a:xfrm>
              <a:off x="0" y="0"/>
              <a:ext cx="4294882" cy="342900"/>
            </a:xfrm>
            <a:custGeom>
              <a:avLst/>
              <a:gdLst/>
              <a:ahLst/>
              <a:cxnLst/>
              <a:rect l="l" t="t" r="r" b="b"/>
              <a:pathLst>
                <a:path w="4294882" h="342900">
                  <a:moveTo>
                    <a:pt x="0" y="0"/>
                  </a:moveTo>
                  <a:lnTo>
                    <a:pt x="4294882" y="0"/>
                  </a:lnTo>
                  <a:lnTo>
                    <a:pt x="4294882" y="342900"/>
                  </a:lnTo>
                  <a:lnTo>
                    <a:pt x="0" y="342900"/>
                  </a:lnTo>
                  <a:close/>
                </a:path>
              </a:pathLst>
            </a:custGeom>
            <a:blipFill>
              <a:blip r:embed="rId21">
                <a:alphaModFix amt="0"/>
              </a:blip>
              <a:stretch>
                <a:fillRect t="-194053" b="-194053"/>
              </a:stretch>
            </a:blipFill>
          </p:spPr>
        </p:sp>
        <p:sp>
          <p:nvSpPr>
            <p:cNvPr id="96" name="TextBox 96"/>
            <p:cNvSpPr txBox="1"/>
            <p:nvPr/>
          </p:nvSpPr>
          <p:spPr>
            <a:xfrm>
              <a:off x="0" y="-66675"/>
              <a:ext cx="4294886" cy="409575"/>
            </a:xfrm>
            <a:prstGeom prst="rect">
              <a:avLst/>
            </a:prstGeom>
          </p:spPr>
          <p:txBody>
            <a:bodyPr lIns="0" tIns="0" rIns="0" bIns="0" rtlCol="0" anchor="ctr"/>
            <a:lstStyle/>
            <a:p>
              <a:pPr algn="ctr">
                <a:lnSpc>
                  <a:spcPts val="2025"/>
                </a:lnSpc>
              </a:pPr>
              <a:r>
                <a:rPr lang="en-US" sz="1350">
                  <a:solidFill>
                    <a:srgbClr val="7F8C8D"/>
                  </a:solidFill>
                  <a:latin typeface="Calibri (MS)"/>
                  <a:ea typeface="Calibri (MS)"/>
                  <a:cs typeface="Calibri (MS)"/>
                  <a:sym typeface="Calibri (MS)"/>
                </a:rPr>
                <a:t>Nạp dữ liệu vào hệ thống lưu trữ phân tán</a:t>
              </a:r>
            </a:p>
          </p:txBody>
        </p:sp>
      </p:grpSp>
      <p:grpSp>
        <p:nvGrpSpPr>
          <p:cNvPr id="97" name="Group 97"/>
          <p:cNvGrpSpPr/>
          <p:nvPr/>
        </p:nvGrpSpPr>
        <p:grpSpPr>
          <a:xfrm>
            <a:off x="10786843" y="7158038"/>
            <a:ext cx="786032" cy="314325"/>
            <a:chOff x="0" y="0"/>
            <a:chExt cx="1048042" cy="419100"/>
          </a:xfrm>
        </p:grpSpPr>
        <p:sp>
          <p:nvSpPr>
            <p:cNvPr id="98" name="Freeform 98"/>
            <p:cNvSpPr/>
            <p:nvPr/>
          </p:nvSpPr>
          <p:spPr>
            <a:xfrm>
              <a:off x="0" y="0"/>
              <a:ext cx="1048048" cy="419100"/>
            </a:xfrm>
            <a:custGeom>
              <a:avLst/>
              <a:gdLst/>
              <a:ahLst/>
              <a:cxnLst/>
              <a:rect l="l" t="t" r="r" b="b"/>
              <a:pathLst>
                <a:path w="1048048" h="419100">
                  <a:moveTo>
                    <a:pt x="0" y="0"/>
                  </a:moveTo>
                  <a:lnTo>
                    <a:pt x="1048048" y="0"/>
                  </a:lnTo>
                  <a:lnTo>
                    <a:pt x="1048048" y="419100"/>
                  </a:lnTo>
                  <a:lnTo>
                    <a:pt x="0" y="419100"/>
                  </a:lnTo>
                  <a:close/>
                </a:path>
              </a:pathLst>
            </a:custGeom>
            <a:blipFill>
              <a:blip r:embed="rId21">
                <a:alphaModFix amt="0"/>
              </a:blip>
              <a:stretch>
                <a:fillRect l="-1307" r="-1306"/>
              </a:stretch>
            </a:blipFill>
          </p:spPr>
        </p:sp>
        <p:sp>
          <p:nvSpPr>
            <p:cNvPr id="99" name="TextBox 99"/>
            <p:cNvSpPr txBox="1"/>
            <p:nvPr/>
          </p:nvSpPr>
          <p:spPr>
            <a:xfrm>
              <a:off x="0" y="-66675"/>
              <a:ext cx="1048042" cy="485775"/>
            </a:xfrm>
            <a:prstGeom prst="rect">
              <a:avLst/>
            </a:prstGeom>
          </p:spPr>
          <p:txBody>
            <a:bodyPr lIns="0" tIns="0" rIns="0" bIns="0" rtlCol="0" anchor="ctr"/>
            <a:lstStyle/>
            <a:p>
              <a:pPr algn="ctr">
                <a:lnSpc>
                  <a:spcPts val="2025"/>
                </a:lnSpc>
              </a:pPr>
              <a:r>
                <a:rPr lang="en-US" sz="1350" b="1">
                  <a:solidFill>
                    <a:srgbClr val="007ACC"/>
                  </a:solidFill>
                  <a:latin typeface="Calibri (MS) Bold"/>
                  <a:ea typeface="Calibri (MS) Bold"/>
                  <a:cs typeface="Calibri (MS) Bold"/>
                  <a:sym typeface="Calibri (MS) Bold"/>
                </a:rPr>
                <a:t>BƯỚC 03</a:t>
              </a:r>
            </a:p>
          </p:txBody>
        </p:sp>
      </p:grpSp>
      <p:grpSp>
        <p:nvGrpSpPr>
          <p:cNvPr id="100" name="Group 100"/>
          <p:cNvGrpSpPr/>
          <p:nvPr/>
        </p:nvGrpSpPr>
        <p:grpSpPr>
          <a:xfrm>
            <a:off x="10722321" y="7586662"/>
            <a:ext cx="1200817" cy="300038"/>
            <a:chOff x="0" y="0"/>
            <a:chExt cx="1601089" cy="400050"/>
          </a:xfrm>
        </p:grpSpPr>
        <p:sp>
          <p:nvSpPr>
            <p:cNvPr id="101" name="Freeform 101"/>
            <p:cNvSpPr/>
            <p:nvPr/>
          </p:nvSpPr>
          <p:spPr>
            <a:xfrm>
              <a:off x="0" y="0"/>
              <a:ext cx="1601092" cy="400050"/>
            </a:xfrm>
            <a:custGeom>
              <a:avLst/>
              <a:gdLst/>
              <a:ahLst/>
              <a:cxnLst/>
              <a:rect l="l" t="t" r="r" b="b"/>
              <a:pathLst>
                <a:path w="1601092" h="400050">
                  <a:moveTo>
                    <a:pt x="0" y="0"/>
                  </a:moveTo>
                  <a:lnTo>
                    <a:pt x="1601092" y="0"/>
                  </a:lnTo>
                  <a:lnTo>
                    <a:pt x="1601092" y="400050"/>
                  </a:lnTo>
                  <a:lnTo>
                    <a:pt x="0" y="400050"/>
                  </a:lnTo>
                  <a:close/>
                </a:path>
              </a:pathLst>
            </a:custGeom>
            <a:blipFill>
              <a:blip r:embed="rId21">
                <a:alphaModFix amt="0"/>
              </a:blip>
              <a:stretch>
                <a:fillRect t="-27983" b="-27983"/>
              </a:stretch>
            </a:blipFill>
          </p:spPr>
        </p:sp>
        <p:sp>
          <p:nvSpPr>
            <p:cNvPr id="102" name="TextBox 102"/>
            <p:cNvSpPr txBox="1"/>
            <p:nvPr/>
          </p:nvSpPr>
          <p:spPr>
            <a:xfrm>
              <a:off x="0" y="-66675"/>
              <a:ext cx="1601089" cy="466725"/>
            </a:xfrm>
            <a:prstGeom prst="rect">
              <a:avLst/>
            </a:prstGeom>
          </p:spPr>
          <p:txBody>
            <a:bodyPr lIns="0" tIns="0" rIns="0" bIns="0" rtlCol="0" anchor="ctr"/>
            <a:lstStyle/>
            <a:p>
              <a:pPr algn="ctr">
                <a:lnSpc>
                  <a:spcPts val="2362"/>
                </a:lnSpc>
              </a:pPr>
              <a:r>
                <a:rPr lang="en-US" sz="1575" b="1">
                  <a:solidFill>
                    <a:srgbClr val="2C3E50"/>
                  </a:solidFill>
                  <a:latin typeface="Calibri (MS) Bold"/>
                  <a:ea typeface="Calibri (MS) Bold"/>
                  <a:cs typeface="Calibri (MS) Bold"/>
                  <a:sym typeface="Calibri (MS) Bold"/>
                </a:rPr>
                <a:t>Apache Hive</a:t>
              </a:r>
            </a:p>
          </p:txBody>
        </p:sp>
      </p:grpSp>
      <p:grpSp>
        <p:nvGrpSpPr>
          <p:cNvPr id="103" name="Group 103"/>
          <p:cNvGrpSpPr/>
          <p:nvPr/>
        </p:nvGrpSpPr>
        <p:grpSpPr>
          <a:xfrm>
            <a:off x="9783813" y="7958138"/>
            <a:ext cx="3078061" cy="257175"/>
            <a:chOff x="0" y="0"/>
            <a:chExt cx="4104081" cy="342900"/>
          </a:xfrm>
        </p:grpSpPr>
        <p:sp>
          <p:nvSpPr>
            <p:cNvPr id="104" name="Freeform 104"/>
            <p:cNvSpPr/>
            <p:nvPr/>
          </p:nvSpPr>
          <p:spPr>
            <a:xfrm>
              <a:off x="0" y="0"/>
              <a:ext cx="4104084" cy="342900"/>
            </a:xfrm>
            <a:custGeom>
              <a:avLst/>
              <a:gdLst/>
              <a:ahLst/>
              <a:cxnLst/>
              <a:rect l="l" t="t" r="r" b="b"/>
              <a:pathLst>
                <a:path w="4104084" h="342900">
                  <a:moveTo>
                    <a:pt x="0" y="0"/>
                  </a:moveTo>
                  <a:lnTo>
                    <a:pt x="4104084" y="0"/>
                  </a:lnTo>
                  <a:lnTo>
                    <a:pt x="4104084" y="342900"/>
                  </a:lnTo>
                  <a:lnTo>
                    <a:pt x="0" y="342900"/>
                  </a:lnTo>
                  <a:close/>
                </a:path>
              </a:pathLst>
            </a:custGeom>
            <a:blipFill>
              <a:blip r:embed="rId21">
                <a:alphaModFix amt="0"/>
              </a:blip>
              <a:stretch>
                <a:fillRect t="-183211" b="-183211"/>
              </a:stretch>
            </a:blipFill>
          </p:spPr>
        </p:sp>
        <p:sp>
          <p:nvSpPr>
            <p:cNvPr id="105" name="TextBox 105"/>
            <p:cNvSpPr txBox="1"/>
            <p:nvPr/>
          </p:nvSpPr>
          <p:spPr>
            <a:xfrm>
              <a:off x="0" y="-66675"/>
              <a:ext cx="4104081" cy="409575"/>
            </a:xfrm>
            <a:prstGeom prst="rect">
              <a:avLst/>
            </a:prstGeom>
          </p:spPr>
          <p:txBody>
            <a:bodyPr lIns="0" tIns="0" rIns="0" bIns="0" rtlCol="0" anchor="ctr"/>
            <a:lstStyle/>
            <a:p>
              <a:pPr algn="ctr">
                <a:lnSpc>
                  <a:spcPts val="2025"/>
                </a:lnSpc>
              </a:pPr>
              <a:r>
                <a:rPr lang="en-US" sz="1350">
                  <a:solidFill>
                    <a:srgbClr val="7F8C8D"/>
                  </a:solidFill>
                  <a:latin typeface="Calibri (MS)"/>
                  <a:ea typeface="Calibri (MS)"/>
                  <a:cs typeface="Calibri (MS)"/>
                  <a:sym typeface="Calibri (MS)"/>
                </a:rPr>
                <a:t>Thiết lập Schema và quản lý kho dữ liệu</a:t>
              </a:r>
            </a:p>
          </p:txBody>
        </p:sp>
      </p:grpSp>
      <p:grpSp>
        <p:nvGrpSpPr>
          <p:cNvPr id="106" name="Group 106"/>
          <p:cNvGrpSpPr/>
          <p:nvPr/>
        </p:nvGrpSpPr>
        <p:grpSpPr>
          <a:xfrm>
            <a:off x="15144531" y="7158038"/>
            <a:ext cx="786032" cy="314325"/>
            <a:chOff x="0" y="0"/>
            <a:chExt cx="1048042" cy="419100"/>
          </a:xfrm>
        </p:grpSpPr>
        <p:sp>
          <p:nvSpPr>
            <p:cNvPr id="107" name="Freeform 107"/>
            <p:cNvSpPr/>
            <p:nvPr/>
          </p:nvSpPr>
          <p:spPr>
            <a:xfrm>
              <a:off x="0" y="0"/>
              <a:ext cx="1048048" cy="419100"/>
            </a:xfrm>
            <a:custGeom>
              <a:avLst/>
              <a:gdLst/>
              <a:ahLst/>
              <a:cxnLst/>
              <a:rect l="l" t="t" r="r" b="b"/>
              <a:pathLst>
                <a:path w="1048048" h="419100">
                  <a:moveTo>
                    <a:pt x="0" y="0"/>
                  </a:moveTo>
                  <a:lnTo>
                    <a:pt x="1048048" y="0"/>
                  </a:lnTo>
                  <a:lnTo>
                    <a:pt x="1048048" y="419100"/>
                  </a:lnTo>
                  <a:lnTo>
                    <a:pt x="0" y="419100"/>
                  </a:lnTo>
                  <a:close/>
                </a:path>
              </a:pathLst>
            </a:custGeom>
            <a:blipFill>
              <a:blip r:embed="rId21">
                <a:alphaModFix amt="0"/>
              </a:blip>
              <a:stretch>
                <a:fillRect l="-1307" r="-1306"/>
              </a:stretch>
            </a:blipFill>
          </p:spPr>
        </p:sp>
        <p:sp>
          <p:nvSpPr>
            <p:cNvPr id="108" name="TextBox 108"/>
            <p:cNvSpPr txBox="1"/>
            <p:nvPr/>
          </p:nvSpPr>
          <p:spPr>
            <a:xfrm>
              <a:off x="0" y="-66675"/>
              <a:ext cx="1048042" cy="485775"/>
            </a:xfrm>
            <a:prstGeom prst="rect">
              <a:avLst/>
            </a:prstGeom>
          </p:spPr>
          <p:txBody>
            <a:bodyPr lIns="0" tIns="0" rIns="0" bIns="0" rtlCol="0" anchor="ctr"/>
            <a:lstStyle/>
            <a:p>
              <a:pPr algn="ctr">
                <a:lnSpc>
                  <a:spcPts val="2025"/>
                </a:lnSpc>
              </a:pPr>
              <a:r>
                <a:rPr lang="en-US" sz="1350" b="1">
                  <a:solidFill>
                    <a:srgbClr val="007ACC"/>
                  </a:solidFill>
                  <a:latin typeface="Calibri (MS) Bold"/>
                  <a:ea typeface="Calibri (MS) Bold"/>
                  <a:cs typeface="Calibri (MS) Bold"/>
                  <a:sym typeface="Calibri (MS) Bold"/>
                </a:rPr>
                <a:t>BƯỚC 04</a:t>
              </a:r>
            </a:p>
          </p:txBody>
        </p:sp>
      </p:grpSp>
      <p:grpSp>
        <p:nvGrpSpPr>
          <p:cNvPr id="109" name="Group 109"/>
          <p:cNvGrpSpPr/>
          <p:nvPr/>
        </p:nvGrpSpPr>
        <p:grpSpPr>
          <a:xfrm>
            <a:off x="14882441" y="7586662"/>
            <a:ext cx="1595961" cy="300038"/>
            <a:chOff x="0" y="0"/>
            <a:chExt cx="2127948" cy="400050"/>
          </a:xfrm>
        </p:grpSpPr>
        <p:sp>
          <p:nvSpPr>
            <p:cNvPr id="110" name="Freeform 110"/>
            <p:cNvSpPr/>
            <p:nvPr/>
          </p:nvSpPr>
          <p:spPr>
            <a:xfrm>
              <a:off x="0" y="0"/>
              <a:ext cx="2127944" cy="400050"/>
            </a:xfrm>
            <a:custGeom>
              <a:avLst/>
              <a:gdLst/>
              <a:ahLst/>
              <a:cxnLst/>
              <a:rect l="l" t="t" r="r" b="b"/>
              <a:pathLst>
                <a:path w="2127944" h="400050">
                  <a:moveTo>
                    <a:pt x="0" y="0"/>
                  </a:moveTo>
                  <a:lnTo>
                    <a:pt x="2127944" y="0"/>
                  </a:lnTo>
                  <a:lnTo>
                    <a:pt x="2127944" y="400050"/>
                  </a:lnTo>
                  <a:lnTo>
                    <a:pt x="0" y="400050"/>
                  </a:lnTo>
                  <a:close/>
                </a:path>
              </a:pathLst>
            </a:custGeom>
            <a:blipFill>
              <a:blip r:embed="rId21">
                <a:alphaModFix amt="0"/>
              </a:blip>
              <a:stretch>
                <a:fillRect t="-53644" b="-53644"/>
              </a:stretch>
            </a:blipFill>
          </p:spPr>
        </p:sp>
        <p:sp>
          <p:nvSpPr>
            <p:cNvPr id="111" name="TextBox 111"/>
            <p:cNvSpPr txBox="1"/>
            <p:nvPr/>
          </p:nvSpPr>
          <p:spPr>
            <a:xfrm>
              <a:off x="0" y="-66675"/>
              <a:ext cx="2127948" cy="466725"/>
            </a:xfrm>
            <a:prstGeom prst="rect">
              <a:avLst/>
            </a:prstGeom>
          </p:spPr>
          <p:txBody>
            <a:bodyPr lIns="0" tIns="0" rIns="0" bIns="0" rtlCol="0" anchor="ctr"/>
            <a:lstStyle/>
            <a:p>
              <a:pPr algn="ctr">
                <a:lnSpc>
                  <a:spcPts val="2362"/>
                </a:lnSpc>
              </a:pPr>
              <a:r>
                <a:rPr lang="en-US" sz="1575" b="1">
                  <a:solidFill>
                    <a:srgbClr val="2C3E50"/>
                  </a:solidFill>
                  <a:latin typeface="Calibri (MS) Bold"/>
                  <a:ea typeface="Calibri (MS) Bold"/>
                  <a:cs typeface="Calibri (MS) Bold"/>
                  <a:sym typeface="Calibri (MS) Bold"/>
                </a:rPr>
                <a:t>Truy vấn HiveQL</a:t>
              </a:r>
            </a:p>
          </p:txBody>
        </p:sp>
      </p:grpSp>
      <p:grpSp>
        <p:nvGrpSpPr>
          <p:cNvPr id="112" name="Group 112"/>
          <p:cNvGrpSpPr/>
          <p:nvPr/>
        </p:nvGrpSpPr>
        <p:grpSpPr>
          <a:xfrm>
            <a:off x="13987462" y="7958137"/>
            <a:ext cx="3279648" cy="265787"/>
            <a:chOff x="0" y="0"/>
            <a:chExt cx="4231183" cy="342900"/>
          </a:xfrm>
        </p:grpSpPr>
        <p:sp>
          <p:nvSpPr>
            <p:cNvPr id="113" name="Freeform 113"/>
            <p:cNvSpPr/>
            <p:nvPr/>
          </p:nvSpPr>
          <p:spPr>
            <a:xfrm>
              <a:off x="0" y="0"/>
              <a:ext cx="4231184" cy="342900"/>
            </a:xfrm>
            <a:custGeom>
              <a:avLst/>
              <a:gdLst/>
              <a:ahLst/>
              <a:cxnLst/>
              <a:rect l="l" t="t" r="r" b="b"/>
              <a:pathLst>
                <a:path w="4231184" h="342900">
                  <a:moveTo>
                    <a:pt x="0" y="0"/>
                  </a:moveTo>
                  <a:lnTo>
                    <a:pt x="4231184" y="0"/>
                  </a:lnTo>
                  <a:lnTo>
                    <a:pt x="4231184" y="342900"/>
                  </a:lnTo>
                  <a:lnTo>
                    <a:pt x="0" y="342900"/>
                  </a:lnTo>
                  <a:close/>
                </a:path>
              </a:pathLst>
            </a:custGeom>
            <a:blipFill>
              <a:blip r:embed="rId21">
                <a:alphaModFix amt="0"/>
              </a:blip>
              <a:stretch>
                <a:fillRect t="-190433" b="-190433"/>
              </a:stretch>
            </a:blipFill>
          </p:spPr>
        </p:sp>
        <p:sp>
          <p:nvSpPr>
            <p:cNvPr id="114" name="TextBox 114"/>
            <p:cNvSpPr txBox="1"/>
            <p:nvPr/>
          </p:nvSpPr>
          <p:spPr>
            <a:xfrm>
              <a:off x="0" y="-66675"/>
              <a:ext cx="4231183" cy="409575"/>
            </a:xfrm>
            <a:prstGeom prst="rect">
              <a:avLst/>
            </a:prstGeom>
          </p:spPr>
          <p:txBody>
            <a:bodyPr lIns="0" tIns="0" rIns="0" bIns="0" rtlCol="0" anchor="ctr"/>
            <a:lstStyle/>
            <a:p>
              <a:pPr algn="ctr">
                <a:lnSpc>
                  <a:spcPts val="2025"/>
                </a:lnSpc>
              </a:pPr>
              <a:r>
                <a:rPr lang="en-US" sz="1350">
                  <a:solidFill>
                    <a:srgbClr val="7F8C8D"/>
                  </a:solidFill>
                  <a:latin typeface="Calibri (MS)"/>
                  <a:ea typeface="Calibri (MS)"/>
                  <a:cs typeface="Calibri (MS)"/>
                  <a:sym typeface="Calibri (MS)"/>
                </a:rPr>
                <a:t>Thực thi 10 kịch bản phân tích dữ liệu lớn</a:t>
              </a:r>
            </a:p>
          </p:txBody>
        </p:sp>
      </p:gr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0"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stretch>
                <a:fillRect/>
              </a:stretch>
            </a:blipFill>
          </p:spPr>
        </p:sp>
      </p:grpSp>
      <p:grpSp>
        <p:nvGrpSpPr>
          <p:cNvPr id="7" name="Group 7"/>
          <p:cNvGrpSpPr/>
          <p:nvPr/>
        </p:nvGrpSpPr>
        <p:grpSpPr>
          <a:xfrm>
            <a:off x="571500" y="342900"/>
            <a:ext cx="17145000" cy="1278731"/>
            <a:chOff x="0" y="0"/>
            <a:chExt cx="22860000" cy="1704975"/>
          </a:xfrm>
        </p:grpSpPr>
        <p:sp>
          <p:nvSpPr>
            <p:cNvPr id="8" name="Freeform 8" descr="preencoded.png"/>
            <p:cNvSpPr/>
            <p:nvPr/>
          </p:nvSpPr>
          <p:spPr>
            <a:xfrm>
              <a:off x="0" y="0"/>
              <a:ext cx="22860000" cy="1704975"/>
            </a:xfrm>
            <a:custGeom>
              <a:avLst/>
              <a:gdLst/>
              <a:ahLst/>
              <a:cxnLst/>
              <a:rect l="l" t="t" r="r" b="b"/>
              <a:pathLst>
                <a:path w="22860000" h="1704975">
                  <a:moveTo>
                    <a:pt x="0" y="0"/>
                  </a:moveTo>
                  <a:lnTo>
                    <a:pt x="22860000" y="0"/>
                  </a:lnTo>
                  <a:lnTo>
                    <a:pt x="22860000" y="1704975"/>
                  </a:lnTo>
                  <a:lnTo>
                    <a:pt x="0" y="1704975"/>
                  </a:lnTo>
                  <a:lnTo>
                    <a:pt x="0" y="0"/>
                  </a:lnTo>
                  <a:close/>
                </a:path>
              </a:pathLst>
            </a:custGeom>
            <a:blipFill>
              <a:blip r:embed="rId5"/>
              <a:stretch>
                <a:fillRect l="-280" r="-280"/>
              </a:stretch>
            </a:blipFill>
          </p:spPr>
        </p:sp>
      </p:grpSp>
      <p:grpSp>
        <p:nvGrpSpPr>
          <p:cNvPr id="9" name="Group 9"/>
          <p:cNvGrpSpPr/>
          <p:nvPr/>
        </p:nvGrpSpPr>
        <p:grpSpPr>
          <a:xfrm>
            <a:off x="571500" y="1850231"/>
            <a:ext cx="4214812" cy="613439"/>
            <a:chOff x="0" y="0"/>
            <a:chExt cx="5619750" cy="817918"/>
          </a:xfrm>
        </p:grpSpPr>
        <p:sp>
          <p:nvSpPr>
            <p:cNvPr id="10" name="Freeform 10" descr="preencoded.png"/>
            <p:cNvSpPr/>
            <p:nvPr/>
          </p:nvSpPr>
          <p:spPr>
            <a:xfrm>
              <a:off x="0" y="0"/>
              <a:ext cx="5619750" cy="817880"/>
            </a:xfrm>
            <a:custGeom>
              <a:avLst/>
              <a:gdLst/>
              <a:ahLst/>
              <a:cxnLst/>
              <a:rect l="l" t="t" r="r" b="b"/>
              <a:pathLst>
                <a:path w="5619750" h="817880">
                  <a:moveTo>
                    <a:pt x="0" y="0"/>
                  </a:moveTo>
                  <a:lnTo>
                    <a:pt x="5619750" y="0"/>
                  </a:lnTo>
                  <a:lnTo>
                    <a:pt x="5619750" y="817880"/>
                  </a:lnTo>
                  <a:lnTo>
                    <a:pt x="0" y="817880"/>
                  </a:lnTo>
                  <a:lnTo>
                    <a:pt x="0" y="0"/>
                  </a:lnTo>
                  <a:close/>
                </a:path>
              </a:pathLst>
            </a:custGeom>
            <a:blipFill>
              <a:blip r:embed="rId6"/>
              <a:stretch>
                <a:fillRect l="-26245" r="-26244" b="-4"/>
              </a:stretch>
            </a:blipFill>
          </p:spPr>
        </p:sp>
      </p:grpSp>
      <p:grpSp>
        <p:nvGrpSpPr>
          <p:cNvPr id="11" name="Group 11"/>
          <p:cNvGrpSpPr/>
          <p:nvPr/>
        </p:nvGrpSpPr>
        <p:grpSpPr>
          <a:xfrm>
            <a:off x="857250" y="2021681"/>
            <a:ext cx="357188" cy="285750"/>
            <a:chOff x="0" y="0"/>
            <a:chExt cx="476250" cy="381000"/>
          </a:xfrm>
        </p:grpSpPr>
        <p:sp>
          <p:nvSpPr>
            <p:cNvPr id="12" name="Freeform 12"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7"/>
              <a:stretch>
                <a:fillRect/>
              </a:stretch>
            </a:blipFill>
          </p:spPr>
        </p:sp>
      </p:grpSp>
      <p:grpSp>
        <p:nvGrpSpPr>
          <p:cNvPr id="13" name="Group 13"/>
          <p:cNvGrpSpPr/>
          <p:nvPr/>
        </p:nvGrpSpPr>
        <p:grpSpPr>
          <a:xfrm>
            <a:off x="571500" y="2707481"/>
            <a:ext cx="17145000" cy="5986015"/>
            <a:chOff x="0" y="0"/>
            <a:chExt cx="22860000" cy="7981353"/>
          </a:xfrm>
        </p:grpSpPr>
        <p:sp>
          <p:nvSpPr>
            <p:cNvPr id="14" name="Freeform 14" descr="preencoded.png"/>
            <p:cNvSpPr/>
            <p:nvPr/>
          </p:nvSpPr>
          <p:spPr>
            <a:xfrm>
              <a:off x="0" y="0"/>
              <a:ext cx="22860000" cy="7981315"/>
            </a:xfrm>
            <a:custGeom>
              <a:avLst/>
              <a:gdLst/>
              <a:ahLst/>
              <a:cxnLst/>
              <a:rect l="l" t="t" r="r" b="b"/>
              <a:pathLst>
                <a:path w="22860000" h="7981315">
                  <a:moveTo>
                    <a:pt x="0" y="0"/>
                  </a:moveTo>
                  <a:lnTo>
                    <a:pt x="22860000" y="0"/>
                  </a:lnTo>
                  <a:lnTo>
                    <a:pt x="22860000" y="7981315"/>
                  </a:lnTo>
                  <a:lnTo>
                    <a:pt x="0" y="7981315"/>
                  </a:lnTo>
                  <a:lnTo>
                    <a:pt x="0" y="0"/>
                  </a:lnTo>
                  <a:close/>
                </a:path>
              </a:pathLst>
            </a:custGeom>
            <a:blipFill>
              <a:blip r:embed="rId8"/>
              <a:stretch>
                <a:fillRect t="-1316" b="-1317"/>
              </a:stretch>
            </a:blipFill>
          </p:spPr>
        </p:sp>
      </p:grpSp>
      <p:grpSp>
        <p:nvGrpSpPr>
          <p:cNvPr id="15" name="Group 15"/>
          <p:cNvGrpSpPr/>
          <p:nvPr/>
        </p:nvGrpSpPr>
        <p:grpSpPr>
          <a:xfrm>
            <a:off x="571500" y="2707481"/>
            <a:ext cx="17145000" cy="657225"/>
            <a:chOff x="0" y="0"/>
            <a:chExt cx="22860000" cy="876300"/>
          </a:xfrm>
        </p:grpSpPr>
        <p:sp>
          <p:nvSpPr>
            <p:cNvPr id="16" name="Freeform 16" descr="preencoded.png"/>
            <p:cNvSpPr/>
            <p:nvPr/>
          </p:nvSpPr>
          <p:spPr>
            <a:xfrm>
              <a:off x="0" y="0"/>
              <a:ext cx="22860000" cy="876300"/>
            </a:xfrm>
            <a:custGeom>
              <a:avLst/>
              <a:gdLst/>
              <a:ahLst/>
              <a:cxnLst/>
              <a:rect l="l" t="t" r="r" b="b"/>
              <a:pathLst>
                <a:path w="22860000" h="876300">
                  <a:moveTo>
                    <a:pt x="0" y="0"/>
                  </a:moveTo>
                  <a:lnTo>
                    <a:pt x="22860000" y="0"/>
                  </a:lnTo>
                  <a:lnTo>
                    <a:pt x="22860000" y="876300"/>
                  </a:lnTo>
                  <a:lnTo>
                    <a:pt x="0" y="876300"/>
                  </a:lnTo>
                  <a:lnTo>
                    <a:pt x="0" y="0"/>
                  </a:lnTo>
                  <a:close/>
                </a:path>
              </a:pathLst>
            </a:custGeom>
            <a:blipFill>
              <a:blip r:embed="rId9"/>
              <a:stretch>
                <a:fillRect/>
              </a:stretch>
            </a:blipFill>
          </p:spPr>
        </p:sp>
      </p:grpSp>
      <p:grpSp>
        <p:nvGrpSpPr>
          <p:cNvPr id="17" name="Group 17"/>
          <p:cNvGrpSpPr/>
          <p:nvPr/>
        </p:nvGrpSpPr>
        <p:grpSpPr>
          <a:xfrm>
            <a:off x="571500" y="3364706"/>
            <a:ext cx="3429000" cy="532876"/>
            <a:chOff x="0" y="0"/>
            <a:chExt cx="4572000" cy="710502"/>
          </a:xfrm>
        </p:grpSpPr>
        <p:sp>
          <p:nvSpPr>
            <p:cNvPr id="18" name="Freeform 18"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10"/>
              <a:stretch>
                <a:fillRect l="-401" r="-401" b="8"/>
              </a:stretch>
            </a:blipFill>
          </p:spPr>
        </p:sp>
      </p:grpSp>
      <p:grpSp>
        <p:nvGrpSpPr>
          <p:cNvPr id="19" name="Group 19"/>
          <p:cNvGrpSpPr/>
          <p:nvPr/>
        </p:nvGrpSpPr>
        <p:grpSpPr>
          <a:xfrm>
            <a:off x="4000500" y="3364706"/>
            <a:ext cx="2571750" cy="532876"/>
            <a:chOff x="0" y="0"/>
            <a:chExt cx="3429000" cy="710502"/>
          </a:xfrm>
        </p:grpSpPr>
        <p:sp>
          <p:nvSpPr>
            <p:cNvPr id="20" name="Freeform 20"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11"/>
              <a:stretch>
                <a:fillRect l="-401" r="-401" b="8"/>
              </a:stretch>
            </a:blipFill>
          </p:spPr>
        </p:sp>
      </p:grpSp>
      <p:grpSp>
        <p:nvGrpSpPr>
          <p:cNvPr id="21" name="Group 21"/>
          <p:cNvGrpSpPr/>
          <p:nvPr/>
        </p:nvGrpSpPr>
        <p:grpSpPr>
          <a:xfrm>
            <a:off x="6572250" y="3364706"/>
            <a:ext cx="11144250" cy="532876"/>
            <a:chOff x="0" y="0"/>
            <a:chExt cx="14859000" cy="710502"/>
          </a:xfrm>
        </p:grpSpPr>
        <p:sp>
          <p:nvSpPr>
            <p:cNvPr id="22" name="Freeform 22"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12"/>
              <a:stretch>
                <a:fillRect l="-401" r="-401" b="8"/>
              </a:stretch>
            </a:blipFill>
          </p:spPr>
        </p:sp>
      </p:grpSp>
      <p:grpSp>
        <p:nvGrpSpPr>
          <p:cNvPr id="23" name="Group 23"/>
          <p:cNvGrpSpPr/>
          <p:nvPr/>
        </p:nvGrpSpPr>
        <p:grpSpPr>
          <a:xfrm>
            <a:off x="571500" y="3897582"/>
            <a:ext cx="17145000" cy="532876"/>
            <a:chOff x="0" y="0"/>
            <a:chExt cx="22860000" cy="710502"/>
          </a:xfrm>
        </p:grpSpPr>
        <p:sp>
          <p:nvSpPr>
            <p:cNvPr id="24" name="Freeform 24" descr="preencoded.png"/>
            <p:cNvSpPr/>
            <p:nvPr/>
          </p:nvSpPr>
          <p:spPr>
            <a:xfrm>
              <a:off x="0" y="0"/>
              <a:ext cx="22860000" cy="710565"/>
            </a:xfrm>
            <a:custGeom>
              <a:avLst/>
              <a:gdLst/>
              <a:ahLst/>
              <a:cxnLst/>
              <a:rect l="l" t="t" r="r" b="b"/>
              <a:pathLst>
                <a:path w="22860000" h="710565">
                  <a:moveTo>
                    <a:pt x="0" y="0"/>
                  </a:moveTo>
                  <a:lnTo>
                    <a:pt x="22860000" y="0"/>
                  </a:lnTo>
                  <a:lnTo>
                    <a:pt x="22860000" y="710565"/>
                  </a:lnTo>
                  <a:lnTo>
                    <a:pt x="0" y="710565"/>
                  </a:lnTo>
                  <a:lnTo>
                    <a:pt x="0" y="0"/>
                  </a:lnTo>
                  <a:close/>
                </a:path>
              </a:pathLst>
            </a:custGeom>
            <a:blipFill>
              <a:blip r:embed="rId13"/>
              <a:stretch>
                <a:fillRect l="-401" r="-401" b="8"/>
              </a:stretch>
            </a:blipFill>
          </p:spPr>
        </p:sp>
      </p:grpSp>
      <p:grpSp>
        <p:nvGrpSpPr>
          <p:cNvPr id="25" name="Group 25"/>
          <p:cNvGrpSpPr/>
          <p:nvPr/>
        </p:nvGrpSpPr>
        <p:grpSpPr>
          <a:xfrm>
            <a:off x="571500" y="3897582"/>
            <a:ext cx="3429000" cy="532876"/>
            <a:chOff x="0" y="0"/>
            <a:chExt cx="4572000" cy="710502"/>
          </a:xfrm>
        </p:grpSpPr>
        <p:sp>
          <p:nvSpPr>
            <p:cNvPr id="26" name="Freeform 26"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14"/>
              <a:stretch>
                <a:fillRect l="-401" r="-401" b="8"/>
              </a:stretch>
            </a:blipFill>
          </p:spPr>
        </p:sp>
      </p:grpSp>
      <p:grpSp>
        <p:nvGrpSpPr>
          <p:cNvPr id="27" name="Group 27"/>
          <p:cNvGrpSpPr/>
          <p:nvPr/>
        </p:nvGrpSpPr>
        <p:grpSpPr>
          <a:xfrm>
            <a:off x="4000500" y="3897582"/>
            <a:ext cx="2571750" cy="532876"/>
            <a:chOff x="0" y="0"/>
            <a:chExt cx="3429000" cy="710502"/>
          </a:xfrm>
        </p:grpSpPr>
        <p:sp>
          <p:nvSpPr>
            <p:cNvPr id="28" name="Freeform 28"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15"/>
              <a:stretch>
                <a:fillRect l="-401" r="-401" b="8"/>
              </a:stretch>
            </a:blipFill>
          </p:spPr>
        </p:sp>
      </p:grpSp>
      <p:grpSp>
        <p:nvGrpSpPr>
          <p:cNvPr id="29" name="Group 29"/>
          <p:cNvGrpSpPr/>
          <p:nvPr/>
        </p:nvGrpSpPr>
        <p:grpSpPr>
          <a:xfrm>
            <a:off x="6572250" y="3897582"/>
            <a:ext cx="11144250" cy="532876"/>
            <a:chOff x="0" y="0"/>
            <a:chExt cx="14859000" cy="710502"/>
          </a:xfrm>
        </p:grpSpPr>
        <p:sp>
          <p:nvSpPr>
            <p:cNvPr id="30" name="Freeform 30"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16"/>
              <a:stretch>
                <a:fillRect l="-401" r="-401" b="8"/>
              </a:stretch>
            </a:blipFill>
          </p:spPr>
        </p:sp>
      </p:grpSp>
      <p:grpSp>
        <p:nvGrpSpPr>
          <p:cNvPr id="31" name="Group 31"/>
          <p:cNvGrpSpPr/>
          <p:nvPr/>
        </p:nvGrpSpPr>
        <p:grpSpPr>
          <a:xfrm>
            <a:off x="571500" y="4430468"/>
            <a:ext cx="3429000" cy="532876"/>
            <a:chOff x="0" y="0"/>
            <a:chExt cx="4572000" cy="710502"/>
          </a:xfrm>
        </p:grpSpPr>
        <p:sp>
          <p:nvSpPr>
            <p:cNvPr id="32" name="Freeform 32"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17"/>
              <a:stretch>
                <a:fillRect l="-401" r="-401" b="8"/>
              </a:stretch>
            </a:blipFill>
          </p:spPr>
        </p:sp>
      </p:grpSp>
      <p:grpSp>
        <p:nvGrpSpPr>
          <p:cNvPr id="33" name="Group 33"/>
          <p:cNvGrpSpPr/>
          <p:nvPr/>
        </p:nvGrpSpPr>
        <p:grpSpPr>
          <a:xfrm>
            <a:off x="4000500" y="4430468"/>
            <a:ext cx="2571750" cy="532876"/>
            <a:chOff x="0" y="0"/>
            <a:chExt cx="3429000" cy="710502"/>
          </a:xfrm>
        </p:grpSpPr>
        <p:sp>
          <p:nvSpPr>
            <p:cNvPr id="34" name="Freeform 34"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15"/>
              <a:stretch>
                <a:fillRect l="-401" r="-401" b="8"/>
              </a:stretch>
            </a:blipFill>
          </p:spPr>
        </p:sp>
      </p:grpSp>
      <p:grpSp>
        <p:nvGrpSpPr>
          <p:cNvPr id="35" name="Group 35"/>
          <p:cNvGrpSpPr/>
          <p:nvPr/>
        </p:nvGrpSpPr>
        <p:grpSpPr>
          <a:xfrm>
            <a:off x="6572250" y="4430468"/>
            <a:ext cx="11144250" cy="532876"/>
            <a:chOff x="0" y="0"/>
            <a:chExt cx="14859000" cy="710502"/>
          </a:xfrm>
        </p:grpSpPr>
        <p:sp>
          <p:nvSpPr>
            <p:cNvPr id="36" name="Freeform 36"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16"/>
              <a:stretch>
                <a:fillRect l="-401" r="-401" b="8"/>
              </a:stretch>
            </a:blipFill>
          </p:spPr>
        </p:sp>
      </p:grpSp>
      <p:grpSp>
        <p:nvGrpSpPr>
          <p:cNvPr id="37" name="Group 37"/>
          <p:cNvGrpSpPr/>
          <p:nvPr/>
        </p:nvGrpSpPr>
        <p:grpSpPr>
          <a:xfrm>
            <a:off x="571500" y="4963344"/>
            <a:ext cx="17145000" cy="532876"/>
            <a:chOff x="0" y="0"/>
            <a:chExt cx="22860000" cy="710502"/>
          </a:xfrm>
        </p:grpSpPr>
        <p:sp>
          <p:nvSpPr>
            <p:cNvPr id="38" name="Freeform 38" descr="preencoded.png"/>
            <p:cNvSpPr/>
            <p:nvPr/>
          </p:nvSpPr>
          <p:spPr>
            <a:xfrm>
              <a:off x="0" y="0"/>
              <a:ext cx="22860000" cy="710565"/>
            </a:xfrm>
            <a:custGeom>
              <a:avLst/>
              <a:gdLst/>
              <a:ahLst/>
              <a:cxnLst/>
              <a:rect l="l" t="t" r="r" b="b"/>
              <a:pathLst>
                <a:path w="22860000" h="710565">
                  <a:moveTo>
                    <a:pt x="0" y="0"/>
                  </a:moveTo>
                  <a:lnTo>
                    <a:pt x="22860000" y="0"/>
                  </a:lnTo>
                  <a:lnTo>
                    <a:pt x="22860000" y="710565"/>
                  </a:lnTo>
                  <a:lnTo>
                    <a:pt x="0" y="710565"/>
                  </a:lnTo>
                  <a:lnTo>
                    <a:pt x="0" y="0"/>
                  </a:lnTo>
                  <a:close/>
                </a:path>
              </a:pathLst>
            </a:custGeom>
            <a:blipFill>
              <a:blip r:embed="rId18"/>
              <a:stretch>
                <a:fillRect l="-401" r="-401" b="8"/>
              </a:stretch>
            </a:blipFill>
          </p:spPr>
        </p:sp>
      </p:grpSp>
      <p:grpSp>
        <p:nvGrpSpPr>
          <p:cNvPr id="39" name="Group 39"/>
          <p:cNvGrpSpPr/>
          <p:nvPr/>
        </p:nvGrpSpPr>
        <p:grpSpPr>
          <a:xfrm>
            <a:off x="571500" y="4963344"/>
            <a:ext cx="3429000" cy="532876"/>
            <a:chOff x="0" y="0"/>
            <a:chExt cx="4572000" cy="710502"/>
          </a:xfrm>
        </p:grpSpPr>
        <p:sp>
          <p:nvSpPr>
            <p:cNvPr id="40" name="Freeform 40"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19"/>
              <a:stretch>
                <a:fillRect l="-401" r="-401" b="8"/>
              </a:stretch>
            </a:blipFill>
          </p:spPr>
        </p:sp>
      </p:grpSp>
      <p:grpSp>
        <p:nvGrpSpPr>
          <p:cNvPr id="41" name="Group 41"/>
          <p:cNvGrpSpPr/>
          <p:nvPr/>
        </p:nvGrpSpPr>
        <p:grpSpPr>
          <a:xfrm>
            <a:off x="4000500" y="4963344"/>
            <a:ext cx="2571750" cy="532876"/>
            <a:chOff x="0" y="0"/>
            <a:chExt cx="3429000" cy="710502"/>
          </a:xfrm>
        </p:grpSpPr>
        <p:sp>
          <p:nvSpPr>
            <p:cNvPr id="42" name="Freeform 42"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20"/>
              <a:stretch>
                <a:fillRect l="-401" r="-401" b="8"/>
              </a:stretch>
            </a:blipFill>
          </p:spPr>
        </p:sp>
      </p:grpSp>
      <p:grpSp>
        <p:nvGrpSpPr>
          <p:cNvPr id="43" name="Group 43"/>
          <p:cNvGrpSpPr/>
          <p:nvPr/>
        </p:nvGrpSpPr>
        <p:grpSpPr>
          <a:xfrm>
            <a:off x="6572250" y="4963344"/>
            <a:ext cx="11144250" cy="532876"/>
            <a:chOff x="0" y="0"/>
            <a:chExt cx="14859000" cy="710502"/>
          </a:xfrm>
        </p:grpSpPr>
        <p:sp>
          <p:nvSpPr>
            <p:cNvPr id="44" name="Freeform 44"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21"/>
              <a:stretch>
                <a:fillRect l="-401" r="-401" b="8"/>
              </a:stretch>
            </a:blipFill>
          </p:spPr>
        </p:sp>
      </p:grpSp>
      <p:grpSp>
        <p:nvGrpSpPr>
          <p:cNvPr id="45" name="Group 45"/>
          <p:cNvGrpSpPr/>
          <p:nvPr/>
        </p:nvGrpSpPr>
        <p:grpSpPr>
          <a:xfrm>
            <a:off x="571500" y="5496220"/>
            <a:ext cx="3429000" cy="532876"/>
            <a:chOff x="0" y="0"/>
            <a:chExt cx="4572000" cy="710502"/>
          </a:xfrm>
        </p:grpSpPr>
        <p:sp>
          <p:nvSpPr>
            <p:cNvPr id="46" name="Freeform 46"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22"/>
              <a:stretch>
                <a:fillRect l="-401" r="-401" b="8"/>
              </a:stretch>
            </a:blipFill>
          </p:spPr>
        </p:sp>
      </p:grpSp>
      <p:grpSp>
        <p:nvGrpSpPr>
          <p:cNvPr id="47" name="Group 47"/>
          <p:cNvGrpSpPr/>
          <p:nvPr/>
        </p:nvGrpSpPr>
        <p:grpSpPr>
          <a:xfrm>
            <a:off x="4000500" y="5496220"/>
            <a:ext cx="2571750" cy="532876"/>
            <a:chOff x="0" y="0"/>
            <a:chExt cx="3429000" cy="710502"/>
          </a:xfrm>
        </p:grpSpPr>
        <p:sp>
          <p:nvSpPr>
            <p:cNvPr id="48" name="Freeform 48"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23"/>
              <a:stretch>
                <a:fillRect l="-401" r="-401" b="8"/>
              </a:stretch>
            </a:blipFill>
          </p:spPr>
        </p:sp>
      </p:grpSp>
      <p:grpSp>
        <p:nvGrpSpPr>
          <p:cNvPr id="49" name="Group 49"/>
          <p:cNvGrpSpPr/>
          <p:nvPr/>
        </p:nvGrpSpPr>
        <p:grpSpPr>
          <a:xfrm>
            <a:off x="6572250" y="5496220"/>
            <a:ext cx="11144250" cy="532876"/>
            <a:chOff x="0" y="0"/>
            <a:chExt cx="14859000" cy="710502"/>
          </a:xfrm>
        </p:grpSpPr>
        <p:sp>
          <p:nvSpPr>
            <p:cNvPr id="50" name="Freeform 50"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24"/>
              <a:stretch>
                <a:fillRect l="-401" r="-401" b="8"/>
              </a:stretch>
            </a:blipFill>
          </p:spPr>
        </p:sp>
      </p:grpSp>
      <p:grpSp>
        <p:nvGrpSpPr>
          <p:cNvPr id="51" name="Group 51"/>
          <p:cNvGrpSpPr/>
          <p:nvPr/>
        </p:nvGrpSpPr>
        <p:grpSpPr>
          <a:xfrm>
            <a:off x="571500" y="6029106"/>
            <a:ext cx="17145000" cy="532876"/>
            <a:chOff x="0" y="0"/>
            <a:chExt cx="22860000" cy="710502"/>
          </a:xfrm>
        </p:grpSpPr>
        <p:sp>
          <p:nvSpPr>
            <p:cNvPr id="52" name="Freeform 52" descr="preencoded.png"/>
            <p:cNvSpPr/>
            <p:nvPr/>
          </p:nvSpPr>
          <p:spPr>
            <a:xfrm>
              <a:off x="0" y="0"/>
              <a:ext cx="22860000" cy="710565"/>
            </a:xfrm>
            <a:custGeom>
              <a:avLst/>
              <a:gdLst/>
              <a:ahLst/>
              <a:cxnLst/>
              <a:rect l="l" t="t" r="r" b="b"/>
              <a:pathLst>
                <a:path w="22860000" h="710565">
                  <a:moveTo>
                    <a:pt x="0" y="0"/>
                  </a:moveTo>
                  <a:lnTo>
                    <a:pt x="22860000" y="0"/>
                  </a:lnTo>
                  <a:lnTo>
                    <a:pt x="22860000" y="710565"/>
                  </a:lnTo>
                  <a:lnTo>
                    <a:pt x="0" y="710565"/>
                  </a:lnTo>
                  <a:lnTo>
                    <a:pt x="0" y="0"/>
                  </a:lnTo>
                  <a:close/>
                </a:path>
              </a:pathLst>
            </a:custGeom>
            <a:blipFill>
              <a:blip r:embed="rId25"/>
              <a:stretch>
                <a:fillRect l="-401" r="-401" b="8"/>
              </a:stretch>
            </a:blipFill>
          </p:spPr>
        </p:sp>
      </p:grpSp>
      <p:grpSp>
        <p:nvGrpSpPr>
          <p:cNvPr id="53" name="Group 53"/>
          <p:cNvGrpSpPr/>
          <p:nvPr/>
        </p:nvGrpSpPr>
        <p:grpSpPr>
          <a:xfrm>
            <a:off x="571500" y="6029106"/>
            <a:ext cx="3429000" cy="532876"/>
            <a:chOff x="0" y="0"/>
            <a:chExt cx="4572000" cy="710502"/>
          </a:xfrm>
        </p:grpSpPr>
        <p:sp>
          <p:nvSpPr>
            <p:cNvPr id="54" name="Freeform 54"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26"/>
              <a:stretch>
                <a:fillRect l="-401" r="-401" b="8"/>
              </a:stretch>
            </a:blipFill>
          </p:spPr>
        </p:sp>
      </p:grpSp>
      <p:grpSp>
        <p:nvGrpSpPr>
          <p:cNvPr id="55" name="Group 55"/>
          <p:cNvGrpSpPr/>
          <p:nvPr/>
        </p:nvGrpSpPr>
        <p:grpSpPr>
          <a:xfrm>
            <a:off x="4000500" y="6029106"/>
            <a:ext cx="2571750" cy="532876"/>
            <a:chOff x="0" y="0"/>
            <a:chExt cx="3429000" cy="710502"/>
          </a:xfrm>
        </p:grpSpPr>
        <p:sp>
          <p:nvSpPr>
            <p:cNvPr id="56" name="Freeform 56"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27"/>
              <a:stretch>
                <a:fillRect l="-401" r="-401" b="8"/>
              </a:stretch>
            </a:blipFill>
          </p:spPr>
        </p:sp>
      </p:grpSp>
      <p:grpSp>
        <p:nvGrpSpPr>
          <p:cNvPr id="57" name="Group 57"/>
          <p:cNvGrpSpPr/>
          <p:nvPr/>
        </p:nvGrpSpPr>
        <p:grpSpPr>
          <a:xfrm>
            <a:off x="6572250" y="6029106"/>
            <a:ext cx="11144250" cy="532876"/>
            <a:chOff x="0" y="0"/>
            <a:chExt cx="14859000" cy="710502"/>
          </a:xfrm>
        </p:grpSpPr>
        <p:sp>
          <p:nvSpPr>
            <p:cNvPr id="58" name="Freeform 58"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16"/>
              <a:stretch>
                <a:fillRect l="-401" r="-401" b="8"/>
              </a:stretch>
            </a:blipFill>
          </p:spPr>
        </p:sp>
      </p:grpSp>
      <p:grpSp>
        <p:nvGrpSpPr>
          <p:cNvPr id="59" name="Group 59"/>
          <p:cNvGrpSpPr/>
          <p:nvPr/>
        </p:nvGrpSpPr>
        <p:grpSpPr>
          <a:xfrm>
            <a:off x="571500" y="6561982"/>
            <a:ext cx="3429000" cy="532876"/>
            <a:chOff x="0" y="0"/>
            <a:chExt cx="4572000" cy="710502"/>
          </a:xfrm>
        </p:grpSpPr>
        <p:sp>
          <p:nvSpPr>
            <p:cNvPr id="60" name="Freeform 60"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28"/>
              <a:stretch>
                <a:fillRect l="-401" r="-401" b="8"/>
              </a:stretch>
            </a:blipFill>
          </p:spPr>
        </p:sp>
      </p:grpSp>
      <p:grpSp>
        <p:nvGrpSpPr>
          <p:cNvPr id="61" name="Group 61"/>
          <p:cNvGrpSpPr/>
          <p:nvPr/>
        </p:nvGrpSpPr>
        <p:grpSpPr>
          <a:xfrm>
            <a:off x="4000500" y="6561982"/>
            <a:ext cx="2571750" cy="532876"/>
            <a:chOff x="0" y="0"/>
            <a:chExt cx="3429000" cy="710502"/>
          </a:xfrm>
        </p:grpSpPr>
        <p:sp>
          <p:nvSpPr>
            <p:cNvPr id="62" name="Freeform 62"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29"/>
              <a:stretch>
                <a:fillRect l="-401" r="-401" b="8"/>
              </a:stretch>
            </a:blipFill>
          </p:spPr>
        </p:sp>
      </p:grpSp>
      <p:grpSp>
        <p:nvGrpSpPr>
          <p:cNvPr id="63" name="Group 63"/>
          <p:cNvGrpSpPr/>
          <p:nvPr/>
        </p:nvGrpSpPr>
        <p:grpSpPr>
          <a:xfrm>
            <a:off x="6572250" y="6561982"/>
            <a:ext cx="11144250" cy="532876"/>
            <a:chOff x="0" y="0"/>
            <a:chExt cx="14859000" cy="710502"/>
          </a:xfrm>
        </p:grpSpPr>
        <p:sp>
          <p:nvSpPr>
            <p:cNvPr id="64" name="Freeform 64"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21"/>
              <a:stretch>
                <a:fillRect l="-401" r="-401" b="8"/>
              </a:stretch>
            </a:blipFill>
          </p:spPr>
        </p:sp>
      </p:grpSp>
      <p:grpSp>
        <p:nvGrpSpPr>
          <p:cNvPr id="65" name="Group 65"/>
          <p:cNvGrpSpPr/>
          <p:nvPr/>
        </p:nvGrpSpPr>
        <p:grpSpPr>
          <a:xfrm>
            <a:off x="571500" y="7094858"/>
            <a:ext cx="17145000" cy="532876"/>
            <a:chOff x="0" y="0"/>
            <a:chExt cx="22860000" cy="710502"/>
          </a:xfrm>
        </p:grpSpPr>
        <p:sp>
          <p:nvSpPr>
            <p:cNvPr id="66" name="Freeform 66" descr="preencoded.png"/>
            <p:cNvSpPr/>
            <p:nvPr/>
          </p:nvSpPr>
          <p:spPr>
            <a:xfrm>
              <a:off x="0" y="0"/>
              <a:ext cx="22860000" cy="710565"/>
            </a:xfrm>
            <a:custGeom>
              <a:avLst/>
              <a:gdLst/>
              <a:ahLst/>
              <a:cxnLst/>
              <a:rect l="l" t="t" r="r" b="b"/>
              <a:pathLst>
                <a:path w="22860000" h="710565">
                  <a:moveTo>
                    <a:pt x="0" y="0"/>
                  </a:moveTo>
                  <a:lnTo>
                    <a:pt x="22860000" y="0"/>
                  </a:lnTo>
                  <a:lnTo>
                    <a:pt x="22860000" y="710565"/>
                  </a:lnTo>
                  <a:lnTo>
                    <a:pt x="0" y="710565"/>
                  </a:lnTo>
                  <a:lnTo>
                    <a:pt x="0" y="0"/>
                  </a:lnTo>
                  <a:close/>
                </a:path>
              </a:pathLst>
            </a:custGeom>
            <a:blipFill>
              <a:blip r:embed="rId30"/>
              <a:stretch>
                <a:fillRect l="-401" r="-401" b="8"/>
              </a:stretch>
            </a:blipFill>
          </p:spPr>
        </p:sp>
      </p:grpSp>
      <p:grpSp>
        <p:nvGrpSpPr>
          <p:cNvPr id="67" name="Group 67"/>
          <p:cNvGrpSpPr/>
          <p:nvPr/>
        </p:nvGrpSpPr>
        <p:grpSpPr>
          <a:xfrm>
            <a:off x="571500" y="7094858"/>
            <a:ext cx="3429000" cy="532876"/>
            <a:chOff x="0" y="0"/>
            <a:chExt cx="4572000" cy="710502"/>
          </a:xfrm>
        </p:grpSpPr>
        <p:sp>
          <p:nvSpPr>
            <p:cNvPr id="68" name="Freeform 68"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31"/>
              <a:stretch>
                <a:fillRect l="-401" r="-401" b="8"/>
              </a:stretch>
            </a:blipFill>
          </p:spPr>
        </p:sp>
      </p:grpSp>
      <p:grpSp>
        <p:nvGrpSpPr>
          <p:cNvPr id="69" name="Group 69"/>
          <p:cNvGrpSpPr/>
          <p:nvPr/>
        </p:nvGrpSpPr>
        <p:grpSpPr>
          <a:xfrm>
            <a:off x="4000500" y="7094858"/>
            <a:ext cx="2571750" cy="532876"/>
            <a:chOff x="0" y="0"/>
            <a:chExt cx="3429000" cy="710502"/>
          </a:xfrm>
        </p:grpSpPr>
        <p:sp>
          <p:nvSpPr>
            <p:cNvPr id="70" name="Freeform 70"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32"/>
              <a:stretch>
                <a:fillRect l="-401" r="-401" b="8"/>
              </a:stretch>
            </a:blipFill>
          </p:spPr>
        </p:sp>
      </p:grpSp>
      <p:grpSp>
        <p:nvGrpSpPr>
          <p:cNvPr id="71" name="Group 71"/>
          <p:cNvGrpSpPr/>
          <p:nvPr/>
        </p:nvGrpSpPr>
        <p:grpSpPr>
          <a:xfrm>
            <a:off x="6572250" y="7094858"/>
            <a:ext cx="11144250" cy="532876"/>
            <a:chOff x="0" y="0"/>
            <a:chExt cx="14859000" cy="710502"/>
          </a:xfrm>
        </p:grpSpPr>
        <p:sp>
          <p:nvSpPr>
            <p:cNvPr id="72" name="Freeform 72"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21"/>
              <a:stretch>
                <a:fillRect l="-401" r="-401" b="8"/>
              </a:stretch>
            </a:blipFill>
          </p:spPr>
        </p:sp>
      </p:grpSp>
      <p:grpSp>
        <p:nvGrpSpPr>
          <p:cNvPr id="73" name="Group 73"/>
          <p:cNvGrpSpPr/>
          <p:nvPr/>
        </p:nvGrpSpPr>
        <p:grpSpPr>
          <a:xfrm>
            <a:off x="571500" y="7627734"/>
            <a:ext cx="3429000" cy="532876"/>
            <a:chOff x="0" y="0"/>
            <a:chExt cx="4572000" cy="710502"/>
          </a:xfrm>
        </p:grpSpPr>
        <p:sp>
          <p:nvSpPr>
            <p:cNvPr id="74" name="Freeform 74"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33"/>
              <a:stretch>
                <a:fillRect l="-401" r="-401" b="8"/>
              </a:stretch>
            </a:blipFill>
          </p:spPr>
        </p:sp>
      </p:grpSp>
      <p:grpSp>
        <p:nvGrpSpPr>
          <p:cNvPr id="75" name="Group 75"/>
          <p:cNvGrpSpPr/>
          <p:nvPr/>
        </p:nvGrpSpPr>
        <p:grpSpPr>
          <a:xfrm>
            <a:off x="4000500" y="7627734"/>
            <a:ext cx="2571750" cy="532876"/>
            <a:chOff x="0" y="0"/>
            <a:chExt cx="3429000" cy="710502"/>
          </a:xfrm>
        </p:grpSpPr>
        <p:sp>
          <p:nvSpPr>
            <p:cNvPr id="76" name="Freeform 76"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15"/>
              <a:stretch>
                <a:fillRect l="-401" r="-401" b="8"/>
              </a:stretch>
            </a:blipFill>
          </p:spPr>
        </p:sp>
      </p:grpSp>
      <p:grpSp>
        <p:nvGrpSpPr>
          <p:cNvPr id="77" name="Group 77"/>
          <p:cNvGrpSpPr/>
          <p:nvPr/>
        </p:nvGrpSpPr>
        <p:grpSpPr>
          <a:xfrm>
            <a:off x="6572250" y="7627734"/>
            <a:ext cx="11144250" cy="532876"/>
            <a:chOff x="0" y="0"/>
            <a:chExt cx="14859000" cy="710502"/>
          </a:xfrm>
        </p:grpSpPr>
        <p:sp>
          <p:nvSpPr>
            <p:cNvPr id="78" name="Freeform 78"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16"/>
              <a:stretch>
                <a:fillRect l="-401" r="-401" b="8"/>
              </a:stretch>
            </a:blipFill>
          </p:spPr>
        </p:sp>
      </p:grpSp>
      <p:grpSp>
        <p:nvGrpSpPr>
          <p:cNvPr id="79" name="Group 79"/>
          <p:cNvGrpSpPr/>
          <p:nvPr/>
        </p:nvGrpSpPr>
        <p:grpSpPr>
          <a:xfrm>
            <a:off x="571500" y="8160620"/>
            <a:ext cx="17145000" cy="532876"/>
            <a:chOff x="0" y="0"/>
            <a:chExt cx="22860000" cy="710502"/>
          </a:xfrm>
        </p:grpSpPr>
        <p:sp>
          <p:nvSpPr>
            <p:cNvPr id="80" name="Freeform 80" descr="preencoded.png"/>
            <p:cNvSpPr/>
            <p:nvPr/>
          </p:nvSpPr>
          <p:spPr>
            <a:xfrm>
              <a:off x="0" y="0"/>
              <a:ext cx="22860000" cy="710565"/>
            </a:xfrm>
            <a:custGeom>
              <a:avLst/>
              <a:gdLst/>
              <a:ahLst/>
              <a:cxnLst/>
              <a:rect l="l" t="t" r="r" b="b"/>
              <a:pathLst>
                <a:path w="22860000" h="710565">
                  <a:moveTo>
                    <a:pt x="0" y="0"/>
                  </a:moveTo>
                  <a:lnTo>
                    <a:pt x="22860000" y="0"/>
                  </a:lnTo>
                  <a:lnTo>
                    <a:pt x="22860000" y="710565"/>
                  </a:lnTo>
                  <a:lnTo>
                    <a:pt x="0" y="710565"/>
                  </a:lnTo>
                  <a:lnTo>
                    <a:pt x="0" y="0"/>
                  </a:lnTo>
                  <a:close/>
                </a:path>
              </a:pathLst>
            </a:custGeom>
            <a:blipFill>
              <a:blip r:embed="rId34"/>
              <a:stretch>
                <a:fillRect l="-401" r="-401" b="8"/>
              </a:stretch>
            </a:blipFill>
          </p:spPr>
        </p:sp>
      </p:grpSp>
      <p:grpSp>
        <p:nvGrpSpPr>
          <p:cNvPr id="81" name="Group 81"/>
          <p:cNvGrpSpPr/>
          <p:nvPr/>
        </p:nvGrpSpPr>
        <p:grpSpPr>
          <a:xfrm>
            <a:off x="571500" y="8160620"/>
            <a:ext cx="3429000" cy="532876"/>
            <a:chOff x="0" y="0"/>
            <a:chExt cx="4572000" cy="710502"/>
          </a:xfrm>
        </p:grpSpPr>
        <p:sp>
          <p:nvSpPr>
            <p:cNvPr id="82" name="Freeform 82" descr="preencoded.png"/>
            <p:cNvSpPr/>
            <p:nvPr/>
          </p:nvSpPr>
          <p:spPr>
            <a:xfrm>
              <a:off x="0" y="0"/>
              <a:ext cx="4572000" cy="710565"/>
            </a:xfrm>
            <a:custGeom>
              <a:avLst/>
              <a:gdLst/>
              <a:ahLst/>
              <a:cxnLst/>
              <a:rect l="l" t="t" r="r" b="b"/>
              <a:pathLst>
                <a:path w="4572000" h="710565">
                  <a:moveTo>
                    <a:pt x="0" y="0"/>
                  </a:moveTo>
                  <a:lnTo>
                    <a:pt x="4572000" y="0"/>
                  </a:lnTo>
                  <a:lnTo>
                    <a:pt x="4572000" y="710565"/>
                  </a:lnTo>
                  <a:lnTo>
                    <a:pt x="0" y="710565"/>
                  </a:lnTo>
                  <a:lnTo>
                    <a:pt x="0" y="0"/>
                  </a:lnTo>
                  <a:close/>
                </a:path>
              </a:pathLst>
            </a:custGeom>
            <a:blipFill>
              <a:blip r:embed="rId17"/>
              <a:stretch>
                <a:fillRect l="-401" r="-401" b="8"/>
              </a:stretch>
            </a:blipFill>
          </p:spPr>
        </p:sp>
      </p:grpSp>
      <p:grpSp>
        <p:nvGrpSpPr>
          <p:cNvPr id="83" name="Group 83"/>
          <p:cNvGrpSpPr/>
          <p:nvPr/>
        </p:nvGrpSpPr>
        <p:grpSpPr>
          <a:xfrm>
            <a:off x="4000500" y="8160620"/>
            <a:ext cx="2571750" cy="532876"/>
            <a:chOff x="0" y="0"/>
            <a:chExt cx="3429000" cy="710502"/>
          </a:xfrm>
        </p:grpSpPr>
        <p:sp>
          <p:nvSpPr>
            <p:cNvPr id="84" name="Freeform 84" descr="preencoded.png"/>
            <p:cNvSpPr/>
            <p:nvPr/>
          </p:nvSpPr>
          <p:spPr>
            <a:xfrm>
              <a:off x="0" y="0"/>
              <a:ext cx="3429000" cy="710565"/>
            </a:xfrm>
            <a:custGeom>
              <a:avLst/>
              <a:gdLst/>
              <a:ahLst/>
              <a:cxnLst/>
              <a:rect l="l" t="t" r="r" b="b"/>
              <a:pathLst>
                <a:path w="3429000" h="710565">
                  <a:moveTo>
                    <a:pt x="0" y="0"/>
                  </a:moveTo>
                  <a:lnTo>
                    <a:pt x="3429000" y="0"/>
                  </a:lnTo>
                  <a:lnTo>
                    <a:pt x="3429000" y="710565"/>
                  </a:lnTo>
                  <a:lnTo>
                    <a:pt x="0" y="710565"/>
                  </a:lnTo>
                  <a:lnTo>
                    <a:pt x="0" y="0"/>
                  </a:lnTo>
                  <a:close/>
                </a:path>
              </a:pathLst>
            </a:custGeom>
            <a:blipFill>
              <a:blip r:embed="rId15"/>
              <a:stretch>
                <a:fillRect l="-401" r="-401" b="8"/>
              </a:stretch>
            </a:blipFill>
          </p:spPr>
        </p:sp>
      </p:grpSp>
      <p:grpSp>
        <p:nvGrpSpPr>
          <p:cNvPr id="85" name="Group 85"/>
          <p:cNvGrpSpPr/>
          <p:nvPr/>
        </p:nvGrpSpPr>
        <p:grpSpPr>
          <a:xfrm>
            <a:off x="6572250" y="8160620"/>
            <a:ext cx="11144250" cy="532876"/>
            <a:chOff x="0" y="0"/>
            <a:chExt cx="14859000" cy="710502"/>
          </a:xfrm>
        </p:grpSpPr>
        <p:sp>
          <p:nvSpPr>
            <p:cNvPr id="86" name="Freeform 86" descr="preencoded.png"/>
            <p:cNvSpPr/>
            <p:nvPr/>
          </p:nvSpPr>
          <p:spPr>
            <a:xfrm>
              <a:off x="0" y="0"/>
              <a:ext cx="14859000" cy="710565"/>
            </a:xfrm>
            <a:custGeom>
              <a:avLst/>
              <a:gdLst/>
              <a:ahLst/>
              <a:cxnLst/>
              <a:rect l="l" t="t" r="r" b="b"/>
              <a:pathLst>
                <a:path w="14859000" h="710565">
                  <a:moveTo>
                    <a:pt x="0" y="0"/>
                  </a:moveTo>
                  <a:lnTo>
                    <a:pt x="14859000" y="0"/>
                  </a:lnTo>
                  <a:lnTo>
                    <a:pt x="14859000" y="710565"/>
                  </a:lnTo>
                  <a:lnTo>
                    <a:pt x="0" y="710565"/>
                  </a:lnTo>
                  <a:lnTo>
                    <a:pt x="0" y="0"/>
                  </a:lnTo>
                  <a:close/>
                </a:path>
              </a:pathLst>
            </a:custGeom>
            <a:blipFill>
              <a:blip r:embed="rId16"/>
              <a:stretch>
                <a:fillRect l="-401" r="-401" b="8"/>
              </a:stretch>
            </a:blipFill>
          </p:spPr>
        </p:sp>
      </p:grpSp>
      <p:grpSp>
        <p:nvGrpSpPr>
          <p:cNvPr id="87" name="Group 87"/>
          <p:cNvGrpSpPr/>
          <p:nvPr/>
        </p:nvGrpSpPr>
        <p:grpSpPr>
          <a:xfrm>
            <a:off x="11569303" y="9035729"/>
            <a:ext cx="232172" cy="188643"/>
            <a:chOff x="0" y="0"/>
            <a:chExt cx="309562" cy="251524"/>
          </a:xfrm>
        </p:grpSpPr>
        <p:sp>
          <p:nvSpPr>
            <p:cNvPr id="88" name="Freeform 88"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35"/>
              <a:stretch>
                <a:fillRect r="-20" b="-25"/>
              </a:stretch>
            </a:blipFill>
          </p:spPr>
        </p:sp>
      </p:grpSp>
      <p:grpSp>
        <p:nvGrpSpPr>
          <p:cNvPr id="89" name="Group 89"/>
          <p:cNvGrpSpPr/>
          <p:nvPr/>
        </p:nvGrpSpPr>
        <p:grpSpPr>
          <a:xfrm>
            <a:off x="1000125" y="514350"/>
            <a:ext cx="16939260" cy="557212"/>
            <a:chOff x="0" y="0"/>
            <a:chExt cx="22585680" cy="742950"/>
          </a:xfrm>
        </p:grpSpPr>
        <p:sp>
          <p:nvSpPr>
            <p:cNvPr id="90" name="Freeform 90"/>
            <p:cNvSpPr/>
            <p:nvPr/>
          </p:nvSpPr>
          <p:spPr>
            <a:xfrm>
              <a:off x="0" y="0"/>
              <a:ext cx="22585680" cy="742950"/>
            </a:xfrm>
            <a:custGeom>
              <a:avLst/>
              <a:gdLst/>
              <a:ahLst/>
              <a:cxnLst/>
              <a:rect l="l" t="t" r="r" b="b"/>
              <a:pathLst>
                <a:path w="22585680" h="742950">
                  <a:moveTo>
                    <a:pt x="0" y="0"/>
                  </a:moveTo>
                  <a:lnTo>
                    <a:pt x="22585680" y="0"/>
                  </a:lnTo>
                  <a:lnTo>
                    <a:pt x="22585680" y="742950"/>
                  </a:lnTo>
                  <a:lnTo>
                    <a:pt x="0" y="742950"/>
                  </a:lnTo>
                  <a:close/>
                </a:path>
              </a:pathLst>
            </a:custGeom>
            <a:blipFill>
              <a:blip r:embed="rId36">
                <a:alphaModFix amt="0"/>
              </a:blip>
              <a:stretch>
                <a:fillRect t="-542345" b="-542345"/>
              </a:stretch>
            </a:blipFill>
          </p:spPr>
        </p:sp>
        <p:sp>
          <p:nvSpPr>
            <p:cNvPr id="91" name="TextBox 91"/>
            <p:cNvSpPr txBox="1"/>
            <p:nvPr/>
          </p:nvSpPr>
          <p:spPr>
            <a:xfrm>
              <a:off x="0" y="-142875"/>
              <a:ext cx="22585680" cy="885825"/>
            </a:xfrm>
            <a:prstGeom prst="rect">
              <a:avLst/>
            </a:prstGeom>
          </p:spPr>
          <p:txBody>
            <a:bodyPr lIns="0" tIns="0" rIns="0" bIns="0" rtlCol="0" anchor="ctr"/>
            <a:lstStyle/>
            <a:p>
              <a:pPr algn="l">
                <a:lnSpc>
                  <a:spcPts val="4387"/>
                </a:lnSpc>
              </a:pPr>
              <a:r>
                <a:rPr lang="en-US" sz="2925" b="1" spc="72">
                  <a:solidFill>
                    <a:srgbClr val="2C3E50"/>
                  </a:solidFill>
                  <a:latin typeface="Calibri (MS) Bold"/>
                  <a:ea typeface="Calibri (MS) Bold"/>
                  <a:cs typeface="Calibri (MS) Bold"/>
                  <a:sym typeface="Calibri (MS) Bold"/>
                </a:rPr>
                <a:t>THIẾT KẾ KIẾN TRÚC VÀ CẤU TRÚC DỮ LIỆU</a:t>
              </a:r>
            </a:p>
          </p:txBody>
        </p:sp>
      </p:grpSp>
      <p:grpSp>
        <p:nvGrpSpPr>
          <p:cNvPr id="92" name="Group 92"/>
          <p:cNvGrpSpPr/>
          <p:nvPr/>
        </p:nvGrpSpPr>
        <p:grpSpPr>
          <a:xfrm>
            <a:off x="1000125" y="1128712"/>
            <a:ext cx="17287875" cy="321469"/>
            <a:chOff x="0" y="0"/>
            <a:chExt cx="23050500" cy="428625"/>
          </a:xfrm>
        </p:grpSpPr>
        <p:sp>
          <p:nvSpPr>
            <p:cNvPr id="93" name="Freeform 93"/>
            <p:cNvSpPr/>
            <p:nvPr/>
          </p:nvSpPr>
          <p:spPr>
            <a:xfrm>
              <a:off x="0" y="0"/>
              <a:ext cx="23050500" cy="428626"/>
            </a:xfrm>
            <a:custGeom>
              <a:avLst/>
              <a:gdLst/>
              <a:ahLst/>
              <a:cxnLst/>
              <a:rect l="l" t="t" r="r" b="b"/>
              <a:pathLst>
                <a:path w="23050500" h="428626">
                  <a:moveTo>
                    <a:pt x="0" y="0"/>
                  </a:moveTo>
                  <a:lnTo>
                    <a:pt x="23050500" y="0"/>
                  </a:lnTo>
                  <a:lnTo>
                    <a:pt x="23050500" y="428626"/>
                  </a:lnTo>
                  <a:lnTo>
                    <a:pt x="0" y="428626"/>
                  </a:lnTo>
                  <a:close/>
                </a:path>
              </a:pathLst>
            </a:custGeom>
            <a:blipFill>
              <a:blip r:embed="rId36">
                <a:alphaModFix amt="0"/>
              </a:blip>
              <a:stretch>
                <a:fillRect t="-997859" b="-997859"/>
              </a:stretch>
            </a:blipFill>
          </p:spPr>
        </p:sp>
        <p:sp>
          <p:nvSpPr>
            <p:cNvPr id="94" name="TextBox 94"/>
            <p:cNvSpPr txBox="1"/>
            <p:nvPr/>
          </p:nvSpPr>
          <p:spPr>
            <a:xfrm>
              <a:off x="0" y="-85725"/>
              <a:ext cx="23050500" cy="514350"/>
            </a:xfrm>
            <a:prstGeom prst="rect">
              <a:avLst/>
            </a:prstGeom>
          </p:spPr>
          <p:txBody>
            <a:bodyPr lIns="0" tIns="0" rIns="0" bIns="0" rtlCol="0" anchor="ctr"/>
            <a:lstStyle/>
            <a:p>
              <a:pPr algn="l">
                <a:lnSpc>
                  <a:spcPts val="2531"/>
                </a:lnSpc>
              </a:pPr>
              <a:r>
                <a:rPr lang="en-US" sz="1687">
                  <a:solidFill>
                    <a:srgbClr val="007ACC"/>
                  </a:solidFill>
                  <a:latin typeface="Calibri (MS)"/>
                  <a:ea typeface="Calibri (MS)"/>
                  <a:cs typeface="Calibri (MS)"/>
                  <a:sym typeface="Calibri (MS)"/>
                </a:rPr>
                <a:t>Phân tích chi tiết 10 trường thông tin cốt lõi trong quy trình vận hành chuỗi siêu thị</a:t>
              </a:r>
            </a:p>
          </p:txBody>
        </p:sp>
      </p:grpSp>
      <p:grpSp>
        <p:nvGrpSpPr>
          <p:cNvPr id="95" name="Group 95"/>
          <p:cNvGrpSpPr/>
          <p:nvPr/>
        </p:nvGrpSpPr>
        <p:grpSpPr>
          <a:xfrm>
            <a:off x="1428750" y="1993106"/>
            <a:ext cx="14996160" cy="342900"/>
            <a:chOff x="0" y="0"/>
            <a:chExt cx="19994880" cy="457200"/>
          </a:xfrm>
        </p:grpSpPr>
        <p:sp>
          <p:nvSpPr>
            <p:cNvPr id="96" name="Freeform 96"/>
            <p:cNvSpPr/>
            <p:nvPr/>
          </p:nvSpPr>
          <p:spPr>
            <a:xfrm>
              <a:off x="0" y="0"/>
              <a:ext cx="19994880" cy="457200"/>
            </a:xfrm>
            <a:custGeom>
              <a:avLst/>
              <a:gdLst/>
              <a:ahLst/>
              <a:cxnLst/>
              <a:rect l="l" t="t" r="r" b="b"/>
              <a:pathLst>
                <a:path w="19994880" h="457200">
                  <a:moveTo>
                    <a:pt x="0" y="0"/>
                  </a:moveTo>
                  <a:lnTo>
                    <a:pt x="19994880" y="0"/>
                  </a:lnTo>
                  <a:lnTo>
                    <a:pt x="19994880" y="457200"/>
                  </a:lnTo>
                  <a:lnTo>
                    <a:pt x="0" y="457200"/>
                  </a:lnTo>
                  <a:close/>
                </a:path>
              </a:pathLst>
            </a:custGeom>
            <a:blipFill>
              <a:blip r:embed="rId36">
                <a:alphaModFix amt="0"/>
              </a:blip>
              <a:stretch>
                <a:fillRect t="-802145" b="-802145"/>
              </a:stretch>
            </a:blipFill>
          </p:spPr>
        </p:sp>
        <p:sp>
          <p:nvSpPr>
            <p:cNvPr id="97" name="TextBox 97"/>
            <p:cNvSpPr txBox="1"/>
            <p:nvPr/>
          </p:nvSpPr>
          <p:spPr>
            <a:xfrm>
              <a:off x="0" y="-95250"/>
              <a:ext cx="19994880"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Quy mô bộ dữ liệu: </a:t>
              </a:r>
              <a:r>
                <a:rPr lang="en-US" sz="1800" b="1">
                  <a:solidFill>
                    <a:srgbClr val="E67E22"/>
                  </a:solidFill>
                  <a:latin typeface="Calibri (MS) Bold"/>
                  <a:ea typeface="Calibri (MS) Bold"/>
                  <a:cs typeface="Calibri (MS) Bold"/>
                  <a:sym typeface="Calibri (MS) Bold"/>
                </a:rPr>
                <a:t>1,000+ bản ghi</a:t>
              </a:r>
            </a:p>
          </p:txBody>
        </p:sp>
      </p:grpSp>
      <p:grpSp>
        <p:nvGrpSpPr>
          <p:cNvPr id="98" name="Group 98"/>
          <p:cNvGrpSpPr/>
          <p:nvPr/>
        </p:nvGrpSpPr>
        <p:grpSpPr>
          <a:xfrm>
            <a:off x="857250" y="2707481"/>
            <a:ext cx="2857500" cy="657225"/>
            <a:chOff x="0" y="0"/>
            <a:chExt cx="3810000" cy="876300"/>
          </a:xfrm>
        </p:grpSpPr>
        <p:sp>
          <p:nvSpPr>
            <p:cNvPr id="99" name="Freeform 99"/>
            <p:cNvSpPr/>
            <p:nvPr/>
          </p:nvSpPr>
          <p:spPr>
            <a:xfrm>
              <a:off x="0" y="0"/>
              <a:ext cx="3810000" cy="876300"/>
            </a:xfrm>
            <a:custGeom>
              <a:avLst/>
              <a:gdLst/>
              <a:ahLst/>
              <a:cxnLst/>
              <a:rect l="l" t="t" r="r" b="b"/>
              <a:pathLst>
                <a:path w="3810000" h="876300">
                  <a:moveTo>
                    <a:pt x="0" y="0"/>
                  </a:moveTo>
                  <a:lnTo>
                    <a:pt x="3810000" y="0"/>
                  </a:lnTo>
                  <a:lnTo>
                    <a:pt x="3810000" y="876300"/>
                  </a:lnTo>
                  <a:lnTo>
                    <a:pt x="0" y="876300"/>
                  </a:lnTo>
                  <a:close/>
                </a:path>
              </a:pathLst>
            </a:custGeom>
            <a:blipFill>
              <a:blip r:embed="rId36">
                <a:alphaModFix amt="0"/>
              </a:blip>
              <a:stretch>
                <a:fillRect t="-34717" b="-34717"/>
              </a:stretch>
            </a:blipFill>
          </p:spPr>
        </p:sp>
        <p:sp>
          <p:nvSpPr>
            <p:cNvPr id="100" name="TextBox 100"/>
            <p:cNvSpPr txBox="1"/>
            <p:nvPr/>
          </p:nvSpPr>
          <p:spPr>
            <a:xfrm>
              <a:off x="0" y="-95250"/>
              <a:ext cx="3810000" cy="971550"/>
            </a:xfrm>
            <a:prstGeom prst="rect">
              <a:avLst/>
            </a:prstGeom>
          </p:spPr>
          <p:txBody>
            <a:bodyPr lIns="0" tIns="0" rIns="0" bIns="0" rtlCol="0" anchor="ctr"/>
            <a:lstStyle/>
            <a:p>
              <a:pPr algn="l">
                <a:lnSpc>
                  <a:spcPts val="2700"/>
                </a:lnSpc>
              </a:pPr>
              <a:r>
                <a:rPr lang="en-US" sz="1800" b="1" spc="44">
                  <a:solidFill>
                    <a:srgbClr val="FFFFFF"/>
                  </a:solidFill>
                  <a:latin typeface="Calibri (MS) Bold"/>
                  <a:ea typeface="Calibri (MS) Bold"/>
                  <a:cs typeface="Calibri (MS) Bold"/>
                  <a:sym typeface="Calibri (MS) Bold"/>
                </a:rPr>
                <a:t>TÊN TRƯỜNG</a:t>
              </a:r>
            </a:p>
          </p:txBody>
        </p:sp>
      </p:grpSp>
      <p:grpSp>
        <p:nvGrpSpPr>
          <p:cNvPr id="101" name="Group 101"/>
          <p:cNvGrpSpPr/>
          <p:nvPr/>
        </p:nvGrpSpPr>
        <p:grpSpPr>
          <a:xfrm>
            <a:off x="4286250" y="2707481"/>
            <a:ext cx="2560320" cy="657225"/>
            <a:chOff x="0" y="0"/>
            <a:chExt cx="3413760" cy="876300"/>
          </a:xfrm>
        </p:grpSpPr>
        <p:sp>
          <p:nvSpPr>
            <p:cNvPr id="102" name="Freeform 102"/>
            <p:cNvSpPr/>
            <p:nvPr/>
          </p:nvSpPr>
          <p:spPr>
            <a:xfrm>
              <a:off x="0" y="0"/>
              <a:ext cx="3413760" cy="876300"/>
            </a:xfrm>
            <a:custGeom>
              <a:avLst/>
              <a:gdLst/>
              <a:ahLst/>
              <a:cxnLst/>
              <a:rect l="l" t="t" r="r" b="b"/>
              <a:pathLst>
                <a:path w="3413760" h="876300">
                  <a:moveTo>
                    <a:pt x="0" y="0"/>
                  </a:moveTo>
                  <a:lnTo>
                    <a:pt x="3413760" y="0"/>
                  </a:lnTo>
                  <a:lnTo>
                    <a:pt x="3413760" y="876300"/>
                  </a:lnTo>
                  <a:lnTo>
                    <a:pt x="0" y="876300"/>
                  </a:lnTo>
                  <a:close/>
                </a:path>
              </a:pathLst>
            </a:custGeom>
            <a:blipFill>
              <a:blip r:embed="rId36">
                <a:alphaModFix amt="0"/>
              </a:blip>
              <a:stretch>
                <a:fillRect t="-25906" b="-25906"/>
              </a:stretch>
            </a:blipFill>
          </p:spPr>
        </p:sp>
        <p:sp>
          <p:nvSpPr>
            <p:cNvPr id="103" name="TextBox 103"/>
            <p:cNvSpPr txBox="1"/>
            <p:nvPr/>
          </p:nvSpPr>
          <p:spPr>
            <a:xfrm>
              <a:off x="0" y="-95250"/>
              <a:ext cx="3413760" cy="971550"/>
            </a:xfrm>
            <a:prstGeom prst="rect">
              <a:avLst/>
            </a:prstGeom>
          </p:spPr>
          <p:txBody>
            <a:bodyPr lIns="0" tIns="0" rIns="0" bIns="0" rtlCol="0" anchor="ctr"/>
            <a:lstStyle/>
            <a:p>
              <a:pPr algn="l">
                <a:lnSpc>
                  <a:spcPts val="2700"/>
                </a:lnSpc>
              </a:pPr>
              <a:r>
                <a:rPr lang="en-US" sz="1800" b="1" spc="44">
                  <a:solidFill>
                    <a:srgbClr val="FFFFFF"/>
                  </a:solidFill>
                  <a:latin typeface="Calibri (MS) Bold"/>
                  <a:ea typeface="Calibri (MS) Bold"/>
                  <a:cs typeface="Calibri (MS) Bold"/>
                  <a:sym typeface="Calibri (MS) Bold"/>
                </a:rPr>
                <a:t>KIỂU DỮ LIỆU</a:t>
              </a:r>
            </a:p>
          </p:txBody>
        </p:sp>
      </p:grpSp>
      <p:grpSp>
        <p:nvGrpSpPr>
          <p:cNvPr id="104" name="Group 104"/>
          <p:cNvGrpSpPr/>
          <p:nvPr/>
        </p:nvGrpSpPr>
        <p:grpSpPr>
          <a:xfrm>
            <a:off x="6858000" y="2707481"/>
            <a:ext cx="10572750" cy="657225"/>
            <a:chOff x="0" y="0"/>
            <a:chExt cx="14097000" cy="876300"/>
          </a:xfrm>
        </p:grpSpPr>
        <p:sp>
          <p:nvSpPr>
            <p:cNvPr id="105" name="Freeform 105"/>
            <p:cNvSpPr/>
            <p:nvPr/>
          </p:nvSpPr>
          <p:spPr>
            <a:xfrm>
              <a:off x="0" y="0"/>
              <a:ext cx="14097000" cy="876300"/>
            </a:xfrm>
            <a:custGeom>
              <a:avLst/>
              <a:gdLst/>
              <a:ahLst/>
              <a:cxnLst/>
              <a:rect l="l" t="t" r="r" b="b"/>
              <a:pathLst>
                <a:path w="14097000" h="876300">
                  <a:moveTo>
                    <a:pt x="0" y="0"/>
                  </a:moveTo>
                  <a:lnTo>
                    <a:pt x="14097000" y="0"/>
                  </a:lnTo>
                  <a:lnTo>
                    <a:pt x="14097000" y="876300"/>
                  </a:lnTo>
                  <a:lnTo>
                    <a:pt x="0" y="876300"/>
                  </a:lnTo>
                  <a:close/>
                </a:path>
              </a:pathLst>
            </a:custGeom>
            <a:blipFill>
              <a:blip r:embed="rId36">
                <a:alphaModFix amt="0"/>
              </a:blip>
              <a:stretch>
                <a:fillRect t="-263454" b="-263454"/>
              </a:stretch>
            </a:blipFill>
          </p:spPr>
        </p:sp>
        <p:sp>
          <p:nvSpPr>
            <p:cNvPr id="106" name="TextBox 106"/>
            <p:cNvSpPr txBox="1"/>
            <p:nvPr/>
          </p:nvSpPr>
          <p:spPr>
            <a:xfrm>
              <a:off x="0" y="-95250"/>
              <a:ext cx="14097000" cy="971550"/>
            </a:xfrm>
            <a:prstGeom prst="rect">
              <a:avLst/>
            </a:prstGeom>
          </p:spPr>
          <p:txBody>
            <a:bodyPr lIns="0" tIns="0" rIns="0" bIns="0" rtlCol="0" anchor="ctr"/>
            <a:lstStyle/>
            <a:p>
              <a:pPr algn="l">
                <a:lnSpc>
                  <a:spcPts val="2700"/>
                </a:lnSpc>
              </a:pPr>
              <a:r>
                <a:rPr lang="en-US" sz="1800" b="1" spc="44">
                  <a:solidFill>
                    <a:srgbClr val="FFFFFF"/>
                  </a:solidFill>
                  <a:latin typeface="Calibri (MS) Bold"/>
                  <a:ea typeface="Calibri (MS) Bold"/>
                  <a:cs typeface="Calibri (MS) Bold"/>
                  <a:sym typeface="Calibri (MS) Bold"/>
                </a:rPr>
                <a:t>MÔ TẢ CHI TIẾT</a:t>
              </a:r>
            </a:p>
          </p:txBody>
        </p:sp>
      </p:grpSp>
      <p:grpSp>
        <p:nvGrpSpPr>
          <p:cNvPr id="107" name="Group 107"/>
          <p:cNvGrpSpPr/>
          <p:nvPr/>
        </p:nvGrpSpPr>
        <p:grpSpPr>
          <a:xfrm>
            <a:off x="847725" y="3483769"/>
            <a:ext cx="1558080" cy="304800"/>
            <a:chOff x="0" y="0"/>
            <a:chExt cx="2077441" cy="406400"/>
          </a:xfrm>
        </p:grpSpPr>
        <p:sp>
          <p:nvSpPr>
            <p:cNvPr id="108" name="Freeform 108"/>
            <p:cNvSpPr/>
            <p:nvPr/>
          </p:nvSpPr>
          <p:spPr>
            <a:xfrm>
              <a:off x="12700" y="12700"/>
              <a:ext cx="2052066" cy="381000"/>
            </a:xfrm>
            <a:custGeom>
              <a:avLst/>
              <a:gdLst/>
              <a:ahLst/>
              <a:cxnLst/>
              <a:rect l="l" t="t" r="r" b="b"/>
              <a:pathLst>
                <a:path w="2052066" h="381000">
                  <a:moveTo>
                    <a:pt x="0" y="76200"/>
                  </a:moveTo>
                  <a:cubicBezTo>
                    <a:pt x="0" y="34163"/>
                    <a:pt x="35941" y="0"/>
                    <a:pt x="80264" y="0"/>
                  </a:cubicBezTo>
                  <a:lnTo>
                    <a:pt x="1971802" y="0"/>
                  </a:lnTo>
                  <a:cubicBezTo>
                    <a:pt x="2016125" y="0"/>
                    <a:pt x="2052066" y="34163"/>
                    <a:pt x="2052066" y="76200"/>
                  </a:cubicBezTo>
                  <a:lnTo>
                    <a:pt x="2052066" y="304800"/>
                  </a:lnTo>
                  <a:cubicBezTo>
                    <a:pt x="2052066" y="346837"/>
                    <a:pt x="2016125" y="381000"/>
                    <a:pt x="1971802" y="381000"/>
                  </a:cubicBezTo>
                  <a:lnTo>
                    <a:pt x="80264" y="381000"/>
                  </a:lnTo>
                  <a:cubicBezTo>
                    <a:pt x="35941" y="381000"/>
                    <a:pt x="0" y="346837"/>
                    <a:pt x="0" y="304800"/>
                  </a:cubicBezTo>
                  <a:close/>
                </a:path>
              </a:pathLst>
            </a:custGeom>
            <a:solidFill>
              <a:srgbClr val="EEF7FF"/>
            </a:solidFill>
          </p:spPr>
        </p:sp>
      </p:grpSp>
      <p:grpSp>
        <p:nvGrpSpPr>
          <p:cNvPr id="109" name="Group 109"/>
          <p:cNvGrpSpPr/>
          <p:nvPr/>
        </p:nvGrpSpPr>
        <p:grpSpPr>
          <a:xfrm>
            <a:off x="942975" y="3493294"/>
            <a:ext cx="2429989" cy="285750"/>
            <a:chOff x="0" y="0"/>
            <a:chExt cx="3239986" cy="381000"/>
          </a:xfrm>
        </p:grpSpPr>
        <p:sp>
          <p:nvSpPr>
            <p:cNvPr id="110" name="Freeform 110"/>
            <p:cNvSpPr/>
            <p:nvPr/>
          </p:nvSpPr>
          <p:spPr>
            <a:xfrm>
              <a:off x="0" y="0"/>
              <a:ext cx="3239982" cy="381000"/>
            </a:xfrm>
            <a:custGeom>
              <a:avLst/>
              <a:gdLst/>
              <a:ahLst/>
              <a:cxnLst/>
              <a:rect l="l" t="t" r="r" b="b"/>
              <a:pathLst>
                <a:path w="3239982" h="381000">
                  <a:moveTo>
                    <a:pt x="0" y="0"/>
                  </a:moveTo>
                  <a:lnTo>
                    <a:pt x="3239982" y="0"/>
                  </a:lnTo>
                  <a:lnTo>
                    <a:pt x="3239982" y="381000"/>
                  </a:lnTo>
                  <a:lnTo>
                    <a:pt x="0" y="381000"/>
                  </a:lnTo>
                  <a:close/>
                </a:path>
              </a:pathLst>
            </a:custGeom>
            <a:blipFill>
              <a:blip r:embed="rId36">
                <a:alphaModFix amt="0"/>
              </a:blip>
              <a:stretch>
                <a:fillRect t="-115698" b="-115698"/>
              </a:stretch>
            </a:blipFill>
          </p:spPr>
        </p:sp>
        <p:sp>
          <p:nvSpPr>
            <p:cNvPr id="111" name="TextBox 111"/>
            <p:cNvSpPr txBox="1"/>
            <p:nvPr/>
          </p:nvSpPr>
          <p:spPr>
            <a:xfrm>
              <a:off x="0" y="-57150"/>
              <a:ext cx="3239986"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ma_don_hang</a:t>
              </a:r>
            </a:p>
          </p:txBody>
        </p:sp>
      </p:grpSp>
      <p:grpSp>
        <p:nvGrpSpPr>
          <p:cNvPr id="112" name="Group 112"/>
          <p:cNvGrpSpPr/>
          <p:nvPr/>
        </p:nvGrpSpPr>
        <p:grpSpPr>
          <a:xfrm>
            <a:off x="4276725" y="3473053"/>
            <a:ext cx="847725" cy="316182"/>
            <a:chOff x="0" y="0"/>
            <a:chExt cx="1130300" cy="421576"/>
          </a:xfrm>
        </p:grpSpPr>
        <p:sp>
          <p:nvSpPr>
            <p:cNvPr id="113" name="Freeform 113"/>
            <p:cNvSpPr/>
            <p:nvPr/>
          </p:nvSpPr>
          <p:spPr>
            <a:xfrm>
              <a:off x="12700" y="12700"/>
              <a:ext cx="1104900" cy="396240"/>
            </a:xfrm>
            <a:custGeom>
              <a:avLst/>
              <a:gdLst/>
              <a:ahLst/>
              <a:cxnLst/>
              <a:rect l="l" t="t" r="r" b="b"/>
              <a:pathLst>
                <a:path w="1104900" h="396240">
                  <a:moveTo>
                    <a:pt x="0" y="198120"/>
                  </a:moveTo>
                  <a:cubicBezTo>
                    <a:pt x="0" y="88646"/>
                    <a:pt x="92202" y="0"/>
                    <a:pt x="205994" y="0"/>
                  </a:cubicBezTo>
                  <a:lnTo>
                    <a:pt x="898906" y="0"/>
                  </a:lnTo>
                  <a:cubicBezTo>
                    <a:pt x="1012698" y="0"/>
                    <a:pt x="1104900" y="88646"/>
                    <a:pt x="1104900" y="198120"/>
                  </a:cubicBezTo>
                  <a:cubicBezTo>
                    <a:pt x="1104900" y="307594"/>
                    <a:pt x="1012698" y="396240"/>
                    <a:pt x="898906" y="396240"/>
                  </a:cubicBezTo>
                  <a:lnTo>
                    <a:pt x="205994" y="396240"/>
                  </a:lnTo>
                  <a:cubicBezTo>
                    <a:pt x="92202" y="396240"/>
                    <a:pt x="0" y="307467"/>
                    <a:pt x="0" y="198120"/>
                  </a:cubicBezTo>
                  <a:close/>
                </a:path>
              </a:pathLst>
            </a:custGeom>
            <a:solidFill>
              <a:srgbClr val="27AE60"/>
            </a:solidFill>
          </p:spPr>
        </p:sp>
      </p:grpSp>
      <p:grpSp>
        <p:nvGrpSpPr>
          <p:cNvPr id="114" name="Group 114"/>
          <p:cNvGrpSpPr/>
          <p:nvPr/>
        </p:nvGrpSpPr>
        <p:grpSpPr>
          <a:xfrm>
            <a:off x="4400550" y="3482578"/>
            <a:ext cx="893902" cy="297132"/>
            <a:chOff x="0" y="0"/>
            <a:chExt cx="1191870" cy="396176"/>
          </a:xfrm>
        </p:grpSpPr>
        <p:sp>
          <p:nvSpPr>
            <p:cNvPr id="115" name="Freeform 115"/>
            <p:cNvSpPr/>
            <p:nvPr/>
          </p:nvSpPr>
          <p:spPr>
            <a:xfrm>
              <a:off x="0" y="0"/>
              <a:ext cx="1191874" cy="396180"/>
            </a:xfrm>
            <a:custGeom>
              <a:avLst/>
              <a:gdLst/>
              <a:ahLst/>
              <a:cxnLst/>
              <a:rect l="l" t="t" r="r" b="b"/>
              <a:pathLst>
                <a:path w="1191874" h="396180">
                  <a:moveTo>
                    <a:pt x="0" y="0"/>
                  </a:moveTo>
                  <a:lnTo>
                    <a:pt x="1191874" y="0"/>
                  </a:lnTo>
                  <a:lnTo>
                    <a:pt x="1191874" y="396180"/>
                  </a:lnTo>
                  <a:lnTo>
                    <a:pt x="0" y="396180"/>
                  </a:lnTo>
                  <a:close/>
                </a:path>
              </a:pathLst>
            </a:custGeom>
            <a:blipFill>
              <a:blip r:embed="rId36">
                <a:alphaModFix amt="0"/>
              </a:blip>
              <a:stretch>
                <a:fillRect t="-8619" b="-8618"/>
              </a:stretch>
            </a:blipFill>
          </p:spPr>
        </p:sp>
        <p:sp>
          <p:nvSpPr>
            <p:cNvPr id="116" name="TextBox 116"/>
            <p:cNvSpPr txBox="1"/>
            <p:nvPr/>
          </p:nvSpPr>
          <p:spPr>
            <a:xfrm>
              <a:off x="0" y="-47625"/>
              <a:ext cx="1191870"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STRING</a:t>
              </a:r>
            </a:p>
          </p:txBody>
        </p:sp>
      </p:grpSp>
      <p:grpSp>
        <p:nvGrpSpPr>
          <p:cNvPr id="117" name="Group 117"/>
          <p:cNvGrpSpPr/>
          <p:nvPr/>
        </p:nvGrpSpPr>
        <p:grpSpPr>
          <a:xfrm>
            <a:off x="6858000" y="3364706"/>
            <a:ext cx="11085119" cy="532876"/>
            <a:chOff x="0" y="0"/>
            <a:chExt cx="14780158" cy="710502"/>
          </a:xfrm>
        </p:grpSpPr>
        <p:sp>
          <p:nvSpPr>
            <p:cNvPr id="118" name="Freeform 118"/>
            <p:cNvSpPr/>
            <p:nvPr/>
          </p:nvSpPr>
          <p:spPr>
            <a:xfrm>
              <a:off x="0" y="0"/>
              <a:ext cx="14780161" cy="710506"/>
            </a:xfrm>
            <a:custGeom>
              <a:avLst/>
              <a:gdLst/>
              <a:ahLst/>
              <a:cxnLst/>
              <a:rect l="l" t="t" r="r" b="b"/>
              <a:pathLst>
                <a:path w="14780161" h="710506">
                  <a:moveTo>
                    <a:pt x="0" y="0"/>
                  </a:moveTo>
                  <a:lnTo>
                    <a:pt x="14780161" y="0"/>
                  </a:lnTo>
                  <a:lnTo>
                    <a:pt x="14780161" y="710506"/>
                  </a:lnTo>
                  <a:lnTo>
                    <a:pt x="0" y="710506"/>
                  </a:lnTo>
                  <a:close/>
                </a:path>
              </a:pathLst>
            </a:custGeom>
            <a:blipFill>
              <a:blip r:embed="rId36">
                <a:alphaModFix amt="0"/>
              </a:blip>
              <a:stretch>
                <a:fillRect t="-355333" b="-355333"/>
              </a:stretch>
            </a:blipFill>
          </p:spPr>
        </p:sp>
        <p:sp>
          <p:nvSpPr>
            <p:cNvPr id="119" name="TextBox 119"/>
            <p:cNvSpPr txBox="1"/>
            <p:nvPr/>
          </p:nvSpPr>
          <p:spPr>
            <a:xfrm>
              <a:off x="0" y="-57150"/>
              <a:ext cx="14780158"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Mã định danh duy nhất của mỗi hóa đơn bán hàng.</a:t>
              </a:r>
            </a:p>
          </p:txBody>
        </p:sp>
      </p:grpSp>
      <p:grpSp>
        <p:nvGrpSpPr>
          <p:cNvPr id="120" name="Group 120"/>
          <p:cNvGrpSpPr/>
          <p:nvPr/>
        </p:nvGrpSpPr>
        <p:grpSpPr>
          <a:xfrm>
            <a:off x="847725" y="4016645"/>
            <a:ext cx="1806778" cy="304800"/>
            <a:chOff x="0" y="0"/>
            <a:chExt cx="2409038" cy="406400"/>
          </a:xfrm>
        </p:grpSpPr>
        <p:sp>
          <p:nvSpPr>
            <p:cNvPr id="121" name="Freeform 121"/>
            <p:cNvSpPr/>
            <p:nvPr/>
          </p:nvSpPr>
          <p:spPr>
            <a:xfrm>
              <a:off x="12700" y="12700"/>
              <a:ext cx="2383663" cy="381000"/>
            </a:xfrm>
            <a:custGeom>
              <a:avLst/>
              <a:gdLst/>
              <a:ahLst/>
              <a:cxnLst/>
              <a:rect l="l" t="t" r="r" b="b"/>
              <a:pathLst>
                <a:path w="2383663" h="381000">
                  <a:moveTo>
                    <a:pt x="0" y="76200"/>
                  </a:moveTo>
                  <a:cubicBezTo>
                    <a:pt x="0" y="34163"/>
                    <a:pt x="36068" y="0"/>
                    <a:pt x="80391" y="0"/>
                  </a:cubicBezTo>
                  <a:lnTo>
                    <a:pt x="2303272" y="0"/>
                  </a:lnTo>
                  <a:cubicBezTo>
                    <a:pt x="2347722" y="0"/>
                    <a:pt x="2383663" y="34163"/>
                    <a:pt x="2383663" y="76200"/>
                  </a:cubicBezTo>
                  <a:lnTo>
                    <a:pt x="2383663" y="304800"/>
                  </a:lnTo>
                  <a:cubicBezTo>
                    <a:pt x="2383663" y="346837"/>
                    <a:pt x="2347595" y="381000"/>
                    <a:pt x="2303272" y="381000"/>
                  </a:cubicBezTo>
                  <a:lnTo>
                    <a:pt x="80391" y="381000"/>
                  </a:lnTo>
                  <a:cubicBezTo>
                    <a:pt x="36068" y="381000"/>
                    <a:pt x="0" y="346837"/>
                    <a:pt x="0" y="304800"/>
                  </a:cubicBezTo>
                  <a:close/>
                </a:path>
              </a:pathLst>
            </a:custGeom>
            <a:solidFill>
              <a:srgbClr val="EEF7FF"/>
            </a:solidFill>
          </p:spPr>
        </p:sp>
      </p:grpSp>
      <p:grpSp>
        <p:nvGrpSpPr>
          <p:cNvPr id="122" name="Group 122"/>
          <p:cNvGrpSpPr/>
          <p:nvPr/>
        </p:nvGrpSpPr>
        <p:grpSpPr>
          <a:xfrm>
            <a:off x="942975" y="4026170"/>
            <a:ext cx="2921889" cy="285750"/>
            <a:chOff x="0" y="0"/>
            <a:chExt cx="3895852" cy="381000"/>
          </a:xfrm>
        </p:grpSpPr>
        <p:sp>
          <p:nvSpPr>
            <p:cNvPr id="123" name="Freeform 123"/>
            <p:cNvSpPr/>
            <p:nvPr/>
          </p:nvSpPr>
          <p:spPr>
            <a:xfrm>
              <a:off x="0" y="0"/>
              <a:ext cx="3895848" cy="381000"/>
            </a:xfrm>
            <a:custGeom>
              <a:avLst/>
              <a:gdLst/>
              <a:ahLst/>
              <a:cxnLst/>
              <a:rect l="l" t="t" r="r" b="b"/>
              <a:pathLst>
                <a:path w="3895848" h="381000">
                  <a:moveTo>
                    <a:pt x="0" y="0"/>
                  </a:moveTo>
                  <a:lnTo>
                    <a:pt x="3895848" y="0"/>
                  </a:lnTo>
                  <a:lnTo>
                    <a:pt x="3895848" y="381000"/>
                  </a:lnTo>
                  <a:lnTo>
                    <a:pt x="0" y="381000"/>
                  </a:lnTo>
                  <a:close/>
                </a:path>
              </a:pathLst>
            </a:custGeom>
            <a:blipFill>
              <a:blip r:embed="rId36">
                <a:alphaModFix amt="0"/>
              </a:blip>
              <a:stretch>
                <a:fillRect t="-149241" b="-149241"/>
              </a:stretch>
            </a:blipFill>
          </p:spPr>
        </p:sp>
        <p:sp>
          <p:nvSpPr>
            <p:cNvPr id="124" name="TextBox 124"/>
            <p:cNvSpPr txBox="1"/>
            <p:nvPr/>
          </p:nvSpPr>
          <p:spPr>
            <a:xfrm>
              <a:off x="0" y="-57150"/>
              <a:ext cx="3895852"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ma_khach_hang</a:t>
              </a:r>
            </a:p>
          </p:txBody>
        </p:sp>
      </p:grpSp>
      <p:grpSp>
        <p:nvGrpSpPr>
          <p:cNvPr id="125" name="Group 125"/>
          <p:cNvGrpSpPr/>
          <p:nvPr/>
        </p:nvGrpSpPr>
        <p:grpSpPr>
          <a:xfrm>
            <a:off x="4276725" y="4005929"/>
            <a:ext cx="847725" cy="316182"/>
            <a:chOff x="0" y="0"/>
            <a:chExt cx="1130300" cy="421576"/>
          </a:xfrm>
        </p:grpSpPr>
        <p:sp>
          <p:nvSpPr>
            <p:cNvPr id="126" name="Freeform 126"/>
            <p:cNvSpPr/>
            <p:nvPr/>
          </p:nvSpPr>
          <p:spPr>
            <a:xfrm>
              <a:off x="12700" y="12700"/>
              <a:ext cx="1104900" cy="396240"/>
            </a:xfrm>
            <a:custGeom>
              <a:avLst/>
              <a:gdLst/>
              <a:ahLst/>
              <a:cxnLst/>
              <a:rect l="l" t="t" r="r" b="b"/>
              <a:pathLst>
                <a:path w="1104900" h="396240">
                  <a:moveTo>
                    <a:pt x="0" y="198120"/>
                  </a:moveTo>
                  <a:cubicBezTo>
                    <a:pt x="0" y="88646"/>
                    <a:pt x="92202" y="0"/>
                    <a:pt x="205994" y="0"/>
                  </a:cubicBezTo>
                  <a:lnTo>
                    <a:pt x="898906" y="0"/>
                  </a:lnTo>
                  <a:cubicBezTo>
                    <a:pt x="1012698" y="0"/>
                    <a:pt x="1104900" y="88646"/>
                    <a:pt x="1104900" y="198120"/>
                  </a:cubicBezTo>
                  <a:cubicBezTo>
                    <a:pt x="1104900" y="307594"/>
                    <a:pt x="1012698" y="396240"/>
                    <a:pt x="898906" y="396240"/>
                  </a:cubicBezTo>
                  <a:lnTo>
                    <a:pt x="205994" y="396240"/>
                  </a:lnTo>
                  <a:cubicBezTo>
                    <a:pt x="92202" y="396240"/>
                    <a:pt x="0" y="307467"/>
                    <a:pt x="0" y="198120"/>
                  </a:cubicBezTo>
                  <a:close/>
                </a:path>
              </a:pathLst>
            </a:custGeom>
            <a:solidFill>
              <a:srgbClr val="27AE60"/>
            </a:solidFill>
          </p:spPr>
        </p:sp>
      </p:grpSp>
      <p:grpSp>
        <p:nvGrpSpPr>
          <p:cNvPr id="127" name="Group 127"/>
          <p:cNvGrpSpPr/>
          <p:nvPr/>
        </p:nvGrpSpPr>
        <p:grpSpPr>
          <a:xfrm>
            <a:off x="4400550" y="4015454"/>
            <a:ext cx="893902" cy="297132"/>
            <a:chOff x="0" y="0"/>
            <a:chExt cx="1191870" cy="396176"/>
          </a:xfrm>
        </p:grpSpPr>
        <p:sp>
          <p:nvSpPr>
            <p:cNvPr id="128" name="Freeform 128"/>
            <p:cNvSpPr/>
            <p:nvPr/>
          </p:nvSpPr>
          <p:spPr>
            <a:xfrm>
              <a:off x="0" y="0"/>
              <a:ext cx="1191874" cy="396180"/>
            </a:xfrm>
            <a:custGeom>
              <a:avLst/>
              <a:gdLst/>
              <a:ahLst/>
              <a:cxnLst/>
              <a:rect l="l" t="t" r="r" b="b"/>
              <a:pathLst>
                <a:path w="1191874" h="396180">
                  <a:moveTo>
                    <a:pt x="0" y="0"/>
                  </a:moveTo>
                  <a:lnTo>
                    <a:pt x="1191874" y="0"/>
                  </a:lnTo>
                  <a:lnTo>
                    <a:pt x="1191874" y="396180"/>
                  </a:lnTo>
                  <a:lnTo>
                    <a:pt x="0" y="396180"/>
                  </a:lnTo>
                  <a:close/>
                </a:path>
              </a:pathLst>
            </a:custGeom>
            <a:blipFill>
              <a:blip r:embed="rId36">
                <a:alphaModFix amt="0"/>
              </a:blip>
              <a:stretch>
                <a:fillRect t="-8619" b="-8618"/>
              </a:stretch>
            </a:blipFill>
          </p:spPr>
        </p:sp>
        <p:sp>
          <p:nvSpPr>
            <p:cNvPr id="129" name="TextBox 129"/>
            <p:cNvSpPr txBox="1"/>
            <p:nvPr/>
          </p:nvSpPr>
          <p:spPr>
            <a:xfrm>
              <a:off x="0" y="-47625"/>
              <a:ext cx="1191870"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STRING</a:t>
              </a:r>
            </a:p>
          </p:txBody>
        </p:sp>
      </p:grpSp>
      <p:grpSp>
        <p:nvGrpSpPr>
          <p:cNvPr id="130" name="Group 130"/>
          <p:cNvGrpSpPr/>
          <p:nvPr/>
        </p:nvGrpSpPr>
        <p:grpSpPr>
          <a:xfrm>
            <a:off x="6858000" y="3897582"/>
            <a:ext cx="11430000" cy="532876"/>
            <a:chOff x="0" y="0"/>
            <a:chExt cx="15240000" cy="710502"/>
          </a:xfrm>
        </p:grpSpPr>
        <p:sp>
          <p:nvSpPr>
            <p:cNvPr id="131" name="Freeform 131"/>
            <p:cNvSpPr/>
            <p:nvPr/>
          </p:nvSpPr>
          <p:spPr>
            <a:xfrm>
              <a:off x="0" y="0"/>
              <a:ext cx="15240000" cy="710506"/>
            </a:xfrm>
            <a:custGeom>
              <a:avLst/>
              <a:gdLst/>
              <a:ahLst/>
              <a:cxnLst/>
              <a:rect l="l" t="t" r="r" b="b"/>
              <a:pathLst>
                <a:path w="15240000" h="710506">
                  <a:moveTo>
                    <a:pt x="0" y="0"/>
                  </a:moveTo>
                  <a:lnTo>
                    <a:pt x="15240000" y="0"/>
                  </a:lnTo>
                  <a:lnTo>
                    <a:pt x="15240000" y="710506"/>
                  </a:lnTo>
                  <a:lnTo>
                    <a:pt x="0" y="710506"/>
                  </a:lnTo>
                  <a:close/>
                </a:path>
              </a:pathLst>
            </a:custGeom>
            <a:blipFill>
              <a:blip r:embed="rId36">
                <a:alphaModFix amt="0"/>
              </a:blip>
              <a:stretch>
                <a:fillRect t="-367944" b="-367944"/>
              </a:stretch>
            </a:blipFill>
          </p:spPr>
        </p:sp>
        <p:sp>
          <p:nvSpPr>
            <p:cNvPr id="132" name="TextBox 132"/>
            <p:cNvSpPr txBox="1"/>
            <p:nvPr/>
          </p:nvSpPr>
          <p:spPr>
            <a:xfrm>
              <a:off x="0" y="-57150"/>
              <a:ext cx="15240000"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Mã khách hàng để theo dõi tần suất và hành vi mua sắm.</a:t>
              </a:r>
            </a:p>
          </p:txBody>
        </p:sp>
      </p:grpSp>
      <p:grpSp>
        <p:nvGrpSpPr>
          <p:cNvPr id="133" name="Group 133"/>
          <p:cNvGrpSpPr/>
          <p:nvPr/>
        </p:nvGrpSpPr>
        <p:grpSpPr>
          <a:xfrm>
            <a:off x="847725" y="4549531"/>
            <a:ext cx="1682429" cy="304800"/>
            <a:chOff x="0" y="0"/>
            <a:chExt cx="2243239" cy="406400"/>
          </a:xfrm>
        </p:grpSpPr>
        <p:sp>
          <p:nvSpPr>
            <p:cNvPr id="134" name="Freeform 134"/>
            <p:cNvSpPr/>
            <p:nvPr/>
          </p:nvSpPr>
          <p:spPr>
            <a:xfrm>
              <a:off x="12700" y="12700"/>
              <a:ext cx="2217928" cy="381000"/>
            </a:xfrm>
            <a:custGeom>
              <a:avLst/>
              <a:gdLst/>
              <a:ahLst/>
              <a:cxnLst/>
              <a:rect l="l" t="t" r="r" b="b"/>
              <a:pathLst>
                <a:path w="2217928" h="381000">
                  <a:moveTo>
                    <a:pt x="0" y="76200"/>
                  </a:moveTo>
                  <a:cubicBezTo>
                    <a:pt x="0" y="34163"/>
                    <a:pt x="35941" y="0"/>
                    <a:pt x="80391" y="0"/>
                  </a:cubicBezTo>
                  <a:lnTo>
                    <a:pt x="2137537" y="0"/>
                  </a:lnTo>
                  <a:cubicBezTo>
                    <a:pt x="2181860" y="0"/>
                    <a:pt x="2217928" y="34163"/>
                    <a:pt x="2217928" y="76200"/>
                  </a:cubicBezTo>
                  <a:lnTo>
                    <a:pt x="2217928" y="304800"/>
                  </a:lnTo>
                  <a:cubicBezTo>
                    <a:pt x="2217928" y="346837"/>
                    <a:pt x="2181987" y="381000"/>
                    <a:pt x="2137537" y="381000"/>
                  </a:cubicBezTo>
                  <a:lnTo>
                    <a:pt x="80391" y="381000"/>
                  </a:lnTo>
                  <a:cubicBezTo>
                    <a:pt x="35941" y="381000"/>
                    <a:pt x="0" y="346837"/>
                    <a:pt x="0" y="304800"/>
                  </a:cubicBezTo>
                  <a:close/>
                </a:path>
              </a:pathLst>
            </a:custGeom>
            <a:solidFill>
              <a:srgbClr val="EEF7FF"/>
            </a:solidFill>
          </p:spPr>
        </p:sp>
      </p:grpSp>
      <p:grpSp>
        <p:nvGrpSpPr>
          <p:cNvPr id="135" name="Group 135"/>
          <p:cNvGrpSpPr/>
          <p:nvPr/>
        </p:nvGrpSpPr>
        <p:grpSpPr>
          <a:xfrm>
            <a:off x="942975" y="4559056"/>
            <a:ext cx="2675734" cy="285750"/>
            <a:chOff x="0" y="0"/>
            <a:chExt cx="3567646" cy="381000"/>
          </a:xfrm>
        </p:grpSpPr>
        <p:sp>
          <p:nvSpPr>
            <p:cNvPr id="136" name="Freeform 136"/>
            <p:cNvSpPr/>
            <p:nvPr/>
          </p:nvSpPr>
          <p:spPr>
            <a:xfrm>
              <a:off x="0" y="0"/>
              <a:ext cx="3567652" cy="381000"/>
            </a:xfrm>
            <a:custGeom>
              <a:avLst/>
              <a:gdLst/>
              <a:ahLst/>
              <a:cxnLst/>
              <a:rect l="l" t="t" r="r" b="b"/>
              <a:pathLst>
                <a:path w="3567652" h="381000">
                  <a:moveTo>
                    <a:pt x="0" y="0"/>
                  </a:moveTo>
                  <a:lnTo>
                    <a:pt x="3567652" y="0"/>
                  </a:lnTo>
                  <a:lnTo>
                    <a:pt x="3567652" y="381000"/>
                  </a:lnTo>
                  <a:lnTo>
                    <a:pt x="0" y="381000"/>
                  </a:lnTo>
                  <a:close/>
                </a:path>
              </a:pathLst>
            </a:custGeom>
            <a:blipFill>
              <a:blip r:embed="rId36">
                <a:alphaModFix amt="0"/>
              </a:blip>
              <a:stretch>
                <a:fillRect t="-132455" b="-132455"/>
              </a:stretch>
            </a:blipFill>
          </p:spPr>
        </p:sp>
        <p:sp>
          <p:nvSpPr>
            <p:cNvPr id="137" name="TextBox 137"/>
            <p:cNvSpPr txBox="1"/>
            <p:nvPr/>
          </p:nvSpPr>
          <p:spPr>
            <a:xfrm>
              <a:off x="0" y="-57150"/>
              <a:ext cx="3567646"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ten_san_pham</a:t>
              </a:r>
            </a:p>
          </p:txBody>
        </p:sp>
      </p:grpSp>
      <p:grpSp>
        <p:nvGrpSpPr>
          <p:cNvPr id="138" name="Group 138"/>
          <p:cNvGrpSpPr/>
          <p:nvPr/>
        </p:nvGrpSpPr>
        <p:grpSpPr>
          <a:xfrm>
            <a:off x="4276725" y="4538815"/>
            <a:ext cx="847725" cy="316182"/>
            <a:chOff x="0" y="0"/>
            <a:chExt cx="1130300" cy="421576"/>
          </a:xfrm>
        </p:grpSpPr>
        <p:sp>
          <p:nvSpPr>
            <p:cNvPr id="139" name="Freeform 139"/>
            <p:cNvSpPr/>
            <p:nvPr/>
          </p:nvSpPr>
          <p:spPr>
            <a:xfrm>
              <a:off x="12700" y="12700"/>
              <a:ext cx="1104900" cy="396240"/>
            </a:xfrm>
            <a:custGeom>
              <a:avLst/>
              <a:gdLst/>
              <a:ahLst/>
              <a:cxnLst/>
              <a:rect l="l" t="t" r="r" b="b"/>
              <a:pathLst>
                <a:path w="1104900" h="396240">
                  <a:moveTo>
                    <a:pt x="0" y="198120"/>
                  </a:moveTo>
                  <a:cubicBezTo>
                    <a:pt x="0" y="88646"/>
                    <a:pt x="92202" y="0"/>
                    <a:pt x="205994" y="0"/>
                  </a:cubicBezTo>
                  <a:lnTo>
                    <a:pt x="898906" y="0"/>
                  </a:lnTo>
                  <a:cubicBezTo>
                    <a:pt x="1012698" y="0"/>
                    <a:pt x="1104900" y="88646"/>
                    <a:pt x="1104900" y="198120"/>
                  </a:cubicBezTo>
                  <a:cubicBezTo>
                    <a:pt x="1104900" y="307594"/>
                    <a:pt x="1012698" y="396240"/>
                    <a:pt x="898906" y="396240"/>
                  </a:cubicBezTo>
                  <a:lnTo>
                    <a:pt x="205994" y="396240"/>
                  </a:lnTo>
                  <a:cubicBezTo>
                    <a:pt x="92202" y="396240"/>
                    <a:pt x="0" y="307467"/>
                    <a:pt x="0" y="198120"/>
                  </a:cubicBezTo>
                  <a:close/>
                </a:path>
              </a:pathLst>
            </a:custGeom>
            <a:solidFill>
              <a:srgbClr val="27AE60"/>
            </a:solidFill>
          </p:spPr>
        </p:sp>
      </p:grpSp>
      <p:grpSp>
        <p:nvGrpSpPr>
          <p:cNvPr id="140" name="Group 140"/>
          <p:cNvGrpSpPr/>
          <p:nvPr/>
        </p:nvGrpSpPr>
        <p:grpSpPr>
          <a:xfrm>
            <a:off x="4400550" y="4548340"/>
            <a:ext cx="893902" cy="297132"/>
            <a:chOff x="0" y="0"/>
            <a:chExt cx="1191870" cy="396176"/>
          </a:xfrm>
        </p:grpSpPr>
        <p:sp>
          <p:nvSpPr>
            <p:cNvPr id="141" name="Freeform 141"/>
            <p:cNvSpPr/>
            <p:nvPr/>
          </p:nvSpPr>
          <p:spPr>
            <a:xfrm>
              <a:off x="0" y="0"/>
              <a:ext cx="1191874" cy="396180"/>
            </a:xfrm>
            <a:custGeom>
              <a:avLst/>
              <a:gdLst/>
              <a:ahLst/>
              <a:cxnLst/>
              <a:rect l="l" t="t" r="r" b="b"/>
              <a:pathLst>
                <a:path w="1191874" h="396180">
                  <a:moveTo>
                    <a:pt x="0" y="0"/>
                  </a:moveTo>
                  <a:lnTo>
                    <a:pt x="1191874" y="0"/>
                  </a:lnTo>
                  <a:lnTo>
                    <a:pt x="1191874" y="396180"/>
                  </a:lnTo>
                  <a:lnTo>
                    <a:pt x="0" y="396180"/>
                  </a:lnTo>
                  <a:close/>
                </a:path>
              </a:pathLst>
            </a:custGeom>
            <a:blipFill>
              <a:blip r:embed="rId36">
                <a:alphaModFix amt="0"/>
              </a:blip>
              <a:stretch>
                <a:fillRect t="-8619" b="-8618"/>
              </a:stretch>
            </a:blipFill>
          </p:spPr>
        </p:sp>
        <p:sp>
          <p:nvSpPr>
            <p:cNvPr id="142" name="TextBox 142"/>
            <p:cNvSpPr txBox="1"/>
            <p:nvPr/>
          </p:nvSpPr>
          <p:spPr>
            <a:xfrm>
              <a:off x="0" y="-47625"/>
              <a:ext cx="1191870"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STRING</a:t>
              </a:r>
            </a:p>
          </p:txBody>
        </p:sp>
      </p:grpSp>
      <p:grpSp>
        <p:nvGrpSpPr>
          <p:cNvPr id="143" name="Group 143"/>
          <p:cNvGrpSpPr/>
          <p:nvPr/>
        </p:nvGrpSpPr>
        <p:grpSpPr>
          <a:xfrm>
            <a:off x="6858000" y="4430468"/>
            <a:ext cx="11430000" cy="532876"/>
            <a:chOff x="0" y="0"/>
            <a:chExt cx="15240000" cy="710502"/>
          </a:xfrm>
        </p:grpSpPr>
        <p:sp>
          <p:nvSpPr>
            <p:cNvPr id="144" name="Freeform 144"/>
            <p:cNvSpPr/>
            <p:nvPr/>
          </p:nvSpPr>
          <p:spPr>
            <a:xfrm>
              <a:off x="0" y="0"/>
              <a:ext cx="15240000" cy="710506"/>
            </a:xfrm>
            <a:custGeom>
              <a:avLst/>
              <a:gdLst/>
              <a:ahLst/>
              <a:cxnLst/>
              <a:rect l="l" t="t" r="r" b="b"/>
              <a:pathLst>
                <a:path w="15240000" h="710506">
                  <a:moveTo>
                    <a:pt x="0" y="0"/>
                  </a:moveTo>
                  <a:lnTo>
                    <a:pt x="15240000" y="0"/>
                  </a:lnTo>
                  <a:lnTo>
                    <a:pt x="15240000" y="710506"/>
                  </a:lnTo>
                  <a:lnTo>
                    <a:pt x="0" y="710506"/>
                  </a:lnTo>
                  <a:close/>
                </a:path>
              </a:pathLst>
            </a:custGeom>
            <a:blipFill>
              <a:blip r:embed="rId36">
                <a:alphaModFix amt="0"/>
              </a:blip>
              <a:stretch>
                <a:fillRect t="-367944" b="-367944"/>
              </a:stretch>
            </a:blipFill>
          </p:spPr>
        </p:sp>
        <p:sp>
          <p:nvSpPr>
            <p:cNvPr id="145" name="TextBox 145"/>
            <p:cNvSpPr txBox="1"/>
            <p:nvPr/>
          </p:nvSpPr>
          <p:spPr>
            <a:xfrm>
              <a:off x="0" y="-57150"/>
              <a:ext cx="15240000"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Tên sản phẩm (Công nghệ, Điện lạnh, Gia dụng...).</a:t>
              </a:r>
            </a:p>
          </p:txBody>
        </p:sp>
      </p:grpSp>
      <p:grpSp>
        <p:nvGrpSpPr>
          <p:cNvPr id="146" name="Group 146"/>
          <p:cNvGrpSpPr/>
          <p:nvPr/>
        </p:nvGrpSpPr>
        <p:grpSpPr>
          <a:xfrm>
            <a:off x="847725" y="5082407"/>
            <a:ext cx="1185262" cy="304800"/>
            <a:chOff x="0" y="0"/>
            <a:chExt cx="1580350" cy="406400"/>
          </a:xfrm>
        </p:grpSpPr>
        <p:sp>
          <p:nvSpPr>
            <p:cNvPr id="147" name="Freeform 147"/>
            <p:cNvSpPr/>
            <p:nvPr/>
          </p:nvSpPr>
          <p:spPr>
            <a:xfrm>
              <a:off x="12700" y="12700"/>
              <a:ext cx="1554988" cy="381000"/>
            </a:xfrm>
            <a:custGeom>
              <a:avLst/>
              <a:gdLst/>
              <a:ahLst/>
              <a:cxnLst/>
              <a:rect l="l" t="t" r="r" b="b"/>
              <a:pathLst>
                <a:path w="1554988" h="381000">
                  <a:moveTo>
                    <a:pt x="0" y="76200"/>
                  </a:moveTo>
                  <a:cubicBezTo>
                    <a:pt x="0" y="34163"/>
                    <a:pt x="35814" y="0"/>
                    <a:pt x="80010" y="0"/>
                  </a:cubicBezTo>
                  <a:lnTo>
                    <a:pt x="1474978" y="0"/>
                  </a:lnTo>
                  <a:cubicBezTo>
                    <a:pt x="1519174" y="0"/>
                    <a:pt x="1554988" y="34163"/>
                    <a:pt x="1554988" y="76200"/>
                  </a:cubicBezTo>
                  <a:lnTo>
                    <a:pt x="1554988" y="304800"/>
                  </a:lnTo>
                  <a:cubicBezTo>
                    <a:pt x="1554988" y="346837"/>
                    <a:pt x="1519174" y="381000"/>
                    <a:pt x="1474978" y="381000"/>
                  </a:cubicBezTo>
                  <a:lnTo>
                    <a:pt x="80010" y="381000"/>
                  </a:lnTo>
                  <a:cubicBezTo>
                    <a:pt x="35814" y="381000"/>
                    <a:pt x="0" y="346837"/>
                    <a:pt x="0" y="304800"/>
                  </a:cubicBezTo>
                  <a:close/>
                </a:path>
              </a:pathLst>
            </a:custGeom>
            <a:solidFill>
              <a:srgbClr val="EEF7FF"/>
            </a:solidFill>
          </p:spPr>
        </p:sp>
      </p:grpSp>
      <p:grpSp>
        <p:nvGrpSpPr>
          <p:cNvPr id="148" name="Group 148"/>
          <p:cNvGrpSpPr/>
          <p:nvPr/>
        </p:nvGrpSpPr>
        <p:grpSpPr>
          <a:xfrm>
            <a:off x="942975" y="5091932"/>
            <a:ext cx="1696431" cy="285750"/>
            <a:chOff x="0" y="0"/>
            <a:chExt cx="2261908" cy="381000"/>
          </a:xfrm>
        </p:grpSpPr>
        <p:sp>
          <p:nvSpPr>
            <p:cNvPr id="149" name="Freeform 149"/>
            <p:cNvSpPr/>
            <p:nvPr/>
          </p:nvSpPr>
          <p:spPr>
            <a:xfrm>
              <a:off x="0" y="0"/>
              <a:ext cx="2261914" cy="381000"/>
            </a:xfrm>
            <a:custGeom>
              <a:avLst/>
              <a:gdLst/>
              <a:ahLst/>
              <a:cxnLst/>
              <a:rect l="l" t="t" r="r" b="b"/>
              <a:pathLst>
                <a:path w="2261914" h="381000">
                  <a:moveTo>
                    <a:pt x="0" y="0"/>
                  </a:moveTo>
                  <a:lnTo>
                    <a:pt x="2261914" y="0"/>
                  </a:lnTo>
                  <a:lnTo>
                    <a:pt x="2261914" y="381000"/>
                  </a:lnTo>
                  <a:lnTo>
                    <a:pt x="0" y="381000"/>
                  </a:lnTo>
                  <a:close/>
                </a:path>
              </a:pathLst>
            </a:custGeom>
            <a:blipFill>
              <a:blip r:embed="rId36">
                <a:alphaModFix amt="0"/>
              </a:blip>
              <a:stretch>
                <a:fillRect t="-65678" b="-65678"/>
              </a:stretch>
            </a:blipFill>
          </p:spPr>
        </p:sp>
        <p:sp>
          <p:nvSpPr>
            <p:cNvPr id="150" name="TextBox 150"/>
            <p:cNvSpPr txBox="1"/>
            <p:nvPr/>
          </p:nvSpPr>
          <p:spPr>
            <a:xfrm>
              <a:off x="0" y="-57150"/>
              <a:ext cx="2261908"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danh_muc</a:t>
              </a:r>
            </a:p>
          </p:txBody>
        </p:sp>
      </p:grpSp>
      <p:grpSp>
        <p:nvGrpSpPr>
          <p:cNvPr id="151" name="Group 151"/>
          <p:cNvGrpSpPr/>
          <p:nvPr/>
        </p:nvGrpSpPr>
        <p:grpSpPr>
          <a:xfrm>
            <a:off x="4276725" y="5071691"/>
            <a:ext cx="847725" cy="316182"/>
            <a:chOff x="0" y="0"/>
            <a:chExt cx="1130300" cy="421576"/>
          </a:xfrm>
        </p:grpSpPr>
        <p:sp>
          <p:nvSpPr>
            <p:cNvPr id="152" name="Freeform 152"/>
            <p:cNvSpPr/>
            <p:nvPr/>
          </p:nvSpPr>
          <p:spPr>
            <a:xfrm>
              <a:off x="12700" y="12700"/>
              <a:ext cx="1104900" cy="396240"/>
            </a:xfrm>
            <a:custGeom>
              <a:avLst/>
              <a:gdLst/>
              <a:ahLst/>
              <a:cxnLst/>
              <a:rect l="l" t="t" r="r" b="b"/>
              <a:pathLst>
                <a:path w="1104900" h="396240">
                  <a:moveTo>
                    <a:pt x="0" y="198120"/>
                  </a:moveTo>
                  <a:cubicBezTo>
                    <a:pt x="0" y="88646"/>
                    <a:pt x="92202" y="0"/>
                    <a:pt x="205994" y="0"/>
                  </a:cubicBezTo>
                  <a:lnTo>
                    <a:pt x="898906" y="0"/>
                  </a:lnTo>
                  <a:cubicBezTo>
                    <a:pt x="1012698" y="0"/>
                    <a:pt x="1104900" y="88646"/>
                    <a:pt x="1104900" y="198120"/>
                  </a:cubicBezTo>
                  <a:cubicBezTo>
                    <a:pt x="1104900" y="307594"/>
                    <a:pt x="1012698" y="396240"/>
                    <a:pt x="898906" y="396240"/>
                  </a:cubicBezTo>
                  <a:lnTo>
                    <a:pt x="205994" y="396240"/>
                  </a:lnTo>
                  <a:cubicBezTo>
                    <a:pt x="92202" y="396240"/>
                    <a:pt x="0" y="307467"/>
                    <a:pt x="0" y="198120"/>
                  </a:cubicBezTo>
                  <a:close/>
                </a:path>
              </a:pathLst>
            </a:custGeom>
            <a:solidFill>
              <a:srgbClr val="27AE60"/>
            </a:solidFill>
          </p:spPr>
        </p:sp>
      </p:grpSp>
      <p:grpSp>
        <p:nvGrpSpPr>
          <p:cNvPr id="153" name="Group 153"/>
          <p:cNvGrpSpPr/>
          <p:nvPr/>
        </p:nvGrpSpPr>
        <p:grpSpPr>
          <a:xfrm>
            <a:off x="4400550" y="5081216"/>
            <a:ext cx="893902" cy="297132"/>
            <a:chOff x="0" y="0"/>
            <a:chExt cx="1191870" cy="396176"/>
          </a:xfrm>
        </p:grpSpPr>
        <p:sp>
          <p:nvSpPr>
            <p:cNvPr id="154" name="Freeform 154"/>
            <p:cNvSpPr/>
            <p:nvPr/>
          </p:nvSpPr>
          <p:spPr>
            <a:xfrm>
              <a:off x="0" y="0"/>
              <a:ext cx="1191874" cy="396180"/>
            </a:xfrm>
            <a:custGeom>
              <a:avLst/>
              <a:gdLst/>
              <a:ahLst/>
              <a:cxnLst/>
              <a:rect l="l" t="t" r="r" b="b"/>
              <a:pathLst>
                <a:path w="1191874" h="396180">
                  <a:moveTo>
                    <a:pt x="0" y="0"/>
                  </a:moveTo>
                  <a:lnTo>
                    <a:pt x="1191874" y="0"/>
                  </a:lnTo>
                  <a:lnTo>
                    <a:pt x="1191874" y="396180"/>
                  </a:lnTo>
                  <a:lnTo>
                    <a:pt x="0" y="396180"/>
                  </a:lnTo>
                  <a:close/>
                </a:path>
              </a:pathLst>
            </a:custGeom>
            <a:blipFill>
              <a:blip r:embed="rId36">
                <a:alphaModFix amt="0"/>
              </a:blip>
              <a:stretch>
                <a:fillRect t="-8619" b="-8618"/>
              </a:stretch>
            </a:blipFill>
          </p:spPr>
        </p:sp>
        <p:sp>
          <p:nvSpPr>
            <p:cNvPr id="155" name="TextBox 155"/>
            <p:cNvSpPr txBox="1"/>
            <p:nvPr/>
          </p:nvSpPr>
          <p:spPr>
            <a:xfrm>
              <a:off x="0" y="-47625"/>
              <a:ext cx="1191870"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STRING</a:t>
              </a:r>
            </a:p>
          </p:txBody>
        </p:sp>
      </p:grpSp>
      <p:grpSp>
        <p:nvGrpSpPr>
          <p:cNvPr id="156" name="Group 156"/>
          <p:cNvGrpSpPr/>
          <p:nvPr/>
        </p:nvGrpSpPr>
        <p:grpSpPr>
          <a:xfrm>
            <a:off x="6858000" y="4963344"/>
            <a:ext cx="11430000" cy="532876"/>
            <a:chOff x="0" y="0"/>
            <a:chExt cx="15240000" cy="710502"/>
          </a:xfrm>
        </p:grpSpPr>
        <p:sp>
          <p:nvSpPr>
            <p:cNvPr id="157" name="Freeform 157"/>
            <p:cNvSpPr/>
            <p:nvPr/>
          </p:nvSpPr>
          <p:spPr>
            <a:xfrm>
              <a:off x="0" y="0"/>
              <a:ext cx="15240000" cy="710506"/>
            </a:xfrm>
            <a:custGeom>
              <a:avLst/>
              <a:gdLst/>
              <a:ahLst/>
              <a:cxnLst/>
              <a:rect l="l" t="t" r="r" b="b"/>
              <a:pathLst>
                <a:path w="15240000" h="710506">
                  <a:moveTo>
                    <a:pt x="0" y="0"/>
                  </a:moveTo>
                  <a:lnTo>
                    <a:pt x="15240000" y="0"/>
                  </a:lnTo>
                  <a:lnTo>
                    <a:pt x="15240000" y="710506"/>
                  </a:lnTo>
                  <a:lnTo>
                    <a:pt x="0" y="710506"/>
                  </a:lnTo>
                  <a:close/>
                </a:path>
              </a:pathLst>
            </a:custGeom>
            <a:blipFill>
              <a:blip r:embed="rId36">
                <a:alphaModFix amt="0"/>
              </a:blip>
              <a:stretch>
                <a:fillRect t="-367944" b="-367944"/>
              </a:stretch>
            </a:blipFill>
          </p:spPr>
        </p:sp>
        <p:sp>
          <p:nvSpPr>
            <p:cNvPr id="158" name="TextBox 158"/>
            <p:cNvSpPr txBox="1"/>
            <p:nvPr/>
          </p:nvSpPr>
          <p:spPr>
            <a:xfrm>
              <a:off x="0" y="-57150"/>
              <a:ext cx="15240000"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Phân loại nhóm hàng hóa (Điện thoại, Laptop, TV...).</a:t>
              </a:r>
            </a:p>
          </p:txBody>
        </p:sp>
      </p:grpSp>
      <p:grpSp>
        <p:nvGrpSpPr>
          <p:cNvPr id="159" name="Group 159"/>
          <p:cNvGrpSpPr/>
          <p:nvPr/>
        </p:nvGrpSpPr>
        <p:grpSpPr>
          <a:xfrm>
            <a:off x="847725" y="5615283"/>
            <a:ext cx="1185262" cy="304800"/>
            <a:chOff x="0" y="0"/>
            <a:chExt cx="1580350" cy="406400"/>
          </a:xfrm>
        </p:grpSpPr>
        <p:sp>
          <p:nvSpPr>
            <p:cNvPr id="160" name="Freeform 160"/>
            <p:cNvSpPr/>
            <p:nvPr/>
          </p:nvSpPr>
          <p:spPr>
            <a:xfrm>
              <a:off x="12700" y="12700"/>
              <a:ext cx="1554988" cy="381000"/>
            </a:xfrm>
            <a:custGeom>
              <a:avLst/>
              <a:gdLst/>
              <a:ahLst/>
              <a:cxnLst/>
              <a:rect l="l" t="t" r="r" b="b"/>
              <a:pathLst>
                <a:path w="1554988" h="381000">
                  <a:moveTo>
                    <a:pt x="0" y="76200"/>
                  </a:moveTo>
                  <a:cubicBezTo>
                    <a:pt x="0" y="34163"/>
                    <a:pt x="35814" y="0"/>
                    <a:pt x="80010" y="0"/>
                  </a:cubicBezTo>
                  <a:lnTo>
                    <a:pt x="1474978" y="0"/>
                  </a:lnTo>
                  <a:cubicBezTo>
                    <a:pt x="1519174" y="0"/>
                    <a:pt x="1554988" y="34163"/>
                    <a:pt x="1554988" y="76200"/>
                  </a:cubicBezTo>
                  <a:lnTo>
                    <a:pt x="1554988" y="304800"/>
                  </a:lnTo>
                  <a:cubicBezTo>
                    <a:pt x="1554988" y="346837"/>
                    <a:pt x="1519174" y="381000"/>
                    <a:pt x="1474978" y="381000"/>
                  </a:cubicBezTo>
                  <a:lnTo>
                    <a:pt x="80010" y="381000"/>
                  </a:lnTo>
                  <a:cubicBezTo>
                    <a:pt x="35814" y="381000"/>
                    <a:pt x="0" y="346837"/>
                    <a:pt x="0" y="304800"/>
                  </a:cubicBezTo>
                  <a:close/>
                </a:path>
              </a:pathLst>
            </a:custGeom>
            <a:solidFill>
              <a:srgbClr val="EEF7FF"/>
            </a:solidFill>
          </p:spPr>
        </p:sp>
      </p:grpSp>
      <p:grpSp>
        <p:nvGrpSpPr>
          <p:cNvPr id="161" name="Group 161"/>
          <p:cNvGrpSpPr/>
          <p:nvPr/>
        </p:nvGrpSpPr>
        <p:grpSpPr>
          <a:xfrm>
            <a:off x="942975" y="5624808"/>
            <a:ext cx="1696431" cy="285750"/>
            <a:chOff x="0" y="0"/>
            <a:chExt cx="2261908" cy="381000"/>
          </a:xfrm>
        </p:grpSpPr>
        <p:sp>
          <p:nvSpPr>
            <p:cNvPr id="162" name="Freeform 162"/>
            <p:cNvSpPr/>
            <p:nvPr/>
          </p:nvSpPr>
          <p:spPr>
            <a:xfrm>
              <a:off x="0" y="0"/>
              <a:ext cx="2261914" cy="381000"/>
            </a:xfrm>
            <a:custGeom>
              <a:avLst/>
              <a:gdLst/>
              <a:ahLst/>
              <a:cxnLst/>
              <a:rect l="l" t="t" r="r" b="b"/>
              <a:pathLst>
                <a:path w="2261914" h="381000">
                  <a:moveTo>
                    <a:pt x="0" y="0"/>
                  </a:moveTo>
                  <a:lnTo>
                    <a:pt x="2261914" y="0"/>
                  </a:lnTo>
                  <a:lnTo>
                    <a:pt x="2261914" y="381000"/>
                  </a:lnTo>
                  <a:lnTo>
                    <a:pt x="0" y="381000"/>
                  </a:lnTo>
                  <a:close/>
                </a:path>
              </a:pathLst>
            </a:custGeom>
            <a:blipFill>
              <a:blip r:embed="rId36">
                <a:alphaModFix amt="0"/>
              </a:blip>
              <a:stretch>
                <a:fillRect t="-65678" b="-65678"/>
              </a:stretch>
            </a:blipFill>
          </p:spPr>
        </p:sp>
        <p:sp>
          <p:nvSpPr>
            <p:cNvPr id="163" name="TextBox 163"/>
            <p:cNvSpPr txBox="1"/>
            <p:nvPr/>
          </p:nvSpPr>
          <p:spPr>
            <a:xfrm>
              <a:off x="0" y="-57150"/>
              <a:ext cx="2261908"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so_luong</a:t>
              </a:r>
            </a:p>
          </p:txBody>
        </p:sp>
      </p:grpSp>
      <p:grpSp>
        <p:nvGrpSpPr>
          <p:cNvPr id="164" name="Group 164"/>
          <p:cNvGrpSpPr/>
          <p:nvPr/>
        </p:nvGrpSpPr>
        <p:grpSpPr>
          <a:xfrm>
            <a:off x="4276725" y="5604567"/>
            <a:ext cx="519112" cy="316182"/>
            <a:chOff x="0" y="0"/>
            <a:chExt cx="692150" cy="421576"/>
          </a:xfrm>
        </p:grpSpPr>
        <p:sp>
          <p:nvSpPr>
            <p:cNvPr id="165" name="Freeform 165"/>
            <p:cNvSpPr/>
            <p:nvPr/>
          </p:nvSpPr>
          <p:spPr>
            <a:xfrm>
              <a:off x="12700" y="12700"/>
              <a:ext cx="666750" cy="396240"/>
            </a:xfrm>
            <a:custGeom>
              <a:avLst/>
              <a:gdLst/>
              <a:ahLst/>
              <a:cxnLst/>
              <a:rect l="l" t="t" r="r" b="b"/>
              <a:pathLst>
                <a:path w="666750" h="396240">
                  <a:moveTo>
                    <a:pt x="0" y="198120"/>
                  </a:moveTo>
                  <a:cubicBezTo>
                    <a:pt x="0" y="88646"/>
                    <a:pt x="90932" y="0"/>
                    <a:pt x="203073" y="0"/>
                  </a:cubicBezTo>
                  <a:lnTo>
                    <a:pt x="463677" y="0"/>
                  </a:lnTo>
                  <a:cubicBezTo>
                    <a:pt x="575818" y="0"/>
                    <a:pt x="666750" y="88646"/>
                    <a:pt x="666750" y="198120"/>
                  </a:cubicBezTo>
                  <a:cubicBezTo>
                    <a:pt x="666750" y="307594"/>
                    <a:pt x="575818" y="396240"/>
                    <a:pt x="463677" y="396240"/>
                  </a:cubicBezTo>
                  <a:lnTo>
                    <a:pt x="203073" y="396240"/>
                  </a:lnTo>
                  <a:cubicBezTo>
                    <a:pt x="90932" y="396240"/>
                    <a:pt x="0" y="307467"/>
                    <a:pt x="0" y="198120"/>
                  </a:cubicBezTo>
                  <a:close/>
                </a:path>
              </a:pathLst>
            </a:custGeom>
            <a:solidFill>
              <a:srgbClr val="2980B9"/>
            </a:solidFill>
          </p:spPr>
        </p:sp>
      </p:grpSp>
      <p:grpSp>
        <p:nvGrpSpPr>
          <p:cNvPr id="166" name="Group 166"/>
          <p:cNvGrpSpPr/>
          <p:nvPr/>
        </p:nvGrpSpPr>
        <p:grpSpPr>
          <a:xfrm>
            <a:off x="4400550" y="5614092"/>
            <a:ext cx="335061" cy="297132"/>
            <a:chOff x="0" y="0"/>
            <a:chExt cx="446748" cy="396176"/>
          </a:xfrm>
        </p:grpSpPr>
        <p:sp>
          <p:nvSpPr>
            <p:cNvPr id="167" name="Freeform 167"/>
            <p:cNvSpPr/>
            <p:nvPr/>
          </p:nvSpPr>
          <p:spPr>
            <a:xfrm>
              <a:off x="0" y="0"/>
              <a:ext cx="446750" cy="396180"/>
            </a:xfrm>
            <a:custGeom>
              <a:avLst/>
              <a:gdLst/>
              <a:ahLst/>
              <a:cxnLst/>
              <a:rect l="l" t="t" r="r" b="b"/>
              <a:pathLst>
                <a:path w="446750" h="396180">
                  <a:moveTo>
                    <a:pt x="0" y="0"/>
                  </a:moveTo>
                  <a:lnTo>
                    <a:pt x="446750" y="0"/>
                  </a:lnTo>
                  <a:lnTo>
                    <a:pt x="446750" y="396180"/>
                  </a:lnTo>
                  <a:lnTo>
                    <a:pt x="0" y="396180"/>
                  </a:lnTo>
                  <a:close/>
                </a:path>
              </a:pathLst>
            </a:custGeom>
            <a:blipFill>
              <a:blip r:embed="rId36">
                <a:alphaModFix amt="0"/>
              </a:blip>
              <a:stretch>
                <a:fillRect l="-63779" r="-63778"/>
              </a:stretch>
            </a:blipFill>
          </p:spPr>
        </p:sp>
        <p:sp>
          <p:nvSpPr>
            <p:cNvPr id="168" name="TextBox 168"/>
            <p:cNvSpPr txBox="1"/>
            <p:nvPr/>
          </p:nvSpPr>
          <p:spPr>
            <a:xfrm>
              <a:off x="0" y="-47625"/>
              <a:ext cx="446748"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INT</a:t>
              </a:r>
            </a:p>
          </p:txBody>
        </p:sp>
      </p:grpSp>
      <p:grpSp>
        <p:nvGrpSpPr>
          <p:cNvPr id="169" name="Group 169"/>
          <p:cNvGrpSpPr/>
          <p:nvPr/>
        </p:nvGrpSpPr>
        <p:grpSpPr>
          <a:xfrm>
            <a:off x="6858000" y="5496220"/>
            <a:ext cx="10572750" cy="532876"/>
            <a:chOff x="0" y="0"/>
            <a:chExt cx="14097000" cy="710502"/>
          </a:xfrm>
        </p:grpSpPr>
        <p:sp>
          <p:nvSpPr>
            <p:cNvPr id="170" name="Freeform 170"/>
            <p:cNvSpPr/>
            <p:nvPr/>
          </p:nvSpPr>
          <p:spPr>
            <a:xfrm>
              <a:off x="0" y="0"/>
              <a:ext cx="14097000" cy="710506"/>
            </a:xfrm>
            <a:custGeom>
              <a:avLst/>
              <a:gdLst/>
              <a:ahLst/>
              <a:cxnLst/>
              <a:rect l="l" t="t" r="r" b="b"/>
              <a:pathLst>
                <a:path w="14097000" h="710506">
                  <a:moveTo>
                    <a:pt x="0" y="0"/>
                  </a:moveTo>
                  <a:lnTo>
                    <a:pt x="14097000" y="0"/>
                  </a:lnTo>
                  <a:lnTo>
                    <a:pt x="14097000" y="710506"/>
                  </a:lnTo>
                  <a:lnTo>
                    <a:pt x="0" y="710506"/>
                  </a:lnTo>
                  <a:close/>
                </a:path>
              </a:pathLst>
            </a:custGeom>
            <a:blipFill>
              <a:blip r:embed="rId36">
                <a:alphaModFix amt="0"/>
              </a:blip>
              <a:stretch>
                <a:fillRect t="-336598" b="-336598"/>
              </a:stretch>
            </a:blipFill>
          </p:spPr>
        </p:sp>
        <p:sp>
          <p:nvSpPr>
            <p:cNvPr id="171" name="TextBox 171"/>
            <p:cNvSpPr txBox="1"/>
            <p:nvPr/>
          </p:nvSpPr>
          <p:spPr>
            <a:xfrm>
              <a:off x="0" y="-57150"/>
              <a:ext cx="14097000"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Số lượng sản phẩm cụ thể trong mỗi đơn hàng.</a:t>
              </a:r>
            </a:p>
          </p:txBody>
        </p:sp>
      </p:grpSp>
      <p:grpSp>
        <p:nvGrpSpPr>
          <p:cNvPr id="172" name="Group 172"/>
          <p:cNvGrpSpPr/>
          <p:nvPr/>
        </p:nvGrpSpPr>
        <p:grpSpPr>
          <a:xfrm>
            <a:off x="847725" y="6148168"/>
            <a:ext cx="1060923" cy="304800"/>
            <a:chOff x="0" y="0"/>
            <a:chExt cx="1414564" cy="406400"/>
          </a:xfrm>
        </p:grpSpPr>
        <p:sp>
          <p:nvSpPr>
            <p:cNvPr id="173" name="Freeform 173"/>
            <p:cNvSpPr/>
            <p:nvPr/>
          </p:nvSpPr>
          <p:spPr>
            <a:xfrm>
              <a:off x="12700" y="12700"/>
              <a:ext cx="1389253" cy="381000"/>
            </a:xfrm>
            <a:custGeom>
              <a:avLst/>
              <a:gdLst/>
              <a:ahLst/>
              <a:cxnLst/>
              <a:rect l="l" t="t" r="r" b="b"/>
              <a:pathLst>
                <a:path w="1389253" h="381000">
                  <a:moveTo>
                    <a:pt x="0" y="76200"/>
                  </a:moveTo>
                  <a:cubicBezTo>
                    <a:pt x="0" y="34163"/>
                    <a:pt x="35687" y="0"/>
                    <a:pt x="79883" y="0"/>
                  </a:cubicBezTo>
                  <a:lnTo>
                    <a:pt x="1309370" y="0"/>
                  </a:lnTo>
                  <a:cubicBezTo>
                    <a:pt x="1353439" y="0"/>
                    <a:pt x="1389253" y="34163"/>
                    <a:pt x="1389253" y="76200"/>
                  </a:cubicBezTo>
                  <a:lnTo>
                    <a:pt x="1389253" y="304800"/>
                  </a:lnTo>
                  <a:cubicBezTo>
                    <a:pt x="1389253" y="346837"/>
                    <a:pt x="1353566" y="381000"/>
                    <a:pt x="1309370" y="381000"/>
                  </a:cubicBezTo>
                  <a:lnTo>
                    <a:pt x="79883" y="381000"/>
                  </a:lnTo>
                  <a:cubicBezTo>
                    <a:pt x="35687" y="381000"/>
                    <a:pt x="0" y="346837"/>
                    <a:pt x="0" y="304800"/>
                  </a:cubicBezTo>
                  <a:close/>
                </a:path>
              </a:pathLst>
            </a:custGeom>
            <a:solidFill>
              <a:srgbClr val="EEF7FF"/>
            </a:solidFill>
          </p:spPr>
        </p:sp>
      </p:grpSp>
      <p:grpSp>
        <p:nvGrpSpPr>
          <p:cNvPr id="174" name="Group 174"/>
          <p:cNvGrpSpPr/>
          <p:nvPr/>
        </p:nvGrpSpPr>
        <p:grpSpPr>
          <a:xfrm>
            <a:off x="942975" y="6157693"/>
            <a:ext cx="1453848" cy="285750"/>
            <a:chOff x="0" y="0"/>
            <a:chExt cx="1938464" cy="381000"/>
          </a:xfrm>
        </p:grpSpPr>
        <p:sp>
          <p:nvSpPr>
            <p:cNvPr id="175" name="Freeform 175"/>
            <p:cNvSpPr/>
            <p:nvPr/>
          </p:nvSpPr>
          <p:spPr>
            <a:xfrm>
              <a:off x="0" y="0"/>
              <a:ext cx="1938464" cy="381000"/>
            </a:xfrm>
            <a:custGeom>
              <a:avLst/>
              <a:gdLst/>
              <a:ahLst/>
              <a:cxnLst/>
              <a:rect l="l" t="t" r="r" b="b"/>
              <a:pathLst>
                <a:path w="1938464" h="381000">
                  <a:moveTo>
                    <a:pt x="0" y="0"/>
                  </a:moveTo>
                  <a:lnTo>
                    <a:pt x="1938464" y="0"/>
                  </a:lnTo>
                  <a:lnTo>
                    <a:pt x="1938464" y="381000"/>
                  </a:lnTo>
                  <a:lnTo>
                    <a:pt x="0" y="381000"/>
                  </a:lnTo>
                  <a:close/>
                </a:path>
              </a:pathLst>
            </a:custGeom>
            <a:blipFill>
              <a:blip r:embed="rId36">
                <a:alphaModFix amt="0"/>
              </a:blip>
              <a:stretch>
                <a:fillRect t="-49136" b="-49136"/>
              </a:stretch>
            </a:blipFill>
          </p:spPr>
        </p:sp>
        <p:sp>
          <p:nvSpPr>
            <p:cNvPr id="176" name="TextBox 176"/>
            <p:cNvSpPr txBox="1"/>
            <p:nvPr/>
          </p:nvSpPr>
          <p:spPr>
            <a:xfrm>
              <a:off x="0" y="-57150"/>
              <a:ext cx="1938464"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gia_ban</a:t>
              </a:r>
            </a:p>
          </p:txBody>
        </p:sp>
      </p:grpSp>
      <p:grpSp>
        <p:nvGrpSpPr>
          <p:cNvPr id="177" name="Group 177"/>
          <p:cNvGrpSpPr/>
          <p:nvPr/>
        </p:nvGrpSpPr>
        <p:grpSpPr>
          <a:xfrm>
            <a:off x="4276725" y="6137443"/>
            <a:ext cx="904875" cy="316182"/>
            <a:chOff x="0" y="0"/>
            <a:chExt cx="1206500" cy="421576"/>
          </a:xfrm>
        </p:grpSpPr>
        <p:sp>
          <p:nvSpPr>
            <p:cNvPr id="178" name="Freeform 178"/>
            <p:cNvSpPr/>
            <p:nvPr/>
          </p:nvSpPr>
          <p:spPr>
            <a:xfrm>
              <a:off x="12700" y="12700"/>
              <a:ext cx="1181100" cy="396240"/>
            </a:xfrm>
            <a:custGeom>
              <a:avLst/>
              <a:gdLst/>
              <a:ahLst/>
              <a:cxnLst/>
              <a:rect l="l" t="t" r="r" b="b"/>
              <a:pathLst>
                <a:path w="1181100" h="396240">
                  <a:moveTo>
                    <a:pt x="0" y="198120"/>
                  </a:moveTo>
                  <a:cubicBezTo>
                    <a:pt x="0" y="88646"/>
                    <a:pt x="92329" y="0"/>
                    <a:pt x="206375" y="0"/>
                  </a:cubicBezTo>
                  <a:lnTo>
                    <a:pt x="974725" y="0"/>
                  </a:lnTo>
                  <a:cubicBezTo>
                    <a:pt x="1088771" y="0"/>
                    <a:pt x="1181100" y="88646"/>
                    <a:pt x="1181100" y="198120"/>
                  </a:cubicBezTo>
                  <a:cubicBezTo>
                    <a:pt x="1181100" y="307594"/>
                    <a:pt x="1088771" y="396240"/>
                    <a:pt x="974725" y="396240"/>
                  </a:cubicBezTo>
                  <a:lnTo>
                    <a:pt x="206375" y="396240"/>
                  </a:lnTo>
                  <a:cubicBezTo>
                    <a:pt x="92329" y="396240"/>
                    <a:pt x="0" y="307467"/>
                    <a:pt x="0" y="198120"/>
                  </a:cubicBezTo>
                  <a:close/>
                </a:path>
              </a:pathLst>
            </a:custGeom>
            <a:solidFill>
              <a:srgbClr val="8E44AD"/>
            </a:solidFill>
          </p:spPr>
        </p:sp>
      </p:grpSp>
      <p:grpSp>
        <p:nvGrpSpPr>
          <p:cNvPr id="179" name="Group 179"/>
          <p:cNvGrpSpPr/>
          <p:nvPr/>
        </p:nvGrpSpPr>
        <p:grpSpPr>
          <a:xfrm>
            <a:off x="4400550" y="6146968"/>
            <a:ext cx="915876" cy="297132"/>
            <a:chOff x="0" y="0"/>
            <a:chExt cx="1221168" cy="396176"/>
          </a:xfrm>
        </p:grpSpPr>
        <p:sp>
          <p:nvSpPr>
            <p:cNvPr id="180" name="Freeform 180"/>
            <p:cNvSpPr/>
            <p:nvPr/>
          </p:nvSpPr>
          <p:spPr>
            <a:xfrm>
              <a:off x="0" y="0"/>
              <a:ext cx="1221166" cy="396180"/>
            </a:xfrm>
            <a:custGeom>
              <a:avLst/>
              <a:gdLst/>
              <a:ahLst/>
              <a:cxnLst/>
              <a:rect l="l" t="t" r="r" b="b"/>
              <a:pathLst>
                <a:path w="1221166" h="396180">
                  <a:moveTo>
                    <a:pt x="0" y="0"/>
                  </a:moveTo>
                  <a:lnTo>
                    <a:pt x="1221166" y="0"/>
                  </a:lnTo>
                  <a:lnTo>
                    <a:pt x="1221166" y="396180"/>
                  </a:lnTo>
                  <a:lnTo>
                    <a:pt x="0" y="396180"/>
                  </a:lnTo>
                  <a:close/>
                </a:path>
              </a:pathLst>
            </a:custGeom>
            <a:blipFill>
              <a:blip r:embed="rId36">
                <a:alphaModFix amt="0"/>
              </a:blip>
              <a:stretch>
                <a:fillRect t="-10060" b="-10059"/>
              </a:stretch>
            </a:blipFill>
          </p:spPr>
        </p:sp>
        <p:sp>
          <p:nvSpPr>
            <p:cNvPr id="181" name="TextBox 181"/>
            <p:cNvSpPr txBox="1"/>
            <p:nvPr/>
          </p:nvSpPr>
          <p:spPr>
            <a:xfrm>
              <a:off x="0" y="-47625"/>
              <a:ext cx="1221168"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DOUBLE</a:t>
              </a:r>
            </a:p>
          </p:txBody>
        </p:sp>
      </p:grpSp>
      <p:grpSp>
        <p:nvGrpSpPr>
          <p:cNvPr id="182" name="Group 182"/>
          <p:cNvGrpSpPr/>
          <p:nvPr/>
        </p:nvGrpSpPr>
        <p:grpSpPr>
          <a:xfrm>
            <a:off x="6858000" y="6029106"/>
            <a:ext cx="10572750" cy="532876"/>
            <a:chOff x="0" y="0"/>
            <a:chExt cx="14097000" cy="710502"/>
          </a:xfrm>
        </p:grpSpPr>
        <p:sp>
          <p:nvSpPr>
            <p:cNvPr id="183" name="Freeform 183"/>
            <p:cNvSpPr/>
            <p:nvPr/>
          </p:nvSpPr>
          <p:spPr>
            <a:xfrm>
              <a:off x="0" y="0"/>
              <a:ext cx="14097000" cy="710506"/>
            </a:xfrm>
            <a:custGeom>
              <a:avLst/>
              <a:gdLst/>
              <a:ahLst/>
              <a:cxnLst/>
              <a:rect l="l" t="t" r="r" b="b"/>
              <a:pathLst>
                <a:path w="14097000" h="710506">
                  <a:moveTo>
                    <a:pt x="0" y="0"/>
                  </a:moveTo>
                  <a:lnTo>
                    <a:pt x="14097000" y="0"/>
                  </a:lnTo>
                  <a:lnTo>
                    <a:pt x="14097000" y="710506"/>
                  </a:lnTo>
                  <a:lnTo>
                    <a:pt x="0" y="710506"/>
                  </a:lnTo>
                  <a:close/>
                </a:path>
              </a:pathLst>
            </a:custGeom>
            <a:blipFill>
              <a:blip r:embed="rId36">
                <a:alphaModFix amt="0"/>
              </a:blip>
              <a:stretch>
                <a:fillRect t="-336598" b="-336598"/>
              </a:stretch>
            </a:blipFill>
          </p:spPr>
        </p:sp>
        <p:sp>
          <p:nvSpPr>
            <p:cNvPr id="184" name="TextBox 184"/>
            <p:cNvSpPr txBox="1"/>
            <p:nvPr/>
          </p:nvSpPr>
          <p:spPr>
            <a:xfrm>
              <a:off x="0" y="-57150"/>
              <a:ext cx="14097000"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Đơn giá niêm yết của sản phẩm (VND).</a:t>
              </a:r>
            </a:p>
          </p:txBody>
        </p:sp>
      </p:grpSp>
      <p:grpSp>
        <p:nvGrpSpPr>
          <p:cNvPr id="185" name="Group 185"/>
          <p:cNvGrpSpPr/>
          <p:nvPr/>
        </p:nvGrpSpPr>
        <p:grpSpPr>
          <a:xfrm>
            <a:off x="847725" y="6681045"/>
            <a:ext cx="1433732" cy="304800"/>
            <a:chOff x="0" y="0"/>
            <a:chExt cx="1911642" cy="406400"/>
          </a:xfrm>
        </p:grpSpPr>
        <p:sp>
          <p:nvSpPr>
            <p:cNvPr id="186" name="Freeform 186"/>
            <p:cNvSpPr/>
            <p:nvPr/>
          </p:nvSpPr>
          <p:spPr>
            <a:xfrm>
              <a:off x="12700" y="12700"/>
              <a:ext cx="1886204" cy="381000"/>
            </a:xfrm>
            <a:custGeom>
              <a:avLst/>
              <a:gdLst/>
              <a:ahLst/>
              <a:cxnLst/>
              <a:rect l="l" t="t" r="r" b="b"/>
              <a:pathLst>
                <a:path w="1886204" h="381000">
                  <a:moveTo>
                    <a:pt x="0" y="76200"/>
                  </a:moveTo>
                  <a:cubicBezTo>
                    <a:pt x="0" y="34163"/>
                    <a:pt x="35941" y="0"/>
                    <a:pt x="80137" y="0"/>
                  </a:cubicBezTo>
                  <a:lnTo>
                    <a:pt x="1806067" y="0"/>
                  </a:lnTo>
                  <a:cubicBezTo>
                    <a:pt x="1850390" y="0"/>
                    <a:pt x="1886204" y="34163"/>
                    <a:pt x="1886204" y="76200"/>
                  </a:cubicBezTo>
                  <a:lnTo>
                    <a:pt x="1886204" y="304800"/>
                  </a:lnTo>
                  <a:cubicBezTo>
                    <a:pt x="1886204" y="346837"/>
                    <a:pt x="1850263" y="381000"/>
                    <a:pt x="1806067" y="381000"/>
                  </a:cubicBezTo>
                  <a:lnTo>
                    <a:pt x="80137" y="381000"/>
                  </a:lnTo>
                  <a:cubicBezTo>
                    <a:pt x="35941" y="381000"/>
                    <a:pt x="0" y="346837"/>
                    <a:pt x="0" y="304800"/>
                  </a:cubicBezTo>
                  <a:close/>
                </a:path>
              </a:pathLst>
            </a:custGeom>
            <a:solidFill>
              <a:srgbClr val="EEF7FF"/>
            </a:solidFill>
          </p:spPr>
        </p:sp>
      </p:grpSp>
      <p:grpSp>
        <p:nvGrpSpPr>
          <p:cNvPr id="187" name="Group 187"/>
          <p:cNvGrpSpPr/>
          <p:nvPr/>
        </p:nvGrpSpPr>
        <p:grpSpPr>
          <a:xfrm>
            <a:off x="942975" y="6690570"/>
            <a:ext cx="2184740" cy="285750"/>
            <a:chOff x="0" y="0"/>
            <a:chExt cx="2912986" cy="381000"/>
          </a:xfrm>
        </p:grpSpPr>
        <p:sp>
          <p:nvSpPr>
            <p:cNvPr id="188" name="Freeform 188"/>
            <p:cNvSpPr/>
            <p:nvPr/>
          </p:nvSpPr>
          <p:spPr>
            <a:xfrm>
              <a:off x="0" y="0"/>
              <a:ext cx="2912982" cy="381000"/>
            </a:xfrm>
            <a:custGeom>
              <a:avLst/>
              <a:gdLst/>
              <a:ahLst/>
              <a:cxnLst/>
              <a:rect l="l" t="t" r="r" b="b"/>
              <a:pathLst>
                <a:path w="2912982" h="381000">
                  <a:moveTo>
                    <a:pt x="0" y="0"/>
                  </a:moveTo>
                  <a:lnTo>
                    <a:pt x="2912982" y="0"/>
                  </a:lnTo>
                  <a:lnTo>
                    <a:pt x="2912982" y="381000"/>
                  </a:lnTo>
                  <a:lnTo>
                    <a:pt x="0" y="381000"/>
                  </a:lnTo>
                  <a:close/>
                </a:path>
              </a:pathLst>
            </a:custGeom>
            <a:blipFill>
              <a:blip r:embed="rId36">
                <a:alphaModFix amt="0"/>
              </a:blip>
              <a:stretch>
                <a:fillRect t="-98975" b="-98975"/>
              </a:stretch>
            </a:blipFill>
          </p:spPr>
        </p:sp>
        <p:sp>
          <p:nvSpPr>
            <p:cNvPr id="189" name="TextBox 189"/>
            <p:cNvSpPr txBox="1"/>
            <p:nvPr/>
          </p:nvSpPr>
          <p:spPr>
            <a:xfrm>
              <a:off x="0" y="-57150"/>
              <a:ext cx="2912986"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thanh_tien</a:t>
              </a:r>
            </a:p>
          </p:txBody>
        </p:sp>
      </p:grpSp>
      <p:grpSp>
        <p:nvGrpSpPr>
          <p:cNvPr id="190" name="Group 190"/>
          <p:cNvGrpSpPr/>
          <p:nvPr/>
        </p:nvGrpSpPr>
        <p:grpSpPr>
          <a:xfrm>
            <a:off x="4276725" y="6670329"/>
            <a:ext cx="904875" cy="316182"/>
            <a:chOff x="0" y="0"/>
            <a:chExt cx="1206500" cy="421576"/>
          </a:xfrm>
        </p:grpSpPr>
        <p:sp>
          <p:nvSpPr>
            <p:cNvPr id="191" name="Freeform 191"/>
            <p:cNvSpPr/>
            <p:nvPr/>
          </p:nvSpPr>
          <p:spPr>
            <a:xfrm>
              <a:off x="12700" y="12700"/>
              <a:ext cx="1181100" cy="396240"/>
            </a:xfrm>
            <a:custGeom>
              <a:avLst/>
              <a:gdLst/>
              <a:ahLst/>
              <a:cxnLst/>
              <a:rect l="l" t="t" r="r" b="b"/>
              <a:pathLst>
                <a:path w="1181100" h="396240">
                  <a:moveTo>
                    <a:pt x="0" y="198120"/>
                  </a:moveTo>
                  <a:cubicBezTo>
                    <a:pt x="0" y="88646"/>
                    <a:pt x="92329" y="0"/>
                    <a:pt x="206375" y="0"/>
                  </a:cubicBezTo>
                  <a:lnTo>
                    <a:pt x="974725" y="0"/>
                  </a:lnTo>
                  <a:cubicBezTo>
                    <a:pt x="1088771" y="0"/>
                    <a:pt x="1181100" y="88646"/>
                    <a:pt x="1181100" y="198120"/>
                  </a:cubicBezTo>
                  <a:cubicBezTo>
                    <a:pt x="1181100" y="307594"/>
                    <a:pt x="1088771" y="396240"/>
                    <a:pt x="974725" y="396240"/>
                  </a:cubicBezTo>
                  <a:lnTo>
                    <a:pt x="206375" y="396240"/>
                  </a:lnTo>
                  <a:cubicBezTo>
                    <a:pt x="92329" y="396240"/>
                    <a:pt x="0" y="307467"/>
                    <a:pt x="0" y="198120"/>
                  </a:cubicBezTo>
                  <a:close/>
                </a:path>
              </a:pathLst>
            </a:custGeom>
            <a:solidFill>
              <a:srgbClr val="8E44AD"/>
            </a:solidFill>
          </p:spPr>
        </p:sp>
      </p:grpSp>
      <p:grpSp>
        <p:nvGrpSpPr>
          <p:cNvPr id="192" name="Group 192"/>
          <p:cNvGrpSpPr/>
          <p:nvPr/>
        </p:nvGrpSpPr>
        <p:grpSpPr>
          <a:xfrm>
            <a:off x="4400550" y="6679854"/>
            <a:ext cx="915876" cy="297132"/>
            <a:chOff x="0" y="0"/>
            <a:chExt cx="1221168" cy="396176"/>
          </a:xfrm>
        </p:grpSpPr>
        <p:sp>
          <p:nvSpPr>
            <p:cNvPr id="193" name="Freeform 193"/>
            <p:cNvSpPr/>
            <p:nvPr/>
          </p:nvSpPr>
          <p:spPr>
            <a:xfrm>
              <a:off x="0" y="0"/>
              <a:ext cx="1221166" cy="396180"/>
            </a:xfrm>
            <a:custGeom>
              <a:avLst/>
              <a:gdLst/>
              <a:ahLst/>
              <a:cxnLst/>
              <a:rect l="l" t="t" r="r" b="b"/>
              <a:pathLst>
                <a:path w="1221166" h="396180">
                  <a:moveTo>
                    <a:pt x="0" y="0"/>
                  </a:moveTo>
                  <a:lnTo>
                    <a:pt x="1221166" y="0"/>
                  </a:lnTo>
                  <a:lnTo>
                    <a:pt x="1221166" y="396180"/>
                  </a:lnTo>
                  <a:lnTo>
                    <a:pt x="0" y="396180"/>
                  </a:lnTo>
                  <a:close/>
                </a:path>
              </a:pathLst>
            </a:custGeom>
            <a:blipFill>
              <a:blip r:embed="rId36">
                <a:alphaModFix amt="0"/>
              </a:blip>
              <a:stretch>
                <a:fillRect t="-10060" b="-10059"/>
              </a:stretch>
            </a:blipFill>
          </p:spPr>
        </p:sp>
        <p:sp>
          <p:nvSpPr>
            <p:cNvPr id="194" name="TextBox 194"/>
            <p:cNvSpPr txBox="1"/>
            <p:nvPr/>
          </p:nvSpPr>
          <p:spPr>
            <a:xfrm>
              <a:off x="0" y="-47625"/>
              <a:ext cx="1221168"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DOUBLE</a:t>
              </a:r>
            </a:p>
          </p:txBody>
        </p:sp>
      </p:grpSp>
      <p:grpSp>
        <p:nvGrpSpPr>
          <p:cNvPr id="195" name="Group 195"/>
          <p:cNvGrpSpPr/>
          <p:nvPr/>
        </p:nvGrpSpPr>
        <p:grpSpPr>
          <a:xfrm>
            <a:off x="6858000" y="6561982"/>
            <a:ext cx="10572750" cy="532876"/>
            <a:chOff x="0" y="0"/>
            <a:chExt cx="14097000" cy="710502"/>
          </a:xfrm>
        </p:grpSpPr>
        <p:sp>
          <p:nvSpPr>
            <p:cNvPr id="196" name="Freeform 196"/>
            <p:cNvSpPr/>
            <p:nvPr/>
          </p:nvSpPr>
          <p:spPr>
            <a:xfrm>
              <a:off x="0" y="0"/>
              <a:ext cx="14097000" cy="710506"/>
            </a:xfrm>
            <a:custGeom>
              <a:avLst/>
              <a:gdLst/>
              <a:ahLst/>
              <a:cxnLst/>
              <a:rect l="l" t="t" r="r" b="b"/>
              <a:pathLst>
                <a:path w="14097000" h="710506">
                  <a:moveTo>
                    <a:pt x="0" y="0"/>
                  </a:moveTo>
                  <a:lnTo>
                    <a:pt x="14097000" y="0"/>
                  </a:lnTo>
                  <a:lnTo>
                    <a:pt x="14097000" y="710506"/>
                  </a:lnTo>
                  <a:lnTo>
                    <a:pt x="0" y="710506"/>
                  </a:lnTo>
                  <a:close/>
                </a:path>
              </a:pathLst>
            </a:custGeom>
            <a:blipFill>
              <a:blip r:embed="rId36">
                <a:alphaModFix amt="0"/>
              </a:blip>
              <a:stretch>
                <a:fillRect t="-336598" b="-336598"/>
              </a:stretch>
            </a:blipFill>
          </p:spPr>
        </p:sp>
        <p:sp>
          <p:nvSpPr>
            <p:cNvPr id="197" name="TextBox 197"/>
            <p:cNvSpPr txBox="1"/>
            <p:nvPr/>
          </p:nvSpPr>
          <p:spPr>
            <a:xfrm>
              <a:off x="0" y="-57150"/>
              <a:ext cx="14097000"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Tổng giá trị đơn hàng (Số lượng × Giá bán).</a:t>
              </a:r>
            </a:p>
          </p:txBody>
        </p:sp>
      </p:grpSp>
      <p:grpSp>
        <p:nvGrpSpPr>
          <p:cNvPr id="198" name="Group 198"/>
          <p:cNvGrpSpPr/>
          <p:nvPr/>
        </p:nvGrpSpPr>
        <p:grpSpPr>
          <a:xfrm>
            <a:off x="847725" y="7213921"/>
            <a:ext cx="1185262" cy="304800"/>
            <a:chOff x="0" y="0"/>
            <a:chExt cx="1580350" cy="406400"/>
          </a:xfrm>
        </p:grpSpPr>
        <p:sp>
          <p:nvSpPr>
            <p:cNvPr id="199" name="Freeform 199"/>
            <p:cNvSpPr/>
            <p:nvPr/>
          </p:nvSpPr>
          <p:spPr>
            <a:xfrm>
              <a:off x="12700" y="12700"/>
              <a:ext cx="1554988" cy="381000"/>
            </a:xfrm>
            <a:custGeom>
              <a:avLst/>
              <a:gdLst/>
              <a:ahLst/>
              <a:cxnLst/>
              <a:rect l="l" t="t" r="r" b="b"/>
              <a:pathLst>
                <a:path w="1554988" h="381000">
                  <a:moveTo>
                    <a:pt x="0" y="76200"/>
                  </a:moveTo>
                  <a:cubicBezTo>
                    <a:pt x="0" y="34163"/>
                    <a:pt x="35814" y="0"/>
                    <a:pt x="80010" y="0"/>
                  </a:cubicBezTo>
                  <a:lnTo>
                    <a:pt x="1474978" y="0"/>
                  </a:lnTo>
                  <a:cubicBezTo>
                    <a:pt x="1519174" y="0"/>
                    <a:pt x="1554988" y="34163"/>
                    <a:pt x="1554988" y="76200"/>
                  </a:cubicBezTo>
                  <a:lnTo>
                    <a:pt x="1554988" y="304800"/>
                  </a:lnTo>
                  <a:cubicBezTo>
                    <a:pt x="1554988" y="346837"/>
                    <a:pt x="1519174" y="381000"/>
                    <a:pt x="1474978" y="381000"/>
                  </a:cubicBezTo>
                  <a:lnTo>
                    <a:pt x="80010" y="381000"/>
                  </a:lnTo>
                  <a:cubicBezTo>
                    <a:pt x="35814" y="381000"/>
                    <a:pt x="0" y="346837"/>
                    <a:pt x="0" y="304800"/>
                  </a:cubicBezTo>
                  <a:close/>
                </a:path>
              </a:pathLst>
            </a:custGeom>
            <a:solidFill>
              <a:srgbClr val="EEF7FF"/>
            </a:solidFill>
          </p:spPr>
        </p:sp>
      </p:grpSp>
      <p:grpSp>
        <p:nvGrpSpPr>
          <p:cNvPr id="200" name="Group 200"/>
          <p:cNvGrpSpPr/>
          <p:nvPr/>
        </p:nvGrpSpPr>
        <p:grpSpPr>
          <a:xfrm>
            <a:off x="942975" y="7223446"/>
            <a:ext cx="1696431" cy="285750"/>
            <a:chOff x="0" y="0"/>
            <a:chExt cx="2261908" cy="381000"/>
          </a:xfrm>
        </p:grpSpPr>
        <p:sp>
          <p:nvSpPr>
            <p:cNvPr id="201" name="Freeform 201"/>
            <p:cNvSpPr/>
            <p:nvPr/>
          </p:nvSpPr>
          <p:spPr>
            <a:xfrm>
              <a:off x="0" y="0"/>
              <a:ext cx="2261914" cy="381000"/>
            </a:xfrm>
            <a:custGeom>
              <a:avLst/>
              <a:gdLst/>
              <a:ahLst/>
              <a:cxnLst/>
              <a:rect l="l" t="t" r="r" b="b"/>
              <a:pathLst>
                <a:path w="2261914" h="381000">
                  <a:moveTo>
                    <a:pt x="0" y="0"/>
                  </a:moveTo>
                  <a:lnTo>
                    <a:pt x="2261914" y="0"/>
                  </a:lnTo>
                  <a:lnTo>
                    <a:pt x="2261914" y="381000"/>
                  </a:lnTo>
                  <a:lnTo>
                    <a:pt x="0" y="381000"/>
                  </a:lnTo>
                  <a:close/>
                </a:path>
              </a:pathLst>
            </a:custGeom>
            <a:blipFill>
              <a:blip r:embed="rId36">
                <a:alphaModFix amt="0"/>
              </a:blip>
              <a:stretch>
                <a:fillRect t="-65678" b="-65678"/>
              </a:stretch>
            </a:blipFill>
          </p:spPr>
        </p:sp>
        <p:sp>
          <p:nvSpPr>
            <p:cNvPr id="202" name="TextBox 202"/>
            <p:cNvSpPr txBox="1"/>
            <p:nvPr/>
          </p:nvSpPr>
          <p:spPr>
            <a:xfrm>
              <a:off x="0" y="-57150"/>
              <a:ext cx="2261908"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ngay_ban</a:t>
              </a:r>
            </a:p>
          </p:txBody>
        </p:sp>
      </p:grpSp>
      <p:grpSp>
        <p:nvGrpSpPr>
          <p:cNvPr id="203" name="Group 203"/>
          <p:cNvGrpSpPr/>
          <p:nvPr/>
        </p:nvGrpSpPr>
        <p:grpSpPr>
          <a:xfrm>
            <a:off x="4276725" y="7203205"/>
            <a:ext cx="847725" cy="316182"/>
            <a:chOff x="0" y="0"/>
            <a:chExt cx="1130300" cy="421576"/>
          </a:xfrm>
        </p:grpSpPr>
        <p:sp>
          <p:nvSpPr>
            <p:cNvPr id="204" name="Freeform 204"/>
            <p:cNvSpPr/>
            <p:nvPr/>
          </p:nvSpPr>
          <p:spPr>
            <a:xfrm>
              <a:off x="12700" y="12700"/>
              <a:ext cx="1104900" cy="396240"/>
            </a:xfrm>
            <a:custGeom>
              <a:avLst/>
              <a:gdLst/>
              <a:ahLst/>
              <a:cxnLst/>
              <a:rect l="l" t="t" r="r" b="b"/>
              <a:pathLst>
                <a:path w="1104900" h="396240">
                  <a:moveTo>
                    <a:pt x="0" y="198120"/>
                  </a:moveTo>
                  <a:cubicBezTo>
                    <a:pt x="0" y="88646"/>
                    <a:pt x="92202" y="0"/>
                    <a:pt x="205994" y="0"/>
                  </a:cubicBezTo>
                  <a:lnTo>
                    <a:pt x="898906" y="0"/>
                  </a:lnTo>
                  <a:cubicBezTo>
                    <a:pt x="1012698" y="0"/>
                    <a:pt x="1104900" y="88646"/>
                    <a:pt x="1104900" y="198120"/>
                  </a:cubicBezTo>
                  <a:cubicBezTo>
                    <a:pt x="1104900" y="307594"/>
                    <a:pt x="1012698" y="396240"/>
                    <a:pt x="898906" y="396240"/>
                  </a:cubicBezTo>
                  <a:lnTo>
                    <a:pt x="205994" y="396240"/>
                  </a:lnTo>
                  <a:cubicBezTo>
                    <a:pt x="92202" y="396240"/>
                    <a:pt x="0" y="307467"/>
                    <a:pt x="0" y="198120"/>
                  </a:cubicBezTo>
                  <a:close/>
                </a:path>
              </a:pathLst>
            </a:custGeom>
            <a:solidFill>
              <a:srgbClr val="27AE60"/>
            </a:solidFill>
          </p:spPr>
        </p:sp>
      </p:grpSp>
      <p:grpSp>
        <p:nvGrpSpPr>
          <p:cNvPr id="205" name="Group 205"/>
          <p:cNvGrpSpPr/>
          <p:nvPr/>
        </p:nvGrpSpPr>
        <p:grpSpPr>
          <a:xfrm>
            <a:off x="4400550" y="7212730"/>
            <a:ext cx="893902" cy="297132"/>
            <a:chOff x="0" y="0"/>
            <a:chExt cx="1191870" cy="396176"/>
          </a:xfrm>
        </p:grpSpPr>
        <p:sp>
          <p:nvSpPr>
            <p:cNvPr id="206" name="Freeform 206"/>
            <p:cNvSpPr/>
            <p:nvPr/>
          </p:nvSpPr>
          <p:spPr>
            <a:xfrm>
              <a:off x="0" y="0"/>
              <a:ext cx="1191874" cy="396180"/>
            </a:xfrm>
            <a:custGeom>
              <a:avLst/>
              <a:gdLst/>
              <a:ahLst/>
              <a:cxnLst/>
              <a:rect l="l" t="t" r="r" b="b"/>
              <a:pathLst>
                <a:path w="1191874" h="396180">
                  <a:moveTo>
                    <a:pt x="0" y="0"/>
                  </a:moveTo>
                  <a:lnTo>
                    <a:pt x="1191874" y="0"/>
                  </a:lnTo>
                  <a:lnTo>
                    <a:pt x="1191874" y="396180"/>
                  </a:lnTo>
                  <a:lnTo>
                    <a:pt x="0" y="396180"/>
                  </a:lnTo>
                  <a:close/>
                </a:path>
              </a:pathLst>
            </a:custGeom>
            <a:blipFill>
              <a:blip r:embed="rId36">
                <a:alphaModFix amt="0"/>
              </a:blip>
              <a:stretch>
                <a:fillRect t="-8619" b="-8618"/>
              </a:stretch>
            </a:blipFill>
          </p:spPr>
        </p:sp>
        <p:sp>
          <p:nvSpPr>
            <p:cNvPr id="207" name="TextBox 207"/>
            <p:cNvSpPr txBox="1"/>
            <p:nvPr/>
          </p:nvSpPr>
          <p:spPr>
            <a:xfrm>
              <a:off x="0" y="-47625"/>
              <a:ext cx="1191870"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STRING</a:t>
              </a:r>
            </a:p>
          </p:txBody>
        </p:sp>
      </p:grpSp>
      <p:grpSp>
        <p:nvGrpSpPr>
          <p:cNvPr id="208" name="Group 208"/>
          <p:cNvGrpSpPr/>
          <p:nvPr/>
        </p:nvGrpSpPr>
        <p:grpSpPr>
          <a:xfrm>
            <a:off x="6858000" y="7094858"/>
            <a:ext cx="11430000" cy="532876"/>
            <a:chOff x="0" y="0"/>
            <a:chExt cx="15240000" cy="710502"/>
          </a:xfrm>
        </p:grpSpPr>
        <p:sp>
          <p:nvSpPr>
            <p:cNvPr id="209" name="Freeform 209"/>
            <p:cNvSpPr/>
            <p:nvPr/>
          </p:nvSpPr>
          <p:spPr>
            <a:xfrm>
              <a:off x="0" y="0"/>
              <a:ext cx="15240000" cy="710506"/>
            </a:xfrm>
            <a:custGeom>
              <a:avLst/>
              <a:gdLst/>
              <a:ahLst/>
              <a:cxnLst/>
              <a:rect l="l" t="t" r="r" b="b"/>
              <a:pathLst>
                <a:path w="15240000" h="710506">
                  <a:moveTo>
                    <a:pt x="0" y="0"/>
                  </a:moveTo>
                  <a:lnTo>
                    <a:pt x="15240000" y="0"/>
                  </a:lnTo>
                  <a:lnTo>
                    <a:pt x="15240000" y="710506"/>
                  </a:lnTo>
                  <a:lnTo>
                    <a:pt x="0" y="710506"/>
                  </a:lnTo>
                  <a:close/>
                </a:path>
              </a:pathLst>
            </a:custGeom>
            <a:blipFill>
              <a:blip r:embed="rId36">
                <a:alphaModFix amt="0"/>
              </a:blip>
              <a:stretch>
                <a:fillRect t="-367944" b="-367944"/>
              </a:stretch>
            </a:blipFill>
          </p:spPr>
        </p:sp>
        <p:sp>
          <p:nvSpPr>
            <p:cNvPr id="210" name="TextBox 210"/>
            <p:cNvSpPr txBox="1"/>
            <p:nvPr/>
          </p:nvSpPr>
          <p:spPr>
            <a:xfrm>
              <a:off x="0" y="-57150"/>
              <a:ext cx="15240000"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Thời gian giao dịch (Định dạng: YYYY-MM-DD HH:MM:SS).</a:t>
              </a:r>
            </a:p>
          </p:txBody>
        </p:sp>
      </p:grpSp>
      <p:grpSp>
        <p:nvGrpSpPr>
          <p:cNvPr id="211" name="Group 211"/>
          <p:cNvGrpSpPr/>
          <p:nvPr/>
        </p:nvGrpSpPr>
        <p:grpSpPr>
          <a:xfrm>
            <a:off x="847725" y="7746797"/>
            <a:ext cx="1309611" cy="304800"/>
            <a:chOff x="0" y="0"/>
            <a:chExt cx="1746148" cy="406400"/>
          </a:xfrm>
        </p:grpSpPr>
        <p:sp>
          <p:nvSpPr>
            <p:cNvPr id="212" name="Freeform 212"/>
            <p:cNvSpPr/>
            <p:nvPr/>
          </p:nvSpPr>
          <p:spPr>
            <a:xfrm>
              <a:off x="12700" y="12700"/>
              <a:ext cx="1720850" cy="381000"/>
            </a:xfrm>
            <a:custGeom>
              <a:avLst/>
              <a:gdLst/>
              <a:ahLst/>
              <a:cxnLst/>
              <a:rect l="l" t="t" r="r" b="b"/>
              <a:pathLst>
                <a:path w="1720850" h="381000">
                  <a:moveTo>
                    <a:pt x="0" y="76200"/>
                  </a:moveTo>
                  <a:cubicBezTo>
                    <a:pt x="0" y="34163"/>
                    <a:pt x="35814" y="0"/>
                    <a:pt x="80137" y="0"/>
                  </a:cubicBezTo>
                  <a:lnTo>
                    <a:pt x="1640713" y="0"/>
                  </a:lnTo>
                  <a:cubicBezTo>
                    <a:pt x="1684909" y="0"/>
                    <a:pt x="1720850" y="34163"/>
                    <a:pt x="1720850" y="76200"/>
                  </a:cubicBezTo>
                  <a:lnTo>
                    <a:pt x="1720850" y="304800"/>
                  </a:lnTo>
                  <a:cubicBezTo>
                    <a:pt x="1720850" y="346837"/>
                    <a:pt x="1685036" y="381000"/>
                    <a:pt x="1640713" y="381000"/>
                  </a:cubicBezTo>
                  <a:lnTo>
                    <a:pt x="80137" y="381000"/>
                  </a:lnTo>
                  <a:cubicBezTo>
                    <a:pt x="35814" y="381000"/>
                    <a:pt x="0" y="346837"/>
                    <a:pt x="0" y="304800"/>
                  </a:cubicBezTo>
                  <a:close/>
                </a:path>
              </a:pathLst>
            </a:custGeom>
            <a:solidFill>
              <a:srgbClr val="EEF7FF"/>
            </a:solidFill>
          </p:spPr>
        </p:sp>
      </p:grpSp>
      <p:grpSp>
        <p:nvGrpSpPr>
          <p:cNvPr id="213" name="Group 213"/>
          <p:cNvGrpSpPr/>
          <p:nvPr/>
        </p:nvGrpSpPr>
        <p:grpSpPr>
          <a:xfrm>
            <a:off x="942975" y="7756322"/>
            <a:ext cx="1940185" cy="285750"/>
            <a:chOff x="0" y="0"/>
            <a:chExt cx="2586914" cy="381000"/>
          </a:xfrm>
        </p:grpSpPr>
        <p:sp>
          <p:nvSpPr>
            <p:cNvPr id="214" name="Freeform 214"/>
            <p:cNvSpPr/>
            <p:nvPr/>
          </p:nvSpPr>
          <p:spPr>
            <a:xfrm>
              <a:off x="0" y="0"/>
              <a:ext cx="2586910" cy="381000"/>
            </a:xfrm>
            <a:custGeom>
              <a:avLst/>
              <a:gdLst/>
              <a:ahLst/>
              <a:cxnLst/>
              <a:rect l="l" t="t" r="r" b="b"/>
              <a:pathLst>
                <a:path w="2586910" h="381000">
                  <a:moveTo>
                    <a:pt x="0" y="0"/>
                  </a:moveTo>
                  <a:lnTo>
                    <a:pt x="2586910" y="0"/>
                  </a:lnTo>
                  <a:lnTo>
                    <a:pt x="2586910" y="381000"/>
                  </a:lnTo>
                  <a:lnTo>
                    <a:pt x="0" y="381000"/>
                  </a:lnTo>
                  <a:close/>
                </a:path>
              </a:pathLst>
            </a:custGeom>
            <a:blipFill>
              <a:blip r:embed="rId36">
                <a:alphaModFix amt="0"/>
              </a:blip>
              <a:stretch>
                <a:fillRect t="-82299" b="-82299"/>
              </a:stretch>
            </a:blipFill>
          </p:spPr>
        </p:sp>
        <p:sp>
          <p:nvSpPr>
            <p:cNvPr id="215" name="TextBox 215"/>
            <p:cNvSpPr txBox="1"/>
            <p:nvPr/>
          </p:nvSpPr>
          <p:spPr>
            <a:xfrm>
              <a:off x="0" y="-57150"/>
              <a:ext cx="2586914"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thanh_pho</a:t>
              </a:r>
            </a:p>
          </p:txBody>
        </p:sp>
      </p:grpSp>
      <p:grpSp>
        <p:nvGrpSpPr>
          <p:cNvPr id="216" name="Group 216"/>
          <p:cNvGrpSpPr/>
          <p:nvPr/>
        </p:nvGrpSpPr>
        <p:grpSpPr>
          <a:xfrm>
            <a:off x="4276725" y="7736091"/>
            <a:ext cx="847725" cy="316182"/>
            <a:chOff x="0" y="0"/>
            <a:chExt cx="1130300" cy="421576"/>
          </a:xfrm>
        </p:grpSpPr>
        <p:sp>
          <p:nvSpPr>
            <p:cNvPr id="217" name="Freeform 217"/>
            <p:cNvSpPr/>
            <p:nvPr/>
          </p:nvSpPr>
          <p:spPr>
            <a:xfrm>
              <a:off x="12700" y="12700"/>
              <a:ext cx="1104900" cy="396240"/>
            </a:xfrm>
            <a:custGeom>
              <a:avLst/>
              <a:gdLst/>
              <a:ahLst/>
              <a:cxnLst/>
              <a:rect l="l" t="t" r="r" b="b"/>
              <a:pathLst>
                <a:path w="1104900" h="396240">
                  <a:moveTo>
                    <a:pt x="0" y="198120"/>
                  </a:moveTo>
                  <a:cubicBezTo>
                    <a:pt x="0" y="88646"/>
                    <a:pt x="92202" y="0"/>
                    <a:pt x="205994" y="0"/>
                  </a:cubicBezTo>
                  <a:lnTo>
                    <a:pt x="898906" y="0"/>
                  </a:lnTo>
                  <a:cubicBezTo>
                    <a:pt x="1012698" y="0"/>
                    <a:pt x="1104900" y="88646"/>
                    <a:pt x="1104900" y="198120"/>
                  </a:cubicBezTo>
                  <a:cubicBezTo>
                    <a:pt x="1104900" y="307594"/>
                    <a:pt x="1012698" y="396240"/>
                    <a:pt x="898906" y="396240"/>
                  </a:cubicBezTo>
                  <a:lnTo>
                    <a:pt x="205994" y="396240"/>
                  </a:lnTo>
                  <a:cubicBezTo>
                    <a:pt x="92202" y="396240"/>
                    <a:pt x="0" y="307467"/>
                    <a:pt x="0" y="198120"/>
                  </a:cubicBezTo>
                  <a:close/>
                </a:path>
              </a:pathLst>
            </a:custGeom>
            <a:solidFill>
              <a:srgbClr val="27AE60"/>
            </a:solidFill>
          </p:spPr>
        </p:sp>
      </p:grpSp>
      <p:grpSp>
        <p:nvGrpSpPr>
          <p:cNvPr id="218" name="Group 218"/>
          <p:cNvGrpSpPr/>
          <p:nvPr/>
        </p:nvGrpSpPr>
        <p:grpSpPr>
          <a:xfrm>
            <a:off x="4400550" y="7745616"/>
            <a:ext cx="893902" cy="297132"/>
            <a:chOff x="0" y="0"/>
            <a:chExt cx="1191870" cy="396176"/>
          </a:xfrm>
        </p:grpSpPr>
        <p:sp>
          <p:nvSpPr>
            <p:cNvPr id="219" name="Freeform 219"/>
            <p:cNvSpPr/>
            <p:nvPr/>
          </p:nvSpPr>
          <p:spPr>
            <a:xfrm>
              <a:off x="0" y="0"/>
              <a:ext cx="1191874" cy="396180"/>
            </a:xfrm>
            <a:custGeom>
              <a:avLst/>
              <a:gdLst/>
              <a:ahLst/>
              <a:cxnLst/>
              <a:rect l="l" t="t" r="r" b="b"/>
              <a:pathLst>
                <a:path w="1191874" h="396180">
                  <a:moveTo>
                    <a:pt x="0" y="0"/>
                  </a:moveTo>
                  <a:lnTo>
                    <a:pt x="1191874" y="0"/>
                  </a:lnTo>
                  <a:lnTo>
                    <a:pt x="1191874" y="396180"/>
                  </a:lnTo>
                  <a:lnTo>
                    <a:pt x="0" y="396180"/>
                  </a:lnTo>
                  <a:close/>
                </a:path>
              </a:pathLst>
            </a:custGeom>
            <a:blipFill>
              <a:blip r:embed="rId36">
                <a:alphaModFix amt="0"/>
              </a:blip>
              <a:stretch>
                <a:fillRect t="-8619" b="-8618"/>
              </a:stretch>
            </a:blipFill>
          </p:spPr>
        </p:sp>
        <p:sp>
          <p:nvSpPr>
            <p:cNvPr id="220" name="TextBox 220"/>
            <p:cNvSpPr txBox="1"/>
            <p:nvPr/>
          </p:nvSpPr>
          <p:spPr>
            <a:xfrm>
              <a:off x="0" y="-47625"/>
              <a:ext cx="1191870"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STRING</a:t>
              </a:r>
            </a:p>
          </p:txBody>
        </p:sp>
      </p:grpSp>
      <p:grpSp>
        <p:nvGrpSpPr>
          <p:cNvPr id="221" name="Group 221"/>
          <p:cNvGrpSpPr/>
          <p:nvPr/>
        </p:nvGrpSpPr>
        <p:grpSpPr>
          <a:xfrm>
            <a:off x="6858000" y="7627734"/>
            <a:ext cx="11320977" cy="532876"/>
            <a:chOff x="0" y="0"/>
            <a:chExt cx="15094636" cy="710502"/>
          </a:xfrm>
        </p:grpSpPr>
        <p:sp>
          <p:nvSpPr>
            <p:cNvPr id="222" name="Freeform 222"/>
            <p:cNvSpPr/>
            <p:nvPr/>
          </p:nvSpPr>
          <p:spPr>
            <a:xfrm>
              <a:off x="0" y="0"/>
              <a:ext cx="15094634" cy="710506"/>
            </a:xfrm>
            <a:custGeom>
              <a:avLst/>
              <a:gdLst/>
              <a:ahLst/>
              <a:cxnLst/>
              <a:rect l="l" t="t" r="r" b="b"/>
              <a:pathLst>
                <a:path w="15094634" h="710506">
                  <a:moveTo>
                    <a:pt x="0" y="0"/>
                  </a:moveTo>
                  <a:lnTo>
                    <a:pt x="15094634" y="0"/>
                  </a:lnTo>
                  <a:lnTo>
                    <a:pt x="15094634" y="710506"/>
                  </a:lnTo>
                  <a:lnTo>
                    <a:pt x="0" y="710506"/>
                  </a:lnTo>
                  <a:close/>
                </a:path>
              </a:pathLst>
            </a:custGeom>
            <a:blipFill>
              <a:blip r:embed="rId36">
                <a:alphaModFix amt="0"/>
              </a:blip>
              <a:stretch>
                <a:fillRect t="-363958" b="-363957"/>
              </a:stretch>
            </a:blipFill>
          </p:spPr>
        </p:sp>
        <p:sp>
          <p:nvSpPr>
            <p:cNvPr id="223" name="TextBox 223"/>
            <p:cNvSpPr txBox="1"/>
            <p:nvPr/>
          </p:nvSpPr>
          <p:spPr>
            <a:xfrm>
              <a:off x="0" y="-57150"/>
              <a:ext cx="15094636"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Chi nhánh siêu thị theo địa giới tỉnh/thành phố.</a:t>
              </a:r>
            </a:p>
          </p:txBody>
        </p:sp>
      </p:grpSp>
      <p:grpSp>
        <p:nvGrpSpPr>
          <p:cNvPr id="224" name="Group 224"/>
          <p:cNvGrpSpPr/>
          <p:nvPr/>
        </p:nvGrpSpPr>
        <p:grpSpPr>
          <a:xfrm>
            <a:off x="847725" y="8279682"/>
            <a:ext cx="1682429" cy="304800"/>
            <a:chOff x="0" y="0"/>
            <a:chExt cx="2243239" cy="406400"/>
          </a:xfrm>
        </p:grpSpPr>
        <p:sp>
          <p:nvSpPr>
            <p:cNvPr id="225" name="Freeform 225"/>
            <p:cNvSpPr/>
            <p:nvPr/>
          </p:nvSpPr>
          <p:spPr>
            <a:xfrm>
              <a:off x="12700" y="12700"/>
              <a:ext cx="2217928" cy="381000"/>
            </a:xfrm>
            <a:custGeom>
              <a:avLst/>
              <a:gdLst/>
              <a:ahLst/>
              <a:cxnLst/>
              <a:rect l="l" t="t" r="r" b="b"/>
              <a:pathLst>
                <a:path w="2217928" h="381000">
                  <a:moveTo>
                    <a:pt x="0" y="76200"/>
                  </a:moveTo>
                  <a:cubicBezTo>
                    <a:pt x="0" y="34163"/>
                    <a:pt x="35941" y="0"/>
                    <a:pt x="80391" y="0"/>
                  </a:cubicBezTo>
                  <a:lnTo>
                    <a:pt x="2137537" y="0"/>
                  </a:lnTo>
                  <a:cubicBezTo>
                    <a:pt x="2181860" y="0"/>
                    <a:pt x="2217928" y="34163"/>
                    <a:pt x="2217928" y="76200"/>
                  </a:cubicBezTo>
                  <a:lnTo>
                    <a:pt x="2217928" y="304800"/>
                  </a:lnTo>
                  <a:cubicBezTo>
                    <a:pt x="2217928" y="346837"/>
                    <a:pt x="2181987" y="381000"/>
                    <a:pt x="2137537" y="381000"/>
                  </a:cubicBezTo>
                  <a:lnTo>
                    <a:pt x="80391" y="381000"/>
                  </a:lnTo>
                  <a:cubicBezTo>
                    <a:pt x="35941" y="381000"/>
                    <a:pt x="0" y="346837"/>
                    <a:pt x="0" y="304800"/>
                  </a:cubicBezTo>
                  <a:close/>
                </a:path>
              </a:pathLst>
            </a:custGeom>
            <a:solidFill>
              <a:srgbClr val="EEF7FF"/>
            </a:solidFill>
          </p:spPr>
        </p:sp>
      </p:grpSp>
      <p:grpSp>
        <p:nvGrpSpPr>
          <p:cNvPr id="226" name="Group 226"/>
          <p:cNvGrpSpPr/>
          <p:nvPr/>
        </p:nvGrpSpPr>
        <p:grpSpPr>
          <a:xfrm>
            <a:off x="942975" y="8289207"/>
            <a:ext cx="2675734" cy="285750"/>
            <a:chOff x="0" y="0"/>
            <a:chExt cx="3567646" cy="381000"/>
          </a:xfrm>
        </p:grpSpPr>
        <p:sp>
          <p:nvSpPr>
            <p:cNvPr id="227" name="Freeform 227"/>
            <p:cNvSpPr/>
            <p:nvPr/>
          </p:nvSpPr>
          <p:spPr>
            <a:xfrm>
              <a:off x="0" y="0"/>
              <a:ext cx="3567652" cy="381000"/>
            </a:xfrm>
            <a:custGeom>
              <a:avLst/>
              <a:gdLst/>
              <a:ahLst/>
              <a:cxnLst/>
              <a:rect l="l" t="t" r="r" b="b"/>
              <a:pathLst>
                <a:path w="3567652" h="381000">
                  <a:moveTo>
                    <a:pt x="0" y="0"/>
                  </a:moveTo>
                  <a:lnTo>
                    <a:pt x="3567652" y="0"/>
                  </a:lnTo>
                  <a:lnTo>
                    <a:pt x="3567652" y="381000"/>
                  </a:lnTo>
                  <a:lnTo>
                    <a:pt x="0" y="381000"/>
                  </a:lnTo>
                  <a:close/>
                </a:path>
              </a:pathLst>
            </a:custGeom>
            <a:blipFill>
              <a:blip r:embed="rId36">
                <a:alphaModFix amt="0"/>
              </a:blip>
              <a:stretch>
                <a:fillRect t="-132455" b="-132455"/>
              </a:stretch>
            </a:blipFill>
          </p:spPr>
        </p:sp>
        <p:sp>
          <p:nvSpPr>
            <p:cNvPr id="228" name="TextBox 228"/>
            <p:cNvSpPr txBox="1"/>
            <p:nvPr/>
          </p:nvSpPr>
          <p:spPr>
            <a:xfrm>
              <a:off x="0" y="-57150"/>
              <a:ext cx="3567646" cy="438150"/>
            </a:xfrm>
            <a:prstGeom prst="rect">
              <a:avLst/>
            </a:prstGeom>
          </p:spPr>
          <p:txBody>
            <a:bodyPr lIns="0" tIns="0" rIns="0" bIns="0" rtlCol="0" anchor="ctr"/>
            <a:lstStyle/>
            <a:p>
              <a:pPr algn="l">
                <a:lnSpc>
                  <a:spcPts val="2284"/>
                </a:lnSpc>
              </a:pPr>
              <a:r>
                <a:rPr lang="en-US" sz="1632" b="1">
                  <a:solidFill>
                    <a:srgbClr val="007ACC"/>
                  </a:solidFill>
                  <a:latin typeface="Calibri (MS) Bold"/>
                  <a:ea typeface="Calibri (MS) Bold"/>
                  <a:cs typeface="Calibri (MS) Bold"/>
                  <a:sym typeface="Calibri (MS) Bold"/>
                </a:rPr>
                <a:t>hinh_thuc_tt</a:t>
              </a:r>
            </a:p>
          </p:txBody>
        </p:sp>
      </p:grpSp>
      <p:grpSp>
        <p:nvGrpSpPr>
          <p:cNvPr id="229" name="Group 229"/>
          <p:cNvGrpSpPr/>
          <p:nvPr/>
        </p:nvGrpSpPr>
        <p:grpSpPr>
          <a:xfrm>
            <a:off x="4276725" y="8268967"/>
            <a:ext cx="847725" cy="316182"/>
            <a:chOff x="0" y="0"/>
            <a:chExt cx="1130300" cy="421576"/>
          </a:xfrm>
        </p:grpSpPr>
        <p:sp>
          <p:nvSpPr>
            <p:cNvPr id="230" name="Freeform 230"/>
            <p:cNvSpPr/>
            <p:nvPr/>
          </p:nvSpPr>
          <p:spPr>
            <a:xfrm>
              <a:off x="12700" y="12700"/>
              <a:ext cx="1104900" cy="396240"/>
            </a:xfrm>
            <a:custGeom>
              <a:avLst/>
              <a:gdLst/>
              <a:ahLst/>
              <a:cxnLst/>
              <a:rect l="l" t="t" r="r" b="b"/>
              <a:pathLst>
                <a:path w="1104900" h="396240">
                  <a:moveTo>
                    <a:pt x="0" y="198120"/>
                  </a:moveTo>
                  <a:cubicBezTo>
                    <a:pt x="0" y="88646"/>
                    <a:pt x="92202" y="0"/>
                    <a:pt x="205994" y="0"/>
                  </a:cubicBezTo>
                  <a:lnTo>
                    <a:pt x="898906" y="0"/>
                  </a:lnTo>
                  <a:cubicBezTo>
                    <a:pt x="1012698" y="0"/>
                    <a:pt x="1104900" y="88646"/>
                    <a:pt x="1104900" y="198120"/>
                  </a:cubicBezTo>
                  <a:cubicBezTo>
                    <a:pt x="1104900" y="307594"/>
                    <a:pt x="1012698" y="396240"/>
                    <a:pt x="898906" y="396240"/>
                  </a:cubicBezTo>
                  <a:lnTo>
                    <a:pt x="205994" y="396240"/>
                  </a:lnTo>
                  <a:cubicBezTo>
                    <a:pt x="92202" y="396240"/>
                    <a:pt x="0" y="307467"/>
                    <a:pt x="0" y="198120"/>
                  </a:cubicBezTo>
                  <a:close/>
                </a:path>
              </a:pathLst>
            </a:custGeom>
            <a:solidFill>
              <a:srgbClr val="27AE60"/>
            </a:solidFill>
          </p:spPr>
        </p:sp>
      </p:grpSp>
      <p:grpSp>
        <p:nvGrpSpPr>
          <p:cNvPr id="231" name="Group 231"/>
          <p:cNvGrpSpPr/>
          <p:nvPr/>
        </p:nvGrpSpPr>
        <p:grpSpPr>
          <a:xfrm>
            <a:off x="4400550" y="8278492"/>
            <a:ext cx="893902" cy="297132"/>
            <a:chOff x="0" y="0"/>
            <a:chExt cx="1191870" cy="396176"/>
          </a:xfrm>
        </p:grpSpPr>
        <p:sp>
          <p:nvSpPr>
            <p:cNvPr id="232" name="Freeform 232"/>
            <p:cNvSpPr/>
            <p:nvPr/>
          </p:nvSpPr>
          <p:spPr>
            <a:xfrm>
              <a:off x="0" y="0"/>
              <a:ext cx="1191874" cy="396180"/>
            </a:xfrm>
            <a:custGeom>
              <a:avLst/>
              <a:gdLst/>
              <a:ahLst/>
              <a:cxnLst/>
              <a:rect l="l" t="t" r="r" b="b"/>
              <a:pathLst>
                <a:path w="1191874" h="396180">
                  <a:moveTo>
                    <a:pt x="0" y="0"/>
                  </a:moveTo>
                  <a:lnTo>
                    <a:pt x="1191874" y="0"/>
                  </a:lnTo>
                  <a:lnTo>
                    <a:pt x="1191874" y="396180"/>
                  </a:lnTo>
                  <a:lnTo>
                    <a:pt x="0" y="396180"/>
                  </a:lnTo>
                  <a:close/>
                </a:path>
              </a:pathLst>
            </a:custGeom>
            <a:blipFill>
              <a:blip r:embed="rId36">
                <a:alphaModFix amt="0"/>
              </a:blip>
              <a:stretch>
                <a:fillRect t="-8619" b="-8618"/>
              </a:stretch>
            </a:blipFill>
          </p:spPr>
        </p:sp>
        <p:sp>
          <p:nvSpPr>
            <p:cNvPr id="233" name="TextBox 233"/>
            <p:cNvSpPr txBox="1"/>
            <p:nvPr/>
          </p:nvSpPr>
          <p:spPr>
            <a:xfrm>
              <a:off x="0" y="-47625"/>
              <a:ext cx="1191870" cy="443801"/>
            </a:xfrm>
            <a:prstGeom prst="rect">
              <a:avLst/>
            </a:prstGeom>
          </p:spPr>
          <p:txBody>
            <a:bodyPr lIns="0" tIns="0" rIns="0" bIns="0" rtlCol="0" anchor="ctr"/>
            <a:lstStyle/>
            <a:p>
              <a:pPr algn="l">
                <a:lnSpc>
                  <a:spcPts val="1889"/>
                </a:lnSpc>
              </a:pPr>
              <a:r>
                <a:rPr lang="en-US" sz="1350" b="1">
                  <a:solidFill>
                    <a:srgbClr val="FFFFFF"/>
                  </a:solidFill>
                  <a:latin typeface="Calibri (MS) Bold"/>
                  <a:ea typeface="Calibri (MS) Bold"/>
                  <a:cs typeface="Calibri (MS) Bold"/>
                  <a:sym typeface="Calibri (MS) Bold"/>
                </a:rPr>
                <a:t>STRING</a:t>
              </a:r>
            </a:p>
          </p:txBody>
        </p:sp>
      </p:grpSp>
      <p:grpSp>
        <p:nvGrpSpPr>
          <p:cNvPr id="234" name="Group 234"/>
          <p:cNvGrpSpPr/>
          <p:nvPr/>
        </p:nvGrpSpPr>
        <p:grpSpPr>
          <a:xfrm>
            <a:off x="6858000" y="8160620"/>
            <a:ext cx="11430000" cy="532876"/>
            <a:chOff x="0" y="0"/>
            <a:chExt cx="15240000" cy="710502"/>
          </a:xfrm>
        </p:grpSpPr>
        <p:sp>
          <p:nvSpPr>
            <p:cNvPr id="235" name="Freeform 235"/>
            <p:cNvSpPr/>
            <p:nvPr/>
          </p:nvSpPr>
          <p:spPr>
            <a:xfrm>
              <a:off x="0" y="0"/>
              <a:ext cx="15240000" cy="710506"/>
            </a:xfrm>
            <a:custGeom>
              <a:avLst/>
              <a:gdLst/>
              <a:ahLst/>
              <a:cxnLst/>
              <a:rect l="l" t="t" r="r" b="b"/>
              <a:pathLst>
                <a:path w="15240000" h="710506">
                  <a:moveTo>
                    <a:pt x="0" y="0"/>
                  </a:moveTo>
                  <a:lnTo>
                    <a:pt x="15240000" y="0"/>
                  </a:lnTo>
                  <a:lnTo>
                    <a:pt x="15240000" y="710506"/>
                  </a:lnTo>
                  <a:lnTo>
                    <a:pt x="0" y="710506"/>
                  </a:lnTo>
                  <a:close/>
                </a:path>
              </a:pathLst>
            </a:custGeom>
            <a:blipFill>
              <a:blip r:embed="rId36">
                <a:alphaModFix amt="0"/>
              </a:blip>
              <a:stretch>
                <a:fillRect t="-367944" b="-367944"/>
              </a:stretch>
            </a:blipFill>
          </p:spPr>
        </p:sp>
        <p:sp>
          <p:nvSpPr>
            <p:cNvPr id="236" name="TextBox 236"/>
            <p:cNvSpPr txBox="1"/>
            <p:nvPr/>
          </p:nvSpPr>
          <p:spPr>
            <a:xfrm>
              <a:off x="0" y="-57150"/>
              <a:ext cx="15240000" cy="767652"/>
            </a:xfrm>
            <a:prstGeom prst="rect">
              <a:avLst/>
            </a:prstGeom>
          </p:spPr>
          <p:txBody>
            <a:bodyPr lIns="0" tIns="0" rIns="0" bIns="0" rtlCol="0" anchor="ctr"/>
            <a:lstStyle/>
            <a:p>
              <a:pPr algn="l">
                <a:lnSpc>
                  <a:spcPts val="2284"/>
                </a:lnSpc>
              </a:pPr>
              <a:r>
                <a:rPr lang="en-US" sz="1632">
                  <a:solidFill>
                    <a:srgbClr val="2C3E50"/>
                  </a:solidFill>
                  <a:latin typeface="Calibri (MS)"/>
                  <a:ea typeface="Calibri (MS)"/>
                  <a:cs typeface="Calibri (MS)"/>
                  <a:sym typeface="Calibri (MS)"/>
                </a:rPr>
                <a:t>Phương thức thanh toán (Tiền mặt, Chuyển khoản, Ví điện tử).</a:t>
              </a:r>
            </a:p>
          </p:txBody>
        </p:sp>
      </p:grpSp>
      <p:grpSp>
        <p:nvGrpSpPr>
          <p:cNvPr id="237" name="Group 237"/>
          <p:cNvGrpSpPr/>
          <p:nvPr/>
        </p:nvGrpSpPr>
        <p:grpSpPr>
          <a:xfrm>
            <a:off x="11801475" y="8979246"/>
            <a:ext cx="6486525" cy="278606"/>
            <a:chOff x="0" y="0"/>
            <a:chExt cx="8648700" cy="371475"/>
          </a:xfrm>
        </p:grpSpPr>
        <p:sp>
          <p:nvSpPr>
            <p:cNvPr id="238" name="Freeform 238"/>
            <p:cNvSpPr/>
            <p:nvPr/>
          </p:nvSpPr>
          <p:spPr>
            <a:xfrm>
              <a:off x="0" y="0"/>
              <a:ext cx="8648700" cy="371476"/>
            </a:xfrm>
            <a:custGeom>
              <a:avLst/>
              <a:gdLst/>
              <a:ahLst/>
              <a:cxnLst/>
              <a:rect l="l" t="t" r="r" b="b"/>
              <a:pathLst>
                <a:path w="8648700" h="371476">
                  <a:moveTo>
                    <a:pt x="0" y="0"/>
                  </a:moveTo>
                  <a:lnTo>
                    <a:pt x="8648700" y="0"/>
                  </a:lnTo>
                  <a:lnTo>
                    <a:pt x="8648700" y="371476"/>
                  </a:lnTo>
                  <a:lnTo>
                    <a:pt x="0" y="371476"/>
                  </a:lnTo>
                  <a:close/>
                </a:path>
              </a:pathLst>
            </a:custGeom>
            <a:blipFill>
              <a:blip r:embed="rId36">
                <a:alphaModFix amt="0"/>
              </a:blip>
              <a:stretch>
                <a:fillRect t="-403650" b="-403650"/>
              </a:stretch>
            </a:blipFill>
          </p:spPr>
        </p:sp>
        <p:sp>
          <p:nvSpPr>
            <p:cNvPr id="239" name="TextBox 239"/>
            <p:cNvSpPr txBox="1"/>
            <p:nvPr/>
          </p:nvSpPr>
          <p:spPr>
            <a:xfrm>
              <a:off x="0" y="-66675"/>
              <a:ext cx="8648700" cy="438150"/>
            </a:xfrm>
            <a:prstGeom prst="rect">
              <a:avLst/>
            </a:prstGeom>
          </p:spPr>
          <p:txBody>
            <a:bodyPr lIns="0" tIns="0" rIns="0" bIns="0" rtlCol="0" anchor="ctr"/>
            <a:lstStyle/>
            <a:p>
              <a:pPr algn="l">
                <a:lnSpc>
                  <a:spcPts val="2194"/>
                </a:lnSpc>
              </a:pPr>
              <a:r>
                <a:rPr lang="en-US" sz="1462" i="1">
                  <a:solidFill>
                    <a:srgbClr val="7F8C8D"/>
                  </a:solidFill>
                  <a:latin typeface="Calibri (MS) Italics"/>
                  <a:ea typeface="Calibri (MS) Italics"/>
                  <a:cs typeface="Calibri (MS) Italics"/>
                  <a:sym typeface="Calibri (MS) Italics"/>
                </a:rPr>
                <a:t> Dữ liệu được cấu trúc tối ưu cho việc truy vấn phân tích trên Apache Hive.</a:t>
              </a:r>
            </a:p>
          </p:txBody>
        </p:sp>
      </p:gr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415588"/>
            <a:chOff x="0" y="0"/>
            <a:chExt cx="24384000" cy="13887450"/>
          </a:xfrm>
        </p:grpSpPr>
        <p:sp>
          <p:nvSpPr>
            <p:cNvPr id="4" name="Freeform 4" descr="preencoded.png"/>
            <p:cNvSpPr/>
            <p:nvPr/>
          </p:nvSpPr>
          <p:spPr>
            <a:xfrm>
              <a:off x="0" y="0"/>
              <a:ext cx="24384000" cy="13887450"/>
            </a:xfrm>
            <a:custGeom>
              <a:avLst/>
              <a:gdLst/>
              <a:ahLst/>
              <a:cxnLst/>
              <a:rect l="l" t="t" r="r" b="b"/>
              <a:pathLst>
                <a:path w="24384000" h="13887450">
                  <a:moveTo>
                    <a:pt x="0" y="0"/>
                  </a:moveTo>
                  <a:lnTo>
                    <a:pt x="24384000" y="0"/>
                  </a:lnTo>
                  <a:lnTo>
                    <a:pt x="24384000" y="13887450"/>
                  </a:lnTo>
                  <a:lnTo>
                    <a:pt x="0" y="13887450"/>
                  </a:lnTo>
                  <a:lnTo>
                    <a:pt x="0" y="0"/>
                  </a:lnTo>
                  <a:close/>
                </a:path>
              </a:pathLst>
            </a:custGeom>
            <a:blipFill>
              <a:blip r:embed="rId3"/>
              <a:stretch>
                <a:fillRect/>
              </a:stretch>
            </a:blipFill>
          </p:spPr>
        </p:sp>
      </p:grpSp>
      <p:grpSp>
        <p:nvGrpSpPr>
          <p:cNvPr id="5" name="Group 5"/>
          <p:cNvGrpSpPr/>
          <p:nvPr/>
        </p:nvGrpSpPr>
        <p:grpSpPr>
          <a:xfrm>
            <a:off x="0" y="0"/>
            <a:ext cx="18288000" cy="10415588"/>
            <a:chOff x="0" y="0"/>
            <a:chExt cx="24384000" cy="13887450"/>
          </a:xfrm>
        </p:grpSpPr>
        <p:sp>
          <p:nvSpPr>
            <p:cNvPr id="6" name="Freeform 6" descr="preencoded.png"/>
            <p:cNvSpPr/>
            <p:nvPr/>
          </p:nvSpPr>
          <p:spPr>
            <a:xfrm>
              <a:off x="0" y="0"/>
              <a:ext cx="24384000" cy="13887450"/>
            </a:xfrm>
            <a:custGeom>
              <a:avLst/>
              <a:gdLst/>
              <a:ahLst/>
              <a:cxnLst/>
              <a:rect l="l" t="t" r="r" b="b"/>
              <a:pathLst>
                <a:path w="24384000" h="13887450">
                  <a:moveTo>
                    <a:pt x="0" y="0"/>
                  </a:moveTo>
                  <a:lnTo>
                    <a:pt x="24384000" y="0"/>
                  </a:lnTo>
                  <a:lnTo>
                    <a:pt x="24384000" y="13887450"/>
                  </a:lnTo>
                  <a:lnTo>
                    <a:pt x="0" y="13887450"/>
                  </a:lnTo>
                  <a:lnTo>
                    <a:pt x="0" y="0"/>
                  </a:lnTo>
                  <a:close/>
                </a:path>
              </a:pathLst>
            </a:custGeom>
            <a:blipFill>
              <a:blip r:embed="rId4"/>
              <a:stretch>
                <a:fillRect/>
              </a:stretch>
            </a:blipFill>
          </p:spPr>
        </p:sp>
      </p:grpSp>
      <p:grpSp>
        <p:nvGrpSpPr>
          <p:cNvPr id="7" name="Group 7"/>
          <p:cNvGrpSpPr/>
          <p:nvPr/>
        </p:nvGrpSpPr>
        <p:grpSpPr>
          <a:xfrm>
            <a:off x="571500" y="128588"/>
            <a:ext cx="17145000" cy="1071562"/>
            <a:chOff x="0" y="0"/>
            <a:chExt cx="22860000" cy="1428750"/>
          </a:xfrm>
        </p:grpSpPr>
        <p:sp>
          <p:nvSpPr>
            <p:cNvPr id="8" name="Freeform 8" descr="preencoded.png"/>
            <p:cNvSpPr/>
            <p:nvPr/>
          </p:nvSpPr>
          <p:spPr>
            <a:xfrm>
              <a:off x="0" y="0"/>
              <a:ext cx="22860000" cy="1428750"/>
            </a:xfrm>
            <a:custGeom>
              <a:avLst/>
              <a:gdLst/>
              <a:ahLst/>
              <a:cxnLst/>
              <a:rect l="l" t="t" r="r" b="b"/>
              <a:pathLst>
                <a:path w="22860000" h="1428750">
                  <a:moveTo>
                    <a:pt x="0" y="0"/>
                  </a:moveTo>
                  <a:lnTo>
                    <a:pt x="22860000" y="0"/>
                  </a:lnTo>
                  <a:lnTo>
                    <a:pt x="22860000" y="1428750"/>
                  </a:lnTo>
                  <a:lnTo>
                    <a:pt x="0" y="1428750"/>
                  </a:lnTo>
                  <a:lnTo>
                    <a:pt x="0" y="0"/>
                  </a:lnTo>
                  <a:close/>
                </a:path>
              </a:pathLst>
            </a:custGeom>
            <a:blipFill>
              <a:blip r:embed="rId5"/>
              <a:stretch>
                <a:fillRect/>
              </a:stretch>
            </a:blipFill>
          </p:spPr>
        </p:sp>
      </p:grpSp>
      <p:grpSp>
        <p:nvGrpSpPr>
          <p:cNvPr id="9" name="Group 9"/>
          <p:cNvGrpSpPr/>
          <p:nvPr/>
        </p:nvGrpSpPr>
        <p:grpSpPr>
          <a:xfrm>
            <a:off x="571500" y="1300162"/>
            <a:ext cx="8443912" cy="1085850"/>
            <a:chOff x="0" y="0"/>
            <a:chExt cx="11258550" cy="1447800"/>
          </a:xfrm>
        </p:grpSpPr>
        <p:sp>
          <p:nvSpPr>
            <p:cNvPr id="10" name="Freeform 10" descr="preencoded.png"/>
            <p:cNvSpPr/>
            <p:nvPr/>
          </p:nvSpPr>
          <p:spPr>
            <a:xfrm>
              <a:off x="0" y="0"/>
              <a:ext cx="11258550" cy="1447800"/>
            </a:xfrm>
            <a:custGeom>
              <a:avLst/>
              <a:gdLst/>
              <a:ahLst/>
              <a:cxnLst/>
              <a:rect l="l" t="t" r="r" b="b"/>
              <a:pathLst>
                <a:path w="11258550" h="1447800">
                  <a:moveTo>
                    <a:pt x="0" y="0"/>
                  </a:moveTo>
                  <a:lnTo>
                    <a:pt x="11258550" y="0"/>
                  </a:lnTo>
                  <a:lnTo>
                    <a:pt x="11258550" y="1447800"/>
                  </a:lnTo>
                  <a:lnTo>
                    <a:pt x="0" y="1447800"/>
                  </a:lnTo>
                  <a:lnTo>
                    <a:pt x="0" y="0"/>
                  </a:lnTo>
                  <a:close/>
                </a:path>
              </a:pathLst>
            </a:custGeom>
            <a:blipFill>
              <a:blip r:embed="rId6"/>
              <a:stretch>
                <a:fillRect t="-1315" b="-1315"/>
              </a:stretch>
            </a:blipFill>
          </p:spPr>
        </p:sp>
      </p:grpSp>
      <p:grpSp>
        <p:nvGrpSpPr>
          <p:cNvPr id="11" name="Group 11"/>
          <p:cNvGrpSpPr/>
          <p:nvPr/>
        </p:nvGrpSpPr>
        <p:grpSpPr>
          <a:xfrm>
            <a:off x="800100" y="1516485"/>
            <a:ext cx="232172" cy="188643"/>
            <a:chOff x="0" y="0"/>
            <a:chExt cx="309562" cy="251524"/>
          </a:xfrm>
        </p:grpSpPr>
        <p:sp>
          <p:nvSpPr>
            <p:cNvPr id="12" name="Freeform 12"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7"/>
              <a:stretch>
                <a:fillRect r="-20" b="-25"/>
              </a:stretch>
            </a:blipFill>
          </p:spPr>
        </p:sp>
      </p:grpSp>
      <p:grpSp>
        <p:nvGrpSpPr>
          <p:cNvPr id="13" name="Group 13"/>
          <p:cNvGrpSpPr/>
          <p:nvPr/>
        </p:nvGrpSpPr>
        <p:grpSpPr>
          <a:xfrm>
            <a:off x="800100" y="1864519"/>
            <a:ext cx="2130400" cy="350044"/>
            <a:chOff x="0" y="0"/>
            <a:chExt cx="2840533" cy="466725"/>
          </a:xfrm>
        </p:grpSpPr>
        <p:sp>
          <p:nvSpPr>
            <p:cNvPr id="14" name="Freeform 14" descr="preencoded.png"/>
            <p:cNvSpPr/>
            <p:nvPr/>
          </p:nvSpPr>
          <p:spPr>
            <a:xfrm>
              <a:off x="0" y="0"/>
              <a:ext cx="2840482" cy="466725"/>
            </a:xfrm>
            <a:custGeom>
              <a:avLst/>
              <a:gdLst/>
              <a:ahLst/>
              <a:cxnLst/>
              <a:rect l="l" t="t" r="r" b="b"/>
              <a:pathLst>
                <a:path w="2840482" h="466725">
                  <a:moveTo>
                    <a:pt x="0" y="0"/>
                  </a:moveTo>
                  <a:lnTo>
                    <a:pt x="2840482" y="0"/>
                  </a:lnTo>
                  <a:lnTo>
                    <a:pt x="2840482" y="466725"/>
                  </a:lnTo>
                  <a:lnTo>
                    <a:pt x="0" y="466725"/>
                  </a:lnTo>
                  <a:lnTo>
                    <a:pt x="0" y="0"/>
                  </a:lnTo>
                  <a:close/>
                </a:path>
              </a:pathLst>
            </a:custGeom>
            <a:blipFill>
              <a:blip r:embed="rId8"/>
              <a:stretch>
                <a:fillRect t="-2397" r="-1" b="-2397"/>
              </a:stretch>
            </a:blipFill>
          </p:spPr>
        </p:sp>
      </p:grpSp>
      <p:grpSp>
        <p:nvGrpSpPr>
          <p:cNvPr id="15" name="Group 15"/>
          <p:cNvGrpSpPr/>
          <p:nvPr/>
        </p:nvGrpSpPr>
        <p:grpSpPr>
          <a:xfrm>
            <a:off x="971550" y="1956492"/>
            <a:ext cx="196453" cy="166087"/>
            <a:chOff x="0" y="0"/>
            <a:chExt cx="261938" cy="221450"/>
          </a:xfrm>
        </p:grpSpPr>
        <p:sp>
          <p:nvSpPr>
            <p:cNvPr id="16" name="Freeform 16" descr="preencoded.png"/>
            <p:cNvSpPr/>
            <p:nvPr/>
          </p:nvSpPr>
          <p:spPr>
            <a:xfrm>
              <a:off x="0" y="0"/>
              <a:ext cx="262001" cy="221488"/>
            </a:xfrm>
            <a:custGeom>
              <a:avLst/>
              <a:gdLst/>
              <a:ahLst/>
              <a:cxnLst/>
              <a:rect l="l" t="t" r="r" b="b"/>
              <a:pathLst>
                <a:path w="262001" h="221488">
                  <a:moveTo>
                    <a:pt x="0" y="0"/>
                  </a:moveTo>
                  <a:lnTo>
                    <a:pt x="262001" y="0"/>
                  </a:lnTo>
                  <a:lnTo>
                    <a:pt x="262001" y="221488"/>
                  </a:lnTo>
                  <a:lnTo>
                    <a:pt x="0" y="221488"/>
                  </a:lnTo>
                  <a:lnTo>
                    <a:pt x="0" y="0"/>
                  </a:lnTo>
                  <a:close/>
                </a:path>
              </a:pathLst>
            </a:custGeom>
            <a:blipFill>
              <a:blip r:embed="rId9"/>
              <a:stretch>
                <a:fillRect t="-40" r="24" b="-28"/>
              </a:stretch>
            </a:blipFill>
          </p:spPr>
        </p:sp>
      </p:grpSp>
      <p:grpSp>
        <p:nvGrpSpPr>
          <p:cNvPr id="17" name="Group 17"/>
          <p:cNvGrpSpPr/>
          <p:nvPr/>
        </p:nvGrpSpPr>
        <p:grpSpPr>
          <a:xfrm>
            <a:off x="3044800" y="1864519"/>
            <a:ext cx="1554213" cy="350044"/>
            <a:chOff x="0" y="0"/>
            <a:chExt cx="2072284" cy="466725"/>
          </a:xfrm>
        </p:grpSpPr>
        <p:sp>
          <p:nvSpPr>
            <p:cNvPr id="18" name="Freeform 18" descr="preencoded.png"/>
            <p:cNvSpPr/>
            <p:nvPr/>
          </p:nvSpPr>
          <p:spPr>
            <a:xfrm>
              <a:off x="0" y="0"/>
              <a:ext cx="2072259" cy="466725"/>
            </a:xfrm>
            <a:custGeom>
              <a:avLst/>
              <a:gdLst/>
              <a:ahLst/>
              <a:cxnLst/>
              <a:rect l="l" t="t" r="r" b="b"/>
              <a:pathLst>
                <a:path w="2072259" h="466725">
                  <a:moveTo>
                    <a:pt x="0" y="0"/>
                  </a:moveTo>
                  <a:lnTo>
                    <a:pt x="2072259" y="0"/>
                  </a:lnTo>
                  <a:lnTo>
                    <a:pt x="2072259" y="466725"/>
                  </a:lnTo>
                  <a:lnTo>
                    <a:pt x="0" y="466725"/>
                  </a:lnTo>
                  <a:lnTo>
                    <a:pt x="0" y="0"/>
                  </a:lnTo>
                  <a:close/>
                </a:path>
              </a:pathLst>
            </a:custGeom>
            <a:blipFill>
              <a:blip r:embed="rId10"/>
              <a:stretch>
                <a:fillRect t="-2473" r="-1" b="-2473"/>
              </a:stretch>
            </a:blipFill>
          </p:spPr>
        </p:sp>
      </p:grpSp>
      <p:grpSp>
        <p:nvGrpSpPr>
          <p:cNvPr id="19" name="Group 19"/>
          <p:cNvGrpSpPr/>
          <p:nvPr/>
        </p:nvGrpSpPr>
        <p:grpSpPr>
          <a:xfrm>
            <a:off x="3216250" y="1956492"/>
            <a:ext cx="196453" cy="166087"/>
            <a:chOff x="0" y="0"/>
            <a:chExt cx="261938" cy="221450"/>
          </a:xfrm>
        </p:grpSpPr>
        <p:sp>
          <p:nvSpPr>
            <p:cNvPr id="20" name="Freeform 20" descr="preencoded.png"/>
            <p:cNvSpPr/>
            <p:nvPr/>
          </p:nvSpPr>
          <p:spPr>
            <a:xfrm>
              <a:off x="0" y="0"/>
              <a:ext cx="262001" cy="221488"/>
            </a:xfrm>
            <a:custGeom>
              <a:avLst/>
              <a:gdLst/>
              <a:ahLst/>
              <a:cxnLst/>
              <a:rect l="l" t="t" r="r" b="b"/>
              <a:pathLst>
                <a:path w="262001" h="221488">
                  <a:moveTo>
                    <a:pt x="0" y="0"/>
                  </a:moveTo>
                  <a:lnTo>
                    <a:pt x="262001" y="0"/>
                  </a:lnTo>
                  <a:lnTo>
                    <a:pt x="262001" y="221488"/>
                  </a:lnTo>
                  <a:lnTo>
                    <a:pt x="0" y="221488"/>
                  </a:lnTo>
                  <a:lnTo>
                    <a:pt x="0" y="0"/>
                  </a:lnTo>
                  <a:close/>
                </a:path>
              </a:pathLst>
            </a:custGeom>
            <a:blipFill>
              <a:blip r:embed="rId11"/>
              <a:stretch>
                <a:fillRect t="-40" r="24" b="-28"/>
              </a:stretch>
            </a:blipFill>
          </p:spPr>
        </p:sp>
      </p:grpSp>
      <p:grpSp>
        <p:nvGrpSpPr>
          <p:cNvPr id="21" name="Group 21"/>
          <p:cNvGrpSpPr/>
          <p:nvPr/>
        </p:nvGrpSpPr>
        <p:grpSpPr>
          <a:xfrm>
            <a:off x="4713313" y="1864519"/>
            <a:ext cx="1038749" cy="350044"/>
            <a:chOff x="0" y="0"/>
            <a:chExt cx="1384998" cy="466725"/>
          </a:xfrm>
        </p:grpSpPr>
        <p:sp>
          <p:nvSpPr>
            <p:cNvPr id="22" name="Freeform 22" descr="preencoded.png"/>
            <p:cNvSpPr/>
            <p:nvPr/>
          </p:nvSpPr>
          <p:spPr>
            <a:xfrm>
              <a:off x="0" y="0"/>
              <a:ext cx="1384935" cy="466725"/>
            </a:xfrm>
            <a:custGeom>
              <a:avLst/>
              <a:gdLst/>
              <a:ahLst/>
              <a:cxnLst/>
              <a:rect l="l" t="t" r="r" b="b"/>
              <a:pathLst>
                <a:path w="1384935" h="466725">
                  <a:moveTo>
                    <a:pt x="0" y="0"/>
                  </a:moveTo>
                  <a:lnTo>
                    <a:pt x="1384935" y="0"/>
                  </a:lnTo>
                  <a:lnTo>
                    <a:pt x="1384935" y="466725"/>
                  </a:lnTo>
                  <a:lnTo>
                    <a:pt x="0" y="466725"/>
                  </a:lnTo>
                  <a:lnTo>
                    <a:pt x="0" y="0"/>
                  </a:lnTo>
                  <a:close/>
                </a:path>
              </a:pathLst>
            </a:custGeom>
            <a:blipFill>
              <a:blip r:embed="rId12"/>
              <a:stretch>
                <a:fillRect t="-2130" r="-4" b="-2130"/>
              </a:stretch>
            </a:blipFill>
          </p:spPr>
        </p:sp>
      </p:grpSp>
      <p:grpSp>
        <p:nvGrpSpPr>
          <p:cNvPr id="23" name="Group 23"/>
          <p:cNvGrpSpPr/>
          <p:nvPr/>
        </p:nvGrpSpPr>
        <p:grpSpPr>
          <a:xfrm>
            <a:off x="4884763" y="1956492"/>
            <a:ext cx="196453" cy="166087"/>
            <a:chOff x="0" y="0"/>
            <a:chExt cx="261938" cy="221450"/>
          </a:xfrm>
        </p:grpSpPr>
        <p:sp>
          <p:nvSpPr>
            <p:cNvPr id="24" name="Freeform 24" descr="preencoded.png"/>
            <p:cNvSpPr/>
            <p:nvPr/>
          </p:nvSpPr>
          <p:spPr>
            <a:xfrm>
              <a:off x="0" y="0"/>
              <a:ext cx="262001" cy="221488"/>
            </a:xfrm>
            <a:custGeom>
              <a:avLst/>
              <a:gdLst/>
              <a:ahLst/>
              <a:cxnLst/>
              <a:rect l="l" t="t" r="r" b="b"/>
              <a:pathLst>
                <a:path w="262001" h="221488">
                  <a:moveTo>
                    <a:pt x="0" y="0"/>
                  </a:moveTo>
                  <a:lnTo>
                    <a:pt x="262001" y="0"/>
                  </a:lnTo>
                  <a:lnTo>
                    <a:pt x="262001" y="221488"/>
                  </a:lnTo>
                  <a:lnTo>
                    <a:pt x="0" y="221488"/>
                  </a:lnTo>
                  <a:lnTo>
                    <a:pt x="0" y="0"/>
                  </a:lnTo>
                  <a:close/>
                </a:path>
              </a:pathLst>
            </a:custGeom>
            <a:blipFill>
              <a:blip r:embed="rId13"/>
              <a:stretch>
                <a:fillRect t="-40" r="24" b="-28"/>
              </a:stretch>
            </a:blipFill>
          </p:spPr>
        </p:sp>
      </p:grpSp>
      <p:grpSp>
        <p:nvGrpSpPr>
          <p:cNvPr id="25" name="Group 25"/>
          <p:cNvGrpSpPr/>
          <p:nvPr/>
        </p:nvGrpSpPr>
        <p:grpSpPr>
          <a:xfrm>
            <a:off x="5866362" y="1864519"/>
            <a:ext cx="2181520" cy="350044"/>
            <a:chOff x="0" y="0"/>
            <a:chExt cx="2908694" cy="466725"/>
          </a:xfrm>
        </p:grpSpPr>
        <p:sp>
          <p:nvSpPr>
            <p:cNvPr id="26" name="Freeform 26" descr="preencoded.png"/>
            <p:cNvSpPr/>
            <p:nvPr/>
          </p:nvSpPr>
          <p:spPr>
            <a:xfrm>
              <a:off x="0" y="0"/>
              <a:ext cx="2908681" cy="466725"/>
            </a:xfrm>
            <a:custGeom>
              <a:avLst/>
              <a:gdLst/>
              <a:ahLst/>
              <a:cxnLst/>
              <a:rect l="l" t="t" r="r" b="b"/>
              <a:pathLst>
                <a:path w="2908681" h="466725">
                  <a:moveTo>
                    <a:pt x="0" y="0"/>
                  </a:moveTo>
                  <a:lnTo>
                    <a:pt x="2908681" y="0"/>
                  </a:lnTo>
                  <a:lnTo>
                    <a:pt x="2908681" y="466725"/>
                  </a:lnTo>
                  <a:lnTo>
                    <a:pt x="0" y="466725"/>
                  </a:lnTo>
                  <a:lnTo>
                    <a:pt x="0" y="0"/>
                  </a:lnTo>
                  <a:close/>
                </a:path>
              </a:pathLst>
            </a:custGeom>
            <a:blipFill>
              <a:blip r:embed="rId14"/>
              <a:stretch>
                <a:fillRect t="-2609" b="-2609"/>
              </a:stretch>
            </a:blipFill>
          </p:spPr>
        </p:sp>
      </p:grpSp>
      <p:grpSp>
        <p:nvGrpSpPr>
          <p:cNvPr id="27" name="Group 27"/>
          <p:cNvGrpSpPr/>
          <p:nvPr/>
        </p:nvGrpSpPr>
        <p:grpSpPr>
          <a:xfrm>
            <a:off x="6037812" y="1956492"/>
            <a:ext cx="196453" cy="166087"/>
            <a:chOff x="0" y="0"/>
            <a:chExt cx="261938" cy="221450"/>
          </a:xfrm>
        </p:grpSpPr>
        <p:sp>
          <p:nvSpPr>
            <p:cNvPr id="28" name="Freeform 28" descr="preencoded.png"/>
            <p:cNvSpPr/>
            <p:nvPr/>
          </p:nvSpPr>
          <p:spPr>
            <a:xfrm>
              <a:off x="0" y="0"/>
              <a:ext cx="262001" cy="221488"/>
            </a:xfrm>
            <a:custGeom>
              <a:avLst/>
              <a:gdLst/>
              <a:ahLst/>
              <a:cxnLst/>
              <a:rect l="l" t="t" r="r" b="b"/>
              <a:pathLst>
                <a:path w="262001" h="221488">
                  <a:moveTo>
                    <a:pt x="0" y="0"/>
                  </a:moveTo>
                  <a:lnTo>
                    <a:pt x="262001" y="0"/>
                  </a:lnTo>
                  <a:lnTo>
                    <a:pt x="262001" y="221488"/>
                  </a:lnTo>
                  <a:lnTo>
                    <a:pt x="0" y="221488"/>
                  </a:lnTo>
                  <a:lnTo>
                    <a:pt x="0" y="0"/>
                  </a:lnTo>
                  <a:close/>
                </a:path>
              </a:pathLst>
            </a:custGeom>
            <a:blipFill>
              <a:blip r:embed="rId15"/>
              <a:stretch>
                <a:fillRect t="-40" r="24" b="-28"/>
              </a:stretch>
            </a:blipFill>
          </p:spPr>
        </p:sp>
      </p:grpSp>
      <p:grpSp>
        <p:nvGrpSpPr>
          <p:cNvPr id="29" name="Group 29"/>
          <p:cNvGrpSpPr/>
          <p:nvPr/>
        </p:nvGrpSpPr>
        <p:grpSpPr>
          <a:xfrm>
            <a:off x="571500" y="2528888"/>
            <a:ext cx="8443912" cy="1594399"/>
            <a:chOff x="0" y="0"/>
            <a:chExt cx="11258550" cy="2125866"/>
          </a:xfrm>
        </p:grpSpPr>
        <p:sp>
          <p:nvSpPr>
            <p:cNvPr id="30" name="Freeform 30" descr="preencoded.png"/>
            <p:cNvSpPr/>
            <p:nvPr/>
          </p:nvSpPr>
          <p:spPr>
            <a:xfrm>
              <a:off x="0" y="0"/>
              <a:ext cx="11258550" cy="2125853"/>
            </a:xfrm>
            <a:custGeom>
              <a:avLst/>
              <a:gdLst/>
              <a:ahLst/>
              <a:cxnLst/>
              <a:rect l="l" t="t" r="r" b="b"/>
              <a:pathLst>
                <a:path w="11258550" h="2125853">
                  <a:moveTo>
                    <a:pt x="0" y="0"/>
                  </a:moveTo>
                  <a:lnTo>
                    <a:pt x="11258550" y="0"/>
                  </a:lnTo>
                  <a:lnTo>
                    <a:pt x="11258550" y="2125853"/>
                  </a:lnTo>
                  <a:lnTo>
                    <a:pt x="0" y="2125853"/>
                  </a:lnTo>
                  <a:lnTo>
                    <a:pt x="0" y="0"/>
                  </a:lnTo>
                  <a:close/>
                </a:path>
              </a:pathLst>
            </a:custGeom>
            <a:blipFill>
              <a:blip r:embed="rId16"/>
              <a:stretch>
                <a:fillRect t="-630" b="-630"/>
              </a:stretch>
            </a:blipFill>
          </p:spPr>
        </p:sp>
      </p:grpSp>
      <p:grpSp>
        <p:nvGrpSpPr>
          <p:cNvPr id="31" name="Group 31"/>
          <p:cNvGrpSpPr/>
          <p:nvPr/>
        </p:nvGrpSpPr>
        <p:grpSpPr>
          <a:xfrm>
            <a:off x="800100" y="2714625"/>
            <a:ext cx="457200" cy="457200"/>
            <a:chOff x="0" y="0"/>
            <a:chExt cx="609600" cy="609600"/>
          </a:xfrm>
        </p:grpSpPr>
        <p:sp>
          <p:nvSpPr>
            <p:cNvPr id="32" name="Freeform 32" descr="preencoded.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7"/>
              <a:stretch>
                <a:fillRect/>
              </a:stretch>
            </a:blipFill>
          </p:spPr>
        </p:sp>
      </p:grpSp>
      <p:grpSp>
        <p:nvGrpSpPr>
          <p:cNvPr id="33" name="Group 33"/>
          <p:cNvGrpSpPr/>
          <p:nvPr/>
        </p:nvGrpSpPr>
        <p:grpSpPr>
          <a:xfrm>
            <a:off x="1428750" y="2742533"/>
            <a:ext cx="232172" cy="188643"/>
            <a:chOff x="0" y="0"/>
            <a:chExt cx="309562" cy="251524"/>
          </a:xfrm>
        </p:grpSpPr>
        <p:sp>
          <p:nvSpPr>
            <p:cNvPr id="34" name="Freeform 34"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18"/>
              <a:stretch>
                <a:fillRect r="-20" b="-25"/>
              </a:stretch>
            </a:blipFill>
          </p:spPr>
        </p:sp>
      </p:grpSp>
      <p:grpSp>
        <p:nvGrpSpPr>
          <p:cNvPr id="35" name="Group 35"/>
          <p:cNvGrpSpPr/>
          <p:nvPr/>
        </p:nvGrpSpPr>
        <p:grpSpPr>
          <a:xfrm>
            <a:off x="1428750" y="3616081"/>
            <a:ext cx="7358062" cy="350044"/>
            <a:chOff x="0" y="0"/>
            <a:chExt cx="9810750" cy="466725"/>
          </a:xfrm>
        </p:grpSpPr>
        <p:sp>
          <p:nvSpPr>
            <p:cNvPr id="36" name="Freeform 36" descr="preencoded.png"/>
            <p:cNvSpPr/>
            <p:nvPr/>
          </p:nvSpPr>
          <p:spPr>
            <a:xfrm>
              <a:off x="0" y="0"/>
              <a:ext cx="9810750" cy="466725"/>
            </a:xfrm>
            <a:custGeom>
              <a:avLst/>
              <a:gdLst/>
              <a:ahLst/>
              <a:cxnLst/>
              <a:rect l="l" t="t" r="r" b="b"/>
              <a:pathLst>
                <a:path w="9810750" h="466725">
                  <a:moveTo>
                    <a:pt x="0" y="0"/>
                  </a:moveTo>
                  <a:lnTo>
                    <a:pt x="9810750" y="0"/>
                  </a:lnTo>
                  <a:lnTo>
                    <a:pt x="9810750" y="466725"/>
                  </a:lnTo>
                  <a:lnTo>
                    <a:pt x="0" y="466725"/>
                  </a:lnTo>
                  <a:lnTo>
                    <a:pt x="0" y="0"/>
                  </a:lnTo>
                  <a:close/>
                </a:path>
              </a:pathLst>
            </a:custGeom>
            <a:blipFill>
              <a:blip r:embed="rId19"/>
              <a:stretch>
                <a:fillRect t="-3061" b="-3061"/>
              </a:stretch>
            </a:blipFill>
          </p:spPr>
        </p:sp>
      </p:grpSp>
      <p:grpSp>
        <p:nvGrpSpPr>
          <p:cNvPr id="37" name="Group 37"/>
          <p:cNvGrpSpPr/>
          <p:nvPr/>
        </p:nvGrpSpPr>
        <p:grpSpPr>
          <a:xfrm>
            <a:off x="571500" y="4266162"/>
            <a:ext cx="8443912" cy="1594399"/>
            <a:chOff x="0" y="0"/>
            <a:chExt cx="11258550" cy="2125866"/>
          </a:xfrm>
        </p:grpSpPr>
        <p:sp>
          <p:nvSpPr>
            <p:cNvPr id="38" name="Freeform 38" descr="preencoded.png"/>
            <p:cNvSpPr/>
            <p:nvPr/>
          </p:nvSpPr>
          <p:spPr>
            <a:xfrm>
              <a:off x="0" y="0"/>
              <a:ext cx="11258550" cy="2125853"/>
            </a:xfrm>
            <a:custGeom>
              <a:avLst/>
              <a:gdLst/>
              <a:ahLst/>
              <a:cxnLst/>
              <a:rect l="l" t="t" r="r" b="b"/>
              <a:pathLst>
                <a:path w="11258550" h="2125853">
                  <a:moveTo>
                    <a:pt x="0" y="0"/>
                  </a:moveTo>
                  <a:lnTo>
                    <a:pt x="11258550" y="0"/>
                  </a:lnTo>
                  <a:lnTo>
                    <a:pt x="11258550" y="2125853"/>
                  </a:lnTo>
                  <a:lnTo>
                    <a:pt x="0" y="2125853"/>
                  </a:lnTo>
                  <a:lnTo>
                    <a:pt x="0" y="0"/>
                  </a:lnTo>
                  <a:close/>
                </a:path>
              </a:pathLst>
            </a:custGeom>
            <a:blipFill>
              <a:blip r:embed="rId20"/>
              <a:stretch>
                <a:fillRect t="-630" b="-630"/>
              </a:stretch>
            </a:blipFill>
          </p:spPr>
        </p:sp>
      </p:grpSp>
      <p:grpSp>
        <p:nvGrpSpPr>
          <p:cNvPr id="39" name="Group 39"/>
          <p:cNvGrpSpPr/>
          <p:nvPr/>
        </p:nvGrpSpPr>
        <p:grpSpPr>
          <a:xfrm>
            <a:off x="800100" y="4451899"/>
            <a:ext cx="457200" cy="457200"/>
            <a:chOff x="0" y="0"/>
            <a:chExt cx="609600" cy="609600"/>
          </a:xfrm>
        </p:grpSpPr>
        <p:sp>
          <p:nvSpPr>
            <p:cNvPr id="40" name="Freeform 40" descr="preencoded.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21"/>
              <a:stretch>
                <a:fillRect/>
              </a:stretch>
            </a:blipFill>
          </p:spPr>
        </p:sp>
      </p:grpSp>
      <p:grpSp>
        <p:nvGrpSpPr>
          <p:cNvPr id="41" name="Group 41"/>
          <p:cNvGrpSpPr/>
          <p:nvPr/>
        </p:nvGrpSpPr>
        <p:grpSpPr>
          <a:xfrm>
            <a:off x="1428750" y="4479798"/>
            <a:ext cx="232172" cy="188643"/>
            <a:chOff x="0" y="0"/>
            <a:chExt cx="309562" cy="251524"/>
          </a:xfrm>
        </p:grpSpPr>
        <p:sp>
          <p:nvSpPr>
            <p:cNvPr id="42" name="Freeform 42"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22"/>
              <a:stretch>
                <a:fillRect r="-20" b="-25"/>
              </a:stretch>
            </a:blipFill>
          </p:spPr>
        </p:sp>
      </p:grpSp>
      <p:grpSp>
        <p:nvGrpSpPr>
          <p:cNvPr id="43" name="Group 43"/>
          <p:cNvGrpSpPr/>
          <p:nvPr/>
        </p:nvGrpSpPr>
        <p:grpSpPr>
          <a:xfrm>
            <a:off x="1428750" y="5353345"/>
            <a:ext cx="7358062" cy="350044"/>
            <a:chOff x="0" y="0"/>
            <a:chExt cx="9810750" cy="466725"/>
          </a:xfrm>
        </p:grpSpPr>
        <p:sp>
          <p:nvSpPr>
            <p:cNvPr id="44" name="Freeform 44" descr="preencoded.png"/>
            <p:cNvSpPr/>
            <p:nvPr/>
          </p:nvSpPr>
          <p:spPr>
            <a:xfrm>
              <a:off x="0" y="0"/>
              <a:ext cx="9810750" cy="466725"/>
            </a:xfrm>
            <a:custGeom>
              <a:avLst/>
              <a:gdLst/>
              <a:ahLst/>
              <a:cxnLst/>
              <a:rect l="l" t="t" r="r" b="b"/>
              <a:pathLst>
                <a:path w="9810750" h="466725">
                  <a:moveTo>
                    <a:pt x="0" y="0"/>
                  </a:moveTo>
                  <a:lnTo>
                    <a:pt x="9810750" y="0"/>
                  </a:lnTo>
                  <a:lnTo>
                    <a:pt x="9810750" y="466725"/>
                  </a:lnTo>
                  <a:lnTo>
                    <a:pt x="0" y="466725"/>
                  </a:lnTo>
                  <a:lnTo>
                    <a:pt x="0" y="0"/>
                  </a:lnTo>
                  <a:close/>
                </a:path>
              </a:pathLst>
            </a:custGeom>
            <a:blipFill>
              <a:blip r:embed="rId23"/>
              <a:stretch>
                <a:fillRect t="-3061" b="-3061"/>
              </a:stretch>
            </a:blipFill>
          </p:spPr>
        </p:sp>
      </p:grpSp>
      <p:grpSp>
        <p:nvGrpSpPr>
          <p:cNvPr id="45" name="Group 45"/>
          <p:cNvGrpSpPr/>
          <p:nvPr/>
        </p:nvGrpSpPr>
        <p:grpSpPr>
          <a:xfrm>
            <a:off x="571500" y="6003427"/>
            <a:ext cx="8443912" cy="1437008"/>
            <a:chOff x="0" y="0"/>
            <a:chExt cx="11258550" cy="1916011"/>
          </a:xfrm>
        </p:grpSpPr>
        <p:sp>
          <p:nvSpPr>
            <p:cNvPr id="46" name="Freeform 46" descr="preencoded.png"/>
            <p:cNvSpPr/>
            <p:nvPr/>
          </p:nvSpPr>
          <p:spPr>
            <a:xfrm>
              <a:off x="0" y="0"/>
              <a:ext cx="11258550" cy="1916049"/>
            </a:xfrm>
            <a:custGeom>
              <a:avLst/>
              <a:gdLst/>
              <a:ahLst/>
              <a:cxnLst/>
              <a:rect l="l" t="t" r="r" b="b"/>
              <a:pathLst>
                <a:path w="11258550" h="1916049">
                  <a:moveTo>
                    <a:pt x="0" y="0"/>
                  </a:moveTo>
                  <a:lnTo>
                    <a:pt x="11258550" y="0"/>
                  </a:lnTo>
                  <a:lnTo>
                    <a:pt x="11258550" y="1916049"/>
                  </a:lnTo>
                  <a:lnTo>
                    <a:pt x="0" y="1916049"/>
                  </a:lnTo>
                  <a:lnTo>
                    <a:pt x="0" y="0"/>
                  </a:lnTo>
                  <a:close/>
                </a:path>
              </a:pathLst>
            </a:custGeom>
            <a:blipFill>
              <a:blip r:embed="rId24"/>
              <a:stretch>
                <a:fillRect t="-3689" b="-3687"/>
              </a:stretch>
            </a:blipFill>
          </p:spPr>
        </p:sp>
      </p:grpSp>
      <p:grpSp>
        <p:nvGrpSpPr>
          <p:cNvPr id="47" name="Group 47"/>
          <p:cNvGrpSpPr/>
          <p:nvPr/>
        </p:nvGrpSpPr>
        <p:grpSpPr>
          <a:xfrm>
            <a:off x="800100" y="6189164"/>
            <a:ext cx="457200" cy="457200"/>
            <a:chOff x="0" y="0"/>
            <a:chExt cx="609600" cy="609600"/>
          </a:xfrm>
        </p:grpSpPr>
        <p:sp>
          <p:nvSpPr>
            <p:cNvPr id="48" name="Freeform 48" descr="preencoded.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17"/>
              <a:stretch>
                <a:fillRect/>
              </a:stretch>
            </a:blipFill>
          </p:spPr>
        </p:sp>
      </p:grpSp>
      <p:grpSp>
        <p:nvGrpSpPr>
          <p:cNvPr id="49" name="Group 49"/>
          <p:cNvGrpSpPr/>
          <p:nvPr/>
        </p:nvGrpSpPr>
        <p:grpSpPr>
          <a:xfrm>
            <a:off x="1428750" y="6217072"/>
            <a:ext cx="232172" cy="188643"/>
            <a:chOff x="0" y="0"/>
            <a:chExt cx="309562" cy="251524"/>
          </a:xfrm>
        </p:grpSpPr>
        <p:sp>
          <p:nvSpPr>
            <p:cNvPr id="50" name="Freeform 50"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25"/>
              <a:stretch>
                <a:fillRect r="-20" b="-25"/>
              </a:stretch>
            </a:blipFill>
          </p:spPr>
        </p:sp>
      </p:grpSp>
      <p:grpSp>
        <p:nvGrpSpPr>
          <p:cNvPr id="51" name="Group 51"/>
          <p:cNvGrpSpPr/>
          <p:nvPr/>
        </p:nvGrpSpPr>
        <p:grpSpPr>
          <a:xfrm>
            <a:off x="9272588" y="1300162"/>
            <a:ext cx="8443912" cy="2781376"/>
            <a:chOff x="0" y="0"/>
            <a:chExt cx="11258550" cy="3708502"/>
          </a:xfrm>
        </p:grpSpPr>
        <p:sp>
          <p:nvSpPr>
            <p:cNvPr id="52" name="Freeform 52" descr="preencoded.png"/>
            <p:cNvSpPr/>
            <p:nvPr/>
          </p:nvSpPr>
          <p:spPr>
            <a:xfrm>
              <a:off x="0" y="0"/>
              <a:ext cx="11258550" cy="3708527"/>
            </a:xfrm>
            <a:custGeom>
              <a:avLst/>
              <a:gdLst/>
              <a:ahLst/>
              <a:cxnLst/>
              <a:rect l="l" t="t" r="r" b="b"/>
              <a:pathLst>
                <a:path w="11258550" h="3708527">
                  <a:moveTo>
                    <a:pt x="0" y="0"/>
                  </a:moveTo>
                  <a:lnTo>
                    <a:pt x="11258550" y="0"/>
                  </a:lnTo>
                  <a:lnTo>
                    <a:pt x="11258550" y="3708527"/>
                  </a:lnTo>
                  <a:lnTo>
                    <a:pt x="0" y="3708527"/>
                  </a:lnTo>
                  <a:lnTo>
                    <a:pt x="0" y="0"/>
                  </a:lnTo>
                  <a:close/>
                </a:path>
              </a:pathLst>
            </a:custGeom>
            <a:blipFill>
              <a:blip r:embed="rId26"/>
              <a:stretch>
                <a:fillRect t="-341" b="-340"/>
              </a:stretch>
            </a:blipFill>
          </p:spPr>
        </p:sp>
      </p:grpSp>
      <p:grpSp>
        <p:nvGrpSpPr>
          <p:cNvPr id="53" name="Group 53"/>
          <p:cNvGrpSpPr/>
          <p:nvPr/>
        </p:nvGrpSpPr>
        <p:grpSpPr>
          <a:xfrm>
            <a:off x="9501188" y="1430760"/>
            <a:ext cx="232172" cy="188643"/>
            <a:chOff x="0" y="0"/>
            <a:chExt cx="309562" cy="251524"/>
          </a:xfrm>
        </p:grpSpPr>
        <p:sp>
          <p:nvSpPr>
            <p:cNvPr id="54" name="Freeform 54"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27"/>
              <a:stretch>
                <a:fillRect r="-20" b="-25"/>
              </a:stretch>
            </a:blipFill>
          </p:spPr>
        </p:sp>
      </p:grpSp>
      <p:grpSp>
        <p:nvGrpSpPr>
          <p:cNvPr id="55" name="Group 55"/>
          <p:cNvGrpSpPr/>
          <p:nvPr/>
        </p:nvGrpSpPr>
        <p:grpSpPr>
          <a:xfrm>
            <a:off x="9501188" y="1721644"/>
            <a:ext cx="7986712" cy="2274170"/>
            <a:chOff x="0" y="0"/>
            <a:chExt cx="10648950" cy="3032227"/>
          </a:xfrm>
        </p:grpSpPr>
        <p:sp>
          <p:nvSpPr>
            <p:cNvPr id="56" name="Freeform 56" descr="preencoded.png"/>
            <p:cNvSpPr/>
            <p:nvPr/>
          </p:nvSpPr>
          <p:spPr>
            <a:xfrm>
              <a:off x="0" y="0"/>
              <a:ext cx="10648950" cy="3032252"/>
            </a:xfrm>
            <a:custGeom>
              <a:avLst/>
              <a:gdLst/>
              <a:ahLst/>
              <a:cxnLst/>
              <a:rect l="l" t="t" r="r" b="b"/>
              <a:pathLst>
                <a:path w="10648950" h="3032252">
                  <a:moveTo>
                    <a:pt x="0" y="0"/>
                  </a:moveTo>
                  <a:lnTo>
                    <a:pt x="10648950" y="0"/>
                  </a:lnTo>
                  <a:lnTo>
                    <a:pt x="10648950" y="3032252"/>
                  </a:lnTo>
                  <a:lnTo>
                    <a:pt x="0" y="3032252"/>
                  </a:lnTo>
                  <a:lnTo>
                    <a:pt x="0" y="0"/>
                  </a:lnTo>
                  <a:close/>
                </a:path>
              </a:pathLst>
            </a:custGeom>
            <a:blipFill>
              <a:blip r:embed="rId28"/>
              <a:stretch>
                <a:fillRect t="-574" b="-573"/>
              </a:stretch>
            </a:blipFill>
          </p:spPr>
        </p:sp>
      </p:grpSp>
      <p:grpSp>
        <p:nvGrpSpPr>
          <p:cNvPr id="57" name="Group 57"/>
          <p:cNvGrpSpPr/>
          <p:nvPr/>
        </p:nvGrpSpPr>
        <p:grpSpPr>
          <a:xfrm>
            <a:off x="9272588" y="4152976"/>
            <a:ext cx="8443912" cy="1830143"/>
            <a:chOff x="0" y="0"/>
            <a:chExt cx="11258550" cy="2440191"/>
          </a:xfrm>
        </p:grpSpPr>
        <p:sp>
          <p:nvSpPr>
            <p:cNvPr id="58" name="Freeform 58" descr="preencoded.png"/>
            <p:cNvSpPr/>
            <p:nvPr/>
          </p:nvSpPr>
          <p:spPr>
            <a:xfrm>
              <a:off x="0" y="0"/>
              <a:ext cx="11258550" cy="2440178"/>
            </a:xfrm>
            <a:custGeom>
              <a:avLst/>
              <a:gdLst/>
              <a:ahLst/>
              <a:cxnLst/>
              <a:rect l="l" t="t" r="r" b="b"/>
              <a:pathLst>
                <a:path w="11258550" h="2440178">
                  <a:moveTo>
                    <a:pt x="0" y="0"/>
                  </a:moveTo>
                  <a:lnTo>
                    <a:pt x="11258550" y="0"/>
                  </a:lnTo>
                  <a:lnTo>
                    <a:pt x="11258550" y="2440178"/>
                  </a:lnTo>
                  <a:lnTo>
                    <a:pt x="0" y="2440178"/>
                  </a:lnTo>
                  <a:lnTo>
                    <a:pt x="0" y="0"/>
                  </a:lnTo>
                  <a:close/>
                </a:path>
              </a:pathLst>
            </a:custGeom>
            <a:blipFill>
              <a:blip r:embed="rId29"/>
              <a:stretch>
                <a:fillRect t="-744" b="-744"/>
              </a:stretch>
            </a:blipFill>
          </p:spPr>
        </p:sp>
      </p:grpSp>
      <p:grpSp>
        <p:nvGrpSpPr>
          <p:cNvPr id="59" name="Group 59"/>
          <p:cNvGrpSpPr/>
          <p:nvPr/>
        </p:nvGrpSpPr>
        <p:grpSpPr>
          <a:xfrm>
            <a:off x="9501188" y="4338714"/>
            <a:ext cx="457200" cy="457200"/>
            <a:chOff x="0" y="0"/>
            <a:chExt cx="609600" cy="609600"/>
          </a:xfrm>
        </p:grpSpPr>
        <p:sp>
          <p:nvSpPr>
            <p:cNvPr id="60" name="Freeform 60" descr="preencoded.png"/>
            <p:cNvSpPr/>
            <p:nvPr/>
          </p:nvSpPr>
          <p:spPr>
            <a:xfrm>
              <a:off x="0" y="0"/>
              <a:ext cx="609600" cy="609600"/>
            </a:xfrm>
            <a:custGeom>
              <a:avLst/>
              <a:gdLst/>
              <a:ahLst/>
              <a:cxnLst/>
              <a:rect l="l" t="t" r="r" b="b"/>
              <a:pathLst>
                <a:path w="609600" h="609600">
                  <a:moveTo>
                    <a:pt x="0" y="0"/>
                  </a:moveTo>
                  <a:lnTo>
                    <a:pt x="609600" y="0"/>
                  </a:lnTo>
                  <a:lnTo>
                    <a:pt x="609600" y="609600"/>
                  </a:lnTo>
                  <a:lnTo>
                    <a:pt x="0" y="609600"/>
                  </a:lnTo>
                  <a:lnTo>
                    <a:pt x="0" y="0"/>
                  </a:lnTo>
                  <a:close/>
                </a:path>
              </a:pathLst>
            </a:custGeom>
            <a:blipFill>
              <a:blip r:embed="rId21"/>
              <a:stretch>
                <a:fillRect/>
              </a:stretch>
            </a:blipFill>
          </p:spPr>
        </p:sp>
      </p:grpSp>
      <p:grpSp>
        <p:nvGrpSpPr>
          <p:cNvPr id="61" name="Group 61"/>
          <p:cNvGrpSpPr/>
          <p:nvPr/>
        </p:nvGrpSpPr>
        <p:grpSpPr>
          <a:xfrm>
            <a:off x="10129838" y="4366612"/>
            <a:ext cx="232172" cy="188643"/>
            <a:chOff x="0" y="0"/>
            <a:chExt cx="309562" cy="251524"/>
          </a:xfrm>
        </p:grpSpPr>
        <p:sp>
          <p:nvSpPr>
            <p:cNvPr id="62" name="Freeform 62"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30"/>
              <a:stretch>
                <a:fillRect r="-20" b="-25"/>
              </a:stretch>
            </a:blipFill>
          </p:spPr>
        </p:sp>
      </p:grpSp>
      <p:grpSp>
        <p:nvGrpSpPr>
          <p:cNvPr id="63" name="Group 63"/>
          <p:cNvGrpSpPr/>
          <p:nvPr/>
        </p:nvGrpSpPr>
        <p:grpSpPr>
          <a:xfrm>
            <a:off x="10129838" y="5240169"/>
            <a:ext cx="7358062" cy="585788"/>
            <a:chOff x="0" y="0"/>
            <a:chExt cx="9810750" cy="781050"/>
          </a:xfrm>
        </p:grpSpPr>
        <p:sp>
          <p:nvSpPr>
            <p:cNvPr id="64" name="Freeform 64" descr="preencoded.png"/>
            <p:cNvSpPr/>
            <p:nvPr/>
          </p:nvSpPr>
          <p:spPr>
            <a:xfrm>
              <a:off x="0" y="0"/>
              <a:ext cx="9810750" cy="781050"/>
            </a:xfrm>
            <a:custGeom>
              <a:avLst/>
              <a:gdLst/>
              <a:ahLst/>
              <a:cxnLst/>
              <a:rect l="l" t="t" r="r" b="b"/>
              <a:pathLst>
                <a:path w="9810750" h="781050">
                  <a:moveTo>
                    <a:pt x="0" y="0"/>
                  </a:moveTo>
                  <a:lnTo>
                    <a:pt x="9810750" y="0"/>
                  </a:lnTo>
                  <a:lnTo>
                    <a:pt x="9810750" y="781050"/>
                  </a:lnTo>
                  <a:lnTo>
                    <a:pt x="0" y="781050"/>
                  </a:lnTo>
                  <a:lnTo>
                    <a:pt x="0" y="0"/>
                  </a:lnTo>
                  <a:close/>
                </a:path>
              </a:pathLst>
            </a:custGeom>
            <a:blipFill>
              <a:blip r:embed="rId31"/>
              <a:stretch>
                <a:fillRect t="-2439" b="-2439"/>
              </a:stretch>
            </a:blipFill>
          </p:spPr>
        </p:sp>
      </p:grpSp>
      <p:grpSp>
        <p:nvGrpSpPr>
          <p:cNvPr id="65" name="Group 65"/>
          <p:cNvGrpSpPr/>
          <p:nvPr/>
        </p:nvGrpSpPr>
        <p:grpSpPr>
          <a:xfrm>
            <a:off x="9272588" y="6054557"/>
            <a:ext cx="8443912" cy="1385888"/>
            <a:chOff x="0" y="0"/>
            <a:chExt cx="11258550" cy="1847850"/>
          </a:xfrm>
        </p:grpSpPr>
        <p:sp>
          <p:nvSpPr>
            <p:cNvPr id="66" name="Freeform 66" descr="preencoded.png"/>
            <p:cNvSpPr/>
            <p:nvPr/>
          </p:nvSpPr>
          <p:spPr>
            <a:xfrm>
              <a:off x="0" y="0"/>
              <a:ext cx="11258550" cy="1847850"/>
            </a:xfrm>
            <a:custGeom>
              <a:avLst/>
              <a:gdLst/>
              <a:ahLst/>
              <a:cxnLst/>
              <a:rect l="l" t="t" r="r" b="b"/>
              <a:pathLst>
                <a:path w="11258550" h="1847850">
                  <a:moveTo>
                    <a:pt x="0" y="0"/>
                  </a:moveTo>
                  <a:lnTo>
                    <a:pt x="11258550" y="0"/>
                  </a:lnTo>
                  <a:lnTo>
                    <a:pt x="11258550" y="1847850"/>
                  </a:lnTo>
                  <a:lnTo>
                    <a:pt x="0" y="1847850"/>
                  </a:lnTo>
                  <a:lnTo>
                    <a:pt x="0" y="0"/>
                  </a:lnTo>
                  <a:close/>
                </a:path>
              </a:pathLst>
            </a:custGeom>
            <a:blipFill>
              <a:blip r:embed="rId32"/>
              <a:stretch>
                <a:fillRect t="-2061" b="-2061"/>
              </a:stretch>
            </a:blipFill>
          </p:spPr>
        </p:sp>
      </p:grpSp>
      <p:grpSp>
        <p:nvGrpSpPr>
          <p:cNvPr id="67" name="Group 67"/>
          <p:cNvGrpSpPr/>
          <p:nvPr/>
        </p:nvGrpSpPr>
        <p:grpSpPr>
          <a:xfrm>
            <a:off x="9529762" y="6199432"/>
            <a:ext cx="232172" cy="188643"/>
            <a:chOff x="0" y="0"/>
            <a:chExt cx="309562" cy="251524"/>
          </a:xfrm>
        </p:grpSpPr>
        <p:sp>
          <p:nvSpPr>
            <p:cNvPr id="68" name="Freeform 68"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33"/>
              <a:stretch>
                <a:fillRect r="-20" b="-25"/>
              </a:stretch>
            </a:blipFill>
          </p:spPr>
        </p:sp>
      </p:grpSp>
      <p:grpSp>
        <p:nvGrpSpPr>
          <p:cNvPr id="69" name="Group 69"/>
          <p:cNvGrpSpPr/>
          <p:nvPr/>
        </p:nvGrpSpPr>
        <p:grpSpPr>
          <a:xfrm>
            <a:off x="9529762" y="6504603"/>
            <a:ext cx="1853803" cy="835819"/>
            <a:chOff x="0" y="0"/>
            <a:chExt cx="2471738" cy="1114425"/>
          </a:xfrm>
        </p:grpSpPr>
        <p:sp>
          <p:nvSpPr>
            <p:cNvPr id="70" name="Freeform 70" descr="preencoded.png"/>
            <p:cNvSpPr/>
            <p:nvPr/>
          </p:nvSpPr>
          <p:spPr>
            <a:xfrm>
              <a:off x="0" y="0"/>
              <a:ext cx="2471801" cy="1114425"/>
            </a:xfrm>
            <a:custGeom>
              <a:avLst/>
              <a:gdLst/>
              <a:ahLst/>
              <a:cxnLst/>
              <a:rect l="l" t="t" r="r" b="b"/>
              <a:pathLst>
                <a:path w="2471801" h="1114425">
                  <a:moveTo>
                    <a:pt x="0" y="0"/>
                  </a:moveTo>
                  <a:lnTo>
                    <a:pt x="2471801" y="0"/>
                  </a:lnTo>
                  <a:lnTo>
                    <a:pt x="2471801" y="1114425"/>
                  </a:lnTo>
                  <a:lnTo>
                    <a:pt x="0" y="1114425"/>
                  </a:lnTo>
                  <a:lnTo>
                    <a:pt x="0" y="0"/>
                  </a:lnTo>
                  <a:close/>
                </a:path>
              </a:pathLst>
            </a:custGeom>
            <a:blipFill>
              <a:blip r:embed="rId34"/>
              <a:stretch>
                <a:fillRect l="-139" r="-136"/>
              </a:stretch>
            </a:blipFill>
          </p:spPr>
        </p:sp>
      </p:grpSp>
      <p:grpSp>
        <p:nvGrpSpPr>
          <p:cNvPr id="71" name="Group 71"/>
          <p:cNvGrpSpPr/>
          <p:nvPr/>
        </p:nvGrpSpPr>
        <p:grpSpPr>
          <a:xfrm>
            <a:off x="11555016" y="6504603"/>
            <a:ext cx="1853803" cy="835819"/>
            <a:chOff x="0" y="0"/>
            <a:chExt cx="2471738" cy="1114425"/>
          </a:xfrm>
        </p:grpSpPr>
        <p:sp>
          <p:nvSpPr>
            <p:cNvPr id="72" name="Freeform 72" descr="preencoded.png"/>
            <p:cNvSpPr/>
            <p:nvPr/>
          </p:nvSpPr>
          <p:spPr>
            <a:xfrm>
              <a:off x="0" y="0"/>
              <a:ext cx="2471801" cy="1114425"/>
            </a:xfrm>
            <a:custGeom>
              <a:avLst/>
              <a:gdLst/>
              <a:ahLst/>
              <a:cxnLst/>
              <a:rect l="l" t="t" r="r" b="b"/>
              <a:pathLst>
                <a:path w="2471801" h="1114425">
                  <a:moveTo>
                    <a:pt x="0" y="0"/>
                  </a:moveTo>
                  <a:lnTo>
                    <a:pt x="2471801" y="0"/>
                  </a:lnTo>
                  <a:lnTo>
                    <a:pt x="2471801" y="1114425"/>
                  </a:lnTo>
                  <a:lnTo>
                    <a:pt x="0" y="1114425"/>
                  </a:lnTo>
                  <a:lnTo>
                    <a:pt x="0" y="0"/>
                  </a:lnTo>
                  <a:close/>
                </a:path>
              </a:pathLst>
            </a:custGeom>
            <a:blipFill>
              <a:blip r:embed="rId34"/>
              <a:stretch>
                <a:fillRect l="-139" r="-136"/>
              </a:stretch>
            </a:blipFill>
          </p:spPr>
        </p:sp>
      </p:grpSp>
      <p:grpSp>
        <p:nvGrpSpPr>
          <p:cNvPr id="73" name="Group 73"/>
          <p:cNvGrpSpPr/>
          <p:nvPr/>
        </p:nvGrpSpPr>
        <p:grpSpPr>
          <a:xfrm>
            <a:off x="13580269" y="6504603"/>
            <a:ext cx="1853803" cy="835819"/>
            <a:chOff x="0" y="0"/>
            <a:chExt cx="2471738" cy="1114425"/>
          </a:xfrm>
        </p:grpSpPr>
        <p:sp>
          <p:nvSpPr>
            <p:cNvPr id="74" name="Freeform 74" descr="preencoded.png"/>
            <p:cNvSpPr/>
            <p:nvPr/>
          </p:nvSpPr>
          <p:spPr>
            <a:xfrm>
              <a:off x="0" y="0"/>
              <a:ext cx="2471801" cy="1114425"/>
            </a:xfrm>
            <a:custGeom>
              <a:avLst/>
              <a:gdLst/>
              <a:ahLst/>
              <a:cxnLst/>
              <a:rect l="l" t="t" r="r" b="b"/>
              <a:pathLst>
                <a:path w="2471801" h="1114425">
                  <a:moveTo>
                    <a:pt x="0" y="0"/>
                  </a:moveTo>
                  <a:lnTo>
                    <a:pt x="2471801" y="0"/>
                  </a:lnTo>
                  <a:lnTo>
                    <a:pt x="2471801" y="1114425"/>
                  </a:lnTo>
                  <a:lnTo>
                    <a:pt x="0" y="1114425"/>
                  </a:lnTo>
                  <a:lnTo>
                    <a:pt x="0" y="0"/>
                  </a:lnTo>
                  <a:close/>
                </a:path>
              </a:pathLst>
            </a:custGeom>
            <a:blipFill>
              <a:blip r:embed="rId35"/>
              <a:stretch>
                <a:fillRect l="-139" r="-136"/>
              </a:stretch>
            </a:blipFill>
          </p:spPr>
        </p:sp>
      </p:grpSp>
      <p:grpSp>
        <p:nvGrpSpPr>
          <p:cNvPr id="75" name="Group 75"/>
          <p:cNvGrpSpPr/>
          <p:nvPr/>
        </p:nvGrpSpPr>
        <p:grpSpPr>
          <a:xfrm>
            <a:off x="15605522" y="6504603"/>
            <a:ext cx="1853803" cy="835819"/>
            <a:chOff x="0" y="0"/>
            <a:chExt cx="2471738" cy="1114425"/>
          </a:xfrm>
        </p:grpSpPr>
        <p:sp>
          <p:nvSpPr>
            <p:cNvPr id="76" name="Freeform 76" descr="preencoded.png"/>
            <p:cNvSpPr/>
            <p:nvPr/>
          </p:nvSpPr>
          <p:spPr>
            <a:xfrm>
              <a:off x="0" y="0"/>
              <a:ext cx="2471801" cy="1114425"/>
            </a:xfrm>
            <a:custGeom>
              <a:avLst/>
              <a:gdLst/>
              <a:ahLst/>
              <a:cxnLst/>
              <a:rect l="l" t="t" r="r" b="b"/>
              <a:pathLst>
                <a:path w="2471801" h="1114425">
                  <a:moveTo>
                    <a:pt x="0" y="0"/>
                  </a:moveTo>
                  <a:lnTo>
                    <a:pt x="2471801" y="0"/>
                  </a:lnTo>
                  <a:lnTo>
                    <a:pt x="2471801" y="1114425"/>
                  </a:lnTo>
                  <a:lnTo>
                    <a:pt x="0" y="1114425"/>
                  </a:lnTo>
                  <a:lnTo>
                    <a:pt x="0" y="0"/>
                  </a:lnTo>
                  <a:close/>
                </a:path>
              </a:pathLst>
            </a:custGeom>
            <a:blipFill>
              <a:blip r:embed="rId36"/>
              <a:stretch>
                <a:fillRect l="-139" r="-136"/>
              </a:stretch>
            </a:blipFill>
          </p:spPr>
        </p:sp>
      </p:grpSp>
      <p:grpSp>
        <p:nvGrpSpPr>
          <p:cNvPr id="77" name="Group 77"/>
          <p:cNvGrpSpPr/>
          <p:nvPr/>
        </p:nvGrpSpPr>
        <p:grpSpPr>
          <a:xfrm>
            <a:off x="1000125" y="242888"/>
            <a:ext cx="16287750" cy="514350"/>
            <a:chOff x="0" y="0"/>
            <a:chExt cx="21717000" cy="685800"/>
          </a:xfrm>
        </p:grpSpPr>
        <p:sp>
          <p:nvSpPr>
            <p:cNvPr id="78" name="Freeform 78"/>
            <p:cNvSpPr/>
            <p:nvPr/>
          </p:nvSpPr>
          <p:spPr>
            <a:xfrm>
              <a:off x="0" y="0"/>
              <a:ext cx="21717000" cy="685800"/>
            </a:xfrm>
            <a:custGeom>
              <a:avLst/>
              <a:gdLst/>
              <a:ahLst/>
              <a:cxnLst/>
              <a:rect l="l" t="t" r="r" b="b"/>
              <a:pathLst>
                <a:path w="21717000" h="685800">
                  <a:moveTo>
                    <a:pt x="0" y="0"/>
                  </a:moveTo>
                  <a:lnTo>
                    <a:pt x="21717000" y="0"/>
                  </a:lnTo>
                  <a:lnTo>
                    <a:pt x="21717000" y="685800"/>
                  </a:lnTo>
                  <a:lnTo>
                    <a:pt x="0" y="685800"/>
                  </a:lnTo>
                  <a:close/>
                </a:path>
              </a:pathLst>
            </a:custGeom>
            <a:blipFill>
              <a:blip r:embed="rId37">
                <a:alphaModFix amt="0"/>
              </a:blip>
              <a:stretch>
                <a:fillRect t="-567026" b="-567026"/>
              </a:stretch>
            </a:blipFill>
          </p:spPr>
        </p:sp>
        <p:sp>
          <p:nvSpPr>
            <p:cNvPr id="79" name="TextBox 79"/>
            <p:cNvSpPr txBox="1"/>
            <p:nvPr/>
          </p:nvSpPr>
          <p:spPr>
            <a:xfrm>
              <a:off x="0" y="-133350"/>
              <a:ext cx="217170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QUY TRÌNH SETUP VÀ NẠP DỮ LIỆU VÀO HDFS</a:t>
              </a:r>
            </a:p>
          </p:txBody>
        </p:sp>
      </p:grpSp>
      <p:grpSp>
        <p:nvGrpSpPr>
          <p:cNvPr id="80" name="Group 80"/>
          <p:cNvGrpSpPr/>
          <p:nvPr/>
        </p:nvGrpSpPr>
        <p:grpSpPr>
          <a:xfrm>
            <a:off x="1000125" y="785812"/>
            <a:ext cx="17287875" cy="300038"/>
            <a:chOff x="0" y="0"/>
            <a:chExt cx="23050500" cy="400050"/>
          </a:xfrm>
        </p:grpSpPr>
        <p:sp>
          <p:nvSpPr>
            <p:cNvPr id="81" name="Freeform 81"/>
            <p:cNvSpPr/>
            <p:nvPr/>
          </p:nvSpPr>
          <p:spPr>
            <a:xfrm>
              <a:off x="0" y="0"/>
              <a:ext cx="23050500" cy="400050"/>
            </a:xfrm>
            <a:custGeom>
              <a:avLst/>
              <a:gdLst/>
              <a:ahLst/>
              <a:cxnLst/>
              <a:rect l="l" t="t" r="r" b="b"/>
              <a:pathLst>
                <a:path w="23050500" h="400050">
                  <a:moveTo>
                    <a:pt x="0" y="0"/>
                  </a:moveTo>
                  <a:lnTo>
                    <a:pt x="23050500" y="0"/>
                  </a:lnTo>
                  <a:lnTo>
                    <a:pt x="23050500" y="400050"/>
                  </a:lnTo>
                  <a:lnTo>
                    <a:pt x="0" y="400050"/>
                  </a:lnTo>
                  <a:close/>
                </a:path>
              </a:pathLst>
            </a:custGeom>
            <a:blipFill>
              <a:blip r:embed="rId37">
                <a:alphaModFix amt="0"/>
              </a:blip>
              <a:stretch>
                <a:fillRect t="-1072709" b="-1072709"/>
              </a:stretch>
            </a:blipFill>
          </p:spPr>
        </p:sp>
        <p:sp>
          <p:nvSpPr>
            <p:cNvPr id="82" name="TextBox 82"/>
            <p:cNvSpPr txBox="1"/>
            <p:nvPr/>
          </p:nvSpPr>
          <p:spPr>
            <a:xfrm>
              <a:off x="0" y="-66675"/>
              <a:ext cx="230505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Triển khai trên môi trường Cloudera QuickStart — Upload CSV → HDFS → Apache Hive</a:t>
              </a:r>
            </a:p>
          </p:txBody>
        </p:sp>
      </p:grpSp>
      <p:grpSp>
        <p:nvGrpSpPr>
          <p:cNvPr id="83" name="Group 83"/>
          <p:cNvGrpSpPr/>
          <p:nvPr/>
        </p:nvGrpSpPr>
        <p:grpSpPr>
          <a:xfrm>
            <a:off x="1146572" y="1471612"/>
            <a:ext cx="7986712" cy="278606"/>
            <a:chOff x="0" y="0"/>
            <a:chExt cx="10648950" cy="371475"/>
          </a:xfrm>
        </p:grpSpPr>
        <p:sp>
          <p:nvSpPr>
            <p:cNvPr id="84" name="Freeform 84"/>
            <p:cNvSpPr/>
            <p:nvPr/>
          </p:nvSpPr>
          <p:spPr>
            <a:xfrm>
              <a:off x="0" y="0"/>
              <a:ext cx="10648950" cy="371476"/>
            </a:xfrm>
            <a:custGeom>
              <a:avLst/>
              <a:gdLst/>
              <a:ahLst/>
              <a:cxnLst/>
              <a:rect l="l" t="t" r="r" b="b"/>
              <a:pathLst>
                <a:path w="10648950" h="371476">
                  <a:moveTo>
                    <a:pt x="0" y="0"/>
                  </a:moveTo>
                  <a:lnTo>
                    <a:pt x="10648950" y="0"/>
                  </a:lnTo>
                  <a:lnTo>
                    <a:pt x="10648950" y="371476"/>
                  </a:lnTo>
                  <a:lnTo>
                    <a:pt x="0" y="371476"/>
                  </a:lnTo>
                  <a:close/>
                </a:path>
              </a:pathLst>
            </a:custGeom>
            <a:blipFill>
              <a:blip r:embed="rId37">
                <a:alphaModFix amt="0"/>
              </a:blip>
              <a:stretch>
                <a:fillRect t="-508569" b="-508569"/>
              </a:stretch>
            </a:blipFill>
          </p:spPr>
        </p:sp>
        <p:sp>
          <p:nvSpPr>
            <p:cNvPr id="85" name="TextBox 85"/>
            <p:cNvSpPr txBox="1"/>
            <p:nvPr/>
          </p:nvSpPr>
          <p:spPr>
            <a:xfrm>
              <a:off x="0" y="-66675"/>
              <a:ext cx="10648950" cy="438150"/>
            </a:xfrm>
            <a:prstGeom prst="rect">
              <a:avLst/>
            </a:prstGeom>
          </p:spPr>
          <p:txBody>
            <a:bodyPr lIns="0" tIns="0" rIns="0" bIns="0" rtlCol="0" anchor="ctr"/>
            <a:lstStyle/>
            <a:p>
              <a:pPr algn="l">
                <a:lnSpc>
                  <a:spcPts val="2194"/>
                </a:lnSpc>
              </a:pPr>
              <a:r>
                <a:rPr lang="en-US" sz="1462" b="1">
                  <a:solidFill>
                    <a:srgbClr val="2C3E50"/>
                  </a:solidFill>
                  <a:latin typeface="Calibri (MS) Bold"/>
                  <a:ea typeface="Calibri (MS) Bold"/>
                  <a:cs typeface="Calibri (MS) Bold"/>
                  <a:sym typeface="Calibri (MS) Bold"/>
                </a:rPr>
                <a:t>Môi trường triển khai</a:t>
              </a:r>
            </a:p>
          </p:txBody>
        </p:sp>
      </p:grpSp>
      <p:grpSp>
        <p:nvGrpSpPr>
          <p:cNvPr id="86" name="Group 86"/>
          <p:cNvGrpSpPr/>
          <p:nvPr/>
        </p:nvGrpSpPr>
        <p:grpSpPr>
          <a:xfrm>
            <a:off x="1239441" y="1864519"/>
            <a:ext cx="3006557" cy="350044"/>
            <a:chOff x="0" y="0"/>
            <a:chExt cx="4008742" cy="466725"/>
          </a:xfrm>
        </p:grpSpPr>
        <p:sp>
          <p:nvSpPr>
            <p:cNvPr id="87" name="Freeform 87"/>
            <p:cNvSpPr/>
            <p:nvPr/>
          </p:nvSpPr>
          <p:spPr>
            <a:xfrm>
              <a:off x="0" y="0"/>
              <a:ext cx="4008736" cy="466724"/>
            </a:xfrm>
            <a:custGeom>
              <a:avLst/>
              <a:gdLst/>
              <a:ahLst/>
              <a:cxnLst/>
              <a:rect l="l" t="t" r="r" b="b"/>
              <a:pathLst>
                <a:path w="4008736" h="466724">
                  <a:moveTo>
                    <a:pt x="0" y="0"/>
                  </a:moveTo>
                  <a:lnTo>
                    <a:pt x="4008736" y="0"/>
                  </a:lnTo>
                  <a:lnTo>
                    <a:pt x="4008736" y="466724"/>
                  </a:lnTo>
                  <a:lnTo>
                    <a:pt x="0" y="466724"/>
                  </a:lnTo>
                  <a:close/>
                </a:path>
              </a:pathLst>
            </a:custGeom>
            <a:blipFill>
              <a:blip r:embed="rId37">
                <a:alphaModFix amt="0"/>
              </a:blip>
              <a:stretch>
                <a:fillRect t="-117358" b="-117359"/>
              </a:stretch>
            </a:blipFill>
          </p:spPr>
        </p:sp>
        <p:sp>
          <p:nvSpPr>
            <p:cNvPr id="88" name="TextBox 88"/>
            <p:cNvSpPr txBox="1"/>
            <p:nvPr/>
          </p:nvSpPr>
          <p:spPr>
            <a:xfrm>
              <a:off x="0" y="-57150"/>
              <a:ext cx="4008742" cy="523875"/>
            </a:xfrm>
            <a:prstGeom prst="rect">
              <a:avLst/>
            </a:prstGeom>
          </p:spPr>
          <p:txBody>
            <a:bodyPr lIns="0" tIns="0" rIns="0" bIns="0" rtlCol="0" anchor="ctr"/>
            <a:lstStyle/>
            <a:p>
              <a:pPr algn="l">
                <a:lnSpc>
                  <a:spcPts val="1857"/>
                </a:lnSpc>
              </a:pPr>
              <a:r>
                <a:rPr lang="en-US" sz="1237" b="1">
                  <a:solidFill>
                    <a:srgbClr val="007ACC"/>
                  </a:solidFill>
                  <a:latin typeface="Calibri (MS) Bold"/>
                  <a:ea typeface="Calibri (MS) Bold"/>
                  <a:cs typeface="Calibri (MS) Bold"/>
                  <a:sym typeface="Calibri (MS) Bold"/>
                </a:rPr>
                <a:t>Cloudera QuickStart</a:t>
              </a:r>
            </a:p>
          </p:txBody>
        </p:sp>
      </p:grpSp>
      <p:grpSp>
        <p:nvGrpSpPr>
          <p:cNvPr id="89" name="Group 89"/>
          <p:cNvGrpSpPr/>
          <p:nvPr/>
        </p:nvGrpSpPr>
        <p:grpSpPr>
          <a:xfrm>
            <a:off x="3484140" y="1864519"/>
            <a:ext cx="1616850" cy="350044"/>
            <a:chOff x="0" y="0"/>
            <a:chExt cx="2155800" cy="466725"/>
          </a:xfrm>
        </p:grpSpPr>
        <p:sp>
          <p:nvSpPr>
            <p:cNvPr id="90" name="Freeform 90"/>
            <p:cNvSpPr/>
            <p:nvPr/>
          </p:nvSpPr>
          <p:spPr>
            <a:xfrm>
              <a:off x="0" y="0"/>
              <a:ext cx="2155794" cy="466724"/>
            </a:xfrm>
            <a:custGeom>
              <a:avLst/>
              <a:gdLst/>
              <a:ahLst/>
              <a:cxnLst/>
              <a:rect l="l" t="t" r="r" b="b"/>
              <a:pathLst>
                <a:path w="2155794" h="466724">
                  <a:moveTo>
                    <a:pt x="0" y="0"/>
                  </a:moveTo>
                  <a:lnTo>
                    <a:pt x="2155794" y="0"/>
                  </a:lnTo>
                  <a:lnTo>
                    <a:pt x="2155794" y="466724"/>
                  </a:lnTo>
                  <a:lnTo>
                    <a:pt x="0" y="466724"/>
                  </a:lnTo>
                  <a:close/>
                </a:path>
              </a:pathLst>
            </a:custGeom>
            <a:blipFill>
              <a:blip r:embed="rId37">
                <a:alphaModFix amt="0"/>
              </a:blip>
              <a:stretch>
                <a:fillRect t="-40001" b="-40001"/>
              </a:stretch>
            </a:blipFill>
          </p:spPr>
        </p:sp>
        <p:sp>
          <p:nvSpPr>
            <p:cNvPr id="91" name="TextBox 91"/>
            <p:cNvSpPr txBox="1"/>
            <p:nvPr/>
          </p:nvSpPr>
          <p:spPr>
            <a:xfrm>
              <a:off x="0" y="-57150"/>
              <a:ext cx="2155800" cy="523875"/>
            </a:xfrm>
            <a:prstGeom prst="rect">
              <a:avLst/>
            </a:prstGeom>
          </p:spPr>
          <p:txBody>
            <a:bodyPr lIns="0" tIns="0" rIns="0" bIns="0" rtlCol="0" anchor="ctr"/>
            <a:lstStyle/>
            <a:p>
              <a:pPr algn="l">
                <a:lnSpc>
                  <a:spcPts val="1857"/>
                </a:lnSpc>
              </a:pPr>
              <a:r>
                <a:rPr lang="en-US" sz="1237" b="1">
                  <a:solidFill>
                    <a:srgbClr val="007ACC"/>
                  </a:solidFill>
                  <a:latin typeface="Calibri (MS) Bold"/>
                  <a:ea typeface="Calibri (MS) Bold"/>
                  <a:cs typeface="Calibri (MS) Bold"/>
                  <a:sym typeface="Calibri (MS) Bold"/>
                </a:rPr>
                <a:t>Apache Hive</a:t>
              </a:r>
            </a:p>
          </p:txBody>
        </p:sp>
      </p:grpSp>
      <p:grpSp>
        <p:nvGrpSpPr>
          <p:cNvPr id="92" name="Group 92"/>
          <p:cNvGrpSpPr/>
          <p:nvPr/>
        </p:nvGrpSpPr>
        <p:grpSpPr>
          <a:xfrm>
            <a:off x="5152654" y="1864519"/>
            <a:ext cx="695849" cy="350044"/>
            <a:chOff x="0" y="0"/>
            <a:chExt cx="927799" cy="466725"/>
          </a:xfrm>
        </p:grpSpPr>
        <p:sp>
          <p:nvSpPr>
            <p:cNvPr id="93" name="Freeform 93"/>
            <p:cNvSpPr/>
            <p:nvPr/>
          </p:nvSpPr>
          <p:spPr>
            <a:xfrm>
              <a:off x="0" y="0"/>
              <a:ext cx="927794" cy="466724"/>
            </a:xfrm>
            <a:custGeom>
              <a:avLst/>
              <a:gdLst/>
              <a:ahLst/>
              <a:cxnLst/>
              <a:rect l="l" t="t" r="r" b="b"/>
              <a:pathLst>
                <a:path w="927794" h="466724">
                  <a:moveTo>
                    <a:pt x="0" y="0"/>
                  </a:moveTo>
                  <a:lnTo>
                    <a:pt x="927794" y="0"/>
                  </a:lnTo>
                  <a:lnTo>
                    <a:pt x="927794" y="466724"/>
                  </a:lnTo>
                  <a:lnTo>
                    <a:pt x="0" y="466724"/>
                  </a:lnTo>
                  <a:close/>
                </a:path>
              </a:pathLst>
            </a:custGeom>
            <a:blipFill>
              <a:blip r:embed="rId37">
                <a:alphaModFix amt="0"/>
              </a:blip>
              <a:stretch>
                <a:fillRect l="-14542" r="-14543"/>
              </a:stretch>
            </a:blipFill>
          </p:spPr>
        </p:sp>
        <p:sp>
          <p:nvSpPr>
            <p:cNvPr id="94" name="TextBox 94"/>
            <p:cNvSpPr txBox="1"/>
            <p:nvPr/>
          </p:nvSpPr>
          <p:spPr>
            <a:xfrm>
              <a:off x="0" y="-57150"/>
              <a:ext cx="927799" cy="523875"/>
            </a:xfrm>
            <a:prstGeom prst="rect">
              <a:avLst/>
            </a:prstGeom>
          </p:spPr>
          <p:txBody>
            <a:bodyPr lIns="0" tIns="0" rIns="0" bIns="0" rtlCol="0" anchor="ctr"/>
            <a:lstStyle/>
            <a:p>
              <a:pPr algn="l">
                <a:lnSpc>
                  <a:spcPts val="1857"/>
                </a:lnSpc>
              </a:pPr>
              <a:r>
                <a:rPr lang="en-US" sz="1237" b="1">
                  <a:solidFill>
                    <a:srgbClr val="007ACC"/>
                  </a:solidFill>
                  <a:latin typeface="Calibri (MS) Bold"/>
                  <a:ea typeface="Calibri (MS) Bold"/>
                  <a:cs typeface="Calibri (MS) Bold"/>
                  <a:sym typeface="Calibri (MS) Bold"/>
                </a:rPr>
                <a:t>HDFS</a:t>
              </a:r>
            </a:p>
          </p:txBody>
        </p:sp>
      </p:grpSp>
      <p:grpSp>
        <p:nvGrpSpPr>
          <p:cNvPr id="95" name="Group 95"/>
          <p:cNvGrpSpPr/>
          <p:nvPr/>
        </p:nvGrpSpPr>
        <p:grpSpPr>
          <a:xfrm>
            <a:off x="6305702" y="1864519"/>
            <a:ext cx="3337970" cy="350044"/>
            <a:chOff x="0" y="0"/>
            <a:chExt cx="4450626" cy="466725"/>
          </a:xfrm>
        </p:grpSpPr>
        <p:sp>
          <p:nvSpPr>
            <p:cNvPr id="96" name="Freeform 96"/>
            <p:cNvSpPr/>
            <p:nvPr/>
          </p:nvSpPr>
          <p:spPr>
            <a:xfrm>
              <a:off x="0" y="0"/>
              <a:ext cx="4450626" cy="466724"/>
            </a:xfrm>
            <a:custGeom>
              <a:avLst/>
              <a:gdLst/>
              <a:ahLst/>
              <a:cxnLst/>
              <a:rect l="l" t="t" r="r" b="b"/>
              <a:pathLst>
                <a:path w="4450626" h="466724">
                  <a:moveTo>
                    <a:pt x="0" y="0"/>
                  </a:moveTo>
                  <a:lnTo>
                    <a:pt x="4450626" y="0"/>
                  </a:lnTo>
                  <a:lnTo>
                    <a:pt x="4450626" y="466724"/>
                  </a:lnTo>
                  <a:lnTo>
                    <a:pt x="0" y="466724"/>
                  </a:lnTo>
                  <a:close/>
                </a:path>
              </a:pathLst>
            </a:custGeom>
            <a:blipFill>
              <a:blip r:embed="rId37">
                <a:alphaModFix amt="0"/>
              </a:blip>
              <a:stretch>
                <a:fillRect t="-135806" b="-135807"/>
              </a:stretch>
            </a:blipFill>
          </p:spPr>
        </p:sp>
        <p:sp>
          <p:nvSpPr>
            <p:cNvPr id="97" name="TextBox 97"/>
            <p:cNvSpPr txBox="1"/>
            <p:nvPr/>
          </p:nvSpPr>
          <p:spPr>
            <a:xfrm>
              <a:off x="0" y="-57150"/>
              <a:ext cx="4450626" cy="523875"/>
            </a:xfrm>
            <a:prstGeom prst="rect">
              <a:avLst/>
            </a:prstGeom>
          </p:spPr>
          <p:txBody>
            <a:bodyPr lIns="0" tIns="0" rIns="0" bIns="0" rtlCol="0" anchor="ctr"/>
            <a:lstStyle/>
            <a:p>
              <a:pPr algn="l">
                <a:lnSpc>
                  <a:spcPts val="1857"/>
                </a:lnSpc>
              </a:pPr>
              <a:r>
                <a:rPr lang="en-US" sz="1237" b="1">
                  <a:solidFill>
                    <a:srgbClr val="007ACC"/>
                  </a:solidFill>
                  <a:latin typeface="Calibri (MS) Bold"/>
                  <a:ea typeface="Calibri (MS) Bold"/>
                  <a:cs typeface="Calibri (MS) Bold"/>
                  <a:sym typeface="Calibri (MS) Bold"/>
                </a:rPr>
                <a:t>Python (sinh dữ liệu)</a:t>
              </a:r>
            </a:p>
          </p:txBody>
        </p:sp>
      </p:grpSp>
      <p:grpSp>
        <p:nvGrpSpPr>
          <p:cNvPr id="98" name="Group 98"/>
          <p:cNvGrpSpPr/>
          <p:nvPr/>
        </p:nvGrpSpPr>
        <p:grpSpPr>
          <a:xfrm>
            <a:off x="972893" y="2714625"/>
            <a:ext cx="457200" cy="457200"/>
            <a:chOff x="0" y="0"/>
            <a:chExt cx="609600" cy="609600"/>
          </a:xfrm>
        </p:grpSpPr>
        <p:sp>
          <p:nvSpPr>
            <p:cNvPr id="99" name="Freeform 99"/>
            <p:cNvSpPr/>
            <p:nvPr/>
          </p:nvSpPr>
          <p:spPr>
            <a:xfrm>
              <a:off x="0" y="0"/>
              <a:ext cx="609600" cy="609600"/>
            </a:xfrm>
            <a:custGeom>
              <a:avLst/>
              <a:gdLst/>
              <a:ahLst/>
              <a:cxnLst/>
              <a:rect l="l" t="t" r="r" b="b"/>
              <a:pathLst>
                <a:path w="609600" h="609600">
                  <a:moveTo>
                    <a:pt x="0" y="0"/>
                  </a:moveTo>
                  <a:lnTo>
                    <a:pt x="609600" y="0"/>
                  </a:lnTo>
                  <a:lnTo>
                    <a:pt x="609600" y="609600"/>
                  </a:lnTo>
                  <a:lnTo>
                    <a:pt x="0" y="609600"/>
                  </a:lnTo>
                  <a:close/>
                </a:path>
              </a:pathLst>
            </a:custGeom>
            <a:blipFill>
              <a:blip r:embed="rId37">
                <a:alphaModFix amt="0"/>
              </a:blip>
              <a:stretch>
                <a:fillRect l="-78303" r="-78303"/>
              </a:stretch>
            </a:blipFill>
          </p:spPr>
        </p:sp>
        <p:sp>
          <p:nvSpPr>
            <p:cNvPr id="100" name="TextBox 100"/>
            <p:cNvSpPr txBox="1"/>
            <p:nvPr/>
          </p:nvSpPr>
          <p:spPr>
            <a:xfrm>
              <a:off x="0" y="-66675"/>
              <a:ext cx="609600" cy="676275"/>
            </a:xfrm>
            <a:prstGeom prst="rect">
              <a:avLst/>
            </a:prstGeom>
          </p:spPr>
          <p:txBody>
            <a:bodyPr lIns="0" tIns="0" rIns="0" bIns="0" rtlCol="0" anchor="ctr"/>
            <a:lstStyle/>
            <a:p>
              <a:pPr algn="l">
                <a:lnSpc>
                  <a:spcPts val="2362"/>
                </a:lnSpc>
              </a:pPr>
              <a:r>
                <a:rPr lang="en-US" sz="1575" b="1">
                  <a:solidFill>
                    <a:srgbClr val="FFFFFF"/>
                  </a:solidFill>
                  <a:latin typeface="Calibri (MS) Bold"/>
                  <a:ea typeface="Calibri (MS) Bold"/>
                  <a:cs typeface="Calibri (MS) Bold"/>
                  <a:sym typeface="Calibri (MS) Bold"/>
                </a:rPr>
                <a:t>1</a:t>
              </a:r>
            </a:p>
          </p:txBody>
        </p:sp>
      </p:grpSp>
      <p:grpSp>
        <p:nvGrpSpPr>
          <p:cNvPr id="101" name="Group 101"/>
          <p:cNvGrpSpPr/>
          <p:nvPr/>
        </p:nvGrpSpPr>
        <p:grpSpPr>
          <a:xfrm>
            <a:off x="1732359" y="2686050"/>
            <a:ext cx="7358062" cy="278606"/>
            <a:chOff x="0" y="0"/>
            <a:chExt cx="9810750" cy="371475"/>
          </a:xfrm>
        </p:grpSpPr>
        <p:sp>
          <p:nvSpPr>
            <p:cNvPr id="102" name="Freeform 102"/>
            <p:cNvSpPr/>
            <p:nvPr/>
          </p:nvSpPr>
          <p:spPr>
            <a:xfrm>
              <a:off x="0" y="0"/>
              <a:ext cx="9810750" cy="371476"/>
            </a:xfrm>
            <a:custGeom>
              <a:avLst/>
              <a:gdLst/>
              <a:ahLst/>
              <a:cxnLst/>
              <a:rect l="l" t="t" r="r" b="b"/>
              <a:pathLst>
                <a:path w="9810750" h="371476">
                  <a:moveTo>
                    <a:pt x="0" y="0"/>
                  </a:moveTo>
                  <a:lnTo>
                    <a:pt x="9810750" y="0"/>
                  </a:lnTo>
                  <a:lnTo>
                    <a:pt x="9810750" y="371476"/>
                  </a:lnTo>
                  <a:lnTo>
                    <a:pt x="0" y="371476"/>
                  </a:lnTo>
                  <a:close/>
                </a:path>
              </a:pathLst>
            </a:custGeom>
            <a:blipFill>
              <a:blip r:embed="rId37">
                <a:alphaModFix amt="0"/>
              </a:blip>
              <a:stretch>
                <a:fillRect t="-464603" b="-464603"/>
              </a:stretch>
            </a:blipFill>
          </p:spPr>
        </p:sp>
        <p:sp>
          <p:nvSpPr>
            <p:cNvPr id="103" name="TextBox 103"/>
            <p:cNvSpPr txBox="1"/>
            <p:nvPr/>
          </p:nvSpPr>
          <p:spPr>
            <a:xfrm>
              <a:off x="0" y="-66675"/>
              <a:ext cx="9810750" cy="438150"/>
            </a:xfrm>
            <a:prstGeom prst="rect">
              <a:avLst/>
            </a:prstGeom>
          </p:spPr>
          <p:txBody>
            <a:bodyPr lIns="0" tIns="0" rIns="0" bIns="0" rtlCol="0" anchor="ctr"/>
            <a:lstStyle/>
            <a:p>
              <a:pPr algn="l">
                <a:lnSpc>
                  <a:spcPts val="2194"/>
                </a:lnSpc>
              </a:pPr>
              <a:r>
                <a:rPr lang="en-US" sz="1462" b="1">
                  <a:solidFill>
                    <a:srgbClr val="2C3E50"/>
                  </a:solidFill>
                  <a:latin typeface="Calibri (MS) Bold"/>
                  <a:ea typeface="Calibri (MS) Bold"/>
                  <a:cs typeface="Calibri (MS) Bold"/>
                  <a:sym typeface="Calibri (MS) Bold"/>
                </a:rPr>
                <a:t>Upload CSV lên HDFS</a:t>
              </a:r>
            </a:p>
          </p:txBody>
        </p:sp>
      </p:grpSp>
      <p:grpSp>
        <p:nvGrpSpPr>
          <p:cNvPr id="104" name="Group 104"/>
          <p:cNvGrpSpPr/>
          <p:nvPr/>
        </p:nvGrpSpPr>
        <p:grpSpPr>
          <a:xfrm>
            <a:off x="1428750" y="3021806"/>
            <a:ext cx="7358062" cy="479974"/>
            <a:chOff x="0" y="0"/>
            <a:chExt cx="9810750" cy="639966"/>
          </a:xfrm>
        </p:grpSpPr>
        <p:sp>
          <p:nvSpPr>
            <p:cNvPr id="105" name="Freeform 105"/>
            <p:cNvSpPr/>
            <p:nvPr/>
          </p:nvSpPr>
          <p:spPr>
            <a:xfrm>
              <a:off x="0" y="0"/>
              <a:ext cx="9810750" cy="639960"/>
            </a:xfrm>
            <a:custGeom>
              <a:avLst/>
              <a:gdLst/>
              <a:ahLst/>
              <a:cxnLst/>
              <a:rect l="l" t="t" r="r" b="b"/>
              <a:pathLst>
                <a:path w="9810750" h="639960">
                  <a:moveTo>
                    <a:pt x="0" y="0"/>
                  </a:moveTo>
                  <a:lnTo>
                    <a:pt x="9810750" y="0"/>
                  </a:lnTo>
                  <a:lnTo>
                    <a:pt x="9810750" y="639960"/>
                  </a:lnTo>
                  <a:lnTo>
                    <a:pt x="0" y="639960"/>
                  </a:lnTo>
                  <a:close/>
                </a:path>
              </a:pathLst>
            </a:custGeom>
            <a:blipFill>
              <a:blip r:embed="rId37">
                <a:alphaModFix amt="0"/>
              </a:blip>
              <a:stretch>
                <a:fillRect t="-248710" b="-248711"/>
              </a:stretch>
            </a:blipFill>
          </p:spPr>
        </p:sp>
        <p:sp>
          <p:nvSpPr>
            <p:cNvPr id="106" name="TextBox 106"/>
            <p:cNvSpPr txBox="1"/>
            <p:nvPr/>
          </p:nvSpPr>
          <p:spPr>
            <a:xfrm>
              <a:off x="0" y="-47625"/>
              <a:ext cx="9810750" cy="687591"/>
            </a:xfrm>
            <a:prstGeom prst="rect">
              <a:avLst/>
            </a:prstGeom>
          </p:spPr>
          <p:txBody>
            <a:bodyPr lIns="0" tIns="0" rIns="0" bIns="0" rtlCol="0" anchor="ctr"/>
            <a:lstStyle/>
            <a:p>
              <a:pPr algn="l">
                <a:lnSpc>
                  <a:spcPts val="1889"/>
                </a:lnSpc>
              </a:pPr>
              <a:r>
                <a:rPr lang="en-US" sz="1350">
                  <a:solidFill>
                    <a:srgbClr val="555E6B"/>
                  </a:solidFill>
                  <a:latin typeface="Calibri (MS)"/>
                  <a:ea typeface="Calibri (MS)"/>
                  <a:cs typeface="Calibri (MS)"/>
                  <a:sym typeface="Calibri (MS)"/>
                </a:rPr>
                <a:t>Tải file dữ liệu mô phỏng lên hệ thống lưu trữ phân tán HDFS để chuẩn bị cho quá trình nạp vào Hive.</a:t>
              </a:r>
            </a:p>
          </p:txBody>
        </p:sp>
      </p:grpSp>
      <p:grpSp>
        <p:nvGrpSpPr>
          <p:cNvPr id="107" name="Group 107"/>
          <p:cNvGrpSpPr/>
          <p:nvPr/>
        </p:nvGrpSpPr>
        <p:grpSpPr>
          <a:xfrm>
            <a:off x="1543050" y="3616081"/>
            <a:ext cx="10233203" cy="350044"/>
            <a:chOff x="0" y="0"/>
            <a:chExt cx="13644270" cy="466725"/>
          </a:xfrm>
        </p:grpSpPr>
        <p:sp>
          <p:nvSpPr>
            <p:cNvPr id="108" name="Freeform 108"/>
            <p:cNvSpPr/>
            <p:nvPr/>
          </p:nvSpPr>
          <p:spPr>
            <a:xfrm>
              <a:off x="0" y="0"/>
              <a:ext cx="13644268" cy="466724"/>
            </a:xfrm>
            <a:custGeom>
              <a:avLst/>
              <a:gdLst/>
              <a:ahLst/>
              <a:cxnLst/>
              <a:rect l="l" t="t" r="r" b="b"/>
              <a:pathLst>
                <a:path w="13644268" h="466724">
                  <a:moveTo>
                    <a:pt x="0" y="0"/>
                  </a:moveTo>
                  <a:lnTo>
                    <a:pt x="13644268" y="0"/>
                  </a:lnTo>
                  <a:lnTo>
                    <a:pt x="13644268" y="466724"/>
                  </a:lnTo>
                  <a:lnTo>
                    <a:pt x="0" y="466724"/>
                  </a:lnTo>
                  <a:close/>
                </a:path>
              </a:pathLst>
            </a:custGeom>
            <a:blipFill>
              <a:blip r:embed="rId37">
                <a:alphaModFix amt="0"/>
              </a:blip>
              <a:stretch>
                <a:fillRect t="-519628" b="-519628"/>
              </a:stretch>
            </a:blipFill>
          </p:spPr>
        </p:sp>
        <p:sp>
          <p:nvSpPr>
            <p:cNvPr id="109" name="TextBox 109"/>
            <p:cNvSpPr txBox="1"/>
            <p:nvPr/>
          </p:nvSpPr>
          <p:spPr>
            <a:xfrm>
              <a:off x="0" y="-57150"/>
              <a:ext cx="13644270" cy="523875"/>
            </a:xfrm>
            <a:prstGeom prst="rect">
              <a:avLst/>
            </a:prstGeom>
          </p:spPr>
          <p:txBody>
            <a:bodyPr lIns="0" tIns="0" rIns="0" bIns="0" rtlCol="0" anchor="ctr"/>
            <a:lstStyle/>
            <a:p>
              <a:pPr algn="l">
                <a:lnSpc>
                  <a:spcPts val="1857"/>
                </a:lnSpc>
              </a:pPr>
              <a:r>
                <a:rPr lang="en-US" sz="1237">
                  <a:solidFill>
                    <a:srgbClr val="E67E22"/>
                  </a:solidFill>
                  <a:latin typeface="Calibri (MS)"/>
                  <a:ea typeface="Calibri (MS)"/>
                  <a:cs typeface="Calibri (MS)"/>
                  <a:sym typeface="Calibri (MS)"/>
                </a:rPr>
                <a:t>hdfs dfs -put du_lieu_ban_hang.csv /user/hive/warehouse/</a:t>
              </a:r>
            </a:p>
          </p:txBody>
        </p:sp>
      </p:grpSp>
      <p:grpSp>
        <p:nvGrpSpPr>
          <p:cNvPr id="110" name="Group 110"/>
          <p:cNvGrpSpPr/>
          <p:nvPr/>
        </p:nvGrpSpPr>
        <p:grpSpPr>
          <a:xfrm>
            <a:off x="972893" y="4451899"/>
            <a:ext cx="457200" cy="457200"/>
            <a:chOff x="0" y="0"/>
            <a:chExt cx="609600" cy="609600"/>
          </a:xfrm>
        </p:grpSpPr>
        <p:sp>
          <p:nvSpPr>
            <p:cNvPr id="111" name="Freeform 111"/>
            <p:cNvSpPr/>
            <p:nvPr/>
          </p:nvSpPr>
          <p:spPr>
            <a:xfrm>
              <a:off x="0" y="0"/>
              <a:ext cx="609600" cy="609600"/>
            </a:xfrm>
            <a:custGeom>
              <a:avLst/>
              <a:gdLst/>
              <a:ahLst/>
              <a:cxnLst/>
              <a:rect l="l" t="t" r="r" b="b"/>
              <a:pathLst>
                <a:path w="609600" h="609600">
                  <a:moveTo>
                    <a:pt x="0" y="0"/>
                  </a:moveTo>
                  <a:lnTo>
                    <a:pt x="609600" y="0"/>
                  </a:lnTo>
                  <a:lnTo>
                    <a:pt x="609600" y="609600"/>
                  </a:lnTo>
                  <a:lnTo>
                    <a:pt x="0" y="609600"/>
                  </a:lnTo>
                  <a:close/>
                </a:path>
              </a:pathLst>
            </a:custGeom>
            <a:blipFill>
              <a:blip r:embed="rId37">
                <a:alphaModFix amt="0"/>
              </a:blip>
              <a:stretch>
                <a:fillRect l="-78303" r="-78303"/>
              </a:stretch>
            </a:blipFill>
          </p:spPr>
        </p:sp>
        <p:sp>
          <p:nvSpPr>
            <p:cNvPr id="112" name="TextBox 112"/>
            <p:cNvSpPr txBox="1"/>
            <p:nvPr/>
          </p:nvSpPr>
          <p:spPr>
            <a:xfrm>
              <a:off x="0" y="-66675"/>
              <a:ext cx="609600" cy="676275"/>
            </a:xfrm>
            <a:prstGeom prst="rect">
              <a:avLst/>
            </a:prstGeom>
          </p:spPr>
          <p:txBody>
            <a:bodyPr lIns="0" tIns="0" rIns="0" bIns="0" rtlCol="0" anchor="ctr"/>
            <a:lstStyle/>
            <a:p>
              <a:pPr algn="l">
                <a:lnSpc>
                  <a:spcPts val="2362"/>
                </a:lnSpc>
              </a:pPr>
              <a:r>
                <a:rPr lang="en-US" sz="1575" b="1">
                  <a:solidFill>
                    <a:srgbClr val="FFFFFF"/>
                  </a:solidFill>
                  <a:latin typeface="Calibri (MS) Bold"/>
                  <a:ea typeface="Calibri (MS) Bold"/>
                  <a:cs typeface="Calibri (MS) Bold"/>
                  <a:sym typeface="Calibri (MS) Bold"/>
                </a:rPr>
                <a:t>2</a:t>
              </a:r>
            </a:p>
          </p:txBody>
        </p:sp>
      </p:grpSp>
      <p:grpSp>
        <p:nvGrpSpPr>
          <p:cNvPr id="113" name="Group 113"/>
          <p:cNvGrpSpPr/>
          <p:nvPr/>
        </p:nvGrpSpPr>
        <p:grpSpPr>
          <a:xfrm>
            <a:off x="1732359" y="4423324"/>
            <a:ext cx="7358062" cy="278606"/>
            <a:chOff x="0" y="0"/>
            <a:chExt cx="9810750" cy="371475"/>
          </a:xfrm>
        </p:grpSpPr>
        <p:sp>
          <p:nvSpPr>
            <p:cNvPr id="114" name="Freeform 114"/>
            <p:cNvSpPr/>
            <p:nvPr/>
          </p:nvSpPr>
          <p:spPr>
            <a:xfrm>
              <a:off x="0" y="0"/>
              <a:ext cx="9810750" cy="371476"/>
            </a:xfrm>
            <a:custGeom>
              <a:avLst/>
              <a:gdLst/>
              <a:ahLst/>
              <a:cxnLst/>
              <a:rect l="l" t="t" r="r" b="b"/>
              <a:pathLst>
                <a:path w="9810750" h="371476">
                  <a:moveTo>
                    <a:pt x="0" y="0"/>
                  </a:moveTo>
                  <a:lnTo>
                    <a:pt x="9810750" y="0"/>
                  </a:lnTo>
                  <a:lnTo>
                    <a:pt x="9810750" y="371476"/>
                  </a:lnTo>
                  <a:lnTo>
                    <a:pt x="0" y="371476"/>
                  </a:lnTo>
                  <a:close/>
                </a:path>
              </a:pathLst>
            </a:custGeom>
            <a:blipFill>
              <a:blip r:embed="rId37">
                <a:alphaModFix amt="0"/>
              </a:blip>
              <a:stretch>
                <a:fillRect t="-464603" b="-464603"/>
              </a:stretch>
            </a:blipFill>
          </p:spPr>
        </p:sp>
        <p:sp>
          <p:nvSpPr>
            <p:cNvPr id="115" name="TextBox 115"/>
            <p:cNvSpPr txBox="1"/>
            <p:nvPr/>
          </p:nvSpPr>
          <p:spPr>
            <a:xfrm>
              <a:off x="0" y="-66675"/>
              <a:ext cx="9810750" cy="438150"/>
            </a:xfrm>
            <a:prstGeom prst="rect">
              <a:avLst/>
            </a:prstGeom>
          </p:spPr>
          <p:txBody>
            <a:bodyPr lIns="0" tIns="0" rIns="0" bIns="0" rtlCol="0" anchor="ctr"/>
            <a:lstStyle/>
            <a:p>
              <a:pPr algn="l">
                <a:lnSpc>
                  <a:spcPts val="2194"/>
                </a:lnSpc>
              </a:pPr>
              <a:r>
                <a:rPr lang="en-US" sz="1462" b="1">
                  <a:solidFill>
                    <a:srgbClr val="2C3E50"/>
                  </a:solidFill>
                  <a:latin typeface="Calibri (MS) Bold"/>
                  <a:ea typeface="Calibri (MS) Bold"/>
                  <a:cs typeface="Calibri (MS) Bold"/>
                  <a:sym typeface="Calibri (MS) Bold"/>
                </a:rPr>
                <a:t>Khởi động Hive CLI</a:t>
              </a:r>
            </a:p>
          </p:txBody>
        </p:sp>
      </p:grpSp>
      <p:grpSp>
        <p:nvGrpSpPr>
          <p:cNvPr id="116" name="Group 116"/>
          <p:cNvGrpSpPr/>
          <p:nvPr/>
        </p:nvGrpSpPr>
        <p:grpSpPr>
          <a:xfrm>
            <a:off x="1428750" y="4759081"/>
            <a:ext cx="7358062" cy="479974"/>
            <a:chOff x="0" y="0"/>
            <a:chExt cx="9810750" cy="639966"/>
          </a:xfrm>
        </p:grpSpPr>
        <p:sp>
          <p:nvSpPr>
            <p:cNvPr id="117" name="Freeform 117"/>
            <p:cNvSpPr/>
            <p:nvPr/>
          </p:nvSpPr>
          <p:spPr>
            <a:xfrm>
              <a:off x="0" y="0"/>
              <a:ext cx="9810750" cy="639960"/>
            </a:xfrm>
            <a:custGeom>
              <a:avLst/>
              <a:gdLst/>
              <a:ahLst/>
              <a:cxnLst/>
              <a:rect l="l" t="t" r="r" b="b"/>
              <a:pathLst>
                <a:path w="9810750" h="639960">
                  <a:moveTo>
                    <a:pt x="0" y="0"/>
                  </a:moveTo>
                  <a:lnTo>
                    <a:pt x="9810750" y="0"/>
                  </a:lnTo>
                  <a:lnTo>
                    <a:pt x="9810750" y="639960"/>
                  </a:lnTo>
                  <a:lnTo>
                    <a:pt x="0" y="639960"/>
                  </a:lnTo>
                  <a:close/>
                </a:path>
              </a:pathLst>
            </a:custGeom>
            <a:blipFill>
              <a:blip r:embed="rId37">
                <a:alphaModFix amt="0"/>
              </a:blip>
              <a:stretch>
                <a:fillRect t="-248710" b="-248711"/>
              </a:stretch>
            </a:blipFill>
          </p:spPr>
        </p:sp>
        <p:sp>
          <p:nvSpPr>
            <p:cNvPr id="118" name="TextBox 118"/>
            <p:cNvSpPr txBox="1"/>
            <p:nvPr/>
          </p:nvSpPr>
          <p:spPr>
            <a:xfrm>
              <a:off x="0" y="-47625"/>
              <a:ext cx="9810750" cy="687591"/>
            </a:xfrm>
            <a:prstGeom prst="rect">
              <a:avLst/>
            </a:prstGeom>
          </p:spPr>
          <p:txBody>
            <a:bodyPr lIns="0" tIns="0" rIns="0" bIns="0" rtlCol="0" anchor="ctr"/>
            <a:lstStyle/>
            <a:p>
              <a:pPr algn="l">
                <a:lnSpc>
                  <a:spcPts val="1889"/>
                </a:lnSpc>
              </a:pPr>
              <a:r>
                <a:rPr lang="en-US" sz="1350">
                  <a:solidFill>
                    <a:srgbClr val="555E6B"/>
                  </a:solidFill>
                  <a:latin typeface="Calibri (MS)"/>
                  <a:ea typeface="Calibri (MS)"/>
                  <a:cs typeface="Calibri (MS)"/>
                  <a:sym typeface="Calibri (MS)"/>
                </a:rPr>
                <a:t>Mở giao diện dòng lệnh Hive để bắt đầu thực thi các câu lệnh HiveQL tạo bảng và quản lý dữ liệu.</a:t>
              </a:r>
            </a:p>
          </p:txBody>
        </p:sp>
      </p:grpSp>
      <p:grpSp>
        <p:nvGrpSpPr>
          <p:cNvPr id="119" name="Group 119"/>
          <p:cNvGrpSpPr/>
          <p:nvPr/>
        </p:nvGrpSpPr>
        <p:grpSpPr>
          <a:xfrm>
            <a:off x="1543050" y="5353345"/>
            <a:ext cx="7129462" cy="350044"/>
            <a:chOff x="0" y="0"/>
            <a:chExt cx="9505950" cy="466725"/>
          </a:xfrm>
        </p:grpSpPr>
        <p:sp>
          <p:nvSpPr>
            <p:cNvPr id="120" name="Freeform 120"/>
            <p:cNvSpPr/>
            <p:nvPr/>
          </p:nvSpPr>
          <p:spPr>
            <a:xfrm>
              <a:off x="0" y="0"/>
              <a:ext cx="9505950" cy="466724"/>
            </a:xfrm>
            <a:custGeom>
              <a:avLst/>
              <a:gdLst/>
              <a:ahLst/>
              <a:cxnLst/>
              <a:rect l="l" t="t" r="r" b="b"/>
              <a:pathLst>
                <a:path w="9505950" h="466724">
                  <a:moveTo>
                    <a:pt x="0" y="0"/>
                  </a:moveTo>
                  <a:lnTo>
                    <a:pt x="9505950" y="0"/>
                  </a:lnTo>
                  <a:lnTo>
                    <a:pt x="9505950" y="466724"/>
                  </a:lnTo>
                  <a:lnTo>
                    <a:pt x="0" y="466724"/>
                  </a:lnTo>
                  <a:close/>
                </a:path>
              </a:pathLst>
            </a:custGeom>
            <a:blipFill>
              <a:blip r:embed="rId37">
                <a:alphaModFix amt="0"/>
              </a:blip>
              <a:stretch>
                <a:fillRect t="-346859" b="-346859"/>
              </a:stretch>
            </a:blipFill>
          </p:spPr>
        </p:sp>
        <p:sp>
          <p:nvSpPr>
            <p:cNvPr id="121" name="TextBox 121"/>
            <p:cNvSpPr txBox="1"/>
            <p:nvPr/>
          </p:nvSpPr>
          <p:spPr>
            <a:xfrm>
              <a:off x="0" y="-57150"/>
              <a:ext cx="9505950" cy="523875"/>
            </a:xfrm>
            <a:prstGeom prst="rect">
              <a:avLst/>
            </a:prstGeom>
          </p:spPr>
          <p:txBody>
            <a:bodyPr lIns="0" tIns="0" rIns="0" bIns="0" rtlCol="0" anchor="ctr"/>
            <a:lstStyle/>
            <a:p>
              <a:pPr algn="l">
                <a:lnSpc>
                  <a:spcPts val="1857"/>
                </a:lnSpc>
              </a:pPr>
              <a:r>
                <a:rPr lang="en-US" sz="1237">
                  <a:solidFill>
                    <a:srgbClr val="E67E22"/>
                  </a:solidFill>
                  <a:latin typeface="Calibri (MS)"/>
                  <a:ea typeface="Calibri (MS)"/>
                  <a:cs typeface="Calibri (MS)"/>
                  <a:sym typeface="Calibri (MS)"/>
                </a:rPr>
                <a:t>$ hive</a:t>
              </a:r>
            </a:p>
          </p:txBody>
        </p:sp>
      </p:grpSp>
      <p:grpSp>
        <p:nvGrpSpPr>
          <p:cNvPr id="122" name="Group 122"/>
          <p:cNvGrpSpPr/>
          <p:nvPr/>
        </p:nvGrpSpPr>
        <p:grpSpPr>
          <a:xfrm>
            <a:off x="972893" y="6189164"/>
            <a:ext cx="457200" cy="457200"/>
            <a:chOff x="0" y="0"/>
            <a:chExt cx="609600" cy="609600"/>
          </a:xfrm>
        </p:grpSpPr>
        <p:sp>
          <p:nvSpPr>
            <p:cNvPr id="123" name="Freeform 123"/>
            <p:cNvSpPr/>
            <p:nvPr/>
          </p:nvSpPr>
          <p:spPr>
            <a:xfrm>
              <a:off x="0" y="0"/>
              <a:ext cx="609600" cy="609600"/>
            </a:xfrm>
            <a:custGeom>
              <a:avLst/>
              <a:gdLst/>
              <a:ahLst/>
              <a:cxnLst/>
              <a:rect l="l" t="t" r="r" b="b"/>
              <a:pathLst>
                <a:path w="609600" h="609600">
                  <a:moveTo>
                    <a:pt x="0" y="0"/>
                  </a:moveTo>
                  <a:lnTo>
                    <a:pt x="609600" y="0"/>
                  </a:lnTo>
                  <a:lnTo>
                    <a:pt x="609600" y="609600"/>
                  </a:lnTo>
                  <a:lnTo>
                    <a:pt x="0" y="609600"/>
                  </a:lnTo>
                  <a:close/>
                </a:path>
              </a:pathLst>
            </a:custGeom>
            <a:blipFill>
              <a:blip r:embed="rId37">
                <a:alphaModFix amt="0"/>
              </a:blip>
              <a:stretch>
                <a:fillRect l="-78303" r="-78303"/>
              </a:stretch>
            </a:blipFill>
          </p:spPr>
        </p:sp>
        <p:sp>
          <p:nvSpPr>
            <p:cNvPr id="124" name="TextBox 124"/>
            <p:cNvSpPr txBox="1"/>
            <p:nvPr/>
          </p:nvSpPr>
          <p:spPr>
            <a:xfrm>
              <a:off x="0" y="-66675"/>
              <a:ext cx="609600" cy="676275"/>
            </a:xfrm>
            <a:prstGeom prst="rect">
              <a:avLst/>
            </a:prstGeom>
          </p:spPr>
          <p:txBody>
            <a:bodyPr lIns="0" tIns="0" rIns="0" bIns="0" rtlCol="0" anchor="ctr"/>
            <a:lstStyle/>
            <a:p>
              <a:pPr algn="l">
                <a:lnSpc>
                  <a:spcPts val="2362"/>
                </a:lnSpc>
              </a:pPr>
              <a:r>
                <a:rPr lang="en-US" sz="1575" b="1">
                  <a:solidFill>
                    <a:srgbClr val="FFFFFF"/>
                  </a:solidFill>
                  <a:latin typeface="Calibri (MS) Bold"/>
                  <a:ea typeface="Calibri (MS) Bold"/>
                  <a:cs typeface="Calibri (MS) Bold"/>
                  <a:sym typeface="Calibri (MS) Bold"/>
                </a:rPr>
                <a:t>3</a:t>
              </a:r>
            </a:p>
          </p:txBody>
        </p:sp>
      </p:grpSp>
      <p:grpSp>
        <p:nvGrpSpPr>
          <p:cNvPr id="125" name="Group 125"/>
          <p:cNvGrpSpPr/>
          <p:nvPr/>
        </p:nvGrpSpPr>
        <p:grpSpPr>
          <a:xfrm>
            <a:off x="1732359" y="6160589"/>
            <a:ext cx="7358062" cy="278606"/>
            <a:chOff x="0" y="0"/>
            <a:chExt cx="9810750" cy="371475"/>
          </a:xfrm>
        </p:grpSpPr>
        <p:sp>
          <p:nvSpPr>
            <p:cNvPr id="126" name="Freeform 126"/>
            <p:cNvSpPr/>
            <p:nvPr/>
          </p:nvSpPr>
          <p:spPr>
            <a:xfrm>
              <a:off x="0" y="0"/>
              <a:ext cx="9810750" cy="371476"/>
            </a:xfrm>
            <a:custGeom>
              <a:avLst/>
              <a:gdLst/>
              <a:ahLst/>
              <a:cxnLst/>
              <a:rect l="l" t="t" r="r" b="b"/>
              <a:pathLst>
                <a:path w="9810750" h="371476">
                  <a:moveTo>
                    <a:pt x="0" y="0"/>
                  </a:moveTo>
                  <a:lnTo>
                    <a:pt x="9810750" y="0"/>
                  </a:lnTo>
                  <a:lnTo>
                    <a:pt x="9810750" y="371476"/>
                  </a:lnTo>
                  <a:lnTo>
                    <a:pt x="0" y="371476"/>
                  </a:lnTo>
                  <a:close/>
                </a:path>
              </a:pathLst>
            </a:custGeom>
            <a:blipFill>
              <a:blip r:embed="rId37">
                <a:alphaModFix amt="0"/>
              </a:blip>
              <a:stretch>
                <a:fillRect t="-464603" b="-464603"/>
              </a:stretch>
            </a:blipFill>
          </p:spPr>
        </p:sp>
        <p:sp>
          <p:nvSpPr>
            <p:cNvPr id="127" name="TextBox 127"/>
            <p:cNvSpPr txBox="1"/>
            <p:nvPr/>
          </p:nvSpPr>
          <p:spPr>
            <a:xfrm>
              <a:off x="0" y="-66675"/>
              <a:ext cx="9810750" cy="438150"/>
            </a:xfrm>
            <a:prstGeom prst="rect">
              <a:avLst/>
            </a:prstGeom>
          </p:spPr>
          <p:txBody>
            <a:bodyPr lIns="0" tIns="0" rIns="0" bIns="0" rtlCol="0" anchor="ctr"/>
            <a:lstStyle/>
            <a:p>
              <a:pPr algn="l">
                <a:lnSpc>
                  <a:spcPts val="2194"/>
                </a:lnSpc>
              </a:pPr>
              <a:r>
                <a:rPr lang="en-US" sz="1462" b="1">
                  <a:solidFill>
                    <a:srgbClr val="2C3E50"/>
                  </a:solidFill>
                  <a:latin typeface="Calibri (MS) Bold"/>
                  <a:ea typeface="Calibri (MS) Bold"/>
                  <a:cs typeface="Calibri (MS) Bold"/>
                  <a:sym typeface="Calibri (MS) Bold"/>
                </a:rPr>
                <a:t>Tạo bảng ban_hang_dien_may</a:t>
              </a:r>
            </a:p>
          </p:txBody>
        </p:sp>
      </p:grpSp>
      <p:grpSp>
        <p:nvGrpSpPr>
          <p:cNvPr id="128" name="Group 128"/>
          <p:cNvGrpSpPr/>
          <p:nvPr/>
        </p:nvGrpSpPr>
        <p:grpSpPr>
          <a:xfrm>
            <a:off x="1428750" y="6496345"/>
            <a:ext cx="7358062" cy="479974"/>
            <a:chOff x="0" y="0"/>
            <a:chExt cx="9810750" cy="639966"/>
          </a:xfrm>
        </p:grpSpPr>
        <p:sp>
          <p:nvSpPr>
            <p:cNvPr id="129" name="Freeform 129"/>
            <p:cNvSpPr/>
            <p:nvPr/>
          </p:nvSpPr>
          <p:spPr>
            <a:xfrm>
              <a:off x="0" y="0"/>
              <a:ext cx="9810750" cy="639960"/>
            </a:xfrm>
            <a:custGeom>
              <a:avLst/>
              <a:gdLst/>
              <a:ahLst/>
              <a:cxnLst/>
              <a:rect l="l" t="t" r="r" b="b"/>
              <a:pathLst>
                <a:path w="9810750" h="639960">
                  <a:moveTo>
                    <a:pt x="0" y="0"/>
                  </a:moveTo>
                  <a:lnTo>
                    <a:pt x="9810750" y="0"/>
                  </a:lnTo>
                  <a:lnTo>
                    <a:pt x="9810750" y="639960"/>
                  </a:lnTo>
                  <a:lnTo>
                    <a:pt x="0" y="639960"/>
                  </a:lnTo>
                  <a:close/>
                </a:path>
              </a:pathLst>
            </a:custGeom>
            <a:blipFill>
              <a:blip r:embed="rId37">
                <a:alphaModFix amt="0"/>
              </a:blip>
              <a:stretch>
                <a:fillRect t="-248710" b="-248711"/>
              </a:stretch>
            </a:blipFill>
          </p:spPr>
        </p:sp>
        <p:sp>
          <p:nvSpPr>
            <p:cNvPr id="130" name="TextBox 130"/>
            <p:cNvSpPr txBox="1"/>
            <p:nvPr/>
          </p:nvSpPr>
          <p:spPr>
            <a:xfrm>
              <a:off x="0" y="-47625"/>
              <a:ext cx="9810750" cy="687591"/>
            </a:xfrm>
            <a:prstGeom prst="rect">
              <a:avLst/>
            </a:prstGeom>
          </p:spPr>
          <p:txBody>
            <a:bodyPr lIns="0" tIns="0" rIns="0" bIns="0" rtlCol="0" anchor="ctr"/>
            <a:lstStyle/>
            <a:p>
              <a:pPr algn="l">
                <a:lnSpc>
                  <a:spcPts val="1889"/>
                </a:lnSpc>
              </a:pPr>
              <a:r>
                <a:rPr lang="en-US" sz="1350">
                  <a:solidFill>
                    <a:srgbClr val="555E6B"/>
                  </a:solidFill>
                  <a:latin typeface="Calibri (MS)"/>
                  <a:ea typeface="Calibri (MS)"/>
                  <a:cs typeface="Calibri (MS)"/>
                  <a:sym typeface="Calibri (MS)"/>
                </a:rPr>
                <a:t>Định nghĩa schema đầy đủ 10 trường, định dạng ROW FORMAT DELIMITED, phân tách bằng dấu phẩy.</a:t>
              </a:r>
            </a:p>
          </p:txBody>
        </p:sp>
      </p:grpSp>
      <p:grpSp>
        <p:nvGrpSpPr>
          <p:cNvPr id="131" name="Group 131"/>
          <p:cNvGrpSpPr/>
          <p:nvPr/>
        </p:nvGrpSpPr>
        <p:grpSpPr>
          <a:xfrm>
            <a:off x="9847659" y="1385888"/>
            <a:ext cx="7986712" cy="278606"/>
            <a:chOff x="0" y="0"/>
            <a:chExt cx="10648950" cy="371475"/>
          </a:xfrm>
        </p:grpSpPr>
        <p:sp>
          <p:nvSpPr>
            <p:cNvPr id="132" name="Freeform 132"/>
            <p:cNvSpPr/>
            <p:nvPr/>
          </p:nvSpPr>
          <p:spPr>
            <a:xfrm>
              <a:off x="0" y="0"/>
              <a:ext cx="10648950" cy="371476"/>
            </a:xfrm>
            <a:custGeom>
              <a:avLst/>
              <a:gdLst/>
              <a:ahLst/>
              <a:cxnLst/>
              <a:rect l="l" t="t" r="r" b="b"/>
              <a:pathLst>
                <a:path w="10648950" h="371476">
                  <a:moveTo>
                    <a:pt x="0" y="0"/>
                  </a:moveTo>
                  <a:lnTo>
                    <a:pt x="10648950" y="0"/>
                  </a:lnTo>
                  <a:lnTo>
                    <a:pt x="10648950" y="371476"/>
                  </a:lnTo>
                  <a:lnTo>
                    <a:pt x="0" y="371476"/>
                  </a:lnTo>
                  <a:close/>
                </a:path>
              </a:pathLst>
            </a:custGeom>
            <a:blipFill>
              <a:blip r:embed="rId37">
                <a:alphaModFix amt="0"/>
              </a:blip>
              <a:stretch>
                <a:fillRect t="-508569" b="-508569"/>
              </a:stretch>
            </a:blipFill>
          </p:spPr>
        </p:sp>
        <p:sp>
          <p:nvSpPr>
            <p:cNvPr id="133" name="TextBox 133"/>
            <p:cNvSpPr txBox="1"/>
            <p:nvPr/>
          </p:nvSpPr>
          <p:spPr>
            <a:xfrm>
              <a:off x="0" y="-66675"/>
              <a:ext cx="10648950" cy="438150"/>
            </a:xfrm>
            <a:prstGeom prst="rect">
              <a:avLst/>
            </a:prstGeom>
          </p:spPr>
          <p:txBody>
            <a:bodyPr lIns="0" tIns="0" rIns="0" bIns="0" rtlCol="0" anchor="ctr"/>
            <a:lstStyle/>
            <a:p>
              <a:pPr algn="l">
                <a:lnSpc>
                  <a:spcPts val="2194"/>
                </a:lnSpc>
              </a:pPr>
              <a:r>
                <a:rPr lang="en-US" sz="1462" b="1">
                  <a:solidFill>
                    <a:srgbClr val="2C3E50"/>
                  </a:solidFill>
                  <a:latin typeface="Calibri (MS) Bold"/>
                  <a:ea typeface="Calibri (MS) Bold"/>
                  <a:cs typeface="Calibri (MS) Bold"/>
                  <a:sym typeface="Calibri (MS) Bold"/>
                </a:rPr>
                <a:t>Câu lệnh tạo bảng HiveQL</a:t>
              </a:r>
            </a:p>
          </p:txBody>
        </p:sp>
      </p:grpSp>
      <p:grpSp>
        <p:nvGrpSpPr>
          <p:cNvPr id="134" name="Group 134"/>
          <p:cNvGrpSpPr/>
          <p:nvPr/>
        </p:nvGrpSpPr>
        <p:grpSpPr>
          <a:xfrm>
            <a:off x="9672638" y="1721644"/>
            <a:ext cx="7643812" cy="2274170"/>
            <a:chOff x="0" y="0"/>
            <a:chExt cx="10191750" cy="3032227"/>
          </a:xfrm>
        </p:grpSpPr>
        <p:sp>
          <p:nvSpPr>
            <p:cNvPr id="135" name="Freeform 135"/>
            <p:cNvSpPr/>
            <p:nvPr/>
          </p:nvSpPr>
          <p:spPr>
            <a:xfrm>
              <a:off x="0" y="0"/>
              <a:ext cx="10191750" cy="3032224"/>
            </a:xfrm>
            <a:custGeom>
              <a:avLst/>
              <a:gdLst/>
              <a:ahLst/>
              <a:cxnLst/>
              <a:rect l="l" t="t" r="r" b="b"/>
              <a:pathLst>
                <a:path w="10191750" h="3032224">
                  <a:moveTo>
                    <a:pt x="0" y="0"/>
                  </a:moveTo>
                  <a:lnTo>
                    <a:pt x="10191750" y="0"/>
                  </a:lnTo>
                  <a:lnTo>
                    <a:pt x="10191750" y="3032224"/>
                  </a:lnTo>
                  <a:lnTo>
                    <a:pt x="0" y="3032224"/>
                  </a:lnTo>
                  <a:close/>
                </a:path>
              </a:pathLst>
            </a:custGeom>
            <a:blipFill>
              <a:blip r:embed="rId37">
                <a:alphaModFix amt="0"/>
              </a:blip>
              <a:stretch>
                <a:fillRect t="-15492" b="-15492"/>
              </a:stretch>
            </a:blipFill>
          </p:spPr>
        </p:sp>
        <p:sp>
          <p:nvSpPr>
            <p:cNvPr id="136" name="TextBox 136"/>
            <p:cNvSpPr txBox="1"/>
            <p:nvPr/>
          </p:nvSpPr>
          <p:spPr>
            <a:xfrm>
              <a:off x="0" y="-57150"/>
              <a:ext cx="10191750" cy="3089377"/>
            </a:xfrm>
            <a:prstGeom prst="rect">
              <a:avLst/>
            </a:prstGeom>
          </p:spPr>
          <p:txBody>
            <a:bodyPr lIns="0" tIns="0" rIns="0" bIns="0" rtlCol="0" anchor="ctr"/>
            <a:lstStyle/>
            <a:p>
              <a:pPr algn="l">
                <a:lnSpc>
                  <a:spcPts val="1890"/>
                </a:lnSpc>
              </a:pPr>
              <a:r>
                <a:rPr lang="en-US" sz="1182" b="1">
                  <a:solidFill>
                    <a:srgbClr val="007ACC"/>
                  </a:solidFill>
                  <a:latin typeface="Calibri (MS) Bold"/>
                  <a:ea typeface="Calibri (MS) Bold"/>
                  <a:cs typeface="Calibri (MS) Bold"/>
                  <a:sym typeface="Calibri (MS) Bold"/>
                </a:rPr>
                <a:t>CREATE TABLE</a:t>
              </a:r>
              <a:r>
                <a:rPr lang="en-US" sz="1182">
                  <a:solidFill>
                    <a:srgbClr val="2C3E50"/>
                  </a:solidFill>
                  <a:latin typeface="Calibri (MS)"/>
                  <a:ea typeface="Calibri (MS)"/>
                  <a:cs typeface="Calibri (MS)"/>
                  <a:sym typeface="Calibri (MS)"/>
                </a:rPr>
                <a:t> </a:t>
              </a:r>
              <a:r>
                <a:rPr lang="en-US" sz="1182" b="1">
                  <a:solidFill>
                    <a:srgbClr val="E67E22"/>
                  </a:solidFill>
                  <a:latin typeface="Calibri (MS) Bold"/>
                  <a:ea typeface="Calibri (MS) Bold"/>
                  <a:cs typeface="Calibri (MS) Bold"/>
                  <a:sym typeface="Calibri (MS) Bold"/>
                </a:rPr>
                <a:t>ban_hang_dien_may</a:t>
              </a:r>
              <a:r>
                <a:rPr lang="en-US" sz="1182">
                  <a:solidFill>
                    <a:srgbClr val="2C3E50"/>
                  </a:solidFill>
                  <a:latin typeface="Calibri (MS)"/>
                  <a:ea typeface="Calibri (MS)"/>
                  <a:cs typeface="Calibri (MS)"/>
                  <a:sym typeface="Calibri (MS)"/>
                </a:rPr>
                <a:t> (</a:t>
              </a:r>
            </a:p>
            <a:p>
              <a:pPr algn="l">
                <a:lnSpc>
                  <a:spcPts val="1890"/>
                </a:lnSpc>
              </a:pPr>
              <a:r>
                <a:rPr lang="en-US" sz="1182">
                  <a:solidFill>
                    <a:srgbClr val="2C3E50"/>
                  </a:solidFill>
                  <a:latin typeface="Calibri (MS)"/>
                  <a:ea typeface="Calibri (MS)"/>
                  <a:cs typeface="Calibri (MS)"/>
                  <a:sym typeface="Calibri (MS)"/>
                </a:rPr>
                <a:t>  ma_don_hang </a:t>
              </a:r>
              <a:r>
                <a:rPr lang="en-US" sz="1182" b="1">
                  <a:solidFill>
                    <a:srgbClr val="007ACC"/>
                  </a:solidFill>
                  <a:latin typeface="Calibri (MS) Bold"/>
                  <a:ea typeface="Calibri (MS) Bold"/>
                  <a:cs typeface="Calibri (MS) Bold"/>
                  <a:sym typeface="Calibri (MS) Bold"/>
                </a:rPr>
                <a:t>STRING</a:t>
              </a:r>
              <a:r>
                <a:rPr lang="en-US" sz="1182">
                  <a:solidFill>
                    <a:srgbClr val="2C3E50"/>
                  </a:solidFill>
                  <a:latin typeface="Calibri (MS)"/>
                  <a:ea typeface="Calibri (MS)"/>
                  <a:cs typeface="Calibri (MS)"/>
                  <a:sym typeface="Calibri (MS)"/>
                </a:rPr>
                <a:t>, ma_khach_hang </a:t>
              </a:r>
              <a:r>
                <a:rPr lang="en-US" sz="1182" b="1">
                  <a:solidFill>
                    <a:srgbClr val="007ACC"/>
                  </a:solidFill>
                  <a:latin typeface="Calibri (MS) Bold"/>
                  <a:ea typeface="Calibri (MS) Bold"/>
                  <a:cs typeface="Calibri (MS) Bold"/>
                  <a:sym typeface="Calibri (MS) Bold"/>
                </a:rPr>
                <a:t>STRING</a:t>
              </a:r>
              <a:r>
                <a:rPr lang="en-US" sz="1182">
                  <a:solidFill>
                    <a:srgbClr val="2C3E50"/>
                  </a:solidFill>
                  <a:latin typeface="Calibri (MS)"/>
                  <a:ea typeface="Calibri (MS)"/>
                  <a:cs typeface="Calibri (MS)"/>
                  <a:sym typeface="Calibri (MS)"/>
                </a:rPr>
                <a:t>,</a:t>
              </a:r>
            </a:p>
            <a:p>
              <a:pPr algn="l">
                <a:lnSpc>
                  <a:spcPts val="1890"/>
                </a:lnSpc>
              </a:pPr>
              <a:r>
                <a:rPr lang="en-US" sz="1182">
                  <a:solidFill>
                    <a:srgbClr val="2C3E50"/>
                  </a:solidFill>
                  <a:latin typeface="Calibri (MS)"/>
                  <a:ea typeface="Calibri (MS)"/>
                  <a:cs typeface="Calibri (MS)"/>
                  <a:sym typeface="Calibri (MS)"/>
                </a:rPr>
                <a:t>  ten_san_pham </a:t>
              </a:r>
              <a:r>
                <a:rPr lang="en-US" sz="1182" b="1">
                  <a:solidFill>
                    <a:srgbClr val="007ACC"/>
                  </a:solidFill>
                  <a:latin typeface="Calibri (MS) Bold"/>
                  <a:ea typeface="Calibri (MS) Bold"/>
                  <a:cs typeface="Calibri (MS) Bold"/>
                  <a:sym typeface="Calibri (MS) Bold"/>
                </a:rPr>
                <a:t>STRING</a:t>
              </a:r>
              <a:r>
                <a:rPr lang="en-US" sz="1182">
                  <a:solidFill>
                    <a:srgbClr val="2C3E50"/>
                  </a:solidFill>
                  <a:latin typeface="Calibri (MS)"/>
                  <a:ea typeface="Calibri (MS)"/>
                  <a:cs typeface="Calibri (MS)"/>
                  <a:sym typeface="Calibri (MS)"/>
                </a:rPr>
                <a:t>, danh_muc </a:t>
              </a:r>
              <a:r>
                <a:rPr lang="en-US" sz="1182" b="1">
                  <a:solidFill>
                    <a:srgbClr val="007ACC"/>
                  </a:solidFill>
                  <a:latin typeface="Calibri (MS) Bold"/>
                  <a:ea typeface="Calibri (MS) Bold"/>
                  <a:cs typeface="Calibri (MS) Bold"/>
                  <a:sym typeface="Calibri (MS) Bold"/>
                </a:rPr>
                <a:t>STRING</a:t>
              </a:r>
              <a:r>
                <a:rPr lang="en-US" sz="1182">
                  <a:solidFill>
                    <a:srgbClr val="2C3E50"/>
                  </a:solidFill>
                  <a:latin typeface="Calibri (MS)"/>
                  <a:ea typeface="Calibri (MS)"/>
                  <a:cs typeface="Calibri (MS)"/>
                  <a:sym typeface="Calibri (MS)"/>
                </a:rPr>
                <a:t>,</a:t>
              </a:r>
            </a:p>
            <a:p>
              <a:pPr algn="l">
                <a:lnSpc>
                  <a:spcPts val="1890"/>
                </a:lnSpc>
              </a:pPr>
              <a:r>
                <a:rPr lang="en-US" sz="1182">
                  <a:solidFill>
                    <a:srgbClr val="2C3E50"/>
                  </a:solidFill>
                  <a:latin typeface="Calibri (MS)"/>
                  <a:ea typeface="Calibri (MS)"/>
                  <a:cs typeface="Calibri (MS)"/>
                  <a:sym typeface="Calibri (MS)"/>
                </a:rPr>
                <a:t>  so_luong </a:t>
              </a:r>
              <a:r>
                <a:rPr lang="en-US" sz="1182" b="1">
                  <a:solidFill>
                    <a:srgbClr val="007ACC"/>
                  </a:solidFill>
                  <a:latin typeface="Calibri (MS) Bold"/>
                  <a:ea typeface="Calibri (MS) Bold"/>
                  <a:cs typeface="Calibri (MS) Bold"/>
                  <a:sym typeface="Calibri (MS) Bold"/>
                </a:rPr>
                <a:t>INT</a:t>
              </a:r>
              <a:r>
                <a:rPr lang="en-US" sz="1182">
                  <a:solidFill>
                    <a:srgbClr val="2C3E50"/>
                  </a:solidFill>
                  <a:latin typeface="Calibri (MS)"/>
                  <a:ea typeface="Calibri (MS)"/>
                  <a:cs typeface="Calibri (MS)"/>
                  <a:sym typeface="Calibri (MS)"/>
                </a:rPr>
                <a:t>, gia_ban </a:t>
              </a:r>
              <a:r>
                <a:rPr lang="en-US" sz="1182" b="1">
                  <a:solidFill>
                    <a:srgbClr val="007ACC"/>
                  </a:solidFill>
                  <a:latin typeface="Calibri (MS) Bold"/>
                  <a:ea typeface="Calibri (MS) Bold"/>
                  <a:cs typeface="Calibri (MS) Bold"/>
                  <a:sym typeface="Calibri (MS) Bold"/>
                </a:rPr>
                <a:t>DOUBLE</a:t>
              </a:r>
              <a:r>
                <a:rPr lang="en-US" sz="1182">
                  <a:solidFill>
                    <a:srgbClr val="2C3E50"/>
                  </a:solidFill>
                  <a:latin typeface="Calibri (MS)"/>
                  <a:ea typeface="Calibri (MS)"/>
                  <a:cs typeface="Calibri (MS)"/>
                  <a:sym typeface="Calibri (MS)"/>
                </a:rPr>
                <a:t>,</a:t>
              </a:r>
            </a:p>
            <a:p>
              <a:pPr algn="l">
                <a:lnSpc>
                  <a:spcPts val="1890"/>
                </a:lnSpc>
              </a:pPr>
              <a:r>
                <a:rPr lang="en-US" sz="1182">
                  <a:solidFill>
                    <a:srgbClr val="2C3E50"/>
                  </a:solidFill>
                  <a:latin typeface="Calibri (MS)"/>
                  <a:ea typeface="Calibri (MS)"/>
                  <a:cs typeface="Calibri (MS)"/>
                  <a:sym typeface="Calibri (MS)"/>
                </a:rPr>
                <a:t>  thanh_tien </a:t>
              </a:r>
              <a:r>
                <a:rPr lang="en-US" sz="1182" b="1">
                  <a:solidFill>
                    <a:srgbClr val="007ACC"/>
                  </a:solidFill>
                  <a:latin typeface="Calibri (MS) Bold"/>
                  <a:ea typeface="Calibri (MS) Bold"/>
                  <a:cs typeface="Calibri (MS) Bold"/>
                  <a:sym typeface="Calibri (MS) Bold"/>
                </a:rPr>
                <a:t>DOUBLE</a:t>
              </a:r>
              <a:r>
                <a:rPr lang="en-US" sz="1182">
                  <a:solidFill>
                    <a:srgbClr val="2C3E50"/>
                  </a:solidFill>
                  <a:latin typeface="Calibri (MS)"/>
                  <a:ea typeface="Calibri (MS)"/>
                  <a:cs typeface="Calibri (MS)"/>
                  <a:sym typeface="Calibri (MS)"/>
                </a:rPr>
                <a:t>, ngay_ban </a:t>
              </a:r>
              <a:r>
                <a:rPr lang="en-US" sz="1182" b="1">
                  <a:solidFill>
                    <a:srgbClr val="007ACC"/>
                  </a:solidFill>
                  <a:latin typeface="Calibri (MS) Bold"/>
                  <a:ea typeface="Calibri (MS) Bold"/>
                  <a:cs typeface="Calibri (MS) Bold"/>
                  <a:sym typeface="Calibri (MS) Bold"/>
                </a:rPr>
                <a:t>STRING</a:t>
              </a:r>
              <a:r>
                <a:rPr lang="en-US" sz="1182">
                  <a:solidFill>
                    <a:srgbClr val="2C3E50"/>
                  </a:solidFill>
                  <a:latin typeface="Calibri (MS)"/>
                  <a:ea typeface="Calibri (MS)"/>
                  <a:cs typeface="Calibri (MS)"/>
                  <a:sym typeface="Calibri (MS)"/>
                </a:rPr>
                <a:t>,</a:t>
              </a:r>
            </a:p>
            <a:p>
              <a:pPr algn="l">
                <a:lnSpc>
                  <a:spcPts val="1890"/>
                </a:lnSpc>
              </a:pPr>
              <a:r>
                <a:rPr lang="en-US" sz="1182">
                  <a:solidFill>
                    <a:srgbClr val="2C3E50"/>
                  </a:solidFill>
                  <a:latin typeface="Calibri (MS)"/>
                  <a:ea typeface="Calibri (MS)"/>
                  <a:cs typeface="Calibri (MS)"/>
                  <a:sym typeface="Calibri (MS)"/>
                </a:rPr>
                <a:t>  thanh_pho </a:t>
              </a:r>
              <a:r>
                <a:rPr lang="en-US" sz="1182" b="1">
                  <a:solidFill>
                    <a:srgbClr val="007ACC"/>
                  </a:solidFill>
                  <a:latin typeface="Calibri (MS) Bold"/>
                  <a:ea typeface="Calibri (MS) Bold"/>
                  <a:cs typeface="Calibri (MS) Bold"/>
                  <a:sym typeface="Calibri (MS) Bold"/>
                </a:rPr>
                <a:t>STRING</a:t>
              </a:r>
              <a:r>
                <a:rPr lang="en-US" sz="1182">
                  <a:solidFill>
                    <a:srgbClr val="2C3E50"/>
                  </a:solidFill>
                  <a:latin typeface="Calibri (MS)"/>
                  <a:ea typeface="Calibri (MS)"/>
                  <a:cs typeface="Calibri (MS)"/>
                  <a:sym typeface="Calibri (MS)"/>
                </a:rPr>
                <a:t>, hinh_thuc_tt </a:t>
              </a:r>
              <a:r>
                <a:rPr lang="en-US" sz="1182" b="1">
                  <a:solidFill>
                    <a:srgbClr val="007ACC"/>
                  </a:solidFill>
                  <a:latin typeface="Calibri (MS) Bold"/>
                  <a:ea typeface="Calibri (MS) Bold"/>
                  <a:cs typeface="Calibri (MS) Bold"/>
                  <a:sym typeface="Calibri (MS) Bold"/>
                </a:rPr>
                <a:t>STRING</a:t>
              </a:r>
            </a:p>
            <a:p>
              <a:pPr algn="l">
                <a:lnSpc>
                  <a:spcPts val="1890"/>
                </a:lnSpc>
              </a:pPr>
              <a:r>
                <a:rPr lang="en-US" sz="1182">
                  <a:solidFill>
                    <a:srgbClr val="2C3E50"/>
                  </a:solidFill>
                  <a:latin typeface="Calibri (MS)"/>
                  <a:ea typeface="Calibri (MS)"/>
                  <a:cs typeface="Calibri (MS)"/>
                  <a:sym typeface="Calibri (MS)"/>
                </a:rPr>
                <a:t>) </a:t>
              </a:r>
              <a:r>
                <a:rPr lang="en-US" sz="1182" b="1">
                  <a:solidFill>
                    <a:srgbClr val="007ACC"/>
                  </a:solidFill>
                  <a:latin typeface="Calibri (MS) Bold"/>
                  <a:ea typeface="Calibri (MS) Bold"/>
                  <a:cs typeface="Calibri (MS) Bold"/>
                  <a:sym typeface="Calibri (MS) Bold"/>
                </a:rPr>
                <a:t>ROW FORMAT DELIMITED</a:t>
              </a:r>
            </a:p>
            <a:p>
              <a:pPr algn="l">
                <a:lnSpc>
                  <a:spcPts val="1890"/>
                </a:lnSpc>
              </a:pPr>
              <a:r>
                <a:rPr lang="en-US" sz="1182">
                  <a:solidFill>
                    <a:srgbClr val="2C3E50"/>
                  </a:solidFill>
                  <a:latin typeface="Calibri (MS)"/>
                  <a:ea typeface="Calibri (MS)"/>
                  <a:cs typeface="Calibri (MS)"/>
                  <a:sym typeface="Calibri (MS)"/>
                </a:rPr>
                <a:t>  </a:t>
              </a:r>
              <a:r>
                <a:rPr lang="en-US" sz="1182" b="1">
                  <a:solidFill>
                    <a:srgbClr val="007ACC"/>
                  </a:solidFill>
                  <a:latin typeface="Calibri (MS) Bold"/>
                  <a:ea typeface="Calibri (MS) Bold"/>
                  <a:cs typeface="Calibri (MS) Bold"/>
                  <a:sym typeface="Calibri (MS) Bold"/>
                </a:rPr>
                <a:t>FIELDS TERMINATED BY</a:t>
              </a:r>
              <a:r>
                <a:rPr lang="en-US" sz="1182">
                  <a:solidFill>
                    <a:srgbClr val="2C3E50"/>
                  </a:solidFill>
                  <a:latin typeface="Calibri (MS)"/>
                  <a:ea typeface="Calibri (MS)"/>
                  <a:cs typeface="Calibri (MS)"/>
                  <a:sym typeface="Calibri (MS)"/>
                </a:rPr>
                <a:t> </a:t>
              </a:r>
              <a:r>
                <a:rPr lang="en-US" sz="1182">
                  <a:solidFill>
                    <a:srgbClr val="27AE60"/>
                  </a:solidFill>
                  <a:latin typeface="Calibri (MS)"/>
                  <a:ea typeface="Calibri (MS)"/>
                  <a:cs typeface="Calibri (MS)"/>
                  <a:sym typeface="Calibri (MS)"/>
                </a:rPr>
                <a:t>','</a:t>
              </a:r>
            </a:p>
            <a:p>
              <a:pPr algn="l">
                <a:lnSpc>
                  <a:spcPts val="1890"/>
                </a:lnSpc>
              </a:pPr>
              <a:r>
                <a:rPr lang="en-US" sz="1182">
                  <a:solidFill>
                    <a:srgbClr val="2C3E50"/>
                  </a:solidFill>
                  <a:latin typeface="Calibri (MS)"/>
                  <a:ea typeface="Calibri (MS)"/>
                  <a:cs typeface="Calibri (MS)"/>
                  <a:sym typeface="Calibri (MS)"/>
                </a:rPr>
                <a:t>  </a:t>
              </a:r>
              <a:r>
                <a:rPr lang="en-US" sz="1182" b="1">
                  <a:solidFill>
                    <a:srgbClr val="007ACC"/>
                  </a:solidFill>
                  <a:latin typeface="Calibri (MS) Bold"/>
                  <a:ea typeface="Calibri (MS) Bold"/>
                  <a:cs typeface="Calibri (MS) Bold"/>
                  <a:sym typeface="Calibri (MS) Bold"/>
                </a:rPr>
                <a:t>STORED AS TEXTFILE</a:t>
              </a:r>
              <a:r>
                <a:rPr lang="en-US" sz="1182">
                  <a:solidFill>
                    <a:srgbClr val="2C3E50"/>
                  </a:solidFill>
                  <a:latin typeface="Calibri (MS)"/>
                  <a:ea typeface="Calibri (MS)"/>
                  <a:cs typeface="Calibri (MS)"/>
                  <a:sym typeface="Calibri (MS)"/>
                </a:rPr>
                <a:t>;</a:t>
              </a:r>
            </a:p>
          </p:txBody>
        </p:sp>
      </p:grpSp>
      <p:grpSp>
        <p:nvGrpSpPr>
          <p:cNvPr id="137" name="Group 137"/>
          <p:cNvGrpSpPr/>
          <p:nvPr/>
        </p:nvGrpSpPr>
        <p:grpSpPr>
          <a:xfrm>
            <a:off x="9673981" y="4338714"/>
            <a:ext cx="457200" cy="457200"/>
            <a:chOff x="0" y="0"/>
            <a:chExt cx="609600" cy="609600"/>
          </a:xfrm>
        </p:grpSpPr>
        <p:sp>
          <p:nvSpPr>
            <p:cNvPr id="138" name="Freeform 138"/>
            <p:cNvSpPr/>
            <p:nvPr/>
          </p:nvSpPr>
          <p:spPr>
            <a:xfrm>
              <a:off x="0" y="0"/>
              <a:ext cx="609600" cy="609600"/>
            </a:xfrm>
            <a:custGeom>
              <a:avLst/>
              <a:gdLst/>
              <a:ahLst/>
              <a:cxnLst/>
              <a:rect l="l" t="t" r="r" b="b"/>
              <a:pathLst>
                <a:path w="609600" h="609600">
                  <a:moveTo>
                    <a:pt x="0" y="0"/>
                  </a:moveTo>
                  <a:lnTo>
                    <a:pt x="609600" y="0"/>
                  </a:lnTo>
                  <a:lnTo>
                    <a:pt x="609600" y="609600"/>
                  </a:lnTo>
                  <a:lnTo>
                    <a:pt x="0" y="609600"/>
                  </a:lnTo>
                  <a:close/>
                </a:path>
              </a:pathLst>
            </a:custGeom>
            <a:blipFill>
              <a:blip r:embed="rId37">
                <a:alphaModFix amt="0"/>
              </a:blip>
              <a:stretch>
                <a:fillRect l="-78303" r="-78303"/>
              </a:stretch>
            </a:blipFill>
          </p:spPr>
        </p:sp>
        <p:sp>
          <p:nvSpPr>
            <p:cNvPr id="139" name="TextBox 139"/>
            <p:cNvSpPr txBox="1"/>
            <p:nvPr/>
          </p:nvSpPr>
          <p:spPr>
            <a:xfrm>
              <a:off x="0" y="-66675"/>
              <a:ext cx="609600" cy="676275"/>
            </a:xfrm>
            <a:prstGeom prst="rect">
              <a:avLst/>
            </a:prstGeom>
          </p:spPr>
          <p:txBody>
            <a:bodyPr lIns="0" tIns="0" rIns="0" bIns="0" rtlCol="0" anchor="ctr"/>
            <a:lstStyle/>
            <a:p>
              <a:pPr algn="l">
                <a:lnSpc>
                  <a:spcPts val="2362"/>
                </a:lnSpc>
              </a:pPr>
              <a:r>
                <a:rPr lang="en-US" sz="1575" b="1">
                  <a:solidFill>
                    <a:srgbClr val="FFFFFF"/>
                  </a:solidFill>
                  <a:latin typeface="Calibri (MS) Bold"/>
                  <a:ea typeface="Calibri (MS) Bold"/>
                  <a:cs typeface="Calibri (MS) Bold"/>
                  <a:sym typeface="Calibri (MS) Bold"/>
                </a:rPr>
                <a:t>4</a:t>
              </a:r>
            </a:p>
          </p:txBody>
        </p:sp>
      </p:grpSp>
      <p:grpSp>
        <p:nvGrpSpPr>
          <p:cNvPr id="140" name="Group 140"/>
          <p:cNvGrpSpPr/>
          <p:nvPr/>
        </p:nvGrpSpPr>
        <p:grpSpPr>
          <a:xfrm>
            <a:off x="10433447" y="4310139"/>
            <a:ext cx="7358062" cy="278606"/>
            <a:chOff x="0" y="0"/>
            <a:chExt cx="9810750" cy="371475"/>
          </a:xfrm>
        </p:grpSpPr>
        <p:sp>
          <p:nvSpPr>
            <p:cNvPr id="141" name="Freeform 141"/>
            <p:cNvSpPr/>
            <p:nvPr/>
          </p:nvSpPr>
          <p:spPr>
            <a:xfrm>
              <a:off x="0" y="0"/>
              <a:ext cx="9810750" cy="371476"/>
            </a:xfrm>
            <a:custGeom>
              <a:avLst/>
              <a:gdLst/>
              <a:ahLst/>
              <a:cxnLst/>
              <a:rect l="l" t="t" r="r" b="b"/>
              <a:pathLst>
                <a:path w="9810750" h="371476">
                  <a:moveTo>
                    <a:pt x="0" y="0"/>
                  </a:moveTo>
                  <a:lnTo>
                    <a:pt x="9810750" y="0"/>
                  </a:lnTo>
                  <a:lnTo>
                    <a:pt x="9810750" y="371476"/>
                  </a:lnTo>
                  <a:lnTo>
                    <a:pt x="0" y="371476"/>
                  </a:lnTo>
                  <a:close/>
                </a:path>
              </a:pathLst>
            </a:custGeom>
            <a:blipFill>
              <a:blip r:embed="rId37">
                <a:alphaModFix amt="0"/>
              </a:blip>
              <a:stretch>
                <a:fillRect t="-464603" b="-464603"/>
              </a:stretch>
            </a:blipFill>
          </p:spPr>
        </p:sp>
        <p:sp>
          <p:nvSpPr>
            <p:cNvPr id="142" name="TextBox 142"/>
            <p:cNvSpPr txBox="1"/>
            <p:nvPr/>
          </p:nvSpPr>
          <p:spPr>
            <a:xfrm>
              <a:off x="0" y="-66675"/>
              <a:ext cx="9810750" cy="438150"/>
            </a:xfrm>
            <a:prstGeom prst="rect">
              <a:avLst/>
            </a:prstGeom>
          </p:spPr>
          <p:txBody>
            <a:bodyPr lIns="0" tIns="0" rIns="0" bIns="0" rtlCol="0" anchor="ctr"/>
            <a:lstStyle/>
            <a:p>
              <a:pPr algn="l">
                <a:lnSpc>
                  <a:spcPts val="2194"/>
                </a:lnSpc>
              </a:pPr>
              <a:r>
                <a:rPr lang="en-US" sz="1462" b="1">
                  <a:solidFill>
                    <a:srgbClr val="2C3E50"/>
                  </a:solidFill>
                  <a:latin typeface="Calibri (MS) Bold"/>
                  <a:ea typeface="Calibri (MS) Bold"/>
                  <a:cs typeface="Calibri (MS) Bold"/>
                  <a:sym typeface="Calibri (MS) Bold"/>
                </a:rPr>
                <a:t>Nạp dữ liệu vào bảng Hive</a:t>
              </a:r>
            </a:p>
          </p:txBody>
        </p:sp>
      </p:grpSp>
      <p:grpSp>
        <p:nvGrpSpPr>
          <p:cNvPr id="143" name="Group 143"/>
          <p:cNvGrpSpPr/>
          <p:nvPr/>
        </p:nvGrpSpPr>
        <p:grpSpPr>
          <a:xfrm>
            <a:off x="10129838" y="4645895"/>
            <a:ext cx="7358062" cy="479974"/>
            <a:chOff x="0" y="0"/>
            <a:chExt cx="9810750" cy="639966"/>
          </a:xfrm>
        </p:grpSpPr>
        <p:sp>
          <p:nvSpPr>
            <p:cNvPr id="144" name="Freeform 144"/>
            <p:cNvSpPr/>
            <p:nvPr/>
          </p:nvSpPr>
          <p:spPr>
            <a:xfrm>
              <a:off x="0" y="0"/>
              <a:ext cx="9810750" cy="639960"/>
            </a:xfrm>
            <a:custGeom>
              <a:avLst/>
              <a:gdLst/>
              <a:ahLst/>
              <a:cxnLst/>
              <a:rect l="l" t="t" r="r" b="b"/>
              <a:pathLst>
                <a:path w="9810750" h="639960">
                  <a:moveTo>
                    <a:pt x="0" y="0"/>
                  </a:moveTo>
                  <a:lnTo>
                    <a:pt x="9810750" y="0"/>
                  </a:lnTo>
                  <a:lnTo>
                    <a:pt x="9810750" y="639960"/>
                  </a:lnTo>
                  <a:lnTo>
                    <a:pt x="0" y="639960"/>
                  </a:lnTo>
                  <a:close/>
                </a:path>
              </a:pathLst>
            </a:custGeom>
            <a:blipFill>
              <a:blip r:embed="rId37">
                <a:alphaModFix amt="0"/>
              </a:blip>
              <a:stretch>
                <a:fillRect t="-248710" b="-248711"/>
              </a:stretch>
            </a:blipFill>
          </p:spPr>
        </p:sp>
        <p:sp>
          <p:nvSpPr>
            <p:cNvPr id="145" name="TextBox 145"/>
            <p:cNvSpPr txBox="1"/>
            <p:nvPr/>
          </p:nvSpPr>
          <p:spPr>
            <a:xfrm>
              <a:off x="0" y="-47625"/>
              <a:ext cx="9810750" cy="687591"/>
            </a:xfrm>
            <a:prstGeom prst="rect">
              <a:avLst/>
            </a:prstGeom>
          </p:spPr>
          <p:txBody>
            <a:bodyPr lIns="0" tIns="0" rIns="0" bIns="0" rtlCol="0" anchor="ctr"/>
            <a:lstStyle/>
            <a:p>
              <a:pPr algn="l">
                <a:lnSpc>
                  <a:spcPts val="1889"/>
                </a:lnSpc>
              </a:pPr>
              <a:r>
                <a:rPr lang="en-US" sz="1350">
                  <a:solidFill>
                    <a:srgbClr val="555E6B"/>
                  </a:solidFill>
                  <a:latin typeface="Calibri (MS)"/>
                  <a:ea typeface="Calibri (MS)"/>
                  <a:cs typeface="Calibri (MS)"/>
                  <a:sym typeface="Calibri (MS)"/>
                </a:rPr>
                <a:t>Chuyển file CSV từ đường dẫn HDFS vào bảng đã tạo để bắt đầu thực thi các truy vấn phân tích.</a:t>
              </a:r>
            </a:p>
          </p:txBody>
        </p:sp>
      </p:grpSp>
      <p:grpSp>
        <p:nvGrpSpPr>
          <p:cNvPr id="146" name="Group 146"/>
          <p:cNvGrpSpPr/>
          <p:nvPr/>
        </p:nvGrpSpPr>
        <p:grpSpPr>
          <a:xfrm>
            <a:off x="10244138" y="5240169"/>
            <a:ext cx="7129462" cy="585788"/>
            <a:chOff x="0" y="0"/>
            <a:chExt cx="9505950" cy="781050"/>
          </a:xfrm>
        </p:grpSpPr>
        <p:sp>
          <p:nvSpPr>
            <p:cNvPr id="147" name="Freeform 147"/>
            <p:cNvSpPr/>
            <p:nvPr/>
          </p:nvSpPr>
          <p:spPr>
            <a:xfrm>
              <a:off x="0" y="0"/>
              <a:ext cx="9505950" cy="781050"/>
            </a:xfrm>
            <a:custGeom>
              <a:avLst/>
              <a:gdLst/>
              <a:ahLst/>
              <a:cxnLst/>
              <a:rect l="l" t="t" r="r" b="b"/>
              <a:pathLst>
                <a:path w="9505950" h="781050">
                  <a:moveTo>
                    <a:pt x="0" y="0"/>
                  </a:moveTo>
                  <a:lnTo>
                    <a:pt x="9505950" y="0"/>
                  </a:lnTo>
                  <a:lnTo>
                    <a:pt x="9505950" y="781050"/>
                  </a:lnTo>
                  <a:lnTo>
                    <a:pt x="0" y="781050"/>
                  </a:lnTo>
                  <a:close/>
                </a:path>
              </a:pathLst>
            </a:custGeom>
            <a:blipFill>
              <a:blip r:embed="rId37">
                <a:alphaModFix amt="0"/>
              </a:blip>
              <a:stretch>
                <a:fillRect t="-187147" b="-187147"/>
              </a:stretch>
            </a:blipFill>
          </p:spPr>
        </p:sp>
        <p:sp>
          <p:nvSpPr>
            <p:cNvPr id="148" name="TextBox 148"/>
            <p:cNvSpPr txBox="1"/>
            <p:nvPr/>
          </p:nvSpPr>
          <p:spPr>
            <a:xfrm>
              <a:off x="0" y="-57150"/>
              <a:ext cx="9505950" cy="838200"/>
            </a:xfrm>
            <a:prstGeom prst="rect">
              <a:avLst/>
            </a:prstGeom>
          </p:spPr>
          <p:txBody>
            <a:bodyPr lIns="0" tIns="0" rIns="0" bIns="0" rtlCol="0" anchor="ctr"/>
            <a:lstStyle/>
            <a:p>
              <a:pPr algn="l">
                <a:lnSpc>
                  <a:spcPts val="1857"/>
                </a:lnSpc>
              </a:pPr>
              <a:r>
                <a:rPr lang="en-US" sz="1237">
                  <a:solidFill>
                    <a:srgbClr val="E67E22"/>
                  </a:solidFill>
                  <a:latin typeface="Calibri (MS)"/>
                  <a:ea typeface="Calibri (MS)"/>
                  <a:cs typeface="Calibri (MS)"/>
                  <a:sym typeface="Calibri (MS)"/>
                </a:rPr>
                <a:t>LOAD DATA INPATH '/user/hive/warehouse/du_lieu_ban_hang.csv' INTO TABLE ban_hang_dien_may;</a:t>
              </a:r>
            </a:p>
          </p:txBody>
        </p:sp>
      </p:grpSp>
      <p:grpSp>
        <p:nvGrpSpPr>
          <p:cNvPr id="149" name="Group 149"/>
          <p:cNvGrpSpPr/>
          <p:nvPr/>
        </p:nvGrpSpPr>
        <p:grpSpPr>
          <a:xfrm>
            <a:off x="9876234" y="6154569"/>
            <a:ext cx="7929562" cy="278606"/>
            <a:chOff x="0" y="0"/>
            <a:chExt cx="10572750" cy="371475"/>
          </a:xfrm>
        </p:grpSpPr>
        <p:sp>
          <p:nvSpPr>
            <p:cNvPr id="150" name="Freeform 150"/>
            <p:cNvSpPr/>
            <p:nvPr/>
          </p:nvSpPr>
          <p:spPr>
            <a:xfrm>
              <a:off x="0" y="0"/>
              <a:ext cx="10572750" cy="371476"/>
            </a:xfrm>
            <a:custGeom>
              <a:avLst/>
              <a:gdLst/>
              <a:ahLst/>
              <a:cxnLst/>
              <a:rect l="l" t="t" r="r" b="b"/>
              <a:pathLst>
                <a:path w="10572750" h="371476">
                  <a:moveTo>
                    <a:pt x="0" y="0"/>
                  </a:moveTo>
                  <a:lnTo>
                    <a:pt x="10572750" y="0"/>
                  </a:lnTo>
                  <a:lnTo>
                    <a:pt x="10572750" y="371476"/>
                  </a:lnTo>
                  <a:lnTo>
                    <a:pt x="0" y="371476"/>
                  </a:lnTo>
                  <a:close/>
                </a:path>
              </a:pathLst>
            </a:custGeom>
            <a:blipFill>
              <a:blip r:embed="rId37">
                <a:alphaModFix amt="0"/>
              </a:blip>
              <a:stretch>
                <a:fillRect t="-504572" b="-504572"/>
              </a:stretch>
            </a:blipFill>
          </p:spPr>
        </p:sp>
        <p:sp>
          <p:nvSpPr>
            <p:cNvPr id="151" name="TextBox 151"/>
            <p:cNvSpPr txBox="1"/>
            <p:nvPr/>
          </p:nvSpPr>
          <p:spPr>
            <a:xfrm>
              <a:off x="0" y="-66675"/>
              <a:ext cx="10572750" cy="438150"/>
            </a:xfrm>
            <a:prstGeom prst="rect">
              <a:avLst/>
            </a:prstGeom>
          </p:spPr>
          <p:txBody>
            <a:bodyPr lIns="0" tIns="0" rIns="0" bIns="0" rtlCol="0" anchor="ctr"/>
            <a:lstStyle/>
            <a:p>
              <a:pPr algn="l">
                <a:lnSpc>
                  <a:spcPts val="2194"/>
                </a:lnSpc>
              </a:pPr>
              <a:r>
                <a:rPr lang="en-US" sz="1462" b="1" spc="36">
                  <a:solidFill>
                    <a:srgbClr val="E67E22"/>
                  </a:solidFill>
                  <a:latin typeface="Calibri (MS) Bold"/>
                  <a:ea typeface="Calibri (MS) Bold"/>
                  <a:cs typeface="Calibri (MS) Bold"/>
                  <a:sym typeface="Calibri (MS) Bold"/>
                </a:rPr>
                <a:t>KẾT QUẢ NẠP DỮ LIỆU THÀNH CÔNG</a:t>
              </a:r>
            </a:p>
          </p:txBody>
        </p:sp>
      </p:grpSp>
      <p:grpSp>
        <p:nvGrpSpPr>
          <p:cNvPr id="152" name="Group 152"/>
          <p:cNvGrpSpPr/>
          <p:nvPr/>
        </p:nvGrpSpPr>
        <p:grpSpPr>
          <a:xfrm>
            <a:off x="10377192" y="6576041"/>
            <a:ext cx="571500" cy="428625"/>
            <a:chOff x="0" y="0"/>
            <a:chExt cx="762000" cy="571500"/>
          </a:xfrm>
        </p:grpSpPr>
        <p:sp>
          <p:nvSpPr>
            <p:cNvPr id="153" name="Freeform 153"/>
            <p:cNvSpPr/>
            <p:nvPr/>
          </p:nvSpPr>
          <p:spPr>
            <a:xfrm>
              <a:off x="0" y="0"/>
              <a:ext cx="762000" cy="571500"/>
            </a:xfrm>
            <a:custGeom>
              <a:avLst/>
              <a:gdLst/>
              <a:ahLst/>
              <a:cxnLst/>
              <a:rect l="l" t="t" r="r" b="b"/>
              <a:pathLst>
                <a:path w="762000" h="571500">
                  <a:moveTo>
                    <a:pt x="0" y="0"/>
                  </a:moveTo>
                  <a:lnTo>
                    <a:pt x="762000" y="0"/>
                  </a:lnTo>
                  <a:lnTo>
                    <a:pt x="762000" y="571500"/>
                  </a:lnTo>
                  <a:lnTo>
                    <a:pt x="0" y="571500"/>
                  </a:lnTo>
                  <a:close/>
                </a:path>
              </a:pathLst>
            </a:custGeom>
            <a:blipFill>
              <a:blip r:embed="rId37">
                <a:alphaModFix amt="0"/>
              </a:blip>
              <a:stretch>
                <a:fillRect l="-46227" r="-46227"/>
              </a:stretch>
            </a:blipFill>
          </p:spPr>
        </p:sp>
        <p:sp>
          <p:nvSpPr>
            <p:cNvPr id="154" name="TextBox 154"/>
            <p:cNvSpPr txBox="1"/>
            <p:nvPr/>
          </p:nvSpPr>
          <p:spPr>
            <a:xfrm>
              <a:off x="0" y="-114300"/>
              <a:ext cx="762000" cy="685800"/>
            </a:xfrm>
            <a:prstGeom prst="rect">
              <a:avLst/>
            </a:prstGeom>
          </p:spPr>
          <p:txBody>
            <a:bodyPr lIns="0" tIns="0" rIns="0" bIns="0" rtlCol="0" anchor="ctr"/>
            <a:lstStyle/>
            <a:p>
              <a:pPr algn="l">
                <a:lnSpc>
                  <a:spcPts val="3375"/>
                </a:lnSpc>
              </a:pPr>
              <a:r>
                <a:rPr lang="en-US" sz="2250" b="1">
                  <a:solidFill>
                    <a:srgbClr val="007ACC"/>
                  </a:solidFill>
                  <a:latin typeface="Calibri (MS) Bold"/>
                  <a:ea typeface="Calibri (MS) Bold"/>
                  <a:cs typeface="Calibri (MS) Bold"/>
                  <a:sym typeface="Calibri (MS) Bold"/>
                </a:rPr>
                <a:t>1</a:t>
              </a:r>
            </a:p>
          </p:txBody>
        </p:sp>
      </p:grpSp>
      <p:grpSp>
        <p:nvGrpSpPr>
          <p:cNvPr id="155" name="Group 155"/>
          <p:cNvGrpSpPr/>
          <p:nvPr/>
        </p:nvGrpSpPr>
        <p:grpSpPr>
          <a:xfrm>
            <a:off x="9759925" y="7033241"/>
            <a:ext cx="1393250" cy="235744"/>
            <a:chOff x="0" y="0"/>
            <a:chExt cx="1857667" cy="314325"/>
          </a:xfrm>
        </p:grpSpPr>
        <p:sp>
          <p:nvSpPr>
            <p:cNvPr id="156" name="Freeform 156"/>
            <p:cNvSpPr/>
            <p:nvPr/>
          </p:nvSpPr>
          <p:spPr>
            <a:xfrm>
              <a:off x="0" y="0"/>
              <a:ext cx="1857672" cy="314326"/>
            </a:xfrm>
            <a:custGeom>
              <a:avLst/>
              <a:gdLst/>
              <a:ahLst/>
              <a:cxnLst/>
              <a:rect l="l" t="t" r="r" b="b"/>
              <a:pathLst>
                <a:path w="1857672" h="314326">
                  <a:moveTo>
                    <a:pt x="0" y="0"/>
                  </a:moveTo>
                  <a:lnTo>
                    <a:pt x="1857672" y="0"/>
                  </a:lnTo>
                  <a:lnTo>
                    <a:pt x="1857672" y="314326"/>
                  </a:lnTo>
                  <a:lnTo>
                    <a:pt x="0" y="314326"/>
                  </a:lnTo>
                  <a:close/>
                </a:path>
              </a:pathLst>
            </a:custGeom>
            <a:blipFill>
              <a:blip r:embed="rId37">
                <a:alphaModFix amt="0"/>
              </a:blip>
              <a:stretch>
                <a:fillRect t="-65156" b="-65156"/>
              </a:stretch>
            </a:blipFill>
          </p:spPr>
        </p:sp>
        <p:sp>
          <p:nvSpPr>
            <p:cNvPr id="157" name="TextBox 157"/>
            <p:cNvSpPr txBox="1"/>
            <p:nvPr/>
          </p:nvSpPr>
          <p:spPr>
            <a:xfrm>
              <a:off x="0" y="-57150"/>
              <a:ext cx="1857667" cy="371475"/>
            </a:xfrm>
            <a:prstGeom prst="rect">
              <a:avLst/>
            </a:prstGeom>
          </p:spPr>
          <p:txBody>
            <a:bodyPr lIns="0" tIns="0" rIns="0" bIns="0" rtlCol="0" anchor="ctr"/>
            <a:lstStyle/>
            <a:p>
              <a:pPr algn="ctr">
                <a:lnSpc>
                  <a:spcPts val="1857"/>
                </a:lnSpc>
              </a:pPr>
              <a:r>
                <a:rPr lang="en-US" sz="1237">
                  <a:solidFill>
                    <a:srgbClr val="555E6B"/>
                  </a:solidFill>
                  <a:latin typeface="Calibri (MS)"/>
                  <a:ea typeface="Calibri (MS)"/>
                  <a:cs typeface="Calibri (MS)"/>
                  <a:sym typeface="Calibri (MS)"/>
                </a:rPr>
                <a:t>File nạp thành công</a:t>
              </a:r>
            </a:p>
          </p:txBody>
        </p:sp>
      </p:grpSp>
      <p:grpSp>
        <p:nvGrpSpPr>
          <p:cNvPr id="158" name="Group 158"/>
          <p:cNvGrpSpPr/>
          <p:nvPr/>
        </p:nvGrpSpPr>
        <p:grpSpPr>
          <a:xfrm>
            <a:off x="12080529" y="6576041"/>
            <a:ext cx="2628900" cy="428625"/>
            <a:chOff x="0" y="0"/>
            <a:chExt cx="3505200" cy="571500"/>
          </a:xfrm>
        </p:grpSpPr>
        <p:sp>
          <p:nvSpPr>
            <p:cNvPr id="159" name="Freeform 159"/>
            <p:cNvSpPr/>
            <p:nvPr/>
          </p:nvSpPr>
          <p:spPr>
            <a:xfrm>
              <a:off x="0" y="0"/>
              <a:ext cx="3505200" cy="571500"/>
            </a:xfrm>
            <a:custGeom>
              <a:avLst/>
              <a:gdLst/>
              <a:ahLst/>
              <a:cxnLst/>
              <a:rect l="l" t="t" r="r" b="b"/>
              <a:pathLst>
                <a:path w="3505200" h="571500">
                  <a:moveTo>
                    <a:pt x="0" y="0"/>
                  </a:moveTo>
                  <a:lnTo>
                    <a:pt x="3505200" y="0"/>
                  </a:lnTo>
                  <a:lnTo>
                    <a:pt x="3505200" y="571500"/>
                  </a:lnTo>
                  <a:lnTo>
                    <a:pt x="0" y="571500"/>
                  </a:lnTo>
                  <a:close/>
                </a:path>
              </a:pathLst>
            </a:custGeom>
            <a:blipFill>
              <a:blip r:embed="rId37">
                <a:alphaModFix amt="0"/>
              </a:blip>
              <a:stretch>
                <a:fillRect t="-69508" b="-69508"/>
              </a:stretch>
            </a:blipFill>
          </p:spPr>
        </p:sp>
        <p:sp>
          <p:nvSpPr>
            <p:cNvPr id="160" name="TextBox 160"/>
            <p:cNvSpPr txBox="1"/>
            <p:nvPr/>
          </p:nvSpPr>
          <p:spPr>
            <a:xfrm>
              <a:off x="0" y="-114300"/>
              <a:ext cx="3505200" cy="685800"/>
            </a:xfrm>
            <a:prstGeom prst="rect">
              <a:avLst/>
            </a:prstGeom>
          </p:spPr>
          <p:txBody>
            <a:bodyPr lIns="0" tIns="0" rIns="0" bIns="0" rtlCol="0" anchor="ctr"/>
            <a:lstStyle/>
            <a:p>
              <a:pPr algn="l">
                <a:lnSpc>
                  <a:spcPts val="3375"/>
                </a:lnSpc>
              </a:pPr>
              <a:r>
                <a:rPr lang="en-US" sz="2250" b="1">
                  <a:solidFill>
                    <a:srgbClr val="007ACC"/>
                  </a:solidFill>
                  <a:latin typeface="Calibri (MS) Bold"/>
                  <a:ea typeface="Calibri (MS) Bold"/>
                  <a:cs typeface="Calibri (MS) Bold"/>
                  <a:sym typeface="Calibri (MS) Bold"/>
                </a:rPr>
                <a:t>1000+</a:t>
              </a:r>
            </a:p>
          </p:txBody>
        </p:sp>
      </p:grpSp>
      <p:grpSp>
        <p:nvGrpSpPr>
          <p:cNvPr id="161" name="Group 161"/>
          <p:cNvGrpSpPr/>
          <p:nvPr/>
        </p:nvGrpSpPr>
        <p:grpSpPr>
          <a:xfrm>
            <a:off x="11943007" y="7033241"/>
            <a:ext cx="1077811" cy="235744"/>
            <a:chOff x="0" y="0"/>
            <a:chExt cx="1437081" cy="314325"/>
          </a:xfrm>
        </p:grpSpPr>
        <p:sp>
          <p:nvSpPr>
            <p:cNvPr id="162" name="Freeform 162"/>
            <p:cNvSpPr/>
            <p:nvPr/>
          </p:nvSpPr>
          <p:spPr>
            <a:xfrm>
              <a:off x="0" y="0"/>
              <a:ext cx="1437084" cy="314326"/>
            </a:xfrm>
            <a:custGeom>
              <a:avLst/>
              <a:gdLst/>
              <a:ahLst/>
              <a:cxnLst/>
              <a:rect l="l" t="t" r="r" b="b"/>
              <a:pathLst>
                <a:path w="1437084" h="314326">
                  <a:moveTo>
                    <a:pt x="0" y="0"/>
                  </a:moveTo>
                  <a:lnTo>
                    <a:pt x="1437084" y="0"/>
                  </a:lnTo>
                  <a:lnTo>
                    <a:pt x="1437084" y="314326"/>
                  </a:lnTo>
                  <a:lnTo>
                    <a:pt x="0" y="314326"/>
                  </a:lnTo>
                  <a:close/>
                </a:path>
              </a:pathLst>
            </a:custGeom>
            <a:blipFill>
              <a:blip r:embed="rId37">
                <a:alphaModFix amt="0"/>
              </a:blip>
              <a:stretch>
                <a:fillRect t="-39084" b="-39084"/>
              </a:stretch>
            </a:blipFill>
          </p:spPr>
        </p:sp>
        <p:sp>
          <p:nvSpPr>
            <p:cNvPr id="163" name="TextBox 163"/>
            <p:cNvSpPr txBox="1"/>
            <p:nvPr/>
          </p:nvSpPr>
          <p:spPr>
            <a:xfrm>
              <a:off x="0" y="-57150"/>
              <a:ext cx="1437081" cy="371475"/>
            </a:xfrm>
            <a:prstGeom prst="rect">
              <a:avLst/>
            </a:prstGeom>
          </p:spPr>
          <p:txBody>
            <a:bodyPr lIns="0" tIns="0" rIns="0" bIns="0" rtlCol="0" anchor="ctr"/>
            <a:lstStyle/>
            <a:p>
              <a:pPr algn="ctr">
                <a:lnSpc>
                  <a:spcPts val="1857"/>
                </a:lnSpc>
              </a:pPr>
              <a:r>
                <a:rPr lang="en-US" sz="1237">
                  <a:solidFill>
                    <a:srgbClr val="555E6B"/>
                  </a:solidFill>
                  <a:latin typeface="Calibri (MS)"/>
                  <a:ea typeface="Calibri (MS)"/>
                  <a:cs typeface="Calibri (MS)"/>
                  <a:sym typeface="Calibri (MS)"/>
                </a:rPr>
                <a:t>Bản ghi dữ liệu</a:t>
              </a:r>
            </a:p>
          </p:txBody>
        </p:sp>
      </p:grpSp>
      <p:grpSp>
        <p:nvGrpSpPr>
          <p:cNvPr id="164" name="Group 164"/>
          <p:cNvGrpSpPr/>
          <p:nvPr/>
        </p:nvGrpSpPr>
        <p:grpSpPr>
          <a:xfrm>
            <a:off x="14022734" y="6576041"/>
            <a:ext cx="2743200" cy="428625"/>
            <a:chOff x="0" y="0"/>
            <a:chExt cx="3657600" cy="571500"/>
          </a:xfrm>
        </p:grpSpPr>
        <p:sp>
          <p:nvSpPr>
            <p:cNvPr id="165" name="Freeform 165"/>
            <p:cNvSpPr/>
            <p:nvPr/>
          </p:nvSpPr>
          <p:spPr>
            <a:xfrm>
              <a:off x="0" y="0"/>
              <a:ext cx="3657600" cy="571500"/>
            </a:xfrm>
            <a:custGeom>
              <a:avLst/>
              <a:gdLst/>
              <a:ahLst/>
              <a:cxnLst/>
              <a:rect l="l" t="t" r="r" b="b"/>
              <a:pathLst>
                <a:path w="3657600" h="571500">
                  <a:moveTo>
                    <a:pt x="0" y="0"/>
                  </a:moveTo>
                  <a:lnTo>
                    <a:pt x="3657600" y="0"/>
                  </a:lnTo>
                  <a:lnTo>
                    <a:pt x="3657600" y="571500"/>
                  </a:lnTo>
                  <a:lnTo>
                    <a:pt x="0" y="571500"/>
                  </a:lnTo>
                  <a:close/>
                </a:path>
              </a:pathLst>
            </a:custGeom>
            <a:blipFill>
              <a:blip r:embed="rId37">
                <a:alphaModFix amt="0"/>
              </a:blip>
              <a:stretch>
                <a:fillRect t="-74704" b="-74704"/>
              </a:stretch>
            </a:blipFill>
          </p:spPr>
        </p:sp>
        <p:sp>
          <p:nvSpPr>
            <p:cNvPr id="166" name="TextBox 166"/>
            <p:cNvSpPr txBox="1"/>
            <p:nvPr/>
          </p:nvSpPr>
          <p:spPr>
            <a:xfrm>
              <a:off x="0" y="-114300"/>
              <a:ext cx="3657600" cy="685800"/>
            </a:xfrm>
            <a:prstGeom prst="rect">
              <a:avLst/>
            </a:prstGeom>
          </p:spPr>
          <p:txBody>
            <a:bodyPr lIns="0" tIns="0" rIns="0" bIns="0" rtlCol="0" anchor="ctr"/>
            <a:lstStyle/>
            <a:p>
              <a:pPr algn="l">
                <a:lnSpc>
                  <a:spcPts val="3375"/>
                </a:lnSpc>
              </a:pPr>
              <a:r>
                <a:rPr lang="en-US" sz="2250" b="1">
                  <a:solidFill>
                    <a:srgbClr val="007ACC"/>
                  </a:solidFill>
                  <a:latin typeface="Calibri (MS) Bold"/>
                  <a:ea typeface="Calibri (MS) Bold"/>
                  <a:cs typeface="Calibri (MS) Bold"/>
                  <a:sym typeface="Calibri (MS) Bold"/>
                </a:rPr>
                <a:t>253 KB</a:t>
              </a:r>
            </a:p>
          </p:txBody>
        </p:sp>
      </p:grpSp>
      <p:grpSp>
        <p:nvGrpSpPr>
          <p:cNvPr id="167" name="Group 167"/>
          <p:cNvGrpSpPr/>
          <p:nvPr/>
        </p:nvGrpSpPr>
        <p:grpSpPr>
          <a:xfrm>
            <a:off x="13898394" y="7033241"/>
            <a:ext cx="1217562" cy="235744"/>
            <a:chOff x="0" y="0"/>
            <a:chExt cx="1623416" cy="314325"/>
          </a:xfrm>
        </p:grpSpPr>
        <p:sp>
          <p:nvSpPr>
            <p:cNvPr id="168" name="Freeform 168"/>
            <p:cNvSpPr/>
            <p:nvPr/>
          </p:nvSpPr>
          <p:spPr>
            <a:xfrm>
              <a:off x="0" y="0"/>
              <a:ext cx="1623418" cy="314326"/>
            </a:xfrm>
            <a:custGeom>
              <a:avLst/>
              <a:gdLst/>
              <a:ahLst/>
              <a:cxnLst/>
              <a:rect l="l" t="t" r="r" b="b"/>
              <a:pathLst>
                <a:path w="1623418" h="314326">
                  <a:moveTo>
                    <a:pt x="0" y="0"/>
                  </a:moveTo>
                  <a:lnTo>
                    <a:pt x="1623418" y="0"/>
                  </a:lnTo>
                  <a:lnTo>
                    <a:pt x="1623418" y="314326"/>
                  </a:lnTo>
                  <a:lnTo>
                    <a:pt x="0" y="314326"/>
                  </a:lnTo>
                  <a:close/>
                </a:path>
              </a:pathLst>
            </a:custGeom>
            <a:blipFill>
              <a:blip r:embed="rId37">
                <a:alphaModFix amt="0"/>
              </a:blip>
              <a:stretch>
                <a:fillRect t="-50635" b="-50635"/>
              </a:stretch>
            </a:blipFill>
          </p:spPr>
        </p:sp>
        <p:sp>
          <p:nvSpPr>
            <p:cNvPr id="169" name="TextBox 169"/>
            <p:cNvSpPr txBox="1"/>
            <p:nvPr/>
          </p:nvSpPr>
          <p:spPr>
            <a:xfrm>
              <a:off x="0" y="-57150"/>
              <a:ext cx="1623416" cy="371475"/>
            </a:xfrm>
            <a:prstGeom prst="rect">
              <a:avLst/>
            </a:prstGeom>
          </p:spPr>
          <p:txBody>
            <a:bodyPr lIns="0" tIns="0" rIns="0" bIns="0" rtlCol="0" anchor="ctr"/>
            <a:lstStyle/>
            <a:p>
              <a:pPr algn="ctr">
                <a:lnSpc>
                  <a:spcPts val="1857"/>
                </a:lnSpc>
              </a:pPr>
              <a:r>
                <a:rPr lang="en-US" sz="1237">
                  <a:solidFill>
                    <a:srgbClr val="555E6B"/>
                  </a:solidFill>
                  <a:latin typeface="Calibri (MS)"/>
                  <a:ea typeface="Calibri (MS)"/>
                  <a:cs typeface="Calibri (MS)"/>
                  <a:sym typeface="Calibri (MS)"/>
                </a:rPr>
                <a:t>Tổng dung lượng</a:t>
              </a:r>
            </a:p>
          </p:txBody>
        </p:sp>
      </p:grpSp>
      <p:grpSp>
        <p:nvGrpSpPr>
          <p:cNvPr id="170" name="Group 170"/>
          <p:cNvGrpSpPr/>
          <p:nvPr/>
        </p:nvGrpSpPr>
        <p:grpSpPr>
          <a:xfrm>
            <a:off x="16373475" y="6576041"/>
            <a:ext cx="1143000" cy="428625"/>
            <a:chOff x="0" y="0"/>
            <a:chExt cx="1524000" cy="571500"/>
          </a:xfrm>
        </p:grpSpPr>
        <p:sp>
          <p:nvSpPr>
            <p:cNvPr id="171" name="Freeform 171"/>
            <p:cNvSpPr/>
            <p:nvPr/>
          </p:nvSpPr>
          <p:spPr>
            <a:xfrm>
              <a:off x="0" y="0"/>
              <a:ext cx="1524000" cy="571500"/>
            </a:xfrm>
            <a:custGeom>
              <a:avLst/>
              <a:gdLst/>
              <a:ahLst/>
              <a:cxnLst/>
              <a:rect l="l" t="t" r="r" b="b"/>
              <a:pathLst>
                <a:path w="1524000" h="571500">
                  <a:moveTo>
                    <a:pt x="0" y="0"/>
                  </a:moveTo>
                  <a:lnTo>
                    <a:pt x="1524000" y="0"/>
                  </a:lnTo>
                  <a:lnTo>
                    <a:pt x="1524000" y="571500"/>
                  </a:lnTo>
                  <a:lnTo>
                    <a:pt x="0" y="571500"/>
                  </a:lnTo>
                  <a:close/>
                </a:path>
              </a:pathLst>
            </a:custGeom>
            <a:blipFill>
              <a:blip r:embed="rId37">
                <a:alphaModFix amt="0"/>
              </a:blip>
              <a:stretch>
                <a:fillRect t="-1960" b="-1960"/>
              </a:stretch>
            </a:blipFill>
          </p:spPr>
        </p:sp>
        <p:sp>
          <p:nvSpPr>
            <p:cNvPr id="172" name="TextBox 172"/>
            <p:cNvSpPr txBox="1"/>
            <p:nvPr/>
          </p:nvSpPr>
          <p:spPr>
            <a:xfrm>
              <a:off x="0" y="-114300"/>
              <a:ext cx="1524000" cy="685800"/>
            </a:xfrm>
            <a:prstGeom prst="rect">
              <a:avLst/>
            </a:prstGeom>
          </p:spPr>
          <p:txBody>
            <a:bodyPr lIns="0" tIns="0" rIns="0" bIns="0" rtlCol="0" anchor="ctr"/>
            <a:lstStyle/>
            <a:p>
              <a:pPr algn="l">
                <a:lnSpc>
                  <a:spcPts val="3375"/>
                </a:lnSpc>
              </a:pPr>
              <a:r>
                <a:rPr lang="en-US" sz="2250" b="1">
                  <a:solidFill>
                    <a:srgbClr val="007ACC"/>
                  </a:solidFill>
                  <a:latin typeface="Calibri (MS) Bold"/>
                  <a:ea typeface="Calibri (MS) Bold"/>
                  <a:cs typeface="Calibri (MS) Bold"/>
                  <a:sym typeface="Calibri (MS) Bold"/>
                </a:rPr>
                <a:t>10</a:t>
              </a:r>
            </a:p>
          </p:txBody>
        </p:sp>
      </p:grpSp>
      <p:grpSp>
        <p:nvGrpSpPr>
          <p:cNvPr id="173" name="Group 173"/>
          <p:cNvGrpSpPr/>
          <p:nvPr/>
        </p:nvGrpSpPr>
        <p:grpSpPr>
          <a:xfrm>
            <a:off x="16007582" y="7033241"/>
            <a:ext cx="1049464" cy="235744"/>
            <a:chOff x="0" y="0"/>
            <a:chExt cx="1399286" cy="314325"/>
          </a:xfrm>
        </p:grpSpPr>
        <p:sp>
          <p:nvSpPr>
            <p:cNvPr id="174" name="Freeform 174"/>
            <p:cNvSpPr/>
            <p:nvPr/>
          </p:nvSpPr>
          <p:spPr>
            <a:xfrm>
              <a:off x="0" y="0"/>
              <a:ext cx="1399282" cy="314326"/>
            </a:xfrm>
            <a:custGeom>
              <a:avLst/>
              <a:gdLst/>
              <a:ahLst/>
              <a:cxnLst/>
              <a:rect l="l" t="t" r="r" b="b"/>
              <a:pathLst>
                <a:path w="1399282" h="314326">
                  <a:moveTo>
                    <a:pt x="0" y="0"/>
                  </a:moveTo>
                  <a:lnTo>
                    <a:pt x="1399282" y="0"/>
                  </a:lnTo>
                  <a:lnTo>
                    <a:pt x="1399282" y="314326"/>
                  </a:lnTo>
                  <a:lnTo>
                    <a:pt x="0" y="314326"/>
                  </a:lnTo>
                  <a:close/>
                </a:path>
              </a:pathLst>
            </a:custGeom>
            <a:blipFill>
              <a:blip r:embed="rId37">
                <a:alphaModFix amt="0"/>
              </a:blip>
              <a:stretch>
                <a:fillRect t="-36741" b="-36741"/>
              </a:stretch>
            </a:blipFill>
          </p:spPr>
        </p:sp>
        <p:sp>
          <p:nvSpPr>
            <p:cNvPr id="175" name="TextBox 175"/>
            <p:cNvSpPr txBox="1"/>
            <p:nvPr/>
          </p:nvSpPr>
          <p:spPr>
            <a:xfrm>
              <a:off x="0" y="-57150"/>
              <a:ext cx="1399286" cy="371475"/>
            </a:xfrm>
            <a:prstGeom prst="rect">
              <a:avLst/>
            </a:prstGeom>
          </p:spPr>
          <p:txBody>
            <a:bodyPr lIns="0" tIns="0" rIns="0" bIns="0" rtlCol="0" anchor="ctr"/>
            <a:lstStyle/>
            <a:p>
              <a:pPr algn="ctr">
                <a:lnSpc>
                  <a:spcPts val="1857"/>
                </a:lnSpc>
              </a:pPr>
              <a:r>
                <a:rPr lang="en-US" sz="1237">
                  <a:solidFill>
                    <a:srgbClr val="555E6B"/>
                  </a:solidFill>
                  <a:latin typeface="Calibri (MS)"/>
                  <a:ea typeface="Calibri (MS)"/>
                  <a:cs typeface="Calibri (MS)"/>
                  <a:sym typeface="Calibri (MS)"/>
                </a:rPr>
                <a:t>Trường dữ liệu</a:t>
              </a:r>
            </a:p>
          </p:txBody>
        </p:sp>
      </p:gr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0"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7" name="Group 7"/>
          <p:cNvGrpSpPr/>
          <p:nvPr/>
        </p:nvGrpSpPr>
        <p:grpSpPr>
          <a:xfrm>
            <a:off x="571500" y="285750"/>
            <a:ext cx="17145000" cy="1314450"/>
            <a:chOff x="0" y="0"/>
            <a:chExt cx="22860000" cy="1752600"/>
          </a:xfrm>
        </p:grpSpPr>
        <p:sp>
          <p:nvSpPr>
            <p:cNvPr id="8" name="Freeform 8"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4"/>
              <a:stretch>
                <a:fillRect/>
              </a:stretch>
            </a:blipFill>
          </p:spPr>
        </p:sp>
      </p:grpSp>
      <p:grpSp>
        <p:nvGrpSpPr>
          <p:cNvPr id="9" name="Group 9"/>
          <p:cNvGrpSpPr/>
          <p:nvPr/>
        </p:nvGrpSpPr>
        <p:grpSpPr>
          <a:xfrm>
            <a:off x="571500" y="1885950"/>
            <a:ext cx="6686550" cy="3843338"/>
            <a:chOff x="0" y="0"/>
            <a:chExt cx="8915400" cy="5124450"/>
          </a:xfrm>
        </p:grpSpPr>
        <p:sp>
          <p:nvSpPr>
            <p:cNvPr id="10" name="Freeform 10" descr="preencoded.png"/>
            <p:cNvSpPr/>
            <p:nvPr/>
          </p:nvSpPr>
          <p:spPr>
            <a:xfrm>
              <a:off x="0" y="0"/>
              <a:ext cx="8915400" cy="5124450"/>
            </a:xfrm>
            <a:custGeom>
              <a:avLst/>
              <a:gdLst/>
              <a:ahLst/>
              <a:cxnLst/>
              <a:rect l="l" t="t" r="r" b="b"/>
              <a:pathLst>
                <a:path w="8915400" h="5124450">
                  <a:moveTo>
                    <a:pt x="0" y="0"/>
                  </a:moveTo>
                  <a:lnTo>
                    <a:pt x="8915400" y="0"/>
                  </a:lnTo>
                  <a:lnTo>
                    <a:pt x="8915400" y="5124450"/>
                  </a:lnTo>
                  <a:lnTo>
                    <a:pt x="0" y="5124450"/>
                  </a:lnTo>
                  <a:lnTo>
                    <a:pt x="0" y="0"/>
                  </a:lnTo>
                  <a:close/>
                </a:path>
              </a:pathLst>
            </a:custGeom>
            <a:blipFill>
              <a:blip r:embed="rId5"/>
              <a:stretch>
                <a:fillRect/>
              </a:stretch>
            </a:blipFill>
          </p:spPr>
        </p:sp>
      </p:grpSp>
      <p:grpSp>
        <p:nvGrpSpPr>
          <p:cNvPr id="11" name="Group 11"/>
          <p:cNvGrpSpPr/>
          <p:nvPr/>
        </p:nvGrpSpPr>
        <p:grpSpPr>
          <a:xfrm>
            <a:off x="857250" y="2233089"/>
            <a:ext cx="321469" cy="262976"/>
            <a:chOff x="0" y="0"/>
            <a:chExt cx="428625" cy="350634"/>
          </a:xfrm>
        </p:grpSpPr>
        <p:sp>
          <p:nvSpPr>
            <p:cNvPr id="12" name="Freeform 12"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6"/>
              <a:stretch>
                <a:fillRect t="-7" b="-7"/>
              </a:stretch>
            </a:blipFill>
          </p:spPr>
        </p:sp>
      </p:grpSp>
      <p:grpSp>
        <p:nvGrpSpPr>
          <p:cNvPr id="13" name="Group 13"/>
          <p:cNvGrpSpPr/>
          <p:nvPr/>
        </p:nvGrpSpPr>
        <p:grpSpPr>
          <a:xfrm>
            <a:off x="571500" y="6015038"/>
            <a:ext cx="6686550" cy="3843338"/>
            <a:chOff x="0" y="0"/>
            <a:chExt cx="8915400" cy="5124450"/>
          </a:xfrm>
        </p:grpSpPr>
        <p:sp>
          <p:nvSpPr>
            <p:cNvPr id="14" name="Freeform 14" descr="preencoded.png"/>
            <p:cNvSpPr/>
            <p:nvPr/>
          </p:nvSpPr>
          <p:spPr>
            <a:xfrm>
              <a:off x="0" y="0"/>
              <a:ext cx="8915400" cy="5124450"/>
            </a:xfrm>
            <a:custGeom>
              <a:avLst/>
              <a:gdLst/>
              <a:ahLst/>
              <a:cxnLst/>
              <a:rect l="l" t="t" r="r" b="b"/>
              <a:pathLst>
                <a:path w="8915400" h="5124450">
                  <a:moveTo>
                    <a:pt x="0" y="0"/>
                  </a:moveTo>
                  <a:lnTo>
                    <a:pt x="8915400" y="0"/>
                  </a:lnTo>
                  <a:lnTo>
                    <a:pt x="8915400" y="5124450"/>
                  </a:lnTo>
                  <a:lnTo>
                    <a:pt x="0" y="5124450"/>
                  </a:lnTo>
                  <a:lnTo>
                    <a:pt x="0" y="0"/>
                  </a:lnTo>
                  <a:close/>
                </a:path>
              </a:pathLst>
            </a:custGeom>
            <a:blipFill>
              <a:blip r:embed="rId5"/>
              <a:stretch>
                <a:fillRect/>
              </a:stretch>
            </a:blipFill>
          </p:spPr>
        </p:sp>
      </p:grpSp>
      <p:grpSp>
        <p:nvGrpSpPr>
          <p:cNvPr id="15" name="Group 15"/>
          <p:cNvGrpSpPr/>
          <p:nvPr/>
        </p:nvGrpSpPr>
        <p:grpSpPr>
          <a:xfrm>
            <a:off x="857250" y="6362176"/>
            <a:ext cx="321469" cy="262976"/>
            <a:chOff x="0" y="0"/>
            <a:chExt cx="428625" cy="350634"/>
          </a:xfrm>
        </p:grpSpPr>
        <p:sp>
          <p:nvSpPr>
            <p:cNvPr id="16" name="Freeform 16"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7"/>
              <a:stretch>
                <a:fillRect t="-7" b="-7"/>
              </a:stretch>
            </a:blipFill>
          </p:spPr>
        </p:sp>
      </p:grpSp>
      <p:grpSp>
        <p:nvGrpSpPr>
          <p:cNvPr id="17" name="Group 17"/>
          <p:cNvGrpSpPr/>
          <p:nvPr/>
        </p:nvGrpSpPr>
        <p:grpSpPr>
          <a:xfrm>
            <a:off x="7686675" y="1999355"/>
            <a:ext cx="10029825" cy="1987753"/>
            <a:chOff x="0" y="0"/>
            <a:chExt cx="13373100" cy="2650338"/>
          </a:xfrm>
        </p:grpSpPr>
        <p:sp>
          <p:nvSpPr>
            <p:cNvPr id="18" name="Freeform 18" descr="preencoded.png"/>
            <p:cNvSpPr/>
            <p:nvPr/>
          </p:nvSpPr>
          <p:spPr>
            <a:xfrm>
              <a:off x="0" y="0"/>
              <a:ext cx="13373100" cy="2650363"/>
            </a:xfrm>
            <a:custGeom>
              <a:avLst/>
              <a:gdLst/>
              <a:ahLst/>
              <a:cxnLst/>
              <a:rect l="l" t="t" r="r" b="b"/>
              <a:pathLst>
                <a:path w="13373100" h="2650363">
                  <a:moveTo>
                    <a:pt x="0" y="0"/>
                  </a:moveTo>
                  <a:lnTo>
                    <a:pt x="13373100" y="0"/>
                  </a:lnTo>
                  <a:lnTo>
                    <a:pt x="13373100" y="2650363"/>
                  </a:lnTo>
                  <a:lnTo>
                    <a:pt x="0" y="2650363"/>
                  </a:lnTo>
                  <a:lnTo>
                    <a:pt x="0" y="0"/>
                  </a:lnTo>
                  <a:close/>
                </a:path>
              </a:pathLst>
            </a:custGeom>
            <a:blipFill>
              <a:blip r:embed="rId8"/>
              <a:stretch>
                <a:fillRect l="-45" r="-44"/>
              </a:stretch>
            </a:blipFill>
          </p:spPr>
        </p:sp>
      </p:grpSp>
      <p:grpSp>
        <p:nvGrpSpPr>
          <p:cNvPr id="19" name="Group 19"/>
          <p:cNvGrpSpPr/>
          <p:nvPr/>
        </p:nvGrpSpPr>
        <p:grpSpPr>
          <a:xfrm>
            <a:off x="7686675" y="4272858"/>
            <a:ext cx="10029825" cy="4000500"/>
            <a:chOff x="0" y="0"/>
            <a:chExt cx="13373100" cy="5334000"/>
          </a:xfrm>
        </p:grpSpPr>
        <p:sp>
          <p:nvSpPr>
            <p:cNvPr id="20" name="Freeform 20" descr="preencoded.png"/>
            <p:cNvSpPr/>
            <p:nvPr/>
          </p:nvSpPr>
          <p:spPr>
            <a:xfrm>
              <a:off x="0" y="0"/>
              <a:ext cx="13373100" cy="5334000"/>
            </a:xfrm>
            <a:custGeom>
              <a:avLst/>
              <a:gdLst/>
              <a:ahLst/>
              <a:cxnLst/>
              <a:rect l="l" t="t" r="r" b="b"/>
              <a:pathLst>
                <a:path w="13373100" h="5334000">
                  <a:moveTo>
                    <a:pt x="0" y="0"/>
                  </a:moveTo>
                  <a:lnTo>
                    <a:pt x="13373100" y="0"/>
                  </a:lnTo>
                  <a:lnTo>
                    <a:pt x="13373100" y="5334000"/>
                  </a:lnTo>
                  <a:lnTo>
                    <a:pt x="0" y="5334000"/>
                  </a:lnTo>
                  <a:lnTo>
                    <a:pt x="0" y="0"/>
                  </a:lnTo>
                  <a:close/>
                </a:path>
              </a:pathLst>
            </a:custGeom>
            <a:blipFill>
              <a:blip r:embed="rId9"/>
              <a:stretch>
                <a:fillRect/>
              </a:stretch>
            </a:blipFill>
          </p:spPr>
        </p:sp>
      </p:grpSp>
      <p:grpSp>
        <p:nvGrpSpPr>
          <p:cNvPr id="21" name="Group 21"/>
          <p:cNvGrpSpPr/>
          <p:nvPr/>
        </p:nvGrpSpPr>
        <p:grpSpPr>
          <a:xfrm>
            <a:off x="7686675" y="4272858"/>
            <a:ext cx="10029825" cy="4000500"/>
            <a:chOff x="0" y="0"/>
            <a:chExt cx="13373100" cy="5334000"/>
          </a:xfrm>
        </p:grpSpPr>
        <p:sp>
          <p:nvSpPr>
            <p:cNvPr id="22" name="Freeform 22" descr="preencoded.png"/>
            <p:cNvSpPr/>
            <p:nvPr/>
          </p:nvSpPr>
          <p:spPr>
            <a:xfrm>
              <a:off x="0" y="0"/>
              <a:ext cx="13373100" cy="5334000"/>
            </a:xfrm>
            <a:custGeom>
              <a:avLst/>
              <a:gdLst/>
              <a:ahLst/>
              <a:cxnLst/>
              <a:rect l="l" t="t" r="r" b="b"/>
              <a:pathLst>
                <a:path w="13373100" h="5334000">
                  <a:moveTo>
                    <a:pt x="0" y="0"/>
                  </a:moveTo>
                  <a:lnTo>
                    <a:pt x="13373100" y="0"/>
                  </a:lnTo>
                  <a:lnTo>
                    <a:pt x="13373100" y="5334000"/>
                  </a:lnTo>
                  <a:lnTo>
                    <a:pt x="0" y="5334000"/>
                  </a:lnTo>
                  <a:lnTo>
                    <a:pt x="0" y="0"/>
                  </a:lnTo>
                  <a:close/>
                </a:path>
              </a:pathLst>
            </a:custGeom>
            <a:blipFill>
              <a:blip r:embed="rId10"/>
              <a:stretch>
                <a:fillRect/>
              </a:stretch>
            </a:blipFill>
          </p:spPr>
        </p:sp>
      </p:grpSp>
      <p:grpSp>
        <p:nvGrpSpPr>
          <p:cNvPr id="23" name="Group 23"/>
          <p:cNvGrpSpPr/>
          <p:nvPr/>
        </p:nvGrpSpPr>
        <p:grpSpPr>
          <a:xfrm>
            <a:off x="7686675" y="8559108"/>
            <a:ext cx="3200400" cy="1185862"/>
            <a:chOff x="0" y="0"/>
            <a:chExt cx="4267200" cy="1581150"/>
          </a:xfrm>
        </p:grpSpPr>
        <p:sp>
          <p:nvSpPr>
            <p:cNvPr id="24" name="Freeform 24" descr="preencoded.png"/>
            <p:cNvSpPr/>
            <p:nvPr/>
          </p:nvSpPr>
          <p:spPr>
            <a:xfrm>
              <a:off x="0" y="0"/>
              <a:ext cx="4267200" cy="1581150"/>
            </a:xfrm>
            <a:custGeom>
              <a:avLst/>
              <a:gdLst/>
              <a:ahLst/>
              <a:cxnLst/>
              <a:rect l="l" t="t" r="r" b="b"/>
              <a:pathLst>
                <a:path w="4267200" h="1581150">
                  <a:moveTo>
                    <a:pt x="0" y="0"/>
                  </a:moveTo>
                  <a:lnTo>
                    <a:pt x="4267200" y="0"/>
                  </a:lnTo>
                  <a:lnTo>
                    <a:pt x="4267200" y="1581150"/>
                  </a:lnTo>
                  <a:lnTo>
                    <a:pt x="0" y="1581150"/>
                  </a:lnTo>
                  <a:lnTo>
                    <a:pt x="0" y="0"/>
                  </a:lnTo>
                  <a:close/>
                </a:path>
              </a:pathLst>
            </a:custGeom>
            <a:blipFill>
              <a:blip r:embed="rId11"/>
              <a:stretch>
                <a:fillRect t="-2409" b="-2409"/>
              </a:stretch>
            </a:blipFill>
          </p:spPr>
        </p:sp>
      </p:grpSp>
      <p:grpSp>
        <p:nvGrpSpPr>
          <p:cNvPr id="25" name="Group 25"/>
          <p:cNvGrpSpPr/>
          <p:nvPr/>
        </p:nvGrpSpPr>
        <p:grpSpPr>
          <a:xfrm>
            <a:off x="11101388" y="8559108"/>
            <a:ext cx="3200400" cy="1185862"/>
            <a:chOff x="0" y="0"/>
            <a:chExt cx="4267200" cy="1581150"/>
          </a:xfrm>
        </p:grpSpPr>
        <p:sp>
          <p:nvSpPr>
            <p:cNvPr id="26" name="Freeform 26" descr="preencoded.png"/>
            <p:cNvSpPr/>
            <p:nvPr/>
          </p:nvSpPr>
          <p:spPr>
            <a:xfrm>
              <a:off x="0" y="0"/>
              <a:ext cx="4267200" cy="1581150"/>
            </a:xfrm>
            <a:custGeom>
              <a:avLst/>
              <a:gdLst/>
              <a:ahLst/>
              <a:cxnLst/>
              <a:rect l="l" t="t" r="r" b="b"/>
              <a:pathLst>
                <a:path w="4267200" h="1581150">
                  <a:moveTo>
                    <a:pt x="0" y="0"/>
                  </a:moveTo>
                  <a:lnTo>
                    <a:pt x="4267200" y="0"/>
                  </a:lnTo>
                  <a:lnTo>
                    <a:pt x="4267200" y="1581150"/>
                  </a:lnTo>
                  <a:lnTo>
                    <a:pt x="0" y="1581150"/>
                  </a:lnTo>
                  <a:lnTo>
                    <a:pt x="0" y="0"/>
                  </a:lnTo>
                  <a:close/>
                </a:path>
              </a:pathLst>
            </a:custGeom>
            <a:blipFill>
              <a:blip r:embed="rId11"/>
              <a:stretch>
                <a:fillRect t="-2409" b="-2409"/>
              </a:stretch>
            </a:blipFill>
          </p:spPr>
        </p:sp>
      </p:grpSp>
      <p:grpSp>
        <p:nvGrpSpPr>
          <p:cNvPr id="27" name="Group 27"/>
          <p:cNvGrpSpPr/>
          <p:nvPr/>
        </p:nvGrpSpPr>
        <p:grpSpPr>
          <a:xfrm>
            <a:off x="14516100" y="8559108"/>
            <a:ext cx="3200400" cy="1185862"/>
            <a:chOff x="0" y="0"/>
            <a:chExt cx="4267200" cy="1581150"/>
          </a:xfrm>
        </p:grpSpPr>
        <p:sp>
          <p:nvSpPr>
            <p:cNvPr id="28" name="Freeform 28" descr="preencoded.png"/>
            <p:cNvSpPr/>
            <p:nvPr/>
          </p:nvSpPr>
          <p:spPr>
            <a:xfrm>
              <a:off x="0" y="0"/>
              <a:ext cx="4267200" cy="1581150"/>
            </a:xfrm>
            <a:custGeom>
              <a:avLst/>
              <a:gdLst/>
              <a:ahLst/>
              <a:cxnLst/>
              <a:rect l="l" t="t" r="r" b="b"/>
              <a:pathLst>
                <a:path w="4267200" h="1581150">
                  <a:moveTo>
                    <a:pt x="0" y="0"/>
                  </a:moveTo>
                  <a:lnTo>
                    <a:pt x="4267200" y="0"/>
                  </a:lnTo>
                  <a:lnTo>
                    <a:pt x="4267200" y="1581150"/>
                  </a:lnTo>
                  <a:lnTo>
                    <a:pt x="0" y="1581150"/>
                  </a:lnTo>
                  <a:lnTo>
                    <a:pt x="0" y="0"/>
                  </a:lnTo>
                  <a:close/>
                </a:path>
              </a:pathLst>
            </a:custGeom>
            <a:blipFill>
              <a:blip r:embed="rId12"/>
              <a:stretch>
                <a:fillRect t="-2409" b="-2409"/>
              </a:stretch>
            </a:blipFill>
          </p:spPr>
        </p:sp>
      </p:grpSp>
      <p:grpSp>
        <p:nvGrpSpPr>
          <p:cNvPr id="29" name="Group 29"/>
          <p:cNvGrpSpPr/>
          <p:nvPr/>
        </p:nvGrpSpPr>
        <p:grpSpPr>
          <a:xfrm>
            <a:off x="1000125" y="500062"/>
            <a:ext cx="17287875" cy="514350"/>
            <a:chOff x="0" y="0"/>
            <a:chExt cx="23050500" cy="685800"/>
          </a:xfrm>
        </p:grpSpPr>
        <p:sp>
          <p:nvSpPr>
            <p:cNvPr id="30" name="Freeform 30"/>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13">
                <a:alphaModFix amt="0"/>
              </a:blip>
              <a:stretch>
                <a:fillRect t="-604913" b="-604913"/>
              </a:stretch>
            </a:blipFill>
          </p:spPr>
        </p:sp>
        <p:sp>
          <p:nvSpPr>
            <p:cNvPr id="31" name="TextBox 31"/>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1: THỐNG KÊ TỔNG DOANH SỐ TOÀN BỘ HỆ THỐNG</a:t>
              </a:r>
            </a:p>
          </p:txBody>
        </p:sp>
      </p:grpSp>
      <p:grpSp>
        <p:nvGrpSpPr>
          <p:cNvPr id="32" name="Group 32"/>
          <p:cNvGrpSpPr/>
          <p:nvPr/>
        </p:nvGrpSpPr>
        <p:grpSpPr>
          <a:xfrm>
            <a:off x="1000125" y="1085850"/>
            <a:ext cx="16287750" cy="300038"/>
            <a:chOff x="0" y="0"/>
            <a:chExt cx="21717000" cy="400050"/>
          </a:xfrm>
        </p:grpSpPr>
        <p:sp>
          <p:nvSpPr>
            <p:cNvPr id="33" name="Freeform 33"/>
            <p:cNvSpPr/>
            <p:nvPr/>
          </p:nvSpPr>
          <p:spPr>
            <a:xfrm>
              <a:off x="0" y="0"/>
              <a:ext cx="21717000" cy="400050"/>
            </a:xfrm>
            <a:custGeom>
              <a:avLst/>
              <a:gdLst/>
              <a:ahLst/>
              <a:cxnLst/>
              <a:rect l="l" t="t" r="r" b="b"/>
              <a:pathLst>
                <a:path w="21717000" h="400050">
                  <a:moveTo>
                    <a:pt x="0" y="0"/>
                  </a:moveTo>
                  <a:lnTo>
                    <a:pt x="21717000" y="0"/>
                  </a:lnTo>
                  <a:lnTo>
                    <a:pt x="21717000" y="400050"/>
                  </a:lnTo>
                  <a:lnTo>
                    <a:pt x="0" y="400050"/>
                  </a:lnTo>
                  <a:close/>
                </a:path>
              </a:pathLst>
            </a:custGeom>
            <a:blipFill>
              <a:blip r:embed="rId13">
                <a:alphaModFix amt="0"/>
              </a:blip>
              <a:stretch>
                <a:fillRect t="-1007759" b="-1007759"/>
              </a:stretch>
            </a:blipFill>
          </p:spPr>
        </p:sp>
        <p:sp>
          <p:nvSpPr>
            <p:cNvPr id="34" name="TextBox 34"/>
            <p:cNvSpPr txBox="1"/>
            <p:nvPr/>
          </p:nvSpPr>
          <p:spPr>
            <a:xfrm>
              <a:off x="0" y="-66675"/>
              <a:ext cx="217170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Thực thi truy vấn HiveQL &amp; Trực quan hóa kết quả KPI vĩ mô</a:t>
              </a:r>
            </a:p>
          </p:txBody>
        </p:sp>
      </p:grpSp>
      <p:grpSp>
        <p:nvGrpSpPr>
          <p:cNvPr id="35" name="Group 35"/>
          <p:cNvGrpSpPr/>
          <p:nvPr/>
        </p:nvGrpSpPr>
        <p:grpSpPr>
          <a:xfrm>
            <a:off x="1350169" y="2171700"/>
            <a:ext cx="5554980" cy="385762"/>
            <a:chOff x="0" y="0"/>
            <a:chExt cx="7406640" cy="514350"/>
          </a:xfrm>
        </p:grpSpPr>
        <p:sp>
          <p:nvSpPr>
            <p:cNvPr id="36" name="Freeform 36"/>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13">
                <a:alphaModFix amt="0"/>
              </a:blip>
              <a:stretch>
                <a:fillRect t="-230584" b="-230584"/>
              </a:stretch>
            </a:blipFill>
          </p:spPr>
        </p:sp>
        <p:sp>
          <p:nvSpPr>
            <p:cNvPr id="37" name="TextBox 37"/>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007ACC"/>
                  </a:solidFill>
                  <a:latin typeface="Calibri (MS) Bold"/>
                  <a:ea typeface="Calibri (MS) Bold"/>
                  <a:cs typeface="Calibri (MS) Bold"/>
                  <a:sym typeface="Calibri (MS) Bold"/>
                </a:rPr>
                <a:t>Mục đích phân tích</a:t>
              </a:r>
            </a:p>
          </p:txBody>
        </p:sp>
      </p:grpSp>
      <p:grpSp>
        <p:nvGrpSpPr>
          <p:cNvPr id="38" name="Group 38"/>
          <p:cNvGrpSpPr/>
          <p:nvPr/>
        </p:nvGrpSpPr>
        <p:grpSpPr>
          <a:xfrm>
            <a:off x="857250" y="2728912"/>
            <a:ext cx="6115050" cy="685800"/>
            <a:chOff x="0" y="0"/>
            <a:chExt cx="8153400" cy="914400"/>
          </a:xfrm>
        </p:grpSpPr>
        <p:sp>
          <p:nvSpPr>
            <p:cNvPr id="39" name="Freeform 39"/>
            <p:cNvSpPr/>
            <p:nvPr/>
          </p:nvSpPr>
          <p:spPr>
            <a:xfrm>
              <a:off x="0" y="0"/>
              <a:ext cx="8153400" cy="914400"/>
            </a:xfrm>
            <a:custGeom>
              <a:avLst/>
              <a:gdLst/>
              <a:ahLst/>
              <a:cxnLst/>
              <a:rect l="l" t="t" r="r" b="b"/>
              <a:pathLst>
                <a:path w="8153400" h="914400">
                  <a:moveTo>
                    <a:pt x="0" y="0"/>
                  </a:moveTo>
                  <a:lnTo>
                    <a:pt x="8153400" y="0"/>
                  </a:lnTo>
                  <a:lnTo>
                    <a:pt x="8153400" y="914400"/>
                  </a:lnTo>
                  <a:lnTo>
                    <a:pt x="0" y="914400"/>
                  </a:lnTo>
                  <a:close/>
                </a:path>
              </a:pathLst>
            </a:custGeom>
            <a:blipFill>
              <a:blip r:embed="rId13">
                <a:alphaModFix amt="0"/>
              </a:blip>
              <a:stretch>
                <a:fillRect t="-123741" b="-123741"/>
              </a:stretch>
            </a:blipFill>
          </p:spPr>
        </p:sp>
        <p:sp>
          <p:nvSpPr>
            <p:cNvPr id="40" name="TextBox 40"/>
            <p:cNvSpPr txBox="1"/>
            <p:nvPr/>
          </p:nvSpPr>
          <p:spPr>
            <a:xfrm>
              <a:off x="0" y="-104775"/>
              <a:ext cx="8153400"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Nhận diện bức tranh tổng quan về quy mô hoạt động của chuỗi siêu thị thông qua các chỉ số:</a:t>
              </a:r>
            </a:p>
          </p:txBody>
        </p:sp>
      </p:grpSp>
      <p:grpSp>
        <p:nvGrpSpPr>
          <p:cNvPr id="41" name="Group 41"/>
          <p:cNvGrpSpPr/>
          <p:nvPr/>
        </p:nvGrpSpPr>
        <p:grpSpPr>
          <a:xfrm>
            <a:off x="1143000" y="3557588"/>
            <a:ext cx="8891045" cy="342900"/>
            <a:chOff x="0" y="0"/>
            <a:chExt cx="11854726" cy="457200"/>
          </a:xfrm>
        </p:grpSpPr>
        <p:sp>
          <p:nvSpPr>
            <p:cNvPr id="42" name="Freeform 42"/>
            <p:cNvSpPr/>
            <p:nvPr/>
          </p:nvSpPr>
          <p:spPr>
            <a:xfrm>
              <a:off x="0" y="0"/>
              <a:ext cx="11854726" cy="457200"/>
            </a:xfrm>
            <a:custGeom>
              <a:avLst/>
              <a:gdLst/>
              <a:ahLst/>
              <a:cxnLst/>
              <a:rect l="l" t="t" r="r" b="b"/>
              <a:pathLst>
                <a:path w="11854726" h="457200">
                  <a:moveTo>
                    <a:pt x="0" y="0"/>
                  </a:moveTo>
                  <a:lnTo>
                    <a:pt x="11854726" y="0"/>
                  </a:lnTo>
                  <a:lnTo>
                    <a:pt x="11854726" y="457200"/>
                  </a:lnTo>
                  <a:lnTo>
                    <a:pt x="0" y="457200"/>
                  </a:lnTo>
                  <a:close/>
                </a:path>
              </a:pathLst>
            </a:custGeom>
            <a:blipFill>
              <a:blip r:embed="rId13">
                <a:alphaModFix amt="0"/>
              </a:blip>
              <a:stretch>
                <a:fillRect t="-455227" b="-455227"/>
              </a:stretch>
            </a:blipFill>
          </p:spPr>
        </p:sp>
        <p:sp>
          <p:nvSpPr>
            <p:cNvPr id="43" name="TextBox 43"/>
            <p:cNvSpPr txBox="1"/>
            <p:nvPr/>
          </p:nvSpPr>
          <p:spPr>
            <a:xfrm>
              <a:off x="0" y="-95250"/>
              <a:ext cx="11854726"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Tổng quy mô doanh số và dòng tiền.</a:t>
              </a:r>
            </a:p>
          </p:txBody>
        </p:sp>
      </p:grpSp>
      <p:grpSp>
        <p:nvGrpSpPr>
          <p:cNvPr id="44" name="Group 44"/>
          <p:cNvGrpSpPr/>
          <p:nvPr/>
        </p:nvGrpSpPr>
        <p:grpSpPr>
          <a:xfrm>
            <a:off x="1143000" y="4014788"/>
            <a:ext cx="7845038" cy="342900"/>
            <a:chOff x="0" y="0"/>
            <a:chExt cx="10460050" cy="457200"/>
          </a:xfrm>
        </p:grpSpPr>
        <p:sp>
          <p:nvSpPr>
            <p:cNvPr id="45" name="Freeform 45"/>
            <p:cNvSpPr/>
            <p:nvPr/>
          </p:nvSpPr>
          <p:spPr>
            <a:xfrm>
              <a:off x="0" y="0"/>
              <a:ext cx="10460052" cy="457200"/>
            </a:xfrm>
            <a:custGeom>
              <a:avLst/>
              <a:gdLst/>
              <a:ahLst/>
              <a:cxnLst/>
              <a:rect l="l" t="t" r="r" b="b"/>
              <a:pathLst>
                <a:path w="10460052" h="457200">
                  <a:moveTo>
                    <a:pt x="0" y="0"/>
                  </a:moveTo>
                  <a:lnTo>
                    <a:pt x="10460052" y="0"/>
                  </a:lnTo>
                  <a:lnTo>
                    <a:pt x="10460052" y="457200"/>
                  </a:lnTo>
                  <a:lnTo>
                    <a:pt x="0" y="457200"/>
                  </a:lnTo>
                  <a:close/>
                </a:path>
              </a:pathLst>
            </a:custGeom>
            <a:blipFill>
              <a:blip r:embed="rId13">
                <a:alphaModFix amt="0"/>
              </a:blip>
              <a:stretch>
                <a:fillRect t="-395788" b="-395788"/>
              </a:stretch>
            </a:blipFill>
          </p:spPr>
        </p:sp>
        <p:sp>
          <p:nvSpPr>
            <p:cNvPr id="46" name="TextBox 46"/>
            <p:cNvSpPr txBox="1"/>
            <p:nvPr/>
          </p:nvSpPr>
          <p:spPr>
            <a:xfrm>
              <a:off x="0" y="-95250"/>
              <a:ext cx="10460050"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Số lượng giao dịch (đơn hàng).</a:t>
              </a:r>
            </a:p>
          </p:txBody>
        </p:sp>
      </p:grpSp>
      <p:grpSp>
        <p:nvGrpSpPr>
          <p:cNvPr id="47" name="Group 47"/>
          <p:cNvGrpSpPr/>
          <p:nvPr/>
        </p:nvGrpSpPr>
        <p:grpSpPr>
          <a:xfrm>
            <a:off x="1143000" y="4471988"/>
            <a:ext cx="7583538" cy="342900"/>
            <a:chOff x="0" y="0"/>
            <a:chExt cx="10111384" cy="457200"/>
          </a:xfrm>
        </p:grpSpPr>
        <p:sp>
          <p:nvSpPr>
            <p:cNvPr id="48" name="Freeform 48"/>
            <p:cNvSpPr/>
            <p:nvPr/>
          </p:nvSpPr>
          <p:spPr>
            <a:xfrm>
              <a:off x="0" y="0"/>
              <a:ext cx="10111384" cy="457200"/>
            </a:xfrm>
            <a:custGeom>
              <a:avLst/>
              <a:gdLst/>
              <a:ahLst/>
              <a:cxnLst/>
              <a:rect l="l" t="t" r="r" b="b"/>
              <a:pathLst>
                <a:path w="10111384" h="457200">
                  <a:moveTo>
                    <a:pt x="0" y="0"/>
                  </a:moveTo>
                  <a:lnTo>
                    <a:pt x="10111384" y="0"/>
                  </a:lnTo>
                  <a:lnTo>
                    <a:pt x="10111384" y="457200"/>
                  </a:lnTo>
                  <a:lnTo>
                    <a:pt x="0" y="457200"/>
                  </a:lnTo>
                  <a:close/>
                </a:path>
              </a:pathLst>
            </a:custGeom>
            <a:blipFill>
              <a:blip r:embed="rId13">
                <a:alphaModFix amt="0"/>
              </a:blip>
              <a:stretch>
                <a:fillRect t="-380928" b="-380928"/>
              </a:stretch>
            </a:blipFill>
          </p:spPr>
        </p:sp>
        <p:sp>
          <p:nvSpPr>
            <p:cNvPr id="49" name="TextBox 49"/>
            <p:cNvSpPr txBox="1"/>
            <p:nvPr/>
          </p:nvSpPr>
          <p:spPr>
            <a:xfrm>
              <a:off x="0" y="-95250"/>
              <a:ext cx="10111384"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Khối lượng hàng hóa lưu hành.</a:t>
              </a:r>
            </a:p>
          </p:txBody>
        </p:sp>
      </p:grpSp>
      <p:grpSp>
        <p:nvGrpSpPr>
          <p:cNvPr id="50" name="Group 50"/>
          <p:cNvGrpSpPr/>
          <p:nvPr/>
        </p:nvGrpSpPr>
        <p:grpSpPr>
          <a:xfrm>
            <a:off x="1350169" y="6300788"/>
            <a:ext cx="5554980" cy="385762"/>
            <a:chOff x="0" y="0"/>
            <a:chExt cx="7406640" cy="514350"/>
          </a:xfrm>
        </p:grpSpPr>
        <p:sp>
          <p:nvSpPr>
            <p:cNvPr id="51" name="Freeform 51"/>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13">
                <a:alphaModFix amt="0"/>
              </a:blip>
              <a:stretch>
                <a:fillRect t="-230584" b="-230584"/>
              </a:stretch>
            </a:blipFill>
          </p:spPr>
        </p:sp>
        <p:sp>
          <p:nvSpPr>
            <p:cNvPr id="52" name="TextBox 52"/>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E67E22"/>
                  </a:solidFill>
                  <a:latin typeface="Calibri (MS) Bold"/>
                  <a:ea typeface="Calibri (MS) Bold"/>
                  <a:cs typeface="Calibri (MS) Bold"/>
                  <a:sym typeface="Calibri (MS) Bold"/>
                </a:rPr>
                <a:t>Ý nghĩa chiến lược</a:t>
              </a:r>
            </a:p>
          </p:txBody>
        </p:sp>
      </p:grpSp>
      <p:grpSp>
        <p:nvGrpSpPr>
          <p:cNvPr id="53" name="Group 53"/>
          <p:cNvGrpSpPr/>
          <p:nvPr/>
        </p:nvGrpSpPr>
        <p:grpSpPr>
          <a:xfrm>
            <a:off x="857250" y="6858000"/>
            <a:ext cx="14916150" cy="342900"/>
            <a:chOff x="0" y="0"/>
            <a:chExt cx="19888200" cy="457200"/>
          </a:xfrm>
        </p:grpSpPr>
        <p:sp>
          <p:nvSpPr>
            <p:cNvPr id="54" name="Freeform 54"/>
            <p:cNvSpPr/>
            <p:nvPr/>
          </p:nvSpPr>
          <p:spPr>
            <a:xfrm>
              <a:off x="0" y="0"/>
              <a:ext cx="19888200" cy="457200"/>
            </a:xfrm>
            <a:custGeom>
              <a:avLst/>
              <a:gdLst/>
              <a:ahLst/>
              <a:cxnLst/>
              <a:rect l="l" t="t" r="r" b="b"/>
              <a:pathLst>
                <a:path w="19888200" h="457200">
                  <a:moveTo>
                    <a:pt x="0" y="0"/>
                  </a:moveTo>
                  <a:lnTo>
                    <a:pt x="19888200" y="0"/>
                  </a:lnTo>
                  <a:lnTo>
                    <a:pt x="19888200" y="457200"/>
                  </a:lnTo>
                  <a:lnTo>
                    <a:pt x="0" y="457200"/>
                  </a:lnTo>
                  <a:close/>
                </a:path>
              </a:pathLst>
            </a:custGeom>
            <a:blipFill>
              <a:blip r:embed="rId13">
                <a:alphaModFix amt="0"/>
              </a:blip>
              <a:stretch>
                <a:fillRect t="-797599" b="-797599"/>
              </a:stretch>
            </a:blipFill>
          </p:spPr>
        </p:sp>
        <p:sp>
          <p:nvSpPr>
            <p:cNvPr id="55" name="TextBox 55"/>
            <p:cNvSpPr txBox="1"/>
            <p:nvPr/>
          </p:nvSpPr>
          <p:spPr>
            <a:xfrm>
              <a:off x="0" y="-104775"/>
              <a:ext cx="19888200" cy="5619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Cung cấp các chỉ số </a:t>
              </a:r>
              <a:r>
                <a:rPr lang="en-US" sz="1687" b="1">
                  <a:solidFill>
                    <a:srgbClr val="2C3E50"/>
                  </a:solidFill>
                  <a:latin typeface="Calibri (MS) Bold"/>
                  <a:ea typeface="Calibri (MS) Bold"/>
                  <a:cs typeface="Calibri (MS) Bold"/>
                  <a:sym typeface="Calibri (MS) Bold"/>
                </a:rPr>
                <a:t>KPI vĩ mô cốt lõi</a:t>
              </a:r>
              <a:r>
                <a:rPr lang="en-US" sz="1687">
                  <a:solidFill>
                    <a:srgbClr val="2C3E50"/>
                  </a:solidFill>
                  <a:latin typeface="Calibri (MS)"/>
                  <a:ea typeface="Calibri (MS)"/>
                  <a:cs typeface="Calibri (MS)"/>
                  <a:sym typeface="Calibri (MS)"/>
                </a:rPr>
                <a:t> cho Ban Giám đốc để:</a:t>
              </a:r>
            </a:p>
          </p:txBody>
        </p:sp>
      </p:grpSp>
      <p:grpSp>
        <p:nvGrpSpPr>
          <p:cNvPr id="56" name="Group 56"/>
          <p:cNvGrpSpPr/>
          <p:nvPr/>
        </p:nvGrpSpPr>
        <p:grpSpPr>
          <a:xfrm>
            <a:off x="1143000" y="7343775"/>
            <a:ext cx="9675552" cy="342900"/>
            <a:chOff x="0" y="0"/>
            <a:chExt cx="12900736" cy="457200"/>
          </a:xfrm>
        </p:grpSpPr>
        <p:sp>
          <p:nvSpPr>
            <p:cNvPr id="57" name="Freeform 57"/>
            <p:cNvSpPr/>
            <p:nvPr/>
          </p:nvSpPr>
          <p:spPr>
            <a:xfrm>
              <a:off x="0" y="0"/>
              <a:ext cx="12900732" cy="457200"/>
            </a:xfrm>
            <a:custGeom>
              <a:avLst/>
              <a:gdLst/>
              <a:ahLst/>
              <a:cxnLst/>
              <a:rect l="l" t="t" r="r" b="b"/>
              <a:pathLst>
                <a:path w="12900732" h="457200">
                  <a:moveTo>
                    <a:pt x="0" y="0"/>
                  </a:moveTo>
                  <a:lnTo>
                    <a:pt x="12900732" y="0"/>
                  </a:lnTo>
                  <a:lnTo>
                    <a:pt x="12900732" y="457200"/>
                  </a:lnTo>
                  <a:lnTo>
                    <a:pt x="0" y="457200"/>
                  </a:lnTo>
                  <a:close/>
                </a:path>
              </a:pathLst>
            </a:custGeom>
            <a:blipFill>
              <a:blip r:embed="rId13">
                <a:alphaModFix amt="0"/>
              </a:blip>
              <a:stretch>
                <a:fillRect t="-499806" b="-499806"/>
              </a:stretch>
            </a:blipFill>
          </p:spPr>
        </p:sp>
        <p:sp>
          <p:nvSpPr>
            <p:cNvPr id="58" name="TextBox 58"/>
            <p:cNvSpPr txBox="1"/>
            <p:nvPr/>
          </p:nvSpPr>
          <p:spPr>
            <a:xfrm>
              <a:off x="0" y="-95250"/>
              <a:ext cx="12900736"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Đánh giá sức khỏe tài chính tổng thể.</a:t>
              </a:r>
            </a:p>
          </p:txBody>
        </p:sp>
      </p:grpSp>
      <p:grpSp>
        <p:nvGrpSpPr>
          <p:cNvPr id="59" name="Group 59"/>
          <p:cNvGrpSpPr/>
          <p:nvPr/>
        </p:nvGrpSpPr>
        <p:grpSpPr>
          <a:xfrm>
            <a:off x="1143000" y="7800975"/>
            <a:ext cx="9152544" cy="342900"/>
            <a:chOff x="0" y="0"/>
            <a:chExt cx="12203392" cy="457200"/>
          </a:xfrm>
        </p:grpSpPr>
        <p:sp>
          <p:nvSpPr>
            <p:cNvPr id="60" name="Freeform 60"/>
            <p:cNvSpPr/>
            <p:nvPr/>
          </p:nvSpPr>
          <p:spPr>
            <a:xfrm>
              <a:off x="0" y="0"/>
              <a:ext cx="12203394" cy="457200"/>
            </a:xfrm>
            <a:custGeom>
              <a:avLst/>
              <a:gdLst/>
              <a:ahLst/>
              <a:cxnLst/>
              <a:rect l="l" t="t" r="r" b="b"/>
              <a:pathLst>
                <a:path w="12203394" h="457200">
                  <a:moveTo>
                    <a:pt x="0" y="0"/>
                  </a:moveTo>
                  <a:lnTo>
                    <a:pt x="12203394" y="0"/>
                  </a:lnTo>
                  <a:lnTo>
                    <a:pt x="12203394" y="457200"/>
                  </a:lnTo>
                  <a:lnTo>
                    <a:pt x="0" y="457200"/>
                  </a:lnTo>
                  <a:close/>
                </a:path>
              </a:pathLst>
            </a:custGeom>
            <a:blipFill>
              <a:blip r:embed="rId13">
                <a:alphaModFix amt="0"/>
              </a:blip>
              <a:stretch>
                <a:fillRect t="-470086" b="-470086"/>
              </a:stretch>
            </a:blipFill>
          </p:spPr>
        </p:sp>
        <p:sp>
          <p:nvSpPr>
            <p:cNvPr id="61" name="TextBox 61"/>
            <p:cNvSpPr txBox="1"/>
            <p:nvPr/>
          </p:nvSpPr>
          <p:spPr>
            <a:xfrm>
              <a:off x="0" y="-95250"/>
              <a:ext cx="12203392"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Làm nền tảng tính toán tăng trưởng.</a:t>
              </a:r>
            </a:p>
          </p:txBody>
        </p:sp>
      </p:grpSp>
      <p:grpSp>
        <p:nvGrpSpPr>
          <p:cNvPr id="62" name="Group 62"/>
          <p:cNvGrpSpPr/>
          <p:nvPr/>
        </p:nvGrpSpPr>
        <p:grpSpPr>
          <a:xfrm>
            <a:off x="1143000" y="8258175"/>
            <a:ext cx="8368046" cy="342900"/>
            <a:chOff x="0" y="0"/>
            <a:chExt cx="11157394" cy="457200"/>
          </a:xfrm>
        </p:grpSpPr>
        <p:sp>
          <p:nvSpPr>
            <p:cNvPr id="63" name="Freeform 63"/>
            <p:cNvSpPr/>
            <p:nvPr/>
          </p:nvSpPr>
          <p:spPr>
            <a:xfrm>
              <a:off x="0" y="0"/>
              <a:ext cx="11157390" cy="457200"/>
            </a:xfrm>
            <a:custGeom>
              <a:avLst/>
              <a:gdLst/>
              <a:ahLst/>
              <a:cxnLst/>
              <a:rect l="l" t="t" r="r" b="b"/>
              <a:pathLst>
                <a:path w="11157390" h="457200">
                  <a:moveTo>
                    <a:pt x="0" y="0"/>
                  </a:moveTo>
                  <a:lnTo>
                    <a:pt x="11157390" y="0"/>
                  </a:lnTo>
                  <a:lnTo>
                    <a:pt x="11157390" y="457200"/>
                  </a:lnTo>
                  <a:lnTo>
                    <a:pt x="0" y="457200"/>
                  </a:lnTo>
                  <a:close/>
                </a:path>
              </a:pathLst>
            </a:custGeom>
            <a:blipFill>
              <a:blip r:embed="rId13">
                <a:alphaModFix amt="0"/>
              </a:blip>
              <a:stretch>
                <a:fillRect t="-425508" b="-425508"/>
              </a:stretch>
            </a:blipFill>
          </p:spPr>
        </p:sp>
        <p:sp>
          <p:nvSpPr>
            <p:cNvPr id="64" name="TextBox 64"/>
            <p:cNvSpPr txBox="1"/>
            <p:nvPr/>
          </p:nvSpPr>
          <p:spPr>
            <a:xfrm>
              <a:off x="0" y="-95250"/>
              <a:ext cx="11157394"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Hoạch định ngân sách tái đầu tư.</a:t>
              </a:r>
            </a:p>
          </p:txBody>
        </p:sp>
      </p:grpSp>
      <p:grpSp>
        <p:nvGrpSpPr>
          <p:cNvPr id="65" name="Group 65"/>
          <p:cNvGrpSpPr/>
          <p:nvPr/>
        </p:nvGrpSpPr>
        <p:grpSpPr>
          <a:xfrm>
            <a:off x="7900988" y="1999355"/>
            <a:ext cx="9601200" cy="1987753"/>
            <a:chOff x="0" y="0"/>
            <a:chExt cx="12801600" cy="2650338"/>
          </a:xfrm>
        </p:grpSpPr>
        <p:sp>
          <p:nvSpPr>
            <p:cNvPr id="66" name="Freeform 66"/>
            <p:cNvSpPr/>
            <p:nvPr/>
          </p:nvSpPr>
          <p:spPr>
            <a:xfrm>
              <a:off x="0" y="0"/>
              <a:ext cx="12801600" cy="2650332"/>
            </a:xfrm>
            <a:custGeom>
              <a:avLst/>
              <a:gdLst/>
              <a:ahLst/>
              <a:cxnLst/>
              <a:rect l="l" t="t" r="r" b="b"/>
              <a:pathLst>
                <a:path w="12801600" h="2650332">
                  <a:moveTo>
                    <a:pt x="0" y="0"/>
                  </a:moveTo>
                  <a:lnTo>
                    <a:pt x="12801600" y="0"/>
                  </a:lnTo>
                  <a:lnTo>
                    <a:pt x="12801600" y="2650332"/>
                  </a:lnTo>
                  <a:lnTo>
                    <a:pt x="0" y="2650332"/>
                  </a:lnTo>
                  <a:close/>
                </a:path>
              </a:pathLst>
            </a:custGeom>
            <a:blipFill>
              <a:blip r:embed="rId13">
                <a:alphaModFix amt="0"/>
              </a:blip>
              <a:stretch>
                <a:fillRect t="-44116" b="-44116"/>
              </a:stretch>
            </a:blipFill>
          </p:spPr>
        </p:sp>
        <p:sp>
          <p:nvSpPr>
            <p:cNvPr id="67" name="TextBox 67"/>
            <p:cNvSpPr txBox="1"/>
            <p:nvPr/>
          </p:nvSpPr>
          <p:spPr>
            <a:xfrm>
              <a:off x="0" y="-57150"/>
              <a:ext cx="12801600" cy="2707488"/>
            </a:xfrm>
            <a:prstGeom prst="rect">
              <a:avLst/>
            </a:prstGeom>
          </p:spPr>
          <p:txBody>
            <a:bodyPr lIns="0" tIns="0" rIns="0" bIns="0" rtlCol="0" anchor="ctr"/>
            <a:lstStyle/>
            <a:p>
              <a:pPr algn="l">
                <a:lnSpc>
                  <a:spcPts val="2047"/>
                </a:lnSpc>
              </a:pPr>
              <a:r>
                <a:rPr lang="en-US" sz="1462">
                  <a:solidFill>
                    <a:srgbClr val="6A9955"/>
                  </a:solidFill>
                  <a:latin typeface="Calibri (MS)"/>
                  <a:ea typeface="Calibri (MS)"/>
                  <a:cs typeface="Calibri (MS)"/>
                  <a:sym typeface="Calibri (MS)"/>
                </a:rPr>
                <a:t>-- Truy vấn tổng hợp KPI hệ thống</a:t>
              </a:r>
            </a:p>
            <a:p>
              <a:pPr algn="l">
                <a:lnSpc>
                  <a:spcPts val="2047"/>
                </a:lnSpc>
              </a:pPr>
              <a:r>
                <a:rPr lang="en-US" sz="1462">
                  <a:solidFill>
                    <a:srgbClr val="569CD6"/>
                  </a:solidFill>
                  <a:latin typeface="Calibri (MS)"/>
                  <a:ea typeface="Calibri (MS)"/>
                  <a:cs typeface="Calibri (MS)"/>
                  <a:sym typeface="Calibri (MS)"/>
                </a:rPr>
                <a:t>SELECT</a:t>
              </a:r>
            </a:p>
            <a:p>
              <a:pPr algn="l">
                <a:lnSpc>
                  <a:spcPts val="2047"/>
                </a:lnSpc>
              </a:pPr>
              <a:r>
                <a:rPr lang="en-US" sz="1462">
                  <a:solidFill>
                    <a:srgbClr val="D4D4D4"/>
                  </a:solidFill>
                  <a:latin typeface="Calibri (MS)"/>
                  <a:ea typeface="Calibri (MS)"/>
                  <a:cs typeface="Calibri (MS)"/>
                  <a:sym typeface="Calibri (MS)"/>
                </a:rPr>
                <a:t>  </a:t>
              </a:r>
              <a:r>
                <a:rPr lang="en-US" sz="1462">
                  <a:solidFill>
                    <a:srgbClr val="DCDCAA"/>
                  </a:solidFill>
                  <a:latin typeface="Calibri (MS)"/>
                  <a:ea typeface="Calibri (MS)"/>
                  <a:cs typeface="Calibri (MS)"/>
                  <a:sym typeface="Calibri (MS)"/>
                </a:rPr>
                <a:t>COUNT</a:t>
              </a:r>
              <a:r>
                <a:rPr lang="en-US" sz="1462">
                  <a:solidFill>
                    <a:srgbClr val="D4D4D4"/>
                  </a:solidFill>
                  <a:latin typeface="Calibri (MS)"/>
                  <a:ea typeface="Calibri (MS)"/>
                  <a:cs typeface="Calibri (MS)"/>
                  <a:sym typeface="Calibri (MS)"/>
                </a:rPr>
                <a:t>(ma_don_hang) </a:t>
              </a:r>
              <a:r>
                <a:rPr lang="en-US" sz="1462">
                  <a:solidFill>
                    <a:srgbClr val="569CD6"/>
                  </a:solidFill>
                  <a:latin typeface="Calibri (MS)"/>
                  <a:ea typeface="Calibri (MS)"/>
                  <a:cs typeface="Calibri (MS)"/>
                  <a:sym typeface="Calibri (MS)"/>
                </a:rPr>
                <a:t>AS</a:t>
              </a:r>
              <a:r>
                <a:rPr lang="en-US" sz="1462">
                  <a:solidFill>
                    <a:srgbClr val="D4D4D4"/>
                  </a:solidFill>
                  <a:latin typeface="Calibri (MS)"/>
                  <a:ea typeface="Calibri (MS)"/>
                  <a:cs typeface="Calibri (MS)"/>
                  <a:sym typeface="Calibri (MS)"/>
                </a:rPr>
                <a:t> tong_so_don,</a:t>
              </a:r>
            </a:p>
            <a:p>
              <a:pPr algn="l">
                <a:lnSpc>
                  <a:spcPts val="2047"/>
                </a:lnSpc>
              </a:pPr>
              <a:r>
                <a:rPr lang="en-US" sz="1462">
                  <a:solidFill>
                    <a:srgbClr val="D4D4D4"/>
                  </a:solidFill>
                  <a:latin typeface="Calibri (MS)"/>
                  <a:ea typeface="Calibri (MS)"/>
                  <a:cs typeface="Calibri (MS)"/>
                  <a:sym typeface="Calibri (MS)"/>
                </a:rPr>
                <a:t>  </a:t>
              </a:r>
              <a:r>
                <a:rPr lang="en-US" sz="1462">
                  <a:solidFill>
                    <a:srgbClr val="DCDCAA"/>
                  </a:solidFill>
                  <a:latin typeface="Calibri (MS)"/>
                  <a:ea typeface="Calibri (MS)"/>
                  <a:cs typeface="Calibri (MS)"/>
                  <a:sym typeface="Calibri (MS)"/>
                </a:rPr>
                <a:t>SUM</a:t>
              </a:r>
              <a:r>
                <a:rPr lang="en-US" sz="1462">
                  <a:solidFill>
                    <a:srgbClr val="D4D4D4"/>
                  </a:solidFill>
                  <a:latin typeface="Calibri (MS)"/>
                  <a:ea typeface="Calibri (MS)"/>
                  <a:cs typeface="Calibri (MS)"/>
                  <a:sym typeface="Calibri (MS)"/>
                </a:rPr>
                <a:t>(so_luong) </a:t>
              </a:r>
              <a:r>
                <a:rPr lang="en-US" sz="1462">
                  <a:solidFill>
                    <a:srgbClr val="569CD6"/>
                  </a:solidFill>
                  <a:latin typeface="Calibri (MS)"/>
                  <a:ea typeface="Calibri (MS)"/>
                  <a:cs typeface="Calibri (MS)"/>
                  <a:sym typeface="Calibri (MS)"/>
                </a:rPr>
                <a:t>AS</a:t>
              </a:r>
              <a:r>
                <a:rPr lang="en-US" sz="1462">
                  <a:solidFill>
                    <a:srgbClr val="D4D4D4"/>
                  </a:solidFill>
                  <a:latin typeface="Calibri (MS)"/>
                  <a:ea typeface="Calibri (MS)"/>
                  <a:cs typeface="Calibri (MS)"/>
                  <a:sym typeface="Calibri (MS)"/>
                </a:rPr>
                <a:t> tong_san_pham_ban,</a:t>
              </a:r>
            </a:p>
            <a:p>
              <a:pPr algn="l">
                <a:lnSpc>
                  <a:spcPts val="2047"/>
                </a:lnSpc>
              </a:pPr>
              <a:r>
                <a:rPr lang="en-US" sz="1462">
                  <a:solidFill>
                    <a:srgbClr val="D4D4D4"/>
                  </a:solidFill>
                  <a:latin typeface="Calibri (MS)"/>
                  <a:ea typeface="Calibri (MS)"/>
                  <a:cs typeface="Calibri (MS)"/>
                  <a:sym typeface="Calibri (MS)"/>
                </a:rPr>
                <a:t>  </a:t>
              </a:r>
              <a:r>
                <a:rPr lang="en-US" sz="1462">
                  <a:solidFill>
                    <a:srgbClr val="DCDCAA"/>
                  </a:solidFill>
                  <a:latin typeface="Calibri (MS)"/>
                  <a:ea typeface="Calibri (MS)"/>
                  <a:cs typeface="Calibri (MS)"/>
                  <a:sym typeface="Calibri (MS)"/>
                </a:rPr>
                <a:t>SUM</a:t>
              </a:r>
              <a:r>
                <a:rPr lang="en-US" sz="1462">
                  <a:solidFill>
                    <a:srgbClr val="D4D4D4"/>
                  </a:solidFill>
                  <a:latin typeface="Calibri (MS)"/>
                  <a:ea typeface="Calibri (MS)"/>
                  <a:cs typeface="Calibri (MS)"/>
                  <a:sym typeface="Calibri (MS)"/>
                </a:rPr>
                <a:t>(thanh_tien) </a:t>
              </a:r>
              <a:r>
                <a:rPr lang="en-US" sz="1462">
                  <a:solidFill>
                    <a:srgbClr val="569CD6"/>
                  </a:solidFill>
                  <a:latin typeface="Calibri (MS)"/>
                  <a:ea typeface="Calibri (MS)"/>
                  <a:cs typeface="Calibri (MS)"/>
                  <a:sym typeface="Calibri (MS)"/>
                </a:rPr>
                <a:t>AS</a:t>
              </a:r>
              <a:r>
                <a:rPr lang="en-US" sz="1462">
                  <a:solidFill>
                    <a:srgbClr val="D4D4D4"/>
                  </a:solidFill>
                  <a:latin typeface="Calibri (MS)"/>
                  <a:ea typeface="Calibri (MS)"/>
                  <a:cs typeface="Calibri (MS)"/>
                  <a:sym typeface="Calibri (MS)"/>
                </a:rPr>
                <a:t> tong_doanh_thu</a:t>
              </a:r>
            </a:p>
            <a:p>
              <a:pPr algn="l">
                <a:lnSpc>
                  <a:spcPts val="2047"/>
                </a:lnSpc>
              </a:pPr>
              <a:r>
                <a:rPr lang="en-US" sz="1462">
                  <a:solidFill>
                    <a:srgbClr val="569CD6"/>
                  </a:solidFill>
                  <a:latin typeface="Calibri (MS)"/>
                  <a:ea typeface="Calibri (MS)"/>
                  <a:cs typeface="Calibri (MS)"/>
                  <a:sym typeface="Calibri (MS)"/>
                </a:rPr>
                <a:t>FROM</a:t>
              </a:r>
              <a:r>
                <a:rPr lang="en-US" sz="1462">
                  <a:solidFill>
                    <a:srgbClr val="D4D4D4"/>
                  </a:solidFill>
                  <a:latin typeface="Calibri (MS)"/>
                  <a:ea typeface="Calibri (MS)"/>
                  <a:cs typeface="Calibri (MS)"/>
                  <a:sym typeface="Calibri (MS)"/>
                </a:rPr>
                <a:t> </a:t>
              </a:r>
              <a:r>
                <a:rPr lang="en-US" sz="1462">
                  <a:solidFill>
                    <a:srgbClr val="4EC9B0"/>
                  </a:solidFill>
                  <a:latin typeface="Calibri (MS)"/>
                  <a:ea typeface="Calibri (MS)"/>
                  <a:cs typeface="Calibri (MS)"/>
                  <a:sym typeface="Calibri (MS)"/>
                </a:rPr>
                <a:t>ban_hang_dien_may</a:t>
              </a:r>
              <a:r>
                <a:rPr lang="en-US" sz="1462">
                  <a:solidFill>
                    <a:srgbClr val="D4D4D4"/>
                  </a:solidFill>
                  <a:latin typeface="Calibri (MS)"/>
                  <a:ea typeface="Calibri (MS)"/>
                  <a:cs typeface="Calibri (MS)"/>
                  <a:sym typeface="Calibri (MS)"/>
                </a:rPr>
                <a:t>;</a:t>
              </a:r>
            </a:p>
          </p:txBody>
        </p:sp>
      </p:grpSp>
      <p:grpSp>
        <p:nvGrpSpPr>
          <p:cNvPr id="68" name="Group 68"/>
          <p:cNvGrpSpPr/>
          <p:nvPr/>
        </p:nvGrpSpPr>
        <p:grpSpPr>
          <a:xfrm>
            <a:off x="7900988" y="8773420"/>
            <a:ext cx="2771775" cy="257175"/>
            <a:chOff x="0" y="0"/>
            <a:chExt cx="3695700" cy="342900"/>
          </a:xfrm>
        </p:grpSpPr>
        <p:sp>
          <p:nvSpPr>
            <p:cNvPr id="69" name="Freeform 69"/>
            <p:cNvSpPr/>
            <p:nvPr/>
          </p:nvSpPr>
          <p:spPr>
            <a:xfrm>
              <a:off x="0" y="0"/>
              <a:ext cx="3695700" cy="342900"/>
            </a:xfrm>
            <a:custGeom>
              <a:avLst/>
              <a:gdLst/>
              <a:ahLst/>
              <a:cxnLst/>
              <a:rect l="l" t="t" r="r" b="b"/>
              <a:pathLst>
                <a:path w="3695700" h="342900">
                  <a:moveTo>
                    <a:pt x="0" y="0"/>
                  </a:moveTo>
                  <a:lnTo>
                    <a:pt x="3695700" y="0"/>
                  </a:lnTo>
                  <a:lnTo>
                    <a:pt x="3695700" y="342900"/>
                  </a:lnTo>
                  <a:lnTo>
                    <a:pt x="0" y="342900"/>
                  </a:lnTo>
                  <a:close/>
                </a:path>
              </a:pathLst>
            </a:custGeom>
            <a:blipFill>
              <a:blip r:embed="rId13">
                <a:alphaModFix amt="0"/>
              </a:blip>
              <a:stretch>
                <a:fillRect t="-160005" b="-160005"/>
              </a:stretch>
            </a:blipFill>
          </p:spPr>
        </p:sp>
        <p:sp>
          <p:nvSpPr>
            <p:cNvPr id="70" name="TextBox 70"/>
            <p:cNvSpPr txBox="1"/>
            <p:nvPr/>
          </p:nvSpPr>
          <p:spPr>
            <a:xfrm>
              <a:off x="0" y="-66675"/>
              <a:ext cx="3695700" cy="409575"/>
            </a:xfrm>
            <a:prstGeom prst="rect">
              <a:avLst/>
            </a:prstGeom>
          </p:spPr>
          <p:txBody>
            <a:bodyPr lIns="0" tIns="0" rIns="0" bIns="0" rtlCol="0" anchor="ctr"/>
            <a:lstStyle/>
            <a:p>
              <a:pPr algn="ctr">
                <a:lnSpc>
                  <a:spcPts val="2025"/>
                </a:lnSpc>
              </a:pPr>
              <a:r>
                <a:rPr lang="en-US" sz="1350">
                  <a:solidFill>
                    <a:srgbClr val="7F8C8D"/>
                  </a:solidFill>
                  <a:latin typeface="Calibri (MS)"/>
                  <a:ea typeface="Calibri (MS)"/>
                  <a:cs typeface="Calibri (MS)"/>
                  <a:sym typeface="Calibri (MS)"/>
                </a:rPr>
                <a:t>TỔNG SỐ ĐƠN HÀNG</a:t>
              </a:r>
            </a:p>
          </p:txBody>
        </p:sp>
      </p:grpSp>
      <p:grpSp>
        <p:nvGrpSpPr>
          <p:cNvPr id="71" name="Group 71"/>
          <p:cNvGrpSpPr/>
          <p:nvPr/>
        </p:nvGrpSpPr>
        <p:grpSpPr>
          <a:xfrm>
            <a:off x="7900988" y="9102033"/>
            <a:ext cx="2771775" cy="428625"/>
            <a:chOff x="0" y="0"/>
            <a:chExt cx="3695700" cy="571500"/>
          </a:xfrm>
        </p:grpSpPr>
        <p:sp>
          <p:nvSpPr>
            <p:cNvPr id="72" name="Freeform 72"/>
            <p:cNvSpPr/>
            <p:nvPr/>
          </p:nvSpPr>
          <p:spPr>
            <a:xfrm>
              <a:off x="0" y="0"/>
              <a:ext cx="3695700" cy="571500"/>
            </a:xfrm>
            <a:custGeom>
              <a:avLst/>
              <a:gdLst/>
              <a:ahLst/>
              <a:cxnLst/>
              <a:rect l="l" t="t" r="r" b="b"/>
              <a:pathLst>
                <a:path w="3695700" h="571500">
                  <a:moveTo>
                    <a:pt x="0" y="0"/>
                  </a:moveTo>
                  <a:lnTo>
                    <a:pt x="3695700" y="0"/>
                  </a:lnTo>
                  <a:lnTo>
                    <a:pt x="3695700" y="571500"/>
                  </a:lnTo>
                  <a:lnTo>
                    <a:pt x="0" y="571500"/>
                  </a:lnTo>
                  <a:close/>
                </a:path>
              </a:pathLst>
            </a:custGeom>
            <a:blipFill>
              <a:blip r:embed="rId13">
                <a:alphaModFix amt="0"/>
              </a:blip>
              <a:stretch>
                <a:fillRect t="-76003" b="-76003"/>
              </a:stretch>
            </a:blipFill>
          </p:spPr>
        </p:sp>
        <p:sp>
          <p:nvSpPr>
            <p:cNvPr id="73" name="TextBox 73"/>
            <p:cNvSpPr txBox="1"/>
            <p:nvPr/>
          </p:nvSpPr>
          <p:spPr>
            <a:xfrm>
              <a:off x="0" y="-114300"/>
              <a:ext cx="3695700" cy="685800"/>
            </a:xfrm>
            <a:prstGeom prst="rect">
              <a:avLst/>
            </a:prstGeom>
          </p:spPr>
          <p:txBody>
            <a:bodyPr lIns="0" tIns="0" rIns="0" bIns="0" rtlCol="0" anchor="ctr"/>
            <a:lstStyle/>
            <a:p>
              <a:pPr algn="ctr">
                <a:lnSpc>
                  <a:spcPts val="3375"/>
                </a:lnSpc>
              </a:pPr>
              <a:r>
                <a:rPr lang="en-US" sz="2250" b="1">
                  <a:solidFill>
                    <a:srgbClr val="2C3E50"/>
                  </a:solidFill>
                  <a:latin typeface="Calibri (MS) Bold"/>
                  <a:ea typeface="Calibri (MS) Bold"/>
                  <a:cs typeface="Calibri (MS) Bold"/>
                  <a:sym typeface="Calibri (MS) Bold"/>
                </a:rPr>
                <a:t>2,500</a:t>
              </a:r>
            </a:p>
          </p:txBody>
        </p:sp>
      </p:grpSp>
      <p:grpSp>
        <p:nvGrpSpPr>
          <p:cNvPr id="74" name="Group 74"/>
          <p:cNvGrpSpPr/>
          <p:nvPr/>
        </p:nvGrpSpPr>
        <p:grpSpPr>
          <a:xfrm>
            <a:off x="11315700" y="8773420"/>
            <a:ext cx="2771775" cy="257175"/>
            <a:chOff x="0" y="0"/>
            <a:chExt cx="3695700" cy="342900"/>
          </a:xfrm>
        </p:grpSpPr>
        <p:sp>
          <p:nvSpPr>
            <p:cNvPr id="75" name="Freeform 75"/>
            <p:cNvSpPr/>
            <p:nvPr/>
          </p:nvSpPr>
          <p:spPr>
            <a:xfrm>
              <a:off x="0" y="0"/>
              <a:ext cx="3695700" cy="342900"/>
            </a:xfrm>
            <a:custGeom>
              <a:avLst/>
              <a:gdLst/>
              <a:ahLst/>
              <a:cxnLst/>
              <a:rect l="l" t="t" r="r" b="b"/>
              <a:pathLst>
                <a:path w="3695700" h="342900">
                  <a:moveTo>
                    <a:pt x="0" y="0"/>
                  </a:moveTo>
                  <a:lnTo>
                    <a:pt x="3695700" y="0"/>
                  </a:lnTo>
                  <a:lnTo>
                    <a:pt x="3695700" y="342900"/>
                  </a:lnTo>
                  <a:lnTo>
                    <a:pt x="0" y="342900"/>
                  </a:lnTo>
                  <a:close/>
                </a:path>
              </a:pathLst>
            </a:custGeom>
            <a:blipFill>
              <a:blip r:embed="rId13">
                <a:alphaModFix amt="0"/>
              </a:blip>
              <a:stretch>
                <a:fillRect t="-160005" b="-160005"/>
              </a:stretch>
            </a:blipFill>
          </p:spPr>
        </p:sp>
        <p:sp>
          <p:nvSpPr>
            <p:cNvPr id="76" name="TextBox 76"/>
            <p:cNvSpPr txBox="1"/>
            <p:nvPr/>
          </p:nvSpPr>
          <p:spPr>
            <a:xfrm>
              <a:off x="0" y="-66675"/>
              <a:ext cx="3695700" cy="409575"/>
            </a:xfrm>
            <a:prstGeom prst="rect">
              <a:avLst/>
            </a:prstGeom>
          </p:spPr>
          <p:txBody>
            <a:bodyPr lIns="0" tIns="0" rIns="0" bIns="0" rtlCol="0" anchor="ctr"/>
            <a:lstStyle/>
            <a:p>
              <a:pPr algn="ctr">
                <a:lnSpc>
                  <a:spcPts val="2025"/>
                </a:lnSpc>
              </a:pPr>
              <a:r>
                <a:rPr lang="en-US" sz="1350">
                  <a:solidFill>
                    <a:srgbClr val="7F8C8D"/>
                  </a:solidFill>
                  <a:latin typeface="Calibri (MS)"/>
                  <a:ea typeface="Calibri (MS)"/>
                  <a:cs typeface="Calibri (MS)"/>
                  <a:sym typeface="Calibri (MS)"/>
                </a:rPr>
                <a:t>SẢN PHẨM ĐÃ BÁN</a:t>
              </a:r>
            </a:p>
          </p:txBody>
        </p:sp>
      </p:grpSp>
      <p:grpSp>
        <p:nvGrpSpPr>
          <p:cNvPr id="77" name="Group 77"/>
          <p:cNvGrpSpPr/>
          <p:nvPr/>
        </p:nvGrpSpPr>
        <p:grpSpPr>
          <a:xfrm>
            <a:off x="11315700" y="9102033"/>
            <a:ext cx="2771775" cy="428625"/>
            <a:chOff x="0" y="0"/>
            <a:chExt cx="3695700" cy="571500"/>
          </a:xfrm>
        </p:grpSpPr>
        <p:sp>
          <p:nvSpPr>
            <p:cNvPr id="78" name="Freeform 78"/>
            <p:cNvSpPr/>
            <p:nvPr/>
          </p:nvSpPr>
          <p:spPr>
            <a:xfrm>
              <a:off x="0" y="0"/>
              <a:ext cx="3695700" cy="571500"/>
            </a:xfrm>
            <a:custGeom>
              <a:avLst/>
              <a:gdLst/>
              <a:ahLst/>
              <a:cxnLst/>
              <a:rect l="l" t="t" r="r" b="b"/>
              <a:pathLst>
                <a:path w="3695700" h="571500">
                  <a:moveTo>
                    <a:pt x="0" y="0"/>
                  </a:moveTo>
                  <a:lnTo>
                    <a:pt x="3695700" y="0"/>
                  </a:lnTo>
                  <a:lnTo>
                    <a:pt x="3695700" y="571500"/>
                  </a:lnTo>
                  <a:lnTo>
                    <a:pt x="0" y="571500"/>
                  </a:lnTo>
                  <a:close/>
                </a:path>
              </a:pathLst>
            </a:custGeom>
            <a:blipFill>
              <a:blip r:embed="rId13">
                <a:alphaModFix amt="0"/>
              </a:blip>
              <a:stretch>
                <a:fillRect t="-76003" b="-76003"/>
              </a:stretch>
            </a:blipFill>
          </p:spPr>
        </p:sp>
        <p:sp>
          <p:nvSpPr>
            <p:cNvPr id="79" name="TextBox 79"/>
            <p:cNvSpPr txBox="1"/>
            <p:nvPr/>
          </p:nvSpPr>
          <p:spPr>
            <a:xfrm>
              <a:off x="0" y="-114300"/>
              <a:ext cx="3695700" cy="685800"/>
            </a:xfrm>
            <a:prstGeom prst="rect">
              <a:avLst/>
            </a:prstGeom>
          </p:spPr>
          <p:txBody>
            <a:bodyPr lIns="0" tIns="0" rIns="0" bIns="0" rtlCol="0" anchor="ctr"/>
            <a:lstStyle/>
            <a:p>
              <a:pPr algn="ctr">
                <a:lnSpc>
                  <a:spcPts val="3375"/>
                </a:lnSpc>
              </a:pPr>
              <a:r>
                <a:rPr lang="en-US" sz="2250" b="1">
                  <a:solidFill>
                    <a:srgbClr val="2C3E50"/>
                  </a:solidFill>
                  <a:latin typeface="Calibri (MS) Bold"/>
                  <a:ea typeface="Calibri (MS) Bold"/>
                  <a:cs typeface="Calibri (MS) Bold"/>
                  <a:sym typeface="Calibri (MS) Bold"/>
                </a:rPr>
                <a:t>6,278</a:t>
              </a:r>
            </a:p>
          </p:txBody>
        </p:sp>
      </p:grpSp>
      <p:grpSp>
        <p:nvGrpSpPr>
          <p:cNvPr id="80" name="Group 80"/>
          <p:cNvGrpSpPr/>
          <p:nvPr/>
        </p:nvGrpSpPr>
        <p:grpSpPr>
          <a:xfrm>
            <a:off x="14730412" y="8773420"/>
            <a:ext cx="2771775" cy="257175"/>
            <a:chOff x="0" y="0"/>
            <a:chExt cx="3695700" cy="342900"/>
          </a:xfrm>
        </p:grpSpPr>
        <p:sp>
          <p:nvSpPr>
            <p:cNvPr id="81" name="Freeform 81"/>
            <p:cNvSpPr/>
            <p:nvPr/>
          </p:nvSpPr>
          <p:spPr>
            <a:xfrm>
              <a:off x="0" y="0"/>
              <a:ext cx="3695700" cy="342900"/>
            </a:xfrm>
            <a:custGeom>
              <a:avLst/>
              <a:gdLst/>
              <a:ahLst/>
              <a:cxnLst/>
              <a:rect l="l" t="t" r="r" b="b"/>
              <a:pathLst>
                <a:path w="3695700" h="342900">
                  <a:moveTo>
                    <a:pt x="0" y="0"/>
                  </a:moveTo>
                  <a:lnTo>
                    <a:pt x="3695700" y="0"/>
                  </a:lnTo>
                  <a:lnTo>
                    <a:pt x="3695700" y="342900"/>
                  </a:lnTo>
                  <a:lnTo>
                    <a:pt x="0" y="342900"/>
                  </a:lnTo>
                  <a:close/>
                </a:path>
              </a:pathLst>
            </a:custGeom>
            <a:blipFill>
              <a:blip r:embed="rId13">
                <a:alphaModFix amt="0"/>
              </a:blip>
              <a:stretch>
                <a:fillRect t="-160005" b="-160005"/>
              </a:stretch>
            </a:blipFill>
          </p:spPr>
        </p:sp>
        <p:sp>
          <p:nvSpPr>
            <p:cNvPr id="82" name="TextBox 82"/>
            <p:cNvSpPr txBox="1"/>
            <p:nvPr/>
          </p:nvSpPr>
          <p:spPr>
            <a:xfrm>
              <a:off x="0" y="-66675"/>
              <a:ext cx="3695700" cy="409575"/>
            </a:xfrm>
            <a:prstGeom prst="rect">
              <a:avLst/>
            </a:prstGeom>
          </p:spPr>
          <p:txBody>
            <a:bodyPr lIns="0" tIns="0" rIns="0" bIns="0" rtlCol="0" anchor="ctr"/>
            <a:lstStyle/>
            <a:p>
              <a:pPr algn="ctr">
                <a:lnSpc>
                  <a:spcPts val="2025"/>
                </a:lnSpc>
              </a:pPr>
              <a:r>
                <a:rPr lang="en-US" sz="1350">
                  <a:solidFill>
                    <a:srgbClr val="7F8C8D"/>
                  </a:solidFill>
                  <a:latin typeface="Calibri (MS)"/>
                  <a:ea typeface="Calibri (MS)"/>
                  <a:cs typeface="Calibri (MS)"/>
                  <a:sym typeface="Calibri (MS)"/>
                </a:rPr>
                <a:t>TỔNG DOANH THU</a:t>
              </a:r>
            </a:p>
          </p:txBody>
        </p:sp>
      </p:grpSp>
      <p:grpSp>
        <p:nvGrpSpPr>
          <p:cNvPr id="83" name="Group 83"/>
          <p:cNvGrpSpPr/>
          <p:nvPr/>
        </p:nvGrpSpPr>
        <p:grpSpPr>
          <a:xfrm>
            <a:off x="14730412" y="9102033"/>
            <a:ext cx="2771775" cy="428625"/>
            <a:chOff x="0" y="0"/>
            <a:chExt cx="3695700" cy="571500"/>
          </a:xfrm>
        </p:grpSpPr>
        <p:sp>
          <p:nvSpPr>
            <p:cNvPr id="84" name="Freeform 84"/>
            <p:cNvSpPr/>
            <p:nvPr/>
          </p:nvSpPr>
          <p:spPr>
            <a:xfrm>
              <a:off x="0" y="0"/>
              <a:ext cx="3695700" cy="571500"/>
            </a:xfrm>
            <a:custGeom>
              <a:avLst/>
              <a:gdLst/>
              <a:ahLst/>
              <a:cxnLst/>
              <a:rect l="l" t="t" r="r" b="b"/>
              <a:pathLst>
                <a:path w="3695700" h="571500">
                  <a:moveTo>
                    <a:pt x="0" y="0"/>
                  </a:moveTo>
                  <a:lnTo>
                    <a:pt x="3695700" y="0"/>
                  </a:lnTo>
                  <a:lnTo>
                    <a:pt x="3695700" y="571500"/>
                  </a:lnTo>
                  <a:lnTo>
                    <a:pt x="0" y="571500"/>
                  </a:lnTo>
                  <a:close/>
                </a:path>
              </a:pathLst>
            </a:custGeom>
            <a:blipFill>
              <a:blip r:embed="rId13">
                <a:alphaModFix amt="0"/>
              </a:blip>
              <a:stretch>
                <a:fillRect t="-76003" b="-76003"/>
              </a:stretch>
            </a:blipFill>
          </p:spPr>
        </p:sp>
        <p:sp>
          <p:nvSpPr>
            <p:cNvPr id="85" name="TextBox 85"/>
            <p:cNvSpPr txBox="1"/>
            <p:nvPr/>
          </p:nvSpPr>
          <p:spPr>
            <a:xfrm>
              <a:off x="0" y="-114300"/>
              <a:ext cx="3695700" cy="685800"/>
            </a:xfrm>
            <a:prstGeom prst="rect">
              <a:avLst/>
            </a:prstGeom>
          </p:spPr>
          <p:txBody>
            <a:bodyPr lIns="0" tIns="0" rIns="0" bIns="0" rtlCol="0" anchor="ctr"/>
            <a:lstStyle/>
            <a:p>
              <a:pPr algn="ctr">
                <a:lnSpc>
                  <a:spcPts val="3375"/>
                </a:lnSpc>
              </a:pPr>
              <a:r>
                <a:rPr lang="en-US" sz="2250" b="1">
                  <a:solidFill>
                    <a:srgbClr val="2C3E50"/>
                  </a:solidFill>
                  <a:latin typeface="Calibri (MS) Bold"/>
                  <a:ea typeface="Calibri (MS) Bold"/>
                  <a:cs typeface="Calibri (MS) Bold"/>
                  <a:sym typeface="Calibri (MS) Bold"/>
                </a:rPr>
                <a:t>53.44B</a:t>
              </a:r>
              <a:r>
                <a:rPr lang="en-US" sz="2250" b="1">
                  <a:solidFill>
                    <a:srgbClr val="E67E22"/>
                  </a:solidFill>
                  <a:latin typeface="Calibri (MS) Bold"/>
                  <a:ea typeface="Calibri (MS) Bold"/>
                  <a:cs typeface="Calibri (MS) Bold"/>
                  <a:sym typeface="Calibri (MS) Bold"/>
                </a:rPr>
                <a:t>VND</a:t>
              </a:r>
            </a:p>
          </p:txBody>
        </p:sp>
      </p:gr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571500" y="428625"/>
            <a:ext cx="17145000" cy="1314450"/>
            <a:chOff x="0" y="0"/>
            <a:chExt cx="22860000" cy="1752600"/>
          </a:xfrm>
        </p:grpSpPr>
        <p:sp>
          <p:nvSpPr>
            <p:cNvPr id="6" name="Freeform 6"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4"/>
              <a:stretch>
                <a:fillRect/>
              </a:stretch>
            </a:blipFill>
          </p:spPr>
        </p:sp>
      </p:grpSp>
      <p:grpSp>
        <p:nvGrpSpPr>
          <p:cNvPr id="7" name="Group 7"/>
          <p:cNvGrpSpPr/>
          <p:nvPr/>
        </p:nvGrpSpPr>
        <p:grpSpPr>
          <a:xfrm>
            <a:off x="571500" y="2028825"/>
            <a:ext cx="8358188" cy="3700462"/>
            <a:chOff x="0" y="0"/>
            <a:chExt cx="11144250" cy="4933950"/>
          </a:xfrm>
        </p:grpSpPr>
        <p:sp>
          <p:nvSpPr>
            <p:cNvPr id="8" name="Freeform 8" descr="preencoded.png"/>
            <p:cNvSpPr/>
            <p:nvPr/>
          </p:nvSpPr>
          <p:spPr>
            <a:xfrm>
              <a:off x="0" y="0"/>
              <a:ext cx="11144250" cy="4933950"/>
            </a:xfrm>
            <a:custGeom>
              <a:avLst/>
              <a:gdLst/>
              <a:ahLst/>
              <a:cxnLst/>
              <a:rect l="l" t="t" r="r" b="b"/>
              <a:pathLst>
                <a:path w="11144250" h="4933950">
                  <a:moveTo>
                    <a:pt x="0" y="0"/>
                  </a:moveTo>
                  <a:lnTo>
                    <a:pt x="11144250" y="0"/>
                  </a:lnTo>
                  <a:lnTo>
                    <a:pt x="11144250" y="4933950"/>
                  </a:lnTo>
                  <a:lnTo>
                    <a:pt x="0" y="4933950"/>
                  </a:lnTo>
                  <a:lnTo>
                    <a:pt x="0" y="0"/>
                  </a:lnTo>
                  <a:close/>
                </a:path>
              </a:pathLst>
            </a:custGeom>
            <a:blipFill>
              <a:blip r:embed="rId5"/>
              <a:stretch>
                <a:fillRect/>
              </a:stretch>
            </a:blipFill>
          </p:spPr>
        </p:sp>
      </p:grpSp>
      <p:grpSp>
        <p:nvGrpSpPr>
          <p:cNvPr id="9" name="Group 9"/>
          <p:cNvGrpSpPr/>
          <p:nvPr/>
        </p:nvGrpSpPr>
        <p:grpSpPr>
          <a:xfrm>
            <a:off x="857250" y="2375964"/>
            <a:ext cx="321469" cy="262976"/>
            <a:chOff x="0" y="0"/>
            <a:chExt cx="428625" cy="350634"/>
          </a:xfrm>
        </p:grpSpPr>
        <p:sp>
          <p:nvSpPr>
            <p:cNvPr id="10" name="Freeform 10"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6"/>
              <a:stretch>
                <a:fillRect t="-7" b="-7"/>
              </a:stretch>
            </a:blipFill>
          </p:spPr>
        </p:sp>
      </p:grpSp>
      <p:grpSp>
        <p:nvGrpSpPr>
          <p:cNvPr id="11" name="Group 11"/>
          <p:cNvGrpSpPr/>
          <p:nvPr/>
        </p:nvGrpSpPr>
        <p:grpSpPr>
          <a:xfrm>
            <a:off x="857250" y="2928938"/>
            <a:ext cx="285750" cy="732234"/>
            <a:chOff x="0" y="0"/>
            <a:chExt cx="381000" cy="976312"/>
          </a:xfrm>
        </p:grpSpPr>
        <p:sp>
          <p:nvSpPr>
            <p:cNvPr id="12" name="Freeform 12" descr="preencoded.png"/>
            <p:cNvSpPr/>
            <p:nvPr/>
          </p:nvSpPr>
          <p:spPr>
            <a:xfrm>
              <a:off x="0" y="0"/>
              <a:ext cx="381000" cy="976249"/>
            </a:xfrm>
            <a:custGeom>
              <a:avLst/>
              <a:gdLst/>
              <a:ahLst/>
              <a:cxnLst/>
              <a:rect l="l" t="t" r="r" b="b"/>
              <a:pathLst>
                <a:path w="381000" h="976249">
                  <a:moveTo>
                    <a:pt x="0" y="0"/>
                  </a:moveTo>
                  <a:lnTo>
                    <a:pt x="381000" y="0"/>
                  </a:lnTo>
                  <a:lnTo>
                    <a:pt x="381000" y="976249"/>
                  </a:lnTo>
                  <a:lnTo>
                    <a:pt x="0" y="976249"/>
                  </a:lnTo>
                  <a:lnTo>
                    <a:pt x="0" y="0"/>
                  </a:lnTo>
                  <a:close/>
                </a:path>
              </a:pathLst>
            </a:custGeom>
            <a:blipFill>
              <a:blip r:embed="rId7"/>
              <a:stretch>
                <a:fillRect b="-6"/>
              </a:stretch>
            </a:blipFill>
          </p:spPr>
        </p:sp>
      </p:grpSp>
      <p:grpSp>
        <p:nvGrpSpPr>
          <p:cNvPr id="13" name="Group 13"/>
          <p:cNvGrpSpPr/>
          <p:nvPr/>
        </p:nvGrpSpPr>
        <p:grpSpPr>
          <a:xfrm>
            <a:off x="857250" y="3861197"/>
            <a:ext cx="285750" cy="732234"/>
            <a:chOff x="0" y="0"/>
            <a:chExt cx="381000" cy="976312"/>
          </a:xfrm>
        </p:grpSpPr>
        <p:sp>
          <p:nvSpPr>
            <p:cNvPr id="14" name="Freeform 14" descr="preencoded.png"/>
            <p:cNvSpPr/>
            <p:nvPr/>
          </p:nvSpPr>
          <p:spPr>
            <a:xfrm>
              <a:off x="0" y="0"/>
              <a:ext cx="381000" cy="976249"/>
            </a:xfrm>
            <a:custGeom>
              <a:avLst/>
              <a:gdLst/>
              <a:ahLst/>
              <a:cxnLst/>
              <a:rect l="l" t="t" r="r" b="b"/>
              <a:pathLst>
                <a:path w="381000" h="976249">
                  <a:moveTo>
                    <a:pt x="0" y="0"/>
                  </a:moveTo>
                  <a:lnTo>
                    <a:pt x="381000" y="0"/>
                  </a:lnTo>
                  <a:lnTo>
                    <a:pt x="381000" y="976249"/>
                  </a:lnTo>
                  <a:lnTo>
                    <a:pt x="0" y="976249"/>
                  </a:lnTo>
                  <a:lnTo>
                    <a:pt x="0" y="0"/>
                  </a:lnTo>
                  <a:close/>
                </a:path>
              </a:pathLst>
            </a:custGeom>
            <a:blipFill>
              <a:blip r:embed="rId8"/>
              <a:stretch>
                <a:fillRect b="-6"/>
              </a:stretch>
            </a:blipFill>
          </p:spPr>
        </p:sp>
      </p:grpSp>
      <p:grpSp>
        <p:nvGrpSpPr>
          <p:cNvPr id="15" name="Group 15"/>
          <p:cNvGrpSpPr/>
          <p:nvPr/>
        </p:nvGrpSpPr>
        <p:grpSpPr>
          <a:xfrm>
            <a:off x="571500" y="6015038"/>
            <a:ext cx="8358188" cy="3700462"/>
            <a:chOff x="0" y="0"/>
            <a:chExt cx="11144250" cy="4933950"/>
          </a:xfrm>
        </p:grpSpPr>
        <p:sp>
          <p:nvSpPr>
            <p:cNvPr id="16" name="Freeform 16" descr="preencoded.png"/>
            <p:cNvSpPr/>
            <p:nvPr/>
          </p:nvSpPr>
          <p:spPr>
            <a:xfrm>
              <a:off x="0" y="0"/>
              <a:ext cx="11144250" cy="4933950"/>
            </a:xfrm>
            <a:custGeom>
              <a:avLst/>
              <a:gdLst/>
              <a:ahLst/>
              <a:cxnLst/>
              <a:rect l="l" t="t" r="r" b="b"/>
              <a:pathLst>
                <a:path w="11144250" h="4933950">
                  <a:moveTo>
                    <a:pt x="0" y="0"/>
                  </a:moveTo>
                  <a:lnTo>
                    <a:pt x="11144250" y="0"/>
                  </a:lnTo>
                  <a:lnTo>
                    <a:pt x="11144250" y="4933950"/>
                  </a:lnTo>
                  <a:lnTo>
                    <a:pt x="0" y="4933950"/>
                  </a:lnTo>
                  <a:lnTo>
                    <a:pt x="0" y="0"/>
                  </a:lnTo>
                  <a:close/>
                </a:path>
              </a:pathLst>
            </a:custGeom>
            <a:blipFill>
              <a:blip r:embed="rId9"/>
              <a:stretch>
                <a:fillRect/>
              </a:stretch>
            </a:blipFill>
          </p:spPr>
        </p:sp>
      </p:grpSp>
      <p:grpSp>
        <p:nvGrpSpPr>
          <p:cNvPr id="17" name="Group 17"/>
          <p:cNvGrpSpPr/>
          <p:nvPr/>
        </p:nvGrpSpPr>
        <p:grpSpPr>
          <a:xfrm>
            <a:off x="857250" y="6362176"/>
            <a:ext cx="321469" cy="262976"/>
            <a:chOff x="0" y="0"/>
            <a:chExt cx="428625" cy="350634"/>
          </a:xfrm>
        </p:grpSpPr>
        <p:sp>
          <p:nvSpPr>
            <p:cNvPr id="18" name="Freeform 18"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0"/>
              <a:stretch>
                <a:fillRect t="-7" b="-7"/>
              </a:stretch>
            </a:blipFill>
          </p:spPr>
        </p:sp>
      </p:grpSp>
      <p:grpSp>
        <p:nvGrpSpPr>
          <p:cNvPr id="19" name="Group 19"/>
          <p:cNvGrpSpPr/>
          <p:nvPr/>
        </p:nvGrpSpPr>
        <p:grpSpPr>
          <a:xfrm>
            <a:off x="9358312" y="2443162"/>
            <a:ext cx="8358188" cy="6858000"/>
            <a:chOff x="0" y="0"/>
            <a:chExt cx="11144250" cy="9144000"/>
          </a:xfrm>
        </p:grpSpPr>
        <p:sp>
          <p:nvSpPr>
            <p:cNvPr id="20" name="Freeform 20" descr="preencoded.png"/>
            <p:cNvSpPr/>
            <p:nvPr/>
          </p:nvSpPr>
          <p:spPr>
            <a:xfrm>
              <a:off x="0" y="0"/>
              <a:ext cx="11144250" cy="9144000"/>
            </a:xfrm>
            <a:custGeom>
              <a:avLst/>
              <a:gdLst/>
              <a:ahLst/>
              <a:cxnLst/>
              <a:rect l="l" t="t" r="r" b="b"/>
              <a:pathLst>
                <a:path w="11144250" h="9144000">
                  <a:moveTo>
                    <a:pt x="0" y="0"/>
                  </a:moveTo>
                  <a:lnTo>
                    <a:pt x="11144250" y="0"/>
                  </a:lnTo>
                  <a:lnTo>
                    <a:pt x="11144250" y="9144000"/>
                  </a:lnTo>
                  <a:lnTo>
                    <a:pt x="0" y="9144000"/>
                  </a:lnTo>
                  <a:lnTo>
                    <a:pt x="0" y="0"/>
                  </a:lnTo>
                  <a:close/>
                </a:path>
              </a:pathLst>
            </a:custGeom>
            <a:blipFill>
              <a:blip r:embed="rId11"/>
              <a:stretch>
                <a:fillRect/>
              </a:stretch>
            </a:blipFill>
          </p:spPr>
        </p:sp>
      </p:grpSp>
      <p:grpSp>
        <p:nvGrpSpPr>
          <p:cNvPr id="21" name="Group 21"/>
          <p:cNvGrpSpPr/>
          <p:nvPr/>
        </p:nvGrpSpPr>
        <p:grpSpPr>
          <a:xfrm>
            <a:off x="9358312" y="2443162"/>
            <a:ext cx="8358188" cy="507206"/>
            <a:chOff x="0" y="0"/>
            <a:chExt cx="11144250" cy="676275"/>
          </a:xfrm>
        </p:grpSpPr>
        <p:sp>
          <p:nvSpPr>
            <p:cNvPr id="22" name="Freeform 22" descr="preencoded.png"/>
            <p:cNvSpPr/>
            <p:nvPr/>
          </p:nvSpPr>
          <p:spPr>
            <a:xfrm>
              <a:off x="0" y="0"/>
              <a:ext cx="11144250" cy="676275"/>
            </a:xfrm>
            <a:custGeom>
              <a:avLst/>
              <a:gdLst/>
              <a:ahLst/>
              <a:cxnLst/>
              <a:rect l="l" t="t" r="r" b="b"/>
              <a:pathLst>
                <a:path w="11144250" h="676275">
                  <a:moveTo>
                    <a:pt x="0" y="0"/>
                  </a:moveTo>
                  <a:lnTo>
                    <a:pt x="11144250" y="0"/>
                  </a:lnTo>
                  <a:lnTo>
                    <a:pt x="11144250" y="676275"/>
                  </a:lnTo>
                  <a:lnTo>
                    <a:pt x="0" y="676275"/>
                  </a:lnTo>
                  <a:lnTo>
                    <a:pt x="0" y="0"/>
                  </a:lnTo>
                  <a:close/>
                </a:path>
              </a:pathLst>
            </a:custGeom>
            <a:blipFill>
              <a:blip r:embed="rId12"/>
              <a:stretch>
                <a:fillRect l="-714" r="-714"/>
              </a:stretch>
            </a:blipFill>
          </p:spPr>
        </p:sp>
      </p:grpSp>
      <p:grpSp>
        <p:nvGrpSpPr>
          <p:cNvPr id="23" name="Group 23"/>
          <p:cNvGrpSpPr/>
          <p:nvPr/>
        </p:nvGrpSpPr>
        <p:grpSpPr>
          <a:xfrm>
            <a:off x="11549663" y="2613946"/>
            <a:ext cx="232172" cy="188643"/>
            <a:chOff x="0" y="0"/>
            <a:chExt cx="309562" cy="251524"/>
          </a:xfrm>
        </p:grpSpPr>
        <p:sp>
          <p:nvSpPr>
            <p:cNvPr id="24" name="Freeform 24" descr="preencoded.png"/>
            <p:cNvSpPr/>
            <p:nvPr/>
          </p:nvSpPr>
          <p:spPr>
            <a:xfrm>
              <a:off x="0" y="0"/>
              <a:ext cx="309499" cy="251460"/>
            </a:xfrm>
            <a:custGeom>
              <a:avLst/>
              <a:gdLst/>
              <a:ahLst/>
              <a:cxnLst/>
              <a:rect l="l" t="t" r="r" b="b"/>
              <a:pathLst>
                <a:path w="309499" h="251460">
                  <a:moveTo>
                    <a:pt x="0" y="0"/>
                  </a:moveTo>
                  <a:lnTo>
                    <a:pt x="309499" y="0"/>
                  </a:lnTo>
                  <a:lnTo>
                    <a:pt x="309499" y="251460"/>
                  </a:lnTo>
                  <a:lnTo>
                    <a:pt x="0" y="251460"/>
                  </a:lnTo>
                  <a:lnTo>
                    <a:pt x="0" y="0"/>
                  </a:lnTo>
                  <a:close/>
                </a:path>
              </a:pathLst>
            </a:custGeom>
            <a:blipFill>
              <a:blip r:embed="rId13"/>
              <a:stretch>
                <a:fillRect r="-20" b="-25"/>
              </a:stretch>
            </a:blipFill>
          </p:spPr>
        </p:sp>
      </p:grpSp>
      <p:grpSp>
        <p:nvGrpSpPr>
          <p:cNvPr id="25" name="Group 25"/>
          <p:cNvGrpSpPr/>
          <p:nvPr/>
        </p:nvGrpSpPr>
        <p:grpSpPr>
          <a:xfrm>
            <a:off x="9358312" y="2950369"/>
            <a:ext cx="8358188" cy="6350794"/>
            <a:chOff x="0" y="0"/>
            <a:chExt cx="11144250" cy="8467725"/>
          </a:xfrm>
        </p:grpSpPr>
        <p:sp>
          <p:nvSpPr>
            <p:cNvPr id="26" name="Freeform 26" descr="https://static-us-img.skywork.ai/prod/nexus/1778890570/cropped_image_0_1778890570113313707.jpg"/>
            <p:cNvSpPr/>
            <p:nvPr/>
          </p:nvSpPr>
          <p:spPr>
            <a:xfrm>
              <a:off x="0" y="0"/>
              <a:ext cx="11144250" cy="8467725"/>
            </a:xfrm>
            <a:custGeom>
              <a:avLst/>
              <a:gdLst/>
              <a:ahLst/>
              <a:cxnLst/>
              <a:rect l="l" t="t" r="r" b="b"/>
              <a:pathLst>
                <a:path w="11144250" h="8467725">
                  <a:moveTo>
                    <a:pt x="0" y="0"/>
                  </a:moveTo>
                  <a:lnTo>
                    <a:pt x="11144250" y="0"/>
                  </a:lnTo>
                  <a:lnTo>
                    <a:pt x="11144250" y="8467725"/>
                  </a:lnTo>
                  <a:lnTo>
                    <a:pt x="0" y="8467725"/>
                  </a:lnTo>
                  <a:lnTo>
                    <a:pt x="0" y="0"/>
                  </a:lnTo>
                  <a:close/>
                </a:path>
              </a:pathLst>
            </a:custGeom>
            <a:blipFill>
              <a:blip r:embed="rId14"/>
              <a:stretch>
                <a:fillRect l="-16438" r="-16437"/>
              </a:stretch>
            </a:blipFill>
          </p:spPr>
        </p:sp>
      </p:grpSp>
      <p:grpSp>
        <p:nvGrpSpPr>
          <p:cNvPr id="27" name="Group 27"/>
          <p:cNvGrpSpPr/>
          <p:nvPr/>
        </p:nvGrpSpPr>
        <p:grpSpPr>
          <a:xfrm>
            <a:off x="1000125" y="642938"/>
            <a:ext cx="17287875" cy="514350"/>
            <a:chOff x="0" y="0"/>
            <a:chExt cx="23050500" cy="685800"/>
          </a:xfrm>
        </p:grpSpPr>
        <p:sp>
          <p:nvSpPr>
            <p:cNvPr id="28" name="Freeform 28"/>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15">
                <a:alphaModFix amt="0"/>
              </a:blip>
              <a:stretch>
                <a:fillRect t="-604913" b="-604913"/>
              </a:stretch>
            </a:blipFill>
          </p:spPr>
        </p:sp>
        <p:sp>
          <p:nvSpPr>
            <p:cNvPr id="29" name="TextBox 29"/>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2: DOANH THU VÀ SẢN LƯỢNG THEO DANH MỤC SẢN PHẨM</a:t>
              </a:r>
            </a:p>
          </p:txBody>
        </p:sp>
      </p:grpSp>
      <p:grpSp>
        <p:nvGrpSpPr>
          <p:cNvPr id="30" name="Group 30"/>
          <p:cNvGrpSpPr/>
          <p:nvPr/>
        </p:nvGrpSpPr>
        <p:grpSpPr>
          <a:xfrm>
            <a:off x="1000125" y="1228725"/>
            <a:ext cx="16287750" cy="300038"/>
            <a:chOff x="0" y="0"/>
            <a:chExt cx="21717000" cy="400050"/>
          </a:xfrm>
        </p:grpSpPr>
        <p:sp>
          <p:nvSpPr>
            <p:cNvPr id="31" name="Freeform 31"/>
            <p:cNvSpPr/>
            <p:nvPr/>
          </p:nvSpPr>
          <p:spPr>
            <a:xfrm>
              <a:off x="0" y="0"/>
              <a:ext cx="21717000" cy="400050"/>
            </a:xfrm>
            <a:custGeom>
              <a:avLst/>
              <a:gdLst/>
              <a:ahLst/>
              <a:cxnLst/>
              <a:rect l="l" t="t" r="r" b="b"/>
              <a:pathLst>
                <a:path w="21717000" h="400050">
                  <a:moveTo>
                    <a:pt x="0" y="0"/>
                  </a:moveTo>
                  <a:lnTo>
                    <a:pt x="21717000" y="0"/>
                  </a:lnTo>
                  <a:lnTo>
                    <a:pt x="21717000" y="400050"/>
                  </a:lnTo>
                  <a:lnTo>
                    <a:pt x="0" y="400050"/>
                  </a:lnTo>
                  <a:close/>
                </a:path>
              </a:pathLst>
            </a:custGeom>
            <a:blipFill>
              <a:blip r:embed="rId15">
                <a:alphaModFix amt="0"/>
              </a:blip>
              <a:stretch>
                <a:fillRect t="-1007759" b="-1007759"/>
              </a:stretch>
            </a:blipFill>
          </p:spPr>
        </p:sp>
        <p:sp>
          <p:nvSpPr>
            <p:cNvPr id="32" name="TextBox 32"/>
            <p:cNvSpPr txBox="1"/>
            <p:nvPr/>
          </p:nvSpPr>
          <p:spPr>
            <a:xfrm>
              <a:off x="0" y="-66675"/>
              <a:ext cx="217170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Thực thi truy vấn HiveQL &amp; Trực quan hóa kết quả</a:t>
              </a:r>
            </a:p>
          </p:txBody>
        </p:sp>
      </p:grpSp>
      <p:grpSp>
        <p:nvGrpSpPr>
          <p:cNvPr id="33" name="Group 33"/>
          <p:cNvGrpSpPr/>
          <p:nvPr/>
        </p:nvGrpSpPr>
        <p:grpSpPr>
          <a:xfrm>
            <a:off x="1321594" y="2314575"/>
            <a:ext cx="7786688" cy="385762"/>
            <a:chOff x="0" y="0"/>
            <a:chExt cx="10382250" cy="514350"/>
          </a:xfrm>
        </p:grpSpPr>
        <p:sp>
          <p:nvSpPr>
            <p:cNvPr id="34" name="Freeform 34"/>
            <p:cNvSpPr/>
            <p:nvPr/>
          </p:nvSpPr>
          <p:spPr>
            <a:xfrm>
              <a:off x="0" y="0"/>
              <a:ext cx="10382250" cy="514350"/>
            </a:xfrm>
            <a:custGeom>
              <a:avLst/>
              <a:gdLst/>
              <a:ahLst/>
              <a:cxnLst/>
              <a:rect l="l" t="t" r="r" b="b"/>
              <a:pathLst>
                <a:path w="10382250" h="514350">
                  <a:moveTo>
                    <a:pt x="0" y="0"/>
                  </a:moveTo>
                  <a:lnTo>
                    <a:pt x="10382250" y="0"/>
                  </a:lnTo>
                  <a:lnTo>
                    <a:pt x="10382250" y="514350"/>
                  </a:lnTo>
                  <a:lnTo>
                    <a:pt x="0" y="514350"/>
                  </a:lnTo>
                  <a:close/>
                </a:path>
              </a:pathLst>
            </a:custGeom>
            <a:blipFill>
              <a:blip r:embed="rId15">
                <a:alphaModFix amt="0"/>
              </a:blip>
              <a:stretch>
                <a:fillRect t="-343309" b="-343309"/>
              </a:stretch>
            </a:blipFill>
          </p:spPr>
        </p:sp>
        <p:sp>
          <p:nvSpPr>
            <p:cNvPr id="35" name="TextBox 35"/>
            <p:cNvSpPr txBox="1"/>
            <p:nvPr/>
          </p:nvSpPr>
          <p:spPr>
            <a:xfrm>
              <a:off x="0" y="-95250"/>
              <a:ext cx="10382250" cy="609600"/>
            </a:xfrm>
            <a:prstGeom prst="rect">
              <a:avLst/>
            </a:prstGeom>
          </p:spPr>
          <p:txBody>
            <a:bodyPr lIns="0" tIns="0" rIns="0" bIns="0" rtlCol="0" anchor="ctr"/>
            <a:lstStyle/>
            <a:p>
              <a:pPr algn="l">
                <a:lnSpc>
                  <a:spcPts val="3037"/>
                </a:lnSpc>
              </a:pPr>
              <a:r>
                <a:rPr lang="en-US" sz="2025" b="1">
                  <a:solidFill>
                    <a:srgbClr val="007ACC"/>
                  </a:solidFill>
                  <a:latin typeface="Calibri (MS) Bold"/>
                  <a:ea typeface="Calibri (MS) Bold"/>
                  <a:cs typeface="Calibri (MS) Bold"/>
                  <a:sym typeface="Calibri (MS) Bold"/>
                </a:rPr>
                <a:t>Ý nghĩa chiến lược</a:t>
              </a:r>
            </a:p>
          </p:txBody>
        </p:sp>
      </p:grpSp>
      <p:grpSp>
        <p:nvGrpSpPr>
          <p:cNvPr id="36" name="Group 36"/>
          <p:cNvGrpSpPr/>
          <p:nvPr/>
        </p:nvGrpSpPr>
        <p:grpSpPr>
          <a:xfrm>
            <a:off x="1314450" y="2871788"/>
            <a:ext cx="7329488" cy="789384"/>
            <a:chOff x="0" y="0"/>
            <a:chExt cx="9772650" cy="1052512"/>
          </a:xfrm>
        </p:grpSpPr>
        <p:sp>
          <p:nvSpPr>
            <p:cNvPr id="37" name="Freeform 37"/>
            <p:cNvSpPr/>
            <p:nvPr/>
          </p:nvSpPr>
          <p:spPr>
            <a:xfrm>
              <a:off x="0" y="0"/>
              <a:ext cx="9772650" cy="1052512"/>
            </a:xfrm>
            <a:custGeom>
              <a:avLst/>
              <a:gdLst/>
              <a:ahLst/>
              <a:cxnLst/>
              <a:rect l="l" t="t" r="r" b="b"/>
              <a:pathLst>
                <a:path w="9772650" h="1052512">
                  <a:moveTo>
                    <a:pt x="0" y="0"/>
                  </a:moveTo>
                  <a:lnTo>
                    <a:pt x="9772650" y="0"/>
                  </a:lnTo>
                  <a:lnTo>
                    <a:pt x="9772650" y="1052512"/>
                  </a:lnTo>
                  <a:lnTo>
                    <a:pt x="0" y="1052512"/>
                  </a:lnTo>
                  <a:close/>
                </a:path>
              </a:pathLst>
            </a:custGeom>
            <a:blipFill>
              <a:blip r:embed="rId15">
                <a:alphaModFix amt="0"/>
              </a:blip>
              <a:stretch>
                <a:fillRect t="-130919" b="-130920"/>
              </a:stretch>
            </a:blipFill>
          </p:spPr>
        </p:sp>
        <p:sp>
          <p:nvSpPr>
            <p:cNvPr id="38" name="TextBox 38"/>
            <p:cNvSpPr txBox="1"/>
            <p:nvPr/>
          </p:nvSpPr>
          <p:spPr>
            <a:xfrm>
              <a:off x="0" y="-85725"/>
              <a:ext cx="9772650" cy="1138237"/>
            </a:xfrm>
            <a:prstGeom prst="rect">
              <a:avLst/>
            </a:prstGeom>
          </p:spPr>
          <p:txBody>
            <a:bodyPr lIns="0" tIns="0" rIns="0" bIns="0" rtlCol="0" anchor="ctr"/>
            <a:lstStyle/>
            <a:p>
              <a:pPr algn="l">
                <a:lnSpc>
                  <a:spcPts val="2531"/>
                </a:lnSpc>
              </a:pPr>
              <a:r>
                <a:rPr lang="en-US" sz="1687" b="1">
                  <a:solidFill>
                    <a:srgbClr val="2C3E50"/>
                  </a:solidFill>
                  <a:latin typeface="Calibri (MS) Bold"/>
                  <a:ea typeface="Calibri (MS) Bold"/>
                  <a:cs typeface="Calibri (MS) Bold"/>
                  <a:sym typeface="Calibri (MS) Bold"/>
                </a:rPr>
                <a:t>Mục đích:</a:t>
              </a:r>
              <a:r>
                <a:rPr lang="en-US" sz="1687">
                  <a:solidFill>
                    <a:srgbClr val="2C3E50"/>
                  </a:solidFill>
                  <a:latin typeface="Calibri (MS)"/>
                  <a:ea typeface="Calibri (MS)"/>
                  <a:cs typeface="Calibri (MS)"/>
                  <a:sym typeface="Calibri (MS)"/>
                </a:rPr>
                <a:t> Xác định cơ cấu đóng góp doanh thu của từng nhóm ngành hàng, đánh giá thị hiếu thị trường chung.</a:t>
              </a:r>
            </a:p>
          </p:txBody>
        </p:sp>
      </p:grpSp>
      <p:grpSp>
        <p:nvGrpSpPr>
          <p:cNvPr id="39" name="Group 39"/>
          <p:cNvGrpSpPr/>
          <p:nvPr/>
        </p:nvGrpSpPr>
        <p:grpSpPr>
          <a:xfrm>
            <a:off x="1314450" y="3804047"/>
            <a:ext cx="7329488" cy="789384"/>
            <a:chOff x="0" y="0"/>
            <a:chExt cx="9772650" cy="1052512"/>
          </a:xfrm>
        </p:grpSpPr>
        <p:sp>
          <p:nvSpPr>
            <p:cNvPr id="40" name="Freeform 40"/>
            <p:cNvSpPr/>
            <p:nvPr/>
          </p:nvSpPr>
          <p:spPr>
            <a:xfrm>
              <a:off x="0" y="0"/>
              <a:ext cx="9772650" cy="1052512"/>
            </a:xfrm>
            <a:custGeom>
              <a:avLst/>
              <a:gdLst/>
              <a:ahLst/>
              <a:cxnLst/>
              <a:rect l="l" t="t" r="r" b="b"/>
              <a:pathLst>
                <a:path w="9772650" h="1052512">
                  <a:moveTo>
                    <a:pt x="0" y="0"/>
                  </a:moveTo>
                  <a:lnTo>
                    <a:pt x="9772650" y="0"/>
                  </a:lnTo>
                  <a:lnTo>
                    <a:pt x="9772650" y="1052512"/>
                  </a:lnTo>
                  <a:lnTo>
                    <a:pt x="0" y="1052512"/>
                  </a:lnTo>
                  <a:close/>
                </a:path>
              </a:pathLst>
            </a:custGeom>
            <a:blipFill>
              <a:blip r:embed="rId15">
                <a:alphaModFix amt="0"/>
              </a:blip>
              <a:stretch>
                <a:fillRect t="-130919" b="-130920"/>
              </a:stretch>
            </a:blipFill>
          </p:spPr>
        </p:sp>
        <p:sp>
          <p:nvSpPr>
            <p:cNvPr id="41" name="TextBox 41"/>
            <p:cNvSpPr txBox="1"/>
            <p:nvPr/>
          </p:nvSpPr>
          <p:spPr>
            <a:xfrm>
              <a:off x="0" y="-85725"/>
              <a:ext cx="9772650" cy="1138237"/>
            </a:xfrm>
            <a:prstGeom prst="rect">
              <a:avLst/>
            </a:prstGeom>
          </p:spPr>
          <p:txBody>
            <a:bodyPr lIns="0" tIns="0" rIns="0" bIns="0" rtlCol="0" anchor="ctr"/>
            <a:lstStyle/>
            <a:p>
              <a:pPr algn="l">
                <a:lnSpc>
                  <a:spcPts val="2531"/>
                </a:lnSpc>
              </a:pPr>
              <a:r>
                <a:rPr lang="en-US" sz="1687" b="1">
                  <a:solidFill>
                    <a:srgbClr val="2C3E50"/>
                  </a:solidFill>
                  <a:latin typeface="Calibri (MS) Bold"/>
                  <a:ea typeface="Calibri (MS) Bold"/>
                  <a:cs typeface="Calibri (MS) Bold"/>
                  <a:sym typeface="Calibri (MS) Bold"/>
                </a:rPr>
                <a:t>Ý nghĩa:</a:t>
              </a:r>
              <a:r>
                <a:rPr lang="en-US" sz="1687">
                  <a:solidFill>
                    <a:srgbClr val="2C3E50"/>
                  </a:solidFill>
                  <a:latin typeface="Calibri (MS)"/>
                  <a:ea typeface="Calibri (MS)"/>
                  <a:cs typeface="Calibri (MS)"/>
                  <a:sym typeface="Calibri (MS)"/>
                </a:rPr>
                <a:t> Chỉ ra nhóm ngành hàng mũi nhọn (Điện thoại, Laptop) giúp bộ phận thu mua tối ưu hạn mức nhập kho.</a:t>
              </a:r>
            </a:p>
          </p:txBody>
        </p:sp>
      </p:grpSp>
      <p:grpSp>
        <p:nvGrpSpPr>
          <p:cNvPr id="42" name="Group 42"/>
          <p:cNvGrpSpPr/>
          <p:nvPr/>
        </p:nvGrpSpPr>
        <p:grpSpPr>
          <a:xfrm>
            <a:off x="1321594" y="6300788"/>
            <a:ext cx="7786688" cy="385762"/>
            <a:chOff x="0" y="0"/>
            <a:chExt cx="10382250" cy="514350"/>
          </a:xfrm>
        </p:grpSpPr>
        <p:sp>
          <p:nvSpPr>
            <p:cNvPr id="43" name="Freeform 43"/>
            <p:cNvSpPr/>
            <p:nvPr/>
          </p:nvSpPr>
          <p:spPr>
            <a:xfrm>
              <a:off x="0" y="0"/>
              <a:ext cx="10382250" cy="514350"/>
            </a:xfrm>
            <a:custGeom>
              <a:avLst/>
              <a:gdLst/>
              <a:ahLst/>
              <a:cxnLst/>
              <a:rect l="l" t="t" r="r" b="b"/>
              <a:pathLst>
                <a:path w="10382250" h="514350">
                  <a:moveTo>
                    <a:pt x="0" y="0"/>
                  </a:moveTo>
                  <a:lnTo>
                    <a:pt x="10382250" y="0"/>
                  </a:lnTo>
                  <a:lnTo>
                    <a:pt x="10382250" y="514350"/>
                  </a:lnTo>
                  <a:lnTo>
                    <a:pt x="0" y="514350"/>
                  </a:lnTo>
                  <a:close/>
                </a:path>
              </a:pathLst>
            </a:custGeom>
            <a:blipFill>
              <a:blip r:embed="rId15">
                <a:alphaModFix amt="0"/>
              </a:blip>
              <a:stretch>
                <a:fillRect t="-343309" b="-343309"/>
              </a:stretch>
            </a:blipFill>
          </p:spPr>
        </p:sp>
        <p:sp>
          <p:nvSpPr>
            <p:cNvPr id="44" name="TextBox 44"/>
            <p:cNvSpPr txBox="1"/>
            <p:nvPr/>
          </p:nvSpPr>
          <p:spPr>
            <a:xfrm>
              <a:off x="0" y="-95250"/>
              <a:ext cx="10382250" cy="609600"/>
            </a:xfrm>
            <a:prstGeom prst="rect">
              <a:avLst/>
            </a:prstGeom>
          </p:spPr>
          <p:txBody>
            <a:bodyPr lIns="0" tIns="0" rIns="0" bIns="0" rtlCol="0" anchor="ctr"/>
            <a:lstStyle/>
            <a:p>
              <a:pPr algn="l">
                <a:lnSpc>
                  <a:spcPts val="3037"/>
                </a:lnSpc>
              </a:pPr>
              <a:r>
                <a:rPr lang="en-US" sz="2025" b="1">
                  <a:solidFill>
                    <a:srgbClr val="4EC9B0"/>
                  </a:solidFill>
                  <a:latin typeface="Calibri (MS) Bold"/>
                  <a:ea typeface="Calibri (MS) Bold"/>
                  <a:cs typeface="Calibri (MS) Bold"/>
                  <a:sym typeface="Calibri (MS) Bold"/>
                </a:rPr>
                <a:t>HiveQL Query</a:t>
              </a:r>
            </a:p>
          </p:txBody>
        </p:sp>
      </p:grpSp>
      <p:grpSp>
        <p:nvGrpSpPr>
          <p:cNvPr id="45" name="Group 45"/>
          <p:cNvGrpSpPr/>
          <p:nvPr/>
        </p:nvGrpSpPr>
        <p:grpSpPr>
          <a:xfrm>
            <a:off x="857250" y="6915150"/>
            <a:ext cx="1440180" cy="200025"/>
            <a:chOff x="0" y="0"/>
            <a:chExt cx="1920240" cy="266700"/>
          </a:xfrm>
        </p:grpSpPr>
        <p:sp>
          <p:nvSpPr>
            <p:cNvPr id="46" name="Freeform 46"/>
            <p:cNvSpPr/>
            <p:nvPr/>
          </p:nvSpPr>
          <p:spPr>
            <a:xfrm>
              <a:off x="0" y="0"/>
              <a:ext cx="1920240" cy="266700"/>
            </a:xfrm>
            <a:custGeom>
              <a:avLst/>
              <a:gdLst/>
              <a:ahLst/>
              <a:cxnLst/>
              <a:rect l="l" t="t" r="r" b="b"/>
              <a:pathLst>
                <a:path w="1920240" h="266700">
                  <a:moveTo>
                    <a:pt x="0" y="0"/>
                  </a:moveTo>
                  <a:lnTo>
                    <a:pt x="1920240" y="0"/>
                  </a:lnTo>
                  <a:lnTo>
                    <a:pt x="1920240" y="266700"/>
                  </a:lnTo>
                  <a:lnTo>
                    <a:pt x="0" y="266700"/>
                  </a:lnTo>
                  <a:close/>
                </a:path>
              </a:pathLst>
            </a:custGeom>
            <a:blipFill>
              <a:blip r:embed="rId15">
                <a:alphaModFix amt="0"/>
              </a:blip>
              <a:stretch>
                <a:fillRect t="-90292" b="-90292"/>
              </a:stretch>
            </a:blipFill>
          </p:spPr>
        </p:sp>
        <p:sp>
          <p:nvSpPr>
            <p:cNvPr id="47" name="TextBox 47"/>
            <p:cNvSpPr txBox="1"/>
            <p:nvPr/>
          </p:nvSpPr>
          <p:spPr>
            <a:xfrm>
              <a:off x="0" y="-85725"/>
              <a:ext cx="1920240" cy="352425"/>
            </a:xfrm>
            <a:prstGeom prst="rect">
              <a:avLst/>
            </a:prstGeom>
          </p:spPr>
          <p:txBody>
            <a:bodyPr lIns="0" tIns="0" rIns="0" bIns="0" rtlCol="0" anchor="ctr"/>
            <a:lstStyle/>
            <a:p>
              <a:pPr algn="l">
                <a:lnSpc>
                  <a:spcPts val="2520"/>
                </a:lnSpc>
              </a:pPr>
              <a:r>
                <a:rPr lang="en-US" sz="1575">
                  <a:solidFill>
                    <a:srgbClr val="569CD6"/>
                  </a:solidFill>
                  <a:latin typeface="Calibri (MS)"/>
                  <a:ea typeface="Calibri (MS)"/>
                  <a:cs typeface="Calibri (MS)"/>
                  <a:sym typeface="Calibri (MS)"/>
                </a:rPr>
                <a:t>SELECT</a:t>
              </a:r>
            </a:p>
          </p:txBody>
        </p:sp>
      </p:grpSp>
      <p:sp>
        <p:nvSpPr>
          <p:cNvPr id="48" name="TextBox 48"/>
          <p:cNvSpPr txBox="1"/>
          <p:nvPr/>
        </p:nvSpPr>
        <p:spPr>
          <a:xfrm>
            <a:off x="1543050" y="6829425"/>
            <a:ext cx="4320540" cy="605657"/>
          </a:xfrm>
          <a:prstGeom prst="rect">
            <a:avLst/>
          </a:prstGeom>
        </p:spPr>
        <p:txBody>
          <a:bodyPr lIns="0" tIns="0" rIns="0" bIns="0" rtlCol="0" anchor="t">
            <a:spAutoFit/>
          </a:bodyPr>
          <a:lstStyle/>
          <a:p>
            <a:pPr algn="l">
              <a:lnSpc>
                <a:spcPts val="2520"/>
              </a:lnSpc>
            </a:pPr>
            <a:r>
              <a:rPr lang="en-US" sz="1575">
                <a:solidFill>
                  <a:srgbClr val="D4D4D4"/>
                </a:solidFill>
                <a:latin typeface="Calibri (MS)"/>
                <a:ea typeface="Calibri (MS)"/>
                <a:cs typeface="Calibri (MS)"/>
                <a:sym typeface="Calibri (MS)"/>
              </a:rPr>
              <a:t> danh_muc,</a:t>
            </a:r>
          </a:p>
          <a:p>
            <a:pPr algn="l">
              <a:lnSpc>
                <a:spcPts val="2520"/>
              </a:lnSpc>
            </a:pPr>
            <a:r>
              <a:rPr lang="en-US" sz="1575">
                <a:solidFill>
                  <a:srgbClr val="D4D4D4"/>
                </a:solidFill>
                <a:latin typeface="Calibri (MS)"/>
                <a:ea typeface="Calibri (MS)"/>
                <a:cs typeface="Calibri (MS)"/>
                <a:sym typeface="Calibri (MS)"/>
              </a:rPr>
              <a:t>       </a:t>
            </a:r>
          </a:p>
        </p:txBody>
      </p:sp>
      <p:grpSp>
        <p:nvGrpSpPr>
          <p:cNvPr id="49" name="Group 49"/>
          <p:cNvGrpSpPr/>
          <p:nvPr/>
        </p:nvGrpSpPr>
        <p:grpSpPr>
          <a:xfrm>
            <a:off x="1657350" y="7235057"/>
            <a:ext cx="720090" cy="200025"/>
            <a:chOff x="0" y="0"/>
            <a:chExt cx="960120" cy="266700"/>
          </a:xfrm>
        </p:grpSpPr>
        <p:sp>
          <p:nvSpPr>
            <p:cNvPr id="50" name="Freeform 50"/>
            <p:cNvSpPr/>
            <p:nvPr/>
          </p:nvSpPr>
          <p:spPr>
            <a:xfrm>
              <a:off x="0" y="0"/>
              <a:ext cx="960120" cy="266700"/>
            </a:xfrm>
            <a:custGeom>
              <a:avLst/>
              <a:gdLst/>
              <a:ahLst/>
              <a:cxnLst/>
              <a:rect l="l" t="t" r="r" b="b"/>
              <a:pathLst>
                <a:path w="960120" h="266700">
                  <a:moveTo>
                    <a:pt x="0" y="0"/>
                  </a:moveTo>
                  <a:lnTo>
                    <a:pt x="960120" y="0"/>
                  </a:lnTo>
                  <a:lnTo>
                    <a:pt x="960120" y="266700"/>
                  </a:lnTo>
                  <a:lnTo>
                    <a:pt x="0" y="266700"/>
                  </a:lnTo>
                  <a:close/>
                </a:path>
              </a:pathLst>
            </a:custGeom>
            <a:blipFill>
              <a:blip r:embed="rId15">
                <a:alphaModFix amt="0"/>
              </a:blip>
              <a:stretch>
                <a:fillRect t="-20146" b="-20146"/>
              </a:stretch>
            </a:blipFill>
          </p:spPr>
        </p:sp>
        <p:sp>
          <p:nvSpPr>
            <p:cNvPr id="51" name="TextBox 51"/>
            <p:cNvSpPr txBox="1"/>
            <p:nvPr/>
          </p:nvSpPr>
          <p:spPr>
            <a:xfrm>
              <a:off x="0" y="-85725"/>
              <a:ext cx="960120" cy="352425"/>
            </a:xfrm>
            <a:prstGeom prst="rect">
              <a:avLst/>
            </a:prstGeom>
          </p:spPr>
          <p:txBody>
            <a:bodyPr lIns="0" tIns="0" rIns="0" bIns="0" rtlCol="0" anchor="ctr"/>
            <a:lstStyle/>
            <a:p>
              <a:pPr algn="l">
                <a:lnSpc>
                  <a:spcPts val="2520"/>
                </a:lnSpc>
              </a:pPr>
              <a:r>
                <a:rPr lang="en-US" sz="1575">
                  <a:solidFill>
                    <a:srgbClr val="DCDCAA"/>
                  </a:solidFill>
                  <a:latin typeface="Calibri (MS)"/>
                  <a:ea typeface="Calibri (MS)"/>
                  <a:cs typeface="Calibri (MS)"/>
                  <a:sym typeface="Calibri (MS)"/>
                </a:rPr>
                <a:t>SUM</a:t>
              </a:r>
            </a:p>
          </p:txBody>
        </p:sp>
      </p:grpSp>
      <p:sp>
        <p:nvSpPr>
          <p:cNvPr id="52" name="TextBox 52"/>
          <p:cNvSpPr txBox="1"/>
          <p:nvPr/>
        </p:nvSpPr>
        <p:spPr>
          <a:xfrm>
            <a:off x="2000250" y="7149332"/>
            <a:ext cx="2640330" cy="285750"/>
          </a:xfrm>
          <a:prstGeom prst="rect">
            <a:avLst/>
          </a:prstGeom>
        </p:spPr>
        <p:txBody>
          <a:bodyPr lIns="0" tIns="0" rIns="0" bIns="0" rtlCol="0" anchor="t">
            <a:spAutoFit/>
          </a:bodyPr>
          <a:lstStyle/>
          <a:p>
            <a:pPr algn="l">
              <a:lnSpc>
                <a:spcPts val="2520"/>
              </a:lnSpc>
            </a:pPr>
            <a:r>
              <a:rPr lang="en-US" sz="1575">
                <a:solidFill>
                  <a:srgbClr val="D4D4D4"/>
                </a:solidFill>
                <a:latin typeface="Calibri (MS)"/>
                <a:ea typeface="Calibri (MS)"/>
                <a:cs typeface="Calibri (MS)"/>
                <a:sym typeface="Calibri (MS)"/>
              </a:rPr>
              <a:t>(so_luong) </a:t>
            </a:r>
          </a:p>
        </p:txBody>
      </p:sp>
      <p:grpSp>
        <p:nvGrpSpPr>
          <p:cNvPr id="53" name="Group 53"/>
          <p:cNvGrpSpPr/>
          <p:nvPr/>
        </p:nvGrpSpPr>
        <p:grpSpPr>
          <a:xfrm>
            <a:off x="3257550" y="7235057"/>
            <a:ext cx="480060" cy="200025"/>
            <a:chOff x="0" y="0"/>
            <a:chExt cx="640080" cy="266700"/>
          </a:xfrm>
        </p:grpSpPr>
        <p:sp>
          <p:nvSpPr>
            <p:cNvPr id="54" name="Freeform 54"/>
            <p:cNvSpPr/>
            <p:nvPr/>
          </p:nvSpPr>
          <p:spPr>
            <a:xfrm>
              <a:off x="0" y="0"/>
              <a:ext cx="640080" cy="266700"/>
            </a:xfrm>
            <a:custGeom>
              <a:avLst/>
              <a:gdLst/>
              <a:ahLst/>
              <a:cxnLst/>
              <a:rect l="l" t="t" r="r" b="b"/>
              <a:pathLst>
                <a:path w="640080" h="266700">
                  <a:moveTo>
                    <a:pt x="0" y="0"/>
                  </a:moveTo>
                  <a:lnTo>
                    <a:pt x="640080" y="0"/>
                  </a:lnTo>
                  <a:lnTo>
                    <a:pt x="640080" y="266700"/>
                  </a:lnTo>
                  <a:lnTo>
                    <a:pt x="0" y="266700"/>
                  </a:lnTo>
                  <a:close/>
                </a:path>
              </a:pathLst>
            </a:custGeom>
            <a:blipFill>
              <a:blip r:embed="rId15">
                <a:alphaModFix amt="0"/>
              </a:blip>
              <a:stretch>
                <a:fillRect l="-3459" r="-3459"/>
              </a:stretch>
            </a:blipFill>
          </p:spPr>
        </p:sp>
        <p:sp>
          <p:nvSpPr>
            <p:cNvPr id="55" name="TextBox 55"/>
            <p:cNvSpPr txBox="1"/>
            <p:nvPr/>
          </p:nvSpPr>
          <p:spPr>
            <a:xfrm>
              <a:off x="0" y="-85725"/>
              <a:ext cx="640080" cy="352425"/>
            </a:xfrm>
            <a:prstGeom prst="rect">
              <a:avLst/>
            </a:prstGeom>
          </p:spPr>
          <p:txBody>
            <a:bodyPr lIns="0" tIns="0" rIns="0" bIns="0" rtlCol="0" anchor="ctr"/>
            <a:lstStyle/>
            <a:p>
              <a:pPr algn="l">
                <a:lnSpc>
                  <a:spcPts val="2520"/>
                </a:lnSpc>
              </a:pPr>
              <a:r>
                <a:rPr lang="en-US" sz="1575">
                  <a:solidFill>
                    <a:srgbClr val="569CD6"/>
                  </a:solidFill>
                  <a:latin typeface="Calibri (MS)"/>
                  <a:ea typeface="Calibri (MS)"/>
                  <a:cs typeface="Calibri (MS)"/>
                  <a:sym typeface="Calibri (MS)"/>
                </a:rPr>
                <a:t>AS</a:t>
              </a:r>
            </a:p>
          </p:txBody>
        </p:sp>
      </p:grpSp>
      <p:grpSp>
        <p:nvGrpSpPr>
          <p:cNvPr id="56" name="Group 56"/>
          <p:cNvGrpSpPr/>
          <p:nvPr/>
        </p:nvGrpSpPr>
        <p:grpSpPr>
          <a:xfrm>
            <a:off x="3600450" y="7235057"/>
            <a:ext cx="2880360" cy="200025"/>
            <a:chOff x="0" y="0"/>
            <a:chExt cx="3840480" cy="266700"/>
          </a:xfrm>
        </p:grpSpPr>
        <p:sp>
          <p:nvSpPr>
            <p:cNvPr id="57" name="Freeform 57"/>
            <p:cNvSpPr/>
            <p:nvPr/>
          </p:nvSpPr>
          <p:spPr>
            <a:xfrm>
              <a:off x="0" y="0"/>
              <a:ext cx="3840480" cy="266700"/>
            </a:xfrm>
            <a:custGeom>
              <a:avLst/>
              <a:gdLst/>
              <a:ahLst/>
              <a:cxnLst/>
              <a:rect l="l" t="t" r="r" b="b"/>
              <a:pathLst>
                <a:path w="3840480" h="266700">
                  <a:moveTo>
                    <a:pt x="0" y="0"/>
                  </a:moveTo>
                  <a:lnTo>
                    <a:pt x="3840480" y="0"/>
                  </a:lnTo>
                  <a:lnTo>
                    <a:pt x="3840480" y="266700"/>
                  </a:lnTo>
                  <a:lnTo>
                    <a:pt x="0" y="266700"/>
                  </a:lnTo>
                  <a:close/>
                </a:path>
              </a:pathLst>
            </a:custGeom>
            <a:blipFill>
              <a:blip r:embed="rId15">
                <a:alphaModFix amt="0"/>
              </a:blip>
              <a:stretch>
                <a:fillRect t="-230584" b="-230584"/>
              </a:stretch>
            </a:blipFill>
          </p:spPr>
        </p:sp>
        <p:sp>
          <p:nvSpPr>
            <p:cNvPr id="58" name="TextBox 58"/>
            <p:cNvSpPr txBox="1"/>
            <p:nvPr/>
          </p:nvSpPr>
          <p:spPr>
            <a:xfrm>
              <a:off x="0" y="-85725"/>
              <a:ext cx="3840480" cy="352425"/>
            </a:xfrm>
            <a:prstGeom prst="rect">
              <a:avLst/>
            </a:prstGeom>
          </p:spPr>
          <p:txBody>
            <a:bodyPr lIns="0" tIns="0" rIns="0" bIns="0" rtlCol="0" anchor="ctr"/>
            <a:lstStyle/>
            <a:p>
              <a:pPr algn="l">
                <a:lnSpc>
                  <a:spcPts val="2520"/>
                </a:lnSpc>
              </a:pPr>
              <a:r>
                <a:rPr lang="en-US" sz="1575">
                  <a:solidFill>
                    <a:srgbClr val="9CDCFE"/>
                  </a:solidFill>
                  <a:latin typeface="Calibri (MS)"/>
                  <a:ea typeface="Calibri (MS)"/>
                  <a:cs typeface="Calibri (MS)"/>
                  <a:sym typeface="Calibri (MS)"/>
                </a:rPr>
                <a:t>so_luong_ban</a:t>
              </a:r>
            </a:p>
          </p:txBody>
        </p:sp>
      </p:grpSp>
      <p:sp>
        <p:nvSpPr>
          <p:cNvPr id="59" name="TextBox 59"/>
          <p:cNvSpPr txBox="1"/>
          <p:nvPr/>
        </p:nvSpPr>
        <p:spPr>
          <a:xfrm>
            <a:off x="4972050" y="7149332"/>
            <a:ext cx="4229100" cy="605657"/>
          </a:xfrm>
          <a:prstGeom prst="rect">
            <a:avLst/>
          </a:prstGeom>
        </p:spPr>
        <p:txBody>
          <a:bodyPr lIns="0" tIns="0" rIns="0" bIns="0" rtlCol="0" anchor="t">
            <a:spAutoFit/>
          </a:bodyPr>
          <a:lstStyle/>
          <a:p>
            <a:pPr algn="l">
              <a:lnSpc>
                <a:spcPts val="2520"/>
              </a:lnSpc>
            </a:pPr>
            <a:r>
              <a:rPr lang="en-US" sz="1575">
                <a:solidFill>
                  <a:srgbClr val="D4D4D4"/>
                </a:solidFill>
                <a:latin typeface="Calibri (MS)"/>
                <a:ea typeface="Calibri (MS)"/>
                <a:cs typeface="Calibri (MS)"/>
                <a:sym typeface="Calibri (MS)"/>
              </a:rPr>
              <a:t>,</a:t>
            </a:r>
          </a:p>
          <a:p>
            <a:pPr algn="l">
              <a:lnSpc>
                <a:spcPts val="2520"/>
              </a:lnSpc>
            </a:pPr>
            <a:r>
              <a:rPr lang="en-US" sz="1575">
                <a:solidFill>
                  <a:srgbClr val="D4D4D4"/>
                </a:solidFill>
                <a:latin typeface="Calibri (MS)"/>
                <a:ea typeface="Calibri (MS)"/>
                <a:cs typeface="Calibri (MS)"/>
                <a:sym typeface="Calibri (MS)"/>
              </a:rPr>
              <a:t>       </a:t>
            </a:r>
          </a:p>
        </p:txBody>
      </p:sp>
      <p:grpSp>
        <p:nvGrpSpPr>
          <p:cNvPr id="60" name="Group 60"/>
          <p:cNvGrpSpPr/>
          <p:nvPr/>
        </p:nvGrpSpPr>
        <p:grpSpPr>
          <a:xfrm>
            <a:off x="1657350" y="7554963"/>
            <a:ext cx="720090" cy="200025"/>
            <a:chOff x="0" y="0"/>
            <a:chExt cx="960120" cy="266700"/>
          </a:xfrm>
        </p:grpSpPr>
        <p:sp>
          <p:nvSpPr>
            <p:cNvPr id="61" name="Freeform 61"/>
            <p:cNvSpPr/>
            <p:nvPr/>
          </p:nvSpPr>
          <p:spPr>
            <a:xfrm>
              <a:off x="0" y="0"/>
              <a:ext cx="960120" cy="266700"/>
            </a:xfrm>
            <a:custGeom>
              <a:avLst/>
              <a:gdLst/>
              <a:ahLst/>
              <a:cxnLst/>
              <a:rect l="l" t="t" r="r" b="b"/>
              <a:pathLst>
                <a:path w="960120" h="266700">
                  <a:moveTo>
                    <a:pt x="0" y="0"/>
                  </a:moveTo>
                  <a:lnTo>
                    <a:pt x="960120" y="0"/>
                  </a:lnTo>
                  <a:lnTo>
                    <a:pt x="960120" y="266700"/>
                  </a:lnTo>
                  <a:lnTo>
                    <a:pt x="0" y="266700"/>
                  </a:lnTo>
                  <a:close/>
                </a:path>
              </a:pathLst>
            </a:custGeom>
            <a:blipFill>
              <a:blip r:embed="rId15">
                <a:alphaModFix amt="0"/>
              </a:blip>
              <a:stretch>
                <a:fillRect t="-20146" b="-20146"/>
              </a:stretch>
            </a:blipFill>
          </p:spPr>
        </p:sp>
        <p:sp>
          <p:nvSpPr>
            <p:cNvPr id="62" name="TextBox 62"/>
            <p:cNvSpPr txBox="1"/>
            <p:nvPr/>
          </p:nvSpPr>
          <p:spPr>
            <a:xfrm>
              <a:off x="0" y="-85725"/>
              <a:ext cx="960120" cy="352425"/>
            </a:xfrm>
            <a:prstGeom prst="rect">
              <a:avLst/>
            </a:prstGeom>
          </p:spPr>
          <p:txBody>
            <a:bodyPr lIns="0" tIns="0" rIns="0" bIns="0" rtlCol="0" anchor="ctr"/>
            <a:lstStyle/>
            <a:p>
              <a:pPr algn="l">
                <a:lnSpc>
                  <a:spcPts val="2520"/>
                </a:lnSpc>
              </a:pPr>
              <a:r>
                <a:rPr lang="en-US" sz="1575">
                  <a:solidFill>
                    <a:srgbClr val="DCDCAA"/>
                  </a:solidFill>
                  <a:latin typeface="Calibri (MS)"/>
                  <a:ea typeface="Calibri (MS)"/>
                  <a:cs typeface="Calibri (MS)"/>
                  <a:sym typeface="Calibri (MS)"/>
                </a:rPr>
                <a:t>SUM</a:t>
              </a:r>
            </a:p>
          </p:txBody>
        </p:sp>
      </p:grpSp>
      <p:sp>
        <p:nvSpPr>
          <p:cNvPr id="63" name="TextBox 63"/>
          <p:cNvSpPr txBox="1"/>
          <p:nvPr/>
        </p:nvSpPr>
        <p:spPr>
          <a:xfrm>
            <a:off x="2000250" y="7469238"/>
            <a:ext cx="3120390" cy="285750"/>
          </a:xfrm>
          <a:prstGeom prst="rect">
            <a:avLst/>
          </a:prstGeom>
        </p:spPr>
        <p:txBody>
          <a:bodyPr lIns="0" tIns="0" rIns="0" bIns="0" rtlCol="0" anchor="t">
            <a:spAutoFit/>
          </a:bodyPr>
          <a:lstStyle/>
          <a:p>
            <a:pPr algn="l">
              <a:lnSpc>
                <a:spcPts val="2520"/>
              </a:lnSpc>
            </a:pPr>
            <a:r>
              <a:rPr lang="en-US" sz="1575">
                <a:solidFill>
                  <a:srgbClr val="D4D4D4"/>
                </a:solidFill>
                <a:latin typeface="Calibri (MS)"/>
                <a:ea typeface="Calibri (MS)"/>
                <a:cs typeface="Calibri (MS)"/>
                <a:sym typeface="Calibri (MS)"/>
              </a:rPr>
              <a:t>(thanh_tien) </a:t>
            </a:r>
          </a:p>
        </p:txBody>
      </p:sp>
      <p:grpSp>
        <p:nvGrpSpPr>
          <p:cNvPr id="64" name="Group 64"/>
          <p:cNvGrpSpPr/>
          <p:nvPr/>
        </p:nvGrpSpPr>
        <p:grpSpPr>
          <a:xfrm>
            <a:off x="3486150" y="7554963"/>
            <a:ext cx="480060" cy="200025"/>
            <a:chOff x="0" y="0"/>
            <a:chExt cx="640080" cy="266700"/>
          </a:xfrm>
        </p:grpSpPr>
        <p:sp>
          <p:nvSpPr>
            <p:cNvPr id="65" name="Freeform 65"/>
            <p:cNvSpPr/>
            <p:nvPr/>
          </p:nvSpPr>
          <p:spPr>
            <a:xfrm>
              <a:off x="0" y="0"/>
              <a:ext cx="640080" cy="266700"/>
            </a:xfrm>
            <a:custGeom>
              <a:avLst/>
              <a:gdLst/>
              <a:ahLst/>
              <a:cxnLst/>
              <a:rect l="l" t="t" r="r" b="b"/>
              <a:pathLst>
                <a:path w="640080" h="266700">
                  <a:moveTo>
                    <a:pt x="0" y="0"/>
                  </a:moveTo>
                  <a:lnTo>
                    <a:pt x="640080" y="0"/>
                  </a:lnTo>
                  <a:lnTo>
                    <a:pt x="640080" y="266700"/>
                  </a:lnTo>
                  <a:lnTo>
                    <a:pt x="0" y="266700"/>
                  </a:lnTo>
                  <a:close/>
                </a:path>
              </a:pathLst>
            </a:custGeom>
            <a:blipFill>
              <a:blip r:embed="rId15">
                <a:alphaModFix amt="0"/>
              </a:blip>
              <a:stretch>
                <a:fillRect l="-3459" r="-3459"/>
              </a:stretch>
            </a:blipFill>
          </p:spPr>
        </p:sp>
        <p:sp>
          <p:nvSpPr>
            <p:cNvPr id="66" name="TextBox 66"/>
            <p:cNvSpPr txBox="1"/>
            <p:nvPr/>
          </p:nvSpPr>
          <p:spPr>
            <a:xfrm>
              <a:off x="0" y="-85725"/>
              <a:ext cx="640080" cy="352425"/>
            </a:xfrm>
            <a:prstGeom prst="rect">
              <a:avLst/>
            </a:prstGeom>
          </p:spPr>
          <p:txBody>
            <a:bodyPr lIns="0" tIns="0" rIns="0" bIns="0" rtlCol="0" anchor="ctr"/>
            <a:lstStyle/>
            <a:p>
              <a:pPr algn="l">
                <a:lnSpc>
                  <a:spcPts val="2520"/>
                </a:lnSpc>
              </a:pPr>
              <a:r>
                <a:rPr lang="en-US" sz="1575">
                  <a:solidFill>
                    <a:srgbClr val="569CD6"/>
                  </a:solidFill>
                  <a:latin typeface="Calibri (MS)"/>
                  <a:ea typeface="Calibri (MS)"/>
                  <a:cs typeface="Calibri (MS)"/>
                  <a:sym typeface="Calibri (MS)"/>
                </a:rPr>
                <a:t>AS</a:t>
              </a:r>
            </a:p>
          </p:txBody>
        </p:sp>
      </p:grpSp>
      <p:grpSp>
        <p:nvGrpSpPr>
          <p:cNvPr id="67" name="Group 67"/>
          <p:cNvGrpSpPr/>
          <p:nvPr/>
        </p:nvGrpSpPr>
        <p:grpSpPr>
          <a:xfrm>
            <a:off x="3829050" y="7554963"/>
            <a:ext cx="4320540" cy="200025"/>
            <a:chOff x="0" y="0"/>
            <a:chExt cx="5760720" cy="266700"/>
          </a:xfrm>
        </p:grpSpPr>
        <p:sp>
          <p:nvSpPr>
            <p:cNvPr id="68" name="Freeform 68"/>
            <p:cNvSpPr/>
            <p:nvPr/>
          </p:nvSpPr>
          <p:spPr>
            <a:xfrm>
              <a:off x="0" y="0"/>
              <a:ext cx="5760720" cy="266700"/>
            </a:xfrm>
            <a:custGeom>
              <a:avLst/>
              <a:gdLst/>
              <a:ahLst/>
              <a:cxnLst/>
              <a:rect l="l" t="t" r="r" b="b"/>
              <a:pathLst>
                <a:path w="5760720" h="266700">
                  <a:moveTo>
                    <a:pt x="0" y="0"/>
                  </a:moveTo>
                  <a:lnTo>
                    <a:pt x="5760720" y="0"/>
                  </a:lnTo>
                  <a:lnTo>
                    <a:pt x="5760720" y="266700"/>
                  </a:lnTo>
                  <a:lnTo>
                    <a:pt x="0" y="266700"/>
                  </a:lnTo>
                  <a:close/>
                </a:path>
              </a:pathLst>
            </a:custGeom>
            <a:blipFill>
              <a:blip r:embed="rId15">
                <a:alphaModFix amt="0"/>
              </a:blip>
              <a:stretch>
                <a:fillRect t="-370876" b="-370876"/>
              </a:stretch>
            </a:blipFill>
          </p:spPr>
        </p:sp>
        <p:sp>
          <p:nvSpPr>
            <p:cNvPr id="69" name="TextBox 69"/>
            <p:cNvSpPr txBox="1"/>
            <p:nvPr/>
          </p:nvSpPr>
          <p:spPr>
            <a:xfrm>
              <a:off x="0" y="-85725"/>
              <a:ext cx="5760720" cy="352425"/>
            </a:xfrm>
            <a:prstGeom prst="rect">
              <a:avLst/>
            </a:prstGeom>
          </p:spPr>
          <p:txBody>
            <a:bodyPr lIns="0" tIns="0" rIns="0" bIns="0" rtlCol="0" anchor="ctr"/>
            <a:lstStyle/>
            <a:p>
              <a:pPr algn="l">
                <a:lnSpc>
                  <a:spcPts val="2520"/>
                </a:lnSpc>
              </a:pPr>
              <a:r>
                <a:rPr lang="en-US" sz="1575">
                  <a:solidFill>
                    <a:srgbClr val="9CDCFE"/>
                  </a:solidFill>
                  <a:latin typeface="Calibri (MS)"/>
                  <a:ea typeface="Calibri (MS)"/>
                  <a:cs typeface="Calibri (MS)"/>
                  <a:sym typeface="Calibri (MS)"/>
                </a:rPr>
                <a:t>doanh_thu_danh_muc</a:t>
              </a:r>
            </a:p>
          </p:txBody>
        </p:sp>
      </p:grpSp>
      <p:grpSp>
        <p:nvGrpSpPr>
          <p:cNvPr id="70" name="Group 70"/>
          <p:cNvGrpSpPr/>
          <p:nvPr/>
        </p:nvGrpSpPr>
        <p:grpSpPr>
          <a:xfrm>
            <a:off x="857250" y="7874870"/>
            <a:ext cx="960120" cy="200025"/>
            <a:chOff x="0" y="0"/>
            <a:chExt cx="1280160" cy="266700"/>
          </a:xfrm>
        </p:grpSpPr>
        <p:sp>
          <p:nvSpPr>
            <p:cNvPr id="71" name="Freeform 71"/>
            <p:cNvSpPr/>
            <p:nvPr/>
          </p:nvSpPr>
          <p:spPr>
            <a:xfrm>
              <a:off x="0" y="0"/>
              <a:ext cx="1280160" cy="266700"/>
            </a:xfrm>
            <a:custGeom>
              <a:avLst/>
              <a:gdLst/>
              <a:ahLst/>
              <a:cxnLst/>
              <a:rect l="l" t="t" r="r" b="b"/>
              <a:pathLst>
                <a:path w="1280160" h="266700">
                  <a:moveTo>
                    <a:pt x="0" y="0"/>
                  </a:moveTo>
                  <a:lnTo>
                    <a:pt x="1280160" y="0"/>
                  </a:lnTo>
                  <a:lnTo>
                    <a:pt x="1280160" y="266700"/>
                  </a:lnTo>
                  <a:lnTo>
                    <a:pt x="0" y="266700"/>
                  </a:lnTo>
                  <a:close/>
                </a:path>
              </a:pathLst>
            </a:custGeom>
            <a:blipFill>
              <a:blip r:embed="rId15">
                <a:alphaModFix amt="0"/>
              </a:blip>
              <a:stretch>
                <a:fillRect t="-43528" b="-43528"/>
              </a:stretch>
            </a:blipFill>
          </p:spPr>
        </p:sp>
        <p:sp>
          <p:nvSpPr>
            <p:cNvPr id="72" name="TextBox 72"/>
            <p:cNvSpPr txBox="1"/>
            <p:nvPr/>
          </p:nvSpPr>
          <p:spPr>
            <a:xfrm>
              <a:off x="0" y="-85725"/>
              <a:ext cx="1280160" cy="352425"/>
            </a:xfrm>
            <a:prstGeom prst="rect">
              <a:avLst/>
            </a:prstGeom>
          </p:spPr>
          <p:txBody>
            <a:bodyPr lIns="0" tIns="0" rIns="0" bIns="0" rtlCol="0" anchor="ctr"/>
            <a:lstStyle/>
            <a:p>
              <a:pPr algn="l">
                <a:lnSpc>
                  <a:spcPts val="2520"/>
                </a:lnSpc>
              </a:pPr>
              <a:r>
                <a:rPr lang="en-US" sz="1575">
                  <a:solidFill>
                    <a:srgbClr val="569CD6"/>
                  </a:solidFill>
                  <a:latin typeface="Calibri (MS)"/>
                  <a:ea typeface="Calibri (MS)"/>
                  <a:cs typeface="Calibri (MS)"/>
                  <a:sym typeface="Calibri (MS)"/>
                </a:rPr>
                <a:t>FROM</a:t>
              </a:r>
            </a:p>
          </p:txBody>
        </p:sp>
      </p:grpSp>
      <p:grpSp>
        <p:nvGrpSpPr>
          <p:cNvPr id="73" name="Group 73"/>
          <p:cNvGrpSpPr/>
          <p:nvPr/>
        </p:nvGrpSpPr>
        <p:grpSpPr>
          <a:xfrm>
            <a:off x="1428750" y="7874870"/>
            <a:ext cx="4080510" cy="200025"/>
            <a:chOff x="0" y="0"/>
            <a:chExt cx="5440680" cy="266700"/>
          </a:xfrm>
        </p:grpSpPr>
        <p:sp>
          <p:nvSpPr>
            <p:cNvPr id="74" name="Freeform 74"/>
            <p:cNvSpPr/>
            <p:nvPr/>
          </p:nvSpPr>
          <p:spPr>
            <a:xfrm>
              <a:off x="0" y="0"/>
              <a:ext cx="5440680" cy="266700"/>
            </a:xfrm>
            <a:custGeom>
              <a:avLst/>
              <a:gdLst/>
              <a:ahLst/>
              <a:cxnLst/>
              <a:rect l="l" t="t" r="r" b="b"/>
              <a:pathLst>
                <a:path w="5440680" h="266700">
                  <a:moveTo>
                    <a:pt x="0" y="0"/>
                  </a:moveTo>
                  <a:lnTo>
                    <a:pt x="5440680" y="0"/>
                  </a:lnTo>
                  <a:lnTo>
                    <a:pt x="5440680" y="266700"/>
                  </a:lnTo>
                  <a:lnTo>
                    <a:pt x="0" y="266700"/>
                  </a:lnTo>
                  <a:close/>
                </a:path>
              </a:pathLst>
            </a:custGeom>
            <a:blipFill>
              <a:blip r:embed="rId15">
                <a:alphaModFix amt="0"/>
              </a:blip>
              <a:stretch>
                <a:fillRect t="-347494" b="-347494"/>
              </a:stretch>
            </a:blipFill>
          </p:spPr>
        </p:sp>
        <p:sp>
          <p:nvSpPr>
            <p:cNvPr id="75" name="TextBox 75"/>
            <p:cNvSpPr txBox="1"/>
            <p:nvPr/>
          </p:nvSpPr>
          <p:spPr>
            <a:xfrm>
              <a:off x="0" y="-85725"/>
              <a:ext cx="5440680" cy="352425"/>
            </a:xfrm>
            <a:prstGeom prst="rect">
              <a:avLst/>
            </a:prstGeom>
          </p:spPr>
          <p:txBody>
            <a:bodyPr lIns="0" tIns="0" rIns="0" bIns="0" rtlCol="0" anchor="ctr"/>
            <a:lstStyle/>
            <a:p>
              <a:pPr algn="l">
                <a:lnSpc>
                  <a:spcPts val="2520"/>
                </a:lnSpc>
              </a:pPr>
              <a:r>
                <a:rPr lang="en-US" sz="1575">
                  <a:solidFill>
                    <a:srgbClr val="4EC9B0"/>
                  </a:solidFill>
                  <a:latin typeface="Calibri (MS)"/>
                  <a:ea typeface="Calibri (MS)"/>
                  <a:cs typeface="Calibri (MS)"/>
                  <a:sym typeface="Calibri (MS)"/>
                </a:rPr>
                <a:t>ban_hang_dien_may</a:t>
              </a:r>
            </a:p>
          </p:txBody>
        </p:sp>
      </p:grpSp>
      <p:grpSp>
        <p:nvGrpSpPr>
          <p:cNvPr id="76" name="Group 76"/>
          <p:cNvGrpSpPr/>
          <p:nvPr/>
        </p:nvGrpSpPr>
        <p:grpSpPr>
          <a:xfrm>
            <a:off x="857250" y="8194777"/>
            <a:ext cx="1920240" cy="200025"/>
            <a:chOff x="0" y="0"/>
            <a:chExt cx="2560320" cy="266700"/>
          </a:xfrm>
        </p:grpSpPr>
        <p:sp>
          <p:nvSpPr>
            <p:cNvPr id="77" name="Freeform 77"/>
            <p:cNvSpPr/>
            <p:nvPr/>
          </p:nvSpPr>
          <p:spPr>
            <a:xfrm>
              <a:off x="0" y="0"/>
              <a:ext cx="2560320" cy="266700"/>
            </a:xfrm>
            <a:custGeom>
              <a:avLst/>
              <a:gdLst/>
              <a:ahLst/>
              <a:cxnLst/>
              <a:rect l="l" t="t" r="r" b="b"/>
              <a:pathLst>
                <a:path w="2560320" h="266700">
                  <a:moveTo>
                    <a:pt x="0" y="0"/>
                  </a:moveTo>
                  <a:lnTo>
                    <a:pt x="2560320" y="0"/>
                  </a:lnTo>
                  <a:lnTo>
                    <a:pt x="2560320" y="266700"/>
                  </a:lnTo>
                  <a:lnTo>
                    <a:pt x="0" y="266700"/>
                  </a:lnTo>
                  <a:close/>
                </a:path>
              </a:pathLst>
            </a:custGeom>
            <a:blipFill>
              <a:blip r:embed="rId15">
                <a:alphaModFix amt="0"/>
              </a:blip>
              <a:stretch>
                <a:fillRect t="-137056" b="-137056"/>
              </a:stretch>
            </a:blipFill>
          </p:spPr>
        </p:sp>
        <p:sp>
          <p:nvSpPr>
            <p:cNvPr id="78" name="TextBox 78"/>
            <p:cNvSpPr txBox="1"/>
            <p:nvPr/>
          </p:nvSpPr>
          <p:spPr>
            <a:xfrm>
              <a:off x="0" y="-85725"/>
              <a:ext cx="2560320" cy="352425"/>
            </a:xfrm>
            <a:prstGeom prst="rect">
              <a:avLst/>
            </a:prstGeom>
          </p:spPr>
          <p:txBody>
            <a:bodyPr lIns="0" tIns="0" rIns="0" bIns="0" rtlCol="0" anchor="ctr"/>
            <a:lstStyle/>
            <a:p>
              <a:pPr algn="l">
                <a:lnSpc>
                  <a:spcPts val="2520"/>
                </a:lnSpc>
              </a:pPr>
              <a:r>
                <a:rPr lang="en-US" sz="1575">
                  <a:solidFill>
                    <a:srgbClr val="569CD6"/>
                  </a:solidFill>
                  <a:latin typeface="Calibri (MS)"/>
                  <a:ea typeface="Calibri (MS)"/>
                  <a:cs typeface="Calibri (MS)"/>
                  <a:sym typeface="Calibri (MS)"/>
                </a:rPr>
                <a:t>GROUP BY</a:t>
              </a:r>
            </a:p>
          </p:txBody>
        </p:sp>
      </p:grpSp>
      <p:sp>
        <p:nvSpPr>
          <p:cNvPr id="79" name="TextBox 79"/>
          <p:cNvSpPr txBox="1"/>
          <p:nvPr/>
        </p:nvSpPr>
        <p:spPr>
          <a:xfrm>
            <a:off x="1771650" y="8109052"/>
            <a:ext cx="2400300" cy="285750"/>
          </a:xfrm>
          <a:prstGeom prst="rect">
            <a:avLst/>
          </a:prstGeom>
        </p:spPr>
        <p:txBody>
          <a:bodyPr lIns="0" tIns="0" rIns="0" bIns="0" rtlCol="0" anchor="t">
            <a:spAutoFit/>
          </a:bodyPr>
          <a:lstStyle/>
          <a:p>
            <a:pPr algn="l">
              <a:lnSpc>
                <a:spcPts val="2520"/>
              </a:lnSpc>
            </a:pPr>
            <a:r>
              <a:rPr lang="en-US" sz="1575">
                <a:solidFill>
                  <a:srgbClr val="D4D4D4"/>
                </a:solidFill>
                <a:latin typeface="Calibri (MS)"/>
                <a:ea typeface="Calibri (MS)"/>
                <a:cs typeface="Calibri (MS)"/>
                <a:sym typeface="Calibri (MS)"/>
              </a:rPr>
              <a:t> danh_muc</a:t>
            </a:r>
          </a:p>
          <a:p>
            <a:pPr algn="l">
              <a:lnSpc>
                <a:spcPts val="2520"/>
              </a:lnSpc>
            </a:pPr>
            <a:endParaRPr lang="en-US" sz="1575">
              <a:solidFill>
                <a:srgbClr val="D4D4D4"/>
              </a:solidFill>
              <a:latin typeface="Calibri (MS)"/>
              <a:ea typeface="Calibri (MS)"/>
              <a:cs typeface="Calibri (MS)"/>
              <a:sym typeface="Calibri (MS)"/>
            </a:endParaRPr>
          </a:p>
        </p:txBody>
      </p:sp>
      <p:grpSp>
        <p:nvGrpSpPr>
          <p:cNvPr id="80" name="Group 80"/>
          <p:cNvGrpSpPr/>
          <p:nvPr/>
        </p:nvGrpSpPr>
        <p:grpSpPr>
          <a:xfrm>
            <a:off x="857250" y="8514683"/>
            <a:ext cx="1920240" cy="200025"/>
            <a:chOff x="0" y="0"/>
            <a:chExt cx="2560320" cy="266700"/>
          </a:xfrm>
        </p:grpSpPr>
        <p:sp>
          <p:nvSpPr>
            <p:cNvPr id="81" name="Freeform 81"/>
            <p:cNvSpPr/>
            <p:nvPr/>
          </p:nvSpPr>
          <p:spPr>
            <a:xfrm>
              <a:off x="0" y="0"/>
              <a:ext cx="2560320" cy="266700"/>
            </a:xfrm>
            <a:custGeom>
              <a:avLst/>
              <a:gdLst/>
              <a:ahLst/>
              <a:cxnLst/>
              <a:rect l="l" t="t" r="r" b="b"/>
              <a:pathLst>
                <a:path w="2560320" h="266700">
                  <a:moveTo>
                    <a:pt x="0" y="0"/>
                  </a:moveTo>
                  <a:lnTo>
                    <a:pt x="2560320" y="0"/>
                  </a:lnTo>
                  <a:lnTo>
                    <a:pt x="2560320" y="266700"/>
                  </a:lnTo>
                  <a:lnTo>
                    <a:pt x="0" y="266700"/>
                  </a:lnTo>
                  <a:close/>
                </a:path>
              </a:pathLst>
            </a:custGeom>
            <a:blipFill>
              <a:blip r:embed="rId15">
                <a:alphaModFix amt="0"/>
              </a:blip>
              <a:stretch>
                <a:fillRect t="-137056" b="-137056"/>
              </a:stretch>
            </a:blipFill>
          </p:spPr>
        </p:sp>
        <p:sp>
          <p:nvSpPr>
            <p:cNvPr id="82" name="TextBox 82"/>
            <p:cNvSpPr txBox="1"/>
            <p:nvPr/>
          </p:nvSpPr>
          <p:spPr>
            <a:xfrm>
              <a:off x="0" y="-85725"/>
              <a:ext cx="2560320" cy="352425"/>
            </a:xfrm>
            <a:prstGeom prst="rect">
              <a:avLst/>
            </a:prstGeom>
          </p:spPr>
          <p:txBody>
            <a:bodyPr lIns="0" tIns="0" rIns="0" bIns="0" rtlCol="0" anchor="ctr"/>
            <a:lstStyle/>
            <a:p>
              <a:pPr algn="l">
                <a:lnSpc>
                  <a:spcPts val="2520"/>
                </a:lnSpc>
              </a:pPr>
              <a:r>
                <a:rPr lang="en-US" sz="1575">
                  <a:solidFill>
                    <a:srgbClr val="569CD6"/>
                  </a:solidFill>
                  <a:latin typeface="Calibri (MS)"/>
                  <a:ea typeface="Calibri (MS)"/>
                  <a:cs typeface="Calibri (MS)"/>
                  <a:sym typeface="Calibri (MS)"/>
                </a:rPr>
                <a:t>ORDER BY</a:t>
              </a:r>
            </a:p>
          </p:txBody>
        </p:sp>
      </p:grpSp>
      <p:sp>
        <p:nvSpPr>
          <p:cNvPr id="83" name="TextBox 83"/>
          <p:cNvSpPr txBox="1"/>
          <p:nvPr/>
        </p:nvSpPr>
        <p:spPr>
          <a:xfrm>
            <a:off x="1771650" y="8428958"/>
            <a:ext cx="4800600" cy="285750"/>
          </a:xfrm>
          <a:prstGeom prst="rect">
            <a:avLst/>
          </a:prstGeom>
        </p:spPr>
        <p:txBody>
          <a:bodyPr lIns="0" tIns="0" rIns="0" bIns="0" rtlCol="0" anchor="t">
            <a:spAutoFit/>
          </a:bodyPr>
          <a:lstStyle/>
          <a:p>
            <a:pPr algn="l">
              <a:lnSpc>
                <a:spcPts val="2520"/>
              </a:lnSpc>
            </a:pPr>
            <a:r>
              <a:rPr lang="en-US" sz="1575">
                <a:solidFill>
                  <a:srgbClr val="D4D4D4"/>
                </a:solidFill>
                <a:latin typeface="Calibri (MS)"/>
                <a:ea typeface="Calibri (MS)"/>
                <a:cs typeface="Calibri (MS)"/>
                <a:sym typeface="Calibri (MS)"/>
              </a:rPr>
              <a:t> doanh_thu_danh_muc </a:t>
            </a:r>
          </a:p>
        </p:txBody>
      </p:sp>
      <p:grpSp>
        <p:nvGrpSpPr>
          <p:cNvPr id="84" name="Group 84"/>
          <p:cNvGrpSpPr/>
          <p:nvPr/>
        </p:nvGrpSpPr>
        <p:grpSpPr>
          <a:xfrm>
            <a:off x="4057650" y="8514683"/>
            <a:ext cx="960120" cy="200025"/>
            <a:chOff x="0" y="0"/>
            <a:chExt cx="1280160" cy="266700"/>
          </a:xfrm>
        </p:grpSpPr>
        <p:sp>
          <p:nvSpPr>
            <p:cNvPr id="85" name="Freeform 85"/>
            <p:cNvSpPr/>
            <p:nvPr/>
          </p:nvSpPr>
          <p:spPr>
            <a:xfrm>
              <a:off x="0" y="0"/>
              <a:ext cx="1280160" cy="266700"/>
            </a:xfrm>
            <a:custGeom>
              <a:avLst/>
              <a:gdLst/>
              <a:ahLst/>
              <a:cxnLst/>
              <a:rect l="l" t="t" r="r" b="b"/>
              <a:pathLst>
                <a:path w="1280160" h="266700">
                  <a:moveTo>
                    <a:pt x="0" y="0"/>
                  </a:moveTo>
                  <a:lnTo>
                    <a:pt x="1280160" y="0"/>
                  </a:lnTo>
                  <a:lnTo>
                    <a:pt x="1280160" y="266700"/>
                  </a:lnTo>
                  <a:lnTo>
                    <a:pt x="0" y="266700"/>
                  </a:lnTo>
                  <a:close/>
                </a:path>
              </a:pathLst>
            </a:custGeom>
            <a:blipFill>
              <a:blip r:embed="rId15">
                <a:alphaModFix amt="0"/>
              </a:blip>
              <a:stretch>
                <a:fillRect t="-43528" b="-43528"/>
              </a:stretch>
            </a:blipFill>
          </p:spPr>
        </p:sp>
        <p:sp>
          <p:nvSpPr>
            <p:cNvPr id="86" name="TextBox 86"/>
            <p:cNvSpPr txBox="1"/>
            <p:nvPr/>
          </p:nvSpPr>
          <p:spPr>
            <a:xfrm>
              <a:off x="0" y="-85725"/>
              <a:ext cx="1280160" cy="352425"/>
            </a:xfrm>
            <a:prstGeom prst="rect">
              <a:avLst/>
            </a:prstGeom>
          </p:spPr>
          <p:txBody>
            <a:bodyPr lIns="0" tIns="0" rIns="0" bIns="0" rtlCol="0" anchor="ctr"/>
            <a:lstStyle/>
            <a:p>
              <a:pPr algn="l">
                <a:lnSpc>
                  <a:spcPts val="2520"/>
                </a:lnSpc>
              </a:pPr>
              <a:r>
                <a:rPr lang="en-US" sz="1575">
                  <a:solidFill>
                    <a:srgbClr val="569CD6"/>
                  </a:solidFill>
                  <a:latin typeface="Calibri (MS)"/>
                  <a:ea typeface="Calibri (MS)"/>
                  <a:cs typeface="Calibri (MS)"/>
                  <a:sym typeface="Calibri (MS)"/>
                </a:rPr>
                <a:t>DESC</a:t>
              </a:r>
            </a:p>
          </p:txBody>
        </p:sp>
      </p:grpSp>
      <p:sp>
        <p:nvSpPr>
          <p:cNvPr id="87" name="TextBox 87"/>
          <p:cNvSpPr txBox="1"/>
          <p:nvPr/>
        </p:nvSpPr>
        <p:spPr>
          <a:xfrm>
            <a:off x="4514850" y="8428958"/>
            <a:ext cx="240030" cy="285750"/>
          </a:xfrm>
          <a:prstGeom prst="rect">
            <a:avLst/>
          </a:prstGeom>
        </p:spPr>
        <p:txBody>
          <a:bodyPr lIns="0" tIns="0" rIns="0" bIns="0" rtlCol="0" anchor="t">
            <a:spAutoFit/>
          </a:bodyPr>
          <a:lstStyle/>
          <a:p>
            <a:pPr algn="l">
              <a:lnSpc>
                <a:spcPts val="2520"/>
              </a:lnSpc>
            </a:pPr>
            <a:r>
              <a:rPr lang="en-US" sz="1575">
                <a:solidFill>
                  <a:srgbClr val="D4D4D4"/>
                </a:solidFill>
                <a:latin typeface="Calibri (MS)"/>
                <a:ea typeface="Calibri (MS)"/>
                <a:cs typeface="Calibri (MS)"/>
                <a:sym typeface="Calibri (MS)"/>
              </a:rPr>
              <a:t>;</a:t>
            </a:r>
          </a:p>
        </p:txBody>
      </p:sp>
      <p:grpSp>
        <p:nvGrpSpPr>
          <p:cNvPr id="88" name="Group 88"/>
          <p:cNvGrpSpPr/>
          <p:nvPr/>
        </p:nvGrpSpPr>
        <p:grpSpPr>
          <a:xfrm>
            <a:off x="11896125" y="2443162"/>
            <a:ext cx="5391750" cy="507206"/>
            <a:chOff x="0" y="0"/>
            <a:chExt cx="7189000" cy="676275"/>
          </a:xfrm>
        </p:grpSpPr>
        <p:sp>
          <p:nvSpPr>
            <p:cNvPr id="89" name="Freeform 89"/>
            <p:cNvSpPr/>
            <p:nvPr/>
          </p:nvSpPr>
          <p:spPr>
            <a:xfrm>
              <a:off x="0" y="0"/>
              <a:ext cx="7188994" cy="676276"/>
            </a:xfrm>
            <a:custGeom>
              <a:avLst/>
              <a:gdLst/>
              <a:ahLst/>
              <a:cxnLst/>
              <a:rect l="l" t="t" r="r" b="b"/>
              <a:pathLst>
                <a:path w="7188994" h="676276">
                  <a:moveTo>
                    <a:pt x="0" y="0"/>
                  </a:moveTo>
                  <a:lnTo>
                    <a:pt x="7188994" y="0"/>
                  </a:lnTo>
                  <a:lnTo>
                    <a:pt x="7188994" y="676276"/>
                  </a:lnTo>
                  <a:lnTo>
                    <a:pt x="0" y="676276"/>
                  </a:lnTo>
                  <a:close/>
                </a:path>
              </a:pathLst>
            </a:custGeom>
            <a:blipFill>
              <a:blip r:embed="rId15">
                <a:alphaModFix amt="0"/>
              </a:blip>
              <a:stretch>
                <a:fillRect t="-157131" b="-157131"/>
              </a:stretch>
            </a:blipFill>
          </p:spPr>
        </p:sp>
        <p:sp>
          <p:nvSpPr>
            <p:cNvPr id="90" name="TextBox 90"/>
            <p:cNvSpPr txBox="1"/>
            <p:nvPr/>
          </p:nvSpPr>
          <p:spPr>
            <a:xfrm>
              <a:off x="0" y="-66675"/>
              <a:ext cx="7189000" cy="742950"/>
            </a:xfrm>
            <a:prstGeom prst="rect">
              <a:avLst/>
            </a:prstGeom>
          </p:spPr>
          <p:txBody>
            <a:bodyPr lIns="0" tIns="0" rIns="0" bIns="0" rtlCol="0" anchor="ctr"/>
            <a:lstStyle/>
            <a:p>
              <a:pPr algn="ctr">
                <a:lnSpc>
                  <a:spcPts val="2194"/>
                </a:lnSpc>
              </a:pPr>
              <a:r>
                <a:rPr lang="en-US" sz="1462" b="1">
                  <a:solidFill>
                    <a:srgbClr val="FFFFFF"/>
                  </a:solidFill>
                  <a:latin typeface="Calibri (MS) Bold"/>
                  <a:ea typeface="Calibri (MS) Bold"/>
                  <a:cs typeface="Calibri (MS) Bold"/>
                  <a:sym typeface="Calibri (MS) Bold"/>
                </a:rPr>
                <a:t> KẾT QUẢ TRUY VẤN TRÊN CLOUDERA HUE</a:t>
              </a:r>
            </a:p>
          </p:txBody>
        </p:sp>
      </p:gr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0"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7" name="Group 7"/>
          <p:cNvGrpSpPr/>
          <p:nvPr/>
        </p:nvGrpSpPr>
        <p:grpSpPr>
          <a:xfrm>
            <a:off x="571500" y="228600"/>
            <a:ext cx="17145000" cy="1214438"/>
            <a:chOff x="0" y="0"/>
            <a:chExt cx="22860000" cy="1619250"/>
          </a:xfrm>
        </p:grpSpPr>
        <p:sp>
          <p:nvSpPr>
            <p:cNvPr id="8" name="Freeform 8" descr="preencoded.png"/>
            <p:cNvSpPr/>
            <p:nvPr/>
          </p:nvSpPr>
          <p:spPr>
            <a:xfrm>
              <a:off x="0" y="0"/>
              <a:ext cx="22860000" cy="1619250"/>
            </a:xfrm>
            <a:custGeom>
              <a:avLst/>
              <a:gdLst/>
              <a:ahLst/>
              <a:cxnLst/>
              <a:rect l="l" t="t" r="r" b="b"/>
              <a:pathLst>
                <a:path w="22860000" h="1619250">
                  <a:moveTo>
                    <a:pt x="0" y="0"/>
                  </a:moveTo>
                  <a:lnTo>
                    <a:pt x="22860000" y="0"/>
                  </a:lnTo>
                  <a:lnTo>
                    <a:pt x="22860000" y="1619250"/>
                  </a:lnTo>
                  <a:lnTo>
                    <a:pt x="0" y="1619250"/>
                  </a:lnTo>
                  <a:lnTo>
                    <a:pt x="0" y="0"/>
                  </a:lnTo>
                  <a:close/>
                </a:path>
              </a:pathLst>
            </a:custGeom>
            <a:blipFill>
              <a:blip r:embed="rId4"/>
              <a:stretch>
                <a:fillRect/>
              </a:stretch>
            </a:blipFill>
          </p:spPr>
        </p:sp>
      </p:grpSp>
      <p:grpSp>
        <p:nvGrpSpPr>
          <p:cNvPr id="9" name="Group 9"/>
          <p:cNvGrpSpPr/>
          <p:nvPr/>
        </p:nvGrpSpPr>
        <p:grpSpPr>
          <a:xfrm>
            <a:off x="571500" y="1857375"/>
            <a:ext cx="8358188" cy="4943475"/>
            <a:chOff x="0" y="0"/>
            <a:chExt cx="11144250" cy="6591300"/>
          </a:xfrm>
        </p:grpSpPr>
        <p:sp>
          <p:nvSpPr>
            <p:cNvPr id="10" name="Freeform 10" descr="preencoded.png"/>
            <p:cNvSpPr/>
            <p:nvPr/>
          </p:nvSpPr>
          <p:spPr>
            <a:xfrm>
              <a:off x="0" y="0"/>
              <a:ext cx="11144250" cy="6591300"/>
            </a:xfrm>
            <a:custGeom>
              <a:avLst/>
              <a:gdLst/>
              <a:ahLst/>
              <a:cxnLst/>
              <a:rect l="l" t="t" r="r" b="b"/>
              <a:pathLst>
                <a:path w="11144250" h="6591300">
                  <a:moveTo>
                    <a:pt x="0" y="0"/>
                  </a:moveTo>
                  <a:lnTo>
                    <a:pt x="11144250" y="0"/>
                  </a:lnTo>
                  <a:lnTo>
                    <a:pt x="11144250" y="6591300"/>
                  </a:lnTo>
                  <a:lnTo>
                    <a:pt x="0" y="6591300"/>
                  </a:lnTo>
                  <a:lnTo>
                    <a:pt x="0" y="0"/>
                  </a:lnTo>
                  <a:close/>
                </a:path>
              </a:pathLst>
            </a:custGeom>
            <a:blipFill>
              <a:blip r:embed="rId5"/>
              <a:stretch>
                <a:fillRect t="-289" b="-289"/>
              </a:stretch>
            </a:blipFill>
          </p:spPr>
        </p:sp>
      </p:grpSp>
      <p:grpSp>
        <p:nvGrpSpPr>
          <p:cNvPr id="11" name="Group 11"/>
          <p:cNvGrpSpPr/>
          <p:nvPr/>
        </p:nvGrpSpPr>
        <p:grpSpPr>
          <a:xfrm>
            <a:off x="928688" y="2214562"/>
            <a:ext cx="7643812" cy="571500"/>
            <a:chOff x="0" y="0"/>
            <a:chExt cx="10191750" cy="762000"/>
          </a:xfrm>
        </p:grpSpPr>
        <p:sp>
          <p:nvSpPr>
            <p:cNvPr id="12" name="Freeform 12" descr="preencoded.png"/>
            <p:cNvSpPr/>
            <p:nvPr/>
          </p:nvSpPr>
          <p:spPr>
            <a:xfrm>
              <a:off x="0" y="0"/>
              <a:ext cx="10191750" cy="762000"/>
            </a:xfrm>
            <a:custGeom>
              <a:avLst/>
              <a:gdLst/>
              <a:ahLst/>
              <a:cxnLst/>
              <a:rect l="l" t="t" r="r" b="b"/>
              <a:pathLst>
                <a:path w="10191750" h="762000">
                  <a:moveTo>
                    <a:pt x="0" y="0"/>
                  </a:moveTo>
                  <a:lnTo>
                    <a:pt x="10191750" y="0"/>
                  </a:lnTo>
                  <a:lnTo>
                    <a:pt x="10191750" y="762000"/>
                  </a:lnTo>
                  <a:lnTo>
                    <a:pt x="0" y="762000"/>
                  </a:lnTo>
                  <a:lnTo>
                    <a:pt x="0" y="0"/>
                  </a:lnTo>
                  <a:close/>
                </a:path>
              </a:pathLst>
            </a:custGeom>
            <a:blipFill>
              <a:blip r:embed="rId6"/>
              <a:stretch>
                <a:fillRect t="-2500" b="-2500"/>
              </a:stretch>
            </a:blipFill>
          </p:spPr>
        </p:sp>
      </p:grpSp>
      <p:grpSp>
        <p:nvGrpSpPr>
          <p:cNvPr id="13" name="Group 13"/>
          <p:cNvGrpSpPr/>
          <p:nvPr/>
        </p:nvGrpSpPr>
        <p:grpSpPr>
          <a:xfrm>
            <a:off x="928688" y="2310555"/>
            <a:ext cx="357188" cy="285750"/>
            <a:chOff x="0" y="0"/>
            <a:chExt cx="476250" cy="381000"/>
          </a:xfrm>
        </p:grpSpPr>
        <p:sp>
          <p:nvSpPr>
            <p:cNvPr id="14" name="Freeform 14"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7"/>
              <a:stretch>
                <a:fillRect/>
              </a:stretch>
            </a:blipFill>
          </p:spPr>
        </p:sp>
      </p:grpSp>
      <p:grpSp>
        <p:nvGrpSpPr>
          <p:cNvPr id="15" name="Group 15"/>
          <p:cNvGrpSpPr/>
          <p:nvPr/>
        </p:nvGrpSpPr>
        <p:grpSpPr>
          <a:xfrm>
            <a:off x="928688" y="3000375"/>
            <a:ext cx="7643812" cy="2628900"/>
            <a:chOff x="0" y="0"/>
            <a:chExt cx="10191750" cy="3505200"/>
          </a:xfrm>
        </p:grpSpPr>
        <p:sp>
          <p:nvSpPr>
            <p:cNvPr id="16" name="Freeform 16" descr="preencoded.png"/>
            <p:cNvSpPr/>
            <p:nvPr/>
          </p:nvSpPr>
          <p:spPr>
            <a:xfrm>
              <a:off x="0" y="0"/>
              <a:ext cx="10191750" cy="3505200"/>
            </a:xfrm>
            <a:custGeom>
              <a:avLst/>
              <a:gdLst/>
              <a:ahLst/>
              <a:cxnLst/>
              <a:rect l="l" t="t" r="r" b="b"/>
              <a:pathLst>
                <a:path w="10191750" h="3505200">
                  <a:moveTo>
                    <a:pt x="0" y="0"/>
                  </a:moveTo>
                  <a:lnTo>
                    <a:pt x="10191750" y="0"/>
                  </a:lnTo>
                  <a:lnTo>
                    <a:pt x="10191750" y="3505200"/>
                  </a:lnTo>
                  <a:lnTo>
                    <a:pt x="0" y="3505200"/>
                  </a:lnTo>
                  <a:lnTo>
                    <a:pt x="0" y="0"/>
                  </a:lnTo>
                  <a:close/>
                </a:path>
              </a:pathLst>
            </a:custGeom>
            <a:blipFill>
              <a:blip r:embed="rId8"/>
              <a:stretch>
                <a:fillRect/>
              </a:stretch>
            </a:blipFill>
          </p:spPr>
        </p:sp>
      </p:grpSp>
      <p:grpSp>
        <p:nvGrpSpPr>
          <p:cNvPr id="17" name="Group 17"/>
          <p:cNvGrpSpPr/>
          <p:nvPr/>
        </p:nvGrpSpPr>
        <p:grpSpPr>
          <a:xfrm>
            <a:off x="571500" y="7086600"/>
            <a:ext cx="8358188" cy="2185988"/>
            <a:chOff x="0" y="0"/>
            <a:chExt cx="11144250" cy="2914650"/>
          </a:xfrm>
        </p:grpSpPr>
        <p:sp>
          <p:nvSpPr>
            <p:cNvPr id="18" name="Freeform 18" descr="preencoded.png"/>
            <p:cNvSpPr/>
            <p:nvPr/>
          </p:nvSpPr>
          <p:spPr>
            <a:xfrm>
              <a:off x="0" y="0"/>
              <a:ext cx="11144250" cy="2914650"/>
            </a:xfrm>
            <a:custGeom>
              <a:avLst/>
              <a:gdLst/>
              <a:ahLst/>
              <a:cxnLst/>
              <a:rect l="l" t="t" r="r" b="b"/>
              <a:pathLst>
                <a:path w="11144250" h="2914650">
                  <a:moveTo>
                    <a:pt x="0" y="0"/>
                  </a:moveTo>
                  <a:lnTo>
                    <a:pt x="11144250" y="0"/>
                  </a:lnTo>
                  <a:lnTo>
                    <a:pt x="11144250" y="2914650"/>
                  </a:lnTo>
                  <a:lnTo>
                    <a:pt x="0" y="2914650"/>
                  </a:lnTo>
                  <a:lnTo>
                    <a:pt x="0" y="0"/>
                  </a:lnTo>
                  <a:close/>
                </a:path>
              </a:pathLst>
            </a:custGeom>
            <a:blipFill>
              <a:blip r:embed="rId9"/>
              <a:stretch>
                <a:fillRect t="-653" b="-653"/>
              </a:stretch>
            </a:blipFill>
          </p:spPr>
        </p:sp>
      </p:grpSp>
      <p:grpSp>
        <p:nvGrpSpPr>
          <p:cNvPr id="19" name="Group 19"/>
          <p:cNvGrpSpPr/>
          <p:nvPr/>
        </p:nvGrpSpPr>
        <p:grpSpPr>
          <a:xfrm>
            <a:off x="928688" y="7443788"/>
            <a:ext cx="7643812" cy="571500"/>
            <a:chOff x="0" y="0"/>
            <a:chExt cx="10191750" cy="762000"/>
          </a:xfrm>
        </p:grpSpPr>
        <p:sp>
          <p:nvSpPr>
            <p:cNvPr id="20" name="Freeform 20" descr="preencoded.png"/>
            <p:cNvSpPr/>
            <p:nvPr/>
          </p:nvSpPr>
          <p:spPr>
            <a:xfrm>
              <a:off x="0" y="0"/>
              <a:ext cx="10191750" cy="762000"/>
            </a:xfrm>
            <a:custGeom>
              <a:avLst/>
              <a:gdLst/>
              <a:ahLst/>
              <a:cxnLst/>
              <a:rect l="l" t="t" r="r" b="b"/>
              <a:pathLst>
                <a:path w="10191750" h="762000">
                  <a:moveTo>
                    <a:pt x="0" y="0"/>
                  </a:moveTo>
                  <a:lnTo>
                    <a:pt x="10191750" y="0"/>
                  </a:lnTo>
                  <a:lnTo>
                    <a:pt x="10191750" y="762000"/>
                  </a:lnTo>
                  <a:lnTo>
                    <a:pt x="0" y="762000"/>
                  </a:lnTo>
                  <a:lnTo>
                    <a:pt x="0" y="0"/>
                  </a:lnTo>
                  <a:close/>
                </a:path>
              </a:pathLst>
            </a:custGeom>
            <a:blipFill>
              <a:blip r:embed="rId6"/>
              <a:stretch>
                <a:fillRect t="-2500" b="-2500"/>
              </a:stretch>
            </a:blipFill>
          </p:spPr>
        </p:sp>
      </p:grpSp>
      <p:grpSp>
        <p:nvGrpSpPr>
          <p:cNvPr id="21" name="Group 21"/>
          <p:cNvGrpSpPr/>
          <p:nvPr/>
        </p:nvGrpSpPr>
        <p:grpSpPr>
          <a:xfrm>
            <a:off x="928688" y="7539780"/>
            <a:ext cx="357188" cy="285750"/>
            <a:chOff x="0" y="0"/>
            <a:chExt cx="476250" cy="381000"/>
          </a:xfrm>
        </p:grpSpPr>
        <p:sp>
          <p:nvSpPr>
            <p:cNvPr id="22" name="Freeform 22"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10"/>
              <a:stretch>
                <a:fillRect/>
              </a:stretch>
            </a:blipFill>
          </p:spPr>
        </p:sp>
      </p:grpSp>
      <p:grpSp>
        <p:nvGrpSpPr>
          <p:cNvPr id="23" name="Group 23"/>
          <p:cNvGrpSpPr/>
          <p:nvPr/>
        </p:nvGrpSpPr>
        <p:grpSpPr>
          <a:xfrm>
            <a:off x="9358312" y="1807369"/>
            <a:ext cx="8358188" cy="4757738"/>
            <a:chOff x="0" y="0"/>
            <a:chExt cx="11144250" cy="6343650"/>
          </a:xfrm>
        </p:grpSpPr>
        <p:sp>
          <p:nvSpPr>
            <p:cNvPr id="24" name="Freeform 24" descr="preencoded.png"/>
            <p:cNvSpPr/>
            <p:nvPr/>
          </p:nvSpPr>
          <p:spPr>
            <a:xfrm>
              <a:off x="0" y="0"/>
              <a:ext cx="11144250" cy="6343650"/>
            </a:xfrm>
            <a:custGeom>
              <a:avLst/>
              <a:gdLst/>
              <a:ahLst/>
              <a:cxnLst/>
              <a:rect l="l" t="t" r="r" b="b"/>
              <a:pathLst>
                <a:path w="11144250" h="6343650">
                  <a:moveTo>
                    <a:pt x="0" y="0"/>
                  </a:moveTo>
                  <a:lnTo>
                    <a:pt x="11144250" y="0"/>
                  </a:lnTo>
                  <a:lnTo>
                    <a:pt x="11144250" y="6343650"/>
                  </a:lnTo>
                  <a:lnTo>
                    <a:pt x="0" y="6343650"/>
                  </a:lnTo>
                  <a:lnTo>
                    <a:pt x="0" y="0"/>
                  </a:lnTo>
                  <a:close/>
                </a:path>
              </a:pathLst>
            </a:custGeom>
            <a:blipFill>
              <a:blip r:embed="rId11"/>
              <a:stretch>
                <a:fillRect t="-300" b="-300"/>
              </a:stretch>
            </a:blipFill>
          </p:spPr>
        </p:sp>
      </p:grpSp>
      <p:grpSp>
        <p:nvGrpSpPr>
          <p:cNvPr id="25" name="Group 25"/>
          <p:cNvGrpSpPr/>
          <p:nvPr/>
        </p:nvGrpSpPr>
        <p:grpSpPr>
          <a:xfrm>
            <a:off x="9715500" y="2164556"/>
            <a:ext cx="7643812" cy="571500"/>
            <a:chOff x="0" y="0"/>
            <a:chExt cx="10191750" cy="762000"/>
          </a:xfrm>
        </p:grpSpPr>
        <p:sp>
          <p:nvSpPr>
            <p:cNvPr id="26" name="Freeform 26" descr="preencoded.png"/>
            <p:cNvSpPr/>
            <p:nvPr/>
          </p:nvSpPr>
          <p:spPr>
            <a:xfrm>
              <a:off x="0" y="0"/>
              <a:ext cx="10191750" cy="762000"/>
            </a:xfrm>
            <a:custGeom>
              <a:avLst/>
              <a:gdLst/>
              <a:ahLst/>
              <a:cxnLst/>
              <a:rect l="l" t="t" r="r" b="b"/>
              <a:pathLst>
                <a:path w="10191750" h="762000">
                  <a:moveTo>
                    <a:pt x="0" y="0"/>
                  </a:moveTo>
                  <a:lnTo>
                    <a:pt x="10191750" y="0"/>
                  </a:lnTo>
                  <a:lnTo>
                    <a:pt x="10191750" y="762000"/>
                  </a:lnTo>
                  <a:lnTo>
                    <a:pt x="0" y="762000"/>
                  </a:lnTo>
                  <a:lnTo>
                    <a:pt x="0" y="0"/>
                  </a:lnTo>
                  <a:close/>
                </a:path>
              </a:pathLst>
            </a:custGeom>
            <a:blipFill>
              <a:blip r:embed="rId12"/>
              <a:stretch>
                <a:fillRect t="-2500" b="-2500"/>
              </a:stretch>
            </a:blipFill>
          </p:spPr>
        </p:sp>
      </p:grpSp>
      <p:grpSp>
        <p:nvGrpSpPr>
          <p:cNvPr id="27" name="Group 27"/>
          <p:cNvGrpSpPr/>
          <p:nvPr/>
        </p:nvGrpSpPr>
        <p:grpSpPr>
          <a:xfrm>
            <a:off x="9715500" y="2260549"/>
            <a:ext cx="357188" cy="285750"/>
            <a:chOff x="0" y="0"/>
            <a:chExt cx="476250" cy="381000"/>
          </a:xfrm>
        </p:grpSpPr>
        <p:sp>
          <p:nvSpPr>
            <p:cNvPr id="28" name="Freeform 28"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13"/>
              <a:stretch>
                <a:fillRect/>
              </a:stretch>
            </a:blipFill>
          </p:spPr>
        </p:sp>
      </p:grpSp>
      <p:grpSp>
        <p:nvGrpSpPr>
          <p:cNvPr id="29" name="Group 29"/>
          <p:cNvGrpSpPr/>
          <p:nvPr/>
        </p:nvGrpSpPr>
        <p:grpSpPr>
          <a:xfrm>
            <a:off x="9715500" y="2993231"/>
            <a:ext cx="250031" cy="250031"/>
            <a:chOff x="0" y="0"/>
            <a:chExt cx="333375" cy="333375"/>
          </a:xfrm>
        </p:grpSpPr>
        <p:sp>
          <p:nvSpPr>
            <p:cNvPr id="30" name="Freeform 30" descr="preencoded.png"/>
            <p:cNvSpPr/>
            <p:nvPr/>
          </p:nvSpPr>
          <p:spPr>
            <a:xfrm>
              <a:off x="0" y="0"/>
              <a:ext cx="333375" cy="333375"/>
            </a:xfrm>
            <a:custGeom>
              <a:avLst/>
              <a:gdLst/>
              <a:ahLst/>
              <a:cxnLst/>
              <a:rect l="l" t="t" r="r" b="b"/>
              <a:pathLst>
                <a:path w="333375" h="333375">
                  <a:moveTo>
                    <a:pt x="0" y="0"/>
                  </a:moveTo>
                  <a:lnTo>
                    <a:pt x="333375" y="0"/>
                  </a:lnTo>
                  <a:lnTo>
                    <a:pt x="333375" y="333375"/>
                  </a:lnTo>
                  <a:lnTo>
                    <a:pt x="0" y="333375"/>
                  </a:lnTo>
                  <a:lnTo>
                    <a:pt x="0" y="0"/>
                  </a:lnTo>
                  <a:close/>
                </a:path>
              </a:pathLst>
            </a:custGeom>
            <a:blipFill>
              <a:blip r:embed="rId14"/>
              <a:stretch>
                <a:fillRect/>
              </a:stretch>
            </a:blipFill>
          </p:spPr>
        </p:sp>
      </p:grpSp>
      <p:grpSp>
        <p:nvGrpSpPr>
          <p:cNvPr id="31" name="Group 31"/>
          <p:cNvGrpSpPr/>
          <p:nvPr/>
        </p:nvGrpSpPr>
        <p:grpSpPr>
          <a:xfrm>
            <a:off x="9715500" y="3850481"/>
            <a:ext cx="250031" cy="291551"/>
            <a:chOff x="0" y="0"/>
            <a:chExt cx="333375" cy="388734"/>
          </a:xfrm>
        </p:grpSpPr>
        <p:sp>
          <p:nvSpPr>
            <p:cNvPr id="32" name="Freeform 32" descr="preencoded.png"/>
            <p:cNvSpPr/>
            <p:nvPr/>
          </p:nvSpPr>
          <p:spPr>
            <a:xfrm>
              <a:off x="0" y="0"/>
              <a:ext cx="333375" cy="388747"/>
            </a:xfrm>
            <a:custGeom>
              <a:avLst/>
              <a:gdLst/>
              <a:ahLst/>
              <a:cxnLst/>
              <a:rect l="l" t="t" r="r" b="b"/>
              <a:pathLst>
                <a:path w="333375" h="388747">
                  <a:moveTo>
                    <a:pt x="0" y="0"/>
                  </a:moveTo>
                  <a:lnTo>
                    <a:pt x="333375" y="0"/>
                  </a:lnTo>
                  <a:lnTo>
                    <a:pt x="333375" y="388747"/>
                  </a:lnTo>
                  <a:lnTo>
                    <a:pt x="0" y="388747"/>
                  </a:lnTo>
                  <a:lnTo>
                    <a:pt x="0" y="0"/>
                  </a:lnTo>
                  <a:close/>
                </a:path>
              </a:pathLst>
            </a:custGeom>
            <a:blipFill>
              <a:blip r:embed="rId15"/>
              <a:stretch>
                <a:fillRect t="-26" b="-22"/>
              </a:stretch>
            </a:blipFill>
          </p:spPr>
        </p:sp>
      </p:grpSp>
      <p:grpSp>
        <p:nvGrpSpPr>
          <p:cNvPr id="33" name="Group 33"/>
          <p:cNvGrpSpPr/>
          <p:nvPr/>
        </p:nvGrpSpPr>
        <p:grpSpPr>
          <a:xfrm>
            <a:off x="9715500" y="4707731"/>
            <a:ext cx="250031" cy="218780"/>
            <a:chOff x="0" y="0"/>
            <a:chExt cx="333375" cy="291706"/>
          </a:xfrm>
        </p:grpSpPr>
        <p:sp>
          <p:nvSpPr>
            <p:cNvPr id="34" name="Freeform 34" descr="preencoded.png"/>
            <p:cNvSpPr/>
            <p:nvPr/>
          </p:nvSpPr>
          <p:spPr>
            <a:xfrm>
              <a:off x="0" y="0"/>
              <a:ext cx="333375" cy="291719"/>
            </a:xfrm>
            <a:custGeom>
              <a:avLst/>
              <a:gdLst/>
              <a:ahLst/>
              <a:cxnLst/>
              <a:rect l="l" t="t" r="r" b="b"/>
              <a:pathLst>
                <a:path w="333375" h="291719">
                  <a:moveTo>
                    <a:pt x="0" y="0"/>
                  </a:moveTo>
                  <a:lnTo>
                    <a:pt x="333375" y="0"/>
                  </a:lnTo>
                  <a:lnTo>
                    <a:pt x="333375" y="291719"/>
                  </a:lnTo>
                  <a:lnTo>
                    <a:pt x="0" y="291719"/>
                  </a:lnTo>
                  <a:lnTo>
                    <a:pt x="0" y="0"/>
                  </a:lnTo>
                  <a:close/>
                </a:path>
              </a:pathLst>
            </a:custGeom>
            <a:blipFill>
              <a:blip r:embed="rId16"/>
              <a:stretch>
                <a:fillRect b="4"/>
              </a:stretch>
            </a:blipFill>
          </p:spPr>
        </p:sp>
      </p:grpSp>
      <p:grpSp>
        <p:nvGrpSpPr>
          <p:cNvPr id="35" name="Group 35"/>
          <p:cNvGrpSpPr/>
          <p:nvPr/>
        </p:nvGrpSpPr>
        <p:grpSpPr>
          <a:xfrm>
            <a:off x="9715500" y="5564981"/>
            <a:ext cx="250031" cy="205826"/>
            <a:chOff x="0" y="0"/>
            <a:chExt cx="333375" cy="274434"/>
          </a:xfrm>
        </p:grpSpPr>
        <p:sp>
          <p:nvSpPr>
            <p:cNvPr id="36" name="Freeform 36" descr="preencoded.png"/>
            <p:cNvSpPr/>
            <p:nvPr/>
          </p:nvSpPr>
          <p:spPr>
            <a:xfrm>
              <a:off x="0" y="0"/>
              <a:ext cx="333375" cy="274447"/>
            </a:xfrm>
            <a:custGeom>
              <a:avLst/>
              <a:gdLst/>
              <a:ahLst/>
              <a:cxnLst/>
              <a:rect l="l" t="t" r="r" b="b"/>
              <a:pathLst>
                <a:path w="333375" h="274447">
                  <a:moveTo>
                    <a:pt x="0" y="0"/>
                  </a:moveTo>
                  <a:lnTo>
                    <a:pt x="333375" y="0"/>
                  </a:lnTo>
                  <a:lnTo>
                    <a:pt x="333375" y="274447"/>
                  </a:lnTo>
                  <a:lnTo>
                    <a:pt x="0" y="274447"/>
                  </a:lnTo>
                  <a:lnTo>
                    <a:pt x="0" y="0"/>
                  </a:lnTo>
                  <a:close/>
                </a:path>
              </a:pathLst>
            </a:custGeom>
            <a:blipFill>
              <a:blip r:embed="rId17"/>
              <a:stretch>
                <a:fillRect t="-18" b="-18"/>
              </a:stretch>
            </a:blipFill>
          </p:spPr>
        </p:sp>
      </p:grpSp>
      <p:grpSp>
        <p:nvGrpSpPr>
          <p:cNvPr id="37" name="Group 37"/>
          <p:cNvGrpSpPr/>
          <p:nvPr/>
        </p:nvGrpSpPr>
        <p:grpSpPr>
          <a:xfrm>
            <a:off x="9358312" y="6793706"/>
            <a:ext cx="8358188" cy="2528888"/>
            <a:chOff x="0" y="0"/>
            <a:chExt cx="11144250" cy="3371850"/>
          </a:xfrm>
        </p:grpSpPr>
        <p:sp>
          <p:nvSpPr>
            <p:cNvPr id="38" name="Freeform 38" descr="preencoded.png"/>
            <p:cNvSpPr/>
            <p:nvPr/>
          </p:nvSpPr>
          <p:spPr>
            <a:xfrm>
              <a:off x="0" y="0"/>
              <a:ext cx="11144250" cy="3371850"/>
            </a:xfrm>
            <a:custGeom>
              <a:avLst/>
              <a:gdLst/>
              <a:ahLst/>
              <a:cxnLst/>
              <a:rect l="l" t="t" r="r" b="b"/>
              <a:pathLst>
                <a:path w="11144250" h="3371850">
                  <a:moveTo>
                    <a:pt x="0" y="0"/>
                  </a:moveTo>
                  <a:lnTo>
                    <a:pt x="11144250" y="0"/>
                  </a:lnTo>
                  <a:lnTo>
                    <a:pt x="11144250" y="3371850"/>
                  </a:lnTo>
                  <a:lnTo>
                    <a:pt x="0" y="3371850"/>
                  </a:lnTo>
                  <a:lnTo>
                    <a:pt x="0" y="0"/>
                  </a:lnTo>
                  <a:close/>
                </a:path>
              </a:pathLst>
            </a:custGeom>
            <a:blipFill>
              <a:blip r:embed="rId18"/>
              <a:stretch>
                <a:fillRect t="-564" b="-564"/>
              </a:stretch>
            </a:blipFill>
          </p:spPr>
        </p:sp>
      </p:grpSp>
      <p:grpSp>
        <p:nvGrpSpPr>
          <p:cNvPr id="39" name="Group 39"/>
          <p:cNvGrpSpPr/>
          <p:nvPr/>
        </p:nvGrpSpPr>
        <p:grpSpPr>
          <a:xfrm>
            <a:off x="9715500" y="7150894"/>
            <a:ext cx="7643812" cy="571500"/>
            <a:chOff x="0" y="0"/>
            <a:chExt cx="10191750" cy="762000"/>
          </a:xfrm>
        </p:grpSpPr>
        <p:sp>
          <p:nvSpPr>
            <p:cNvPr id="40" name="Freeform 40" descr="preencoded.png"/>
            <p:cNvSpPr/>
            <p:nvPr/>
          </p:nvSpPr>
          <p:spPr>
            <a:xfrm>
              <a:off x="0" y="0"/>
              <a:ext cx="10191750" cy="762000"/>
            </a:xfrm>
            <a:custGeom>
              <a:avLst/>
              <a:gdLst/>
              <a:ahLst/>
              <a:cxnLst/>
              <a:rect l="l" t="t" r="r" b="b"/>
              <a:pathLst>
                <a:path w="10191750" h="762000">
                  <a:moveTo>
                    <a:pt x="0" y="0"/>
                  </a:moveTo>
                  <a:lnTo>
                    <a:pt x="10191750" y="0"/>
                  </a:lnTo>
                  <a:lnTo>
                    <a:pt x="10191750" y="762000"/>
                  </a:lnTo>
                  <a:lnTo>
                    <a:pt x="0" y="762000"/>
                  </a:lnTo>
                  <a:lnTo>
                    <a:pt x="0" y="0"/>
                  </a:lnTo>
                  <a:close/>
                </a:path>
              </a:pathLst>
            </a:custGeom>
            <a:blipFill>
              <a:blip r:embed="rId19"/>
              <a:stretch>
                <a:fillRect t="-2500" b="-2500"/>
              </a:stretch>
            </a:blipFill>
          </p:spPr>
        </p:sp>
      </p:grpSp>
      <p:grpSp>
        <p:nvGrpSpPr>
          <p:cNvPr id="41" name="Group 41"/>
          <p:cNvGrpSpPr/>
          <p:nvPr/>
        </p:nvGrpSpPr>
        <p:grpSpPr>
          <a:xfrm>
            <a:off x="9715500" y="7246887"/>
            <a:ext cx="357188" cy="285750"/>
            <a:chOff x="0" y="0"/>
            <a:chExt cx="476250" cy="381000"/>
          </a:xfrm>
        </p:grpSpPr>
        <p:sp>
          <p:nvSpPr>
            <p:cNvPr id="42" name="Freeform 42"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20"/>
              <a:stretch>
                <a:fillRect/>
              </a:stretch>
            </a:blipFill>
          </p:spPr>
        </p:sp>
      </p:grpSp>
      <p:grpSp>
        <p:nvGrpSpPr>
          <p:cNvPr id="43" name="Group 43"/>
          <p:cNvGrpSpPr/>
          <p:nvPr/>
        </p:nvGrpSpPr>
        <p:grpSpPr>
          <a:xfrm>
            <a:off x="0" y="9801225"/>
            <a:ext cx="18288000" cy="485775"/>
            <a:chOff x="0" y="0"/>
            <a:chExt cx="24384000" cy="647700"/>
          </a:xfrm>
        </p:grpSpPr>
        <p:sp>
          <p:nvSpPr>
            <p:cNvPr id="44" name="Freeform 44" descr="preencoded.png"/>
            <p:cNvSpPr/>
            <p:nvPr/>
          </p:nvSpPr>
          <p:spPr>
            <a:xfrm>
              <a:off x="0" y="0"/>
              <a:ext cx="24384000" cy="647700"/>
            </a:xfrm>
            <a:custGeom>
              <a:avLst/>
              <a:gdLst/>
              <a:ahLst/>
              <a:cxnLst/>
              <a:rect l="l" t="t" r="r" b="b"/>
              <a:pathLst>
                <a:path w="24384000" h="647700">
                  <a:moveTo>
                    <a:pt x="0" y="0"/>
                  </a:moveTo>
                  <a:lnTo>
                    <a:pt x="24384000" y="0"/>
                  </a:lnTo>
                  <a:lnTo>
                    <a:pt x="24384000" y="647700"/>
                  </a:lnTo>
                  <a:lnTo>
                    <a:pt x="0" y="647700"/>
                  </a:lnTo>
                  <a:lnTo>
                    <a:pt x="0" y="0"/>
                  </a:lnTo>
                  <a:close/>
                </a:path>
              </a:pathLst>
            </a:custGeom>
            <a:blipFill>
              <a:blip r:embed="rId21"/>
              <a:stretch>
                <a:fillRect t="-1470" b="-1470"/>
              </a:stretch>
            </a:blipFill>
          </p:spPr>
        </p:sp>
      </p:grpSp>
      <p:grpSp>
        <p:nvGrpSpPr>
          <p:cNvPr id="45" name="Group 45"/>
          <p:cNvGrpSpPr/>
          <p:nvPr/>
        </p:nvGrpSpPr>
        <p:grpSpPr>
          <a:xfrm>
            <a:off x="1000125" y="400050"/>
            <a:ext cx="17287875" cy="514350"/>
            <a:chOff x="0" y="0"/>
            <a:chExt cx="23050500" cy="685800"/>
          </a:xfrm>
        </p:grpSpPr>
        <p:sp>
          <p:nvSpPr>
            <p:cNvPr id="46" name="Freeform 46"/>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22">
                <a:alphaModFix amt="0"/>
              </a:blip>
              <a:stretch>
                <a:fillRect t="-604913" b="-604913"/>
              </a:stretch>
            </a:blipFill>
          </p:spPr>
        </p:sp>
        <p:sp>
          <p:nvSpPr>
            <p:cNvPr id="47" name="TextBox 47"/>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3: TOP 20 SẢN PHẨM ĐEM LẠI DOANH THU CAO NHẤT</a:t>
              </a:r>
            </a:p>
          </p:txBody>
        </p:sp>
      </p:grpSp>
      <p:grpSp>
        <p:nvGrpSpPr>
          <p:cNvPr id="48" name="Group 48"/>
          <p:cNvGrpSpPr/>
          <p:nvPr/>
        </p:nvGrpSpPr>
        <p:grpSpPr>
          <a:xfrm>
            <a:off x="1000125" y="971550"/>
            <a:ext cx="16287750" cy="300038"/>
            <a:chOff x="0" y="0"/>
            <a:chExt cx="21717000" cy="400050"/>
          </a:xfrm>
        </p:grpSpPr>
        <p:sp>
          <p:nvSpPr>
            <p:cNvPr id="49" name="Freeform 49"/>
            <p:cNvSpPr/>
            <p:nvPr/>
          </p:nvSpPr>
          <p:spPr>
            <a:xfrm>
              <a:off x="0" y="0"/>
              <a:ext cx="21717000" cy="400050"/>
            </a:xfrm>
            <a:custGeom>
              <a:avLst/>
              <a:gdLst/>
              <a:ahLst/>
              <a:cxnLst/>
              <a:rect l="l" t="t" r="r" b="b"/>
              <a:pathLst>
                <a:path w="21717000" h="400050">
                  <a:moveTo>
                    <a:pt x="0" y="0"/>
                  </a:moveTo>
                  <a:lnTo>
                    <a:pt x="21717000" y="0"/>
                  </a:lnTo>
                  <a:lnTo>
                    <a:pt x="21717000" y="400050"/>
                  </a:lnTo>
                  <a:lnTo>
                    <a:pt x="0" y="400050"/>
                  </a:lnTo>
                  <a:close/>
                </a:path>
              </a:pathLst>
            </a:custGeom>
            <a:blipFill>
              <a:blip r:embed="rId22">
                <a:alphaModFix amt="0"/>
              </a:blip>
              <a:stretch>
                <a:fillRect t="-1007759" b="-1007759"/>
              </a:stretch>
            </a:blipFill>
          </p:spPr>
        </p:sp>
        <p:sp>
          <p:nvSpPr>
            <p:cNvPr id="50" name="TextBox 50"/>
            <p:cNvSpPr txBox="1"/>
            <p:nvPr/>
          </p:nvSpPr>
          <p:spPr>
            <a:xfrm>
              <a:off x="0" y="-66675"/>
              <a:ext cx="217170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Thực thi truy vấn HiveQL &amp; Trực quan hóa kết quả</a:t>
              </a:r>
            </a:p>
          </p:txBody>
        </p:sp>
      </p:grpSp>
      <p:grpSp>
        <p:nvGrpSpPr>
          <p:cNvPr id="51" name="Group 51"/>
          <p:cNvGrpSpPr/>
          <p:nvPr/>
        </p:nvGrpSpPr>
        <p:grpSpPr>
          <a:xfrm>
            <a:off x="1457325" y="2235994"/>
            <a:ext cx="7715250" cy="385762"/>
            <a:chOff x="0" y="0"/>
            <a:chExt cx="10287000" cy="514350"/>
          </a:xfrm>
        </p:grpSpPr>
        <p:sp>
          <p:nvSpPr>
            <p:cNvPr id="52" name="Freeform 52"/>
            <p:cNvSpPr/>
            <p:nvPr/>
          </p:nvSpPr>
          <p:spPr>
            <a:xfrm>
              <a:off x="0" y="0"/>
              <a:ext cx="10287000" cy="514350"/>
            </a:xfrm>
            <a:custGeom>
              <a:avLst/>
              <a:gdLst/>
              <a:ahLst/>
              <a:cxnLst/>
              <a:rect l="l" t="t" r="r" b="b"/>
              <a:pathLst>
                <a:path w="10287000" h="514350">
                  <a:moveTo>
                    <a:pt x="0" y="0"/>
                  </a:moveTo>
                  <a:lnTo>
                    <a:pt x="10287000" y="0"/>
                  </a:lnTo>
                  <a:lnTo>
                    <a:pt x="10287000" y="514350"/>
                  </a:lnTo>
                  <a:lnTo>
                    <a:pt x="0" y="514350"/>
                  </a:lnTo>
                  <a:close/>
                </a:path>
              </a:pathLst>
            </a:custGeom>
            <a:blipFill>
              <a:blip r:embed="rId22">
                <a:alphaModFix amt="0"/>
              </a:blip>
              <a:stretch>
                <a:fillRect t="-339700" b="-339700"/>
              </a:stretch>
            </a:blipFill>
          </p:spPr>
        </p:sp>
        <p:sp>
          <p:nvSpPr>
            <p:cNvPr id="53" name="TextBox 53"/>
            <p:cNvSpPr txBox="1"/>
            <p:nvPr/>
          </p:nvSpPr>
          <p:spPr>
            <a:xfrm>
              <a:off x="0" y="-95250"/>
              <a:ext cx="1028700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Truy vấn HiveQL Phân tích</a:t>
              </a:r>
            </a:p>
          </p:txBody>
        </p:sp>
      </p:grpSp>
      <p:grpSp>
        <p:nvGrpSpPr>
          <p:cNvPr id="54" name="Group 54"/>
          <p:cNvGrpSpPr/>
          <p:nvPr/>
        </p:nvGrpSpPr>
        <p:grpSpPr>
          <a:xfrm>
            <a:off x="1214438" y="3000375"/>
            <a:ext cx="7072312" cy="2628900"/>
            <a:chOff x="0" y="0"/>
            <a:chExt cx="9429750" cy="3505200"/>
          </a:xfrm>
        </p:grpSpPr>
        <p:sp>
          <p:nvSpPr>
            <p:cNvPr id="55" name="Freeform 55"/>
            <p:cNvSpPr/>
            <p:nvPr/>
          </p:nvSpPr>
          <p:spPr>
            <a:xfrm>
              <a:off x="0" y="0"/>
              <a:ext cx="9429750" cy="3505200"/>
            </a:xfrm>
            <a:custGeom>
              <a:avLst/>
              <a:gdLst/>
              <a:ahLst/>
              <a:cxnLst/>
              <a:rect l="l" t="t" r="r" b="b"/>
              <a:pathLst>
                <a:path w="9429750" h="3505200">
                  <a:moveTo>
                    <a:pt x="0" y="0"/>
                  </a:moveTo>
                  <a:lnTo>
                    <a:pt x="9429750" y="0"/>
                  </a:lnTo>
                  <a:lnTo>
                    <a:pt x="9429750" y="3505200"/>
                  </a:lnTo>
                  <a:lnTo>
                    <a:pt x="0" y="3505200"/>
                  </a:lnTo>
                  <a:close/>
                </a:path>
              </a:pathLst>
            </a:custGeom>
            <a:blipFill>
              <a:blip r:embed="rId22">
                <a:alphaModFix amt="0"/>
              </a:blip>
              <a:stretch>
                <a:fillRect t="-2418" b="-2418"/>
              </a:stretch>
            </a:blipFill>
          </p:spPr>
        </p:sp>
        <p:sp>
          <p:nvSpPr>
            <p:cNvPr id="56" name="TextBox 56"/>
            <p:cNvSpPr txBox="1"/>
            <p:nvPr/>
          </p:nvSpPr>
          <p:spPr>
            <a:xfrm>
              <a:off x="0" y="-104775"/>
              <a:ext cx="9429750" cy="3609975"/>
            </a:xfrm>
            <a:prstGeom prst="rect">
              <a:avLst/>
            </a:prstGeom>
          </p:spPr>
          <p:txBody>
            <a:bodyPr lIns="0" tIns="0" rIns="0" bIns="0" rtlCol="0" anchor="ctr"/>
            <a:lstStyle/>
            <a:p>
              <a:pPr algn="l">
                <a:lnSpc>
                  <a:spcPts val="2700"/>
                </a:lnSpc>
              </a:pPr>
              <a:r>
                <a:rPr lang="en-US" sz="1687">
                  <a:solidFill>
                    <a:srgbClr val="E67E22"/>
                  </a:solidFill>
                  <a:latin typeface="Calibri (MS)"/>
                  <a:ea typeface="Calibri (MS)"/>
                  <a:cs typeface="Calibri (MS)"/>
                  <a:sym typeface="Calibri (MS)"/>
                </a:rPr>
                <a:t>SELECT</a:t>
              </a:r>
              <a:r>
                <a:rPr lang="en-US" sz="1687">
                  <a:solidFill>
                    <a:srgbClr val="FFFFFF"/>
                  </a:solidFill>
                  <a:latin typeface="Calibri (MS)"/>
                  <a:ea typeface="Calibri (MS)"/>
                  <a:cs typeface="Calibri (MS)"/>
                  <a:sym typeface="Calibri (MS)"/>
                </a:rPr>
                <a:t> ten_san_pham,</a:t>
              </a:r>
            </a:p>
            <a:p>
              <a:pPr algn="l">
                <a:lnSpc>
                  <a:spcPts val="2700"/>
                </a:lnSpc>
              </a:pPr>
              <a:r>
                <a:rPr lang="en-US" sz="1687">
                  <a:solidFill>
                    <a:srgbClr val="FFFFFF"/>
                  </a:solidFill>
                  <a:latin typeface="Calibri (MS)"/>
                  <a:ea typeface="Calibri (MS)"/>
                  <a:cs typeface="Calibri (MS)"/>
                  <a:sym typeface="Calibri (MS)"/>
                </a:rPr>
                <a:t>       </a:t>
              </a:r>
              <a:r>
                <a:rPr lang="en-US" sz="1687">
                  <a:solidFill>
                    <a:srgbClr val="007ACC"/>
                  </a:solidFill>
                  <a:latin typeface="Calibri (MS)"/>
                  <a:ea typeface="Calibri (MS)"/>
                  <a:cs typeface="Calibri (MS)"/>
                  <a:sym typeface="Calibri (MS)"/>
                </a:rPr>
                <a:t>SUM</a:t>
              </a:r>
              <a:r>
                <a:rPr lang="en-US" sz="1687">
                  <a:solidFill>
                    <a:srgbClr val="FFFFFF"/>
                  </a:solidFill>
                  <a:latin typeface="Calibri (MS)"/>
                  <a:ea typeface="Calibri (MS)"/>
                  <a:cs typeface="Calibri (MS)"/>
                  <a:sym typeface="Calibri (MS)"/>
                </a:rPr>
                <a:t>(thanh_tien) </a:t>
              </a:r>
              <a:r>
                <a:rPr lang="en-US" sz="1687">
                  <a:solidFill>
                    <a:srgbClr val="E67E22"/>
                  </a:solidFill>
                  <a:latin typeface="Calibri (MS)"/>
                  <a:ea typeface="Calibri (MS)"/>
                  <a:cs typeface="Calibri (MS)"/>
                  <a:sym typeface="Calibri (MS)"/>
                </a:rPr>
                <a:t>AS</a:t>
              </a:r>
              <a:r>
                <a:rPr lang="en-US" sz="1687">
                  <a:solidFill>
                    <a:srgbClr val="FFFFFF"/>
                  </a:solidFill>
                  <a:latin typeface="Calibri (MS)"/>
                  <a:ea typeface="Calibri (MS)"/>
                  <a:cs typeface="Calibri (MS)"/>
                  <a:sym typeface="Calibri (MS)"/>
                </a:rPr>
                <a:t> tong_doanh_thu</a:t>
              </a:r>
            </a:p>
            <a:p>
              <a:pPr algn="l">
                <a:lnSpc>
                  <a:spcPts val="2700"/>
                </a:lnSpc>
              </a:pPr>
              <a:r>
                <a:rPr lang="en-US" sz="1687">
                  <a:solidFill>
                    <a:srgbClr val="E67E22"/>
                  </a:solidFill>
                  <a:latin typeface="Calibri (MS)"/>
                  <a:ea typeface="Calibri (MS)"/>
                  <a:cs typeface="Calibri (MS)"/>
                  <a:sym typeface="Calibri (MS)"/>
                </a:rPr>
                <a:t>FROM</a:t>
              </a:r>
              <a:r>
                <a:rPr lang="en-US" sz="1687">
                  <a:solidFill>
                    <a:srgbClr val="FFFFFF"/>
                  </a:solidFill>
                  <a:latin typeface="Calibri (MS)"/>
                  <a:ea typeface="Calibri (MS)"/>
                  <a:cs typeface="Calibri (MS)"/>
                  <a:sym typeface="Calibri (MS)"/>
                </a:rPr>
                <a:t> ban_hang_dien_may</a:t>
              </a:r>
            </a:p>
            <a:p>
              <a:pPr algn="l">
                <a:lnSpc>
                  <a:spcPts val="2700"/>
                </a:lnSpc>
              </a:pPr>
              <a:r>
                <a:rPr lang="en-US" sz="1687">
                  <a:solidFill>
                    <a:srgbClr val="E67E22"/>
                  </a:solidFill>
                  <a:latin typeface="Calibri (MS)"/>
                  <a:ea typeface="Calibri (MS)"/>
                  <a:cs typeface="Calibri (MS)"/>
                  <a:sym typeface="Calibri (MS)"/>
                </a:rPr>
                <a:t>GROUP BY</a:t>
              </a:r>
              <a:r>
                <a:rPr lang="en-US" sz="1687">
                  <a:solidFill>
                    <a:srgbClr val="FFFFFF"/>
                  </a:solidFill>
                  <a:latin typeface="Calibri (MS)"/>
                  <a:ea typeface="Calibri (MS)"/>
                  <a:cs typeface="Calibri (MS)"/>
                  <a:sym typeface="Calibri (MS)"/>
                </a:rPr>
                <a:t> ten_san_pham</a:t>
              </a:r>
            </a:p>
            <a:p>
              <a:pPr algn="l">
                <a:lnSpc>
                  <a:spcPts val="2700"/>
                </a:lnSpc>
              </a:pPr>
              <a:r>
                <a:rPr lang="en-US" sz="1687">
                  <a:solidFill>
                    <a:srgbClr val="E67E22"/>
                  </a:solidFill>
                  <a:latin typeface="Calibri (MS)"/>
                  <a:ea typeface="Calibri (MS)"/>
                  <a:cs typeface="Calibri (MS)"/>
                  <a:sym typeface="Calibri (MS)"/>
                </a:rPr>
                <a:t>ORDER BY</a:t>
              </a:r>
              <a:r>
                <a:rPr lang="en-US" sz="1687">
                  <a:solidFill>
                    <a:srgbClr val="FFFFFF"/>
                  </a:solidFill>
                  <a:latin typeface="Calibri (MS)"/>
                  <a:ea typeface="Calibri (MS)"/>
                  <a:cs typeface="Calibri (MS)"/>
                  <a:sym typeface="Calibri (MS)"/>
                </a:rPr>
                <a:t> tong_doanh_thu </a:t>
              </a:r>
              <a:r>
                <a:rPr lang="en-US" sz="1687">
                  <a:solidFill>
                    <a:srgbClr val="E67E22"/>
                  </a:solidFill>
                  <a:latin typeface="Calibri (MS)"/>
                  <a:ea typeface="Calibri (MS)"/>
                  <a:cs typeface="Calibri (MS)"/>
                  <a:sym typeface="Calibri (MS)"/>
                </a:rPr>
                <a:t>DESC</a:t>
              </a:r>
            </a:p>
            <a:p>
              <a:pPr algn="l">
                <a:lnSpc>
                  <a:spcPts val="2700"/>
                </a:lnSpc>
              </a:pPr>
              <a:r>
                <a:rPr lang="en-US" sz="1687">
                  <a:solidFill>
                    <a:srgbClr val="E67E22"/>
                  </a:solidFill>
                  <a:latin typeface="Calibri (MS)"/>
                  <a:ea typeface="Calibri (MS)"/>
                  <a:cs typeface="Calibri (MS)"/>
                  <a:sym typeface="Calibri (MS)"/>
                </a:rPr>
                <a:t>LIMIT</a:t>
              </a:r>
              <a:r>
                <a:rPr lang="en-US" sz="1687">
                  <a:solidFill>
                    <a:srgbClr val="FFFFFF"/>
                  </a:solidFill>
                  <a:latin typeface="Calibri (MS)"/>
                  <a:ea typeface="Calibri (MS)"/>
                  <a:cs typeface="Calibri (MS)"/>
                  <a:sym typeface="Calibri (MS)"/>
                </a:rPr>
                <a:t> 20;</a:t>
              </a:r>
            </a:p>
          </p:txBody>
        </p:sp>
      </p:grpSp>
      <p:grpSp>
        <p:nvGrpSpPr>
          <p:cNvPr id="57" name="Group 57"/>
          <p:cNvGrpSpPr/>
          <p:nvPr/>
        </p:nvGrpSpPr>
        <p:grpSpPr>
          <a:xfrm>
            <a:off x="928688" y="5843588"/>
            <a:ext cx="7643812" cy="600075"/>
            <a:chOff x="0" y="0"/>
            <a:chExt cx="10191750" cy="800100"/>
          </a:xfrm>
        </p:grpSpPr>
        <p:sp>
          <p:nvSpPr>
            <p:cNvPr id="58" name="Freeform 58"/>
            <p:cNvSpPr/>
            <p:nvPr/>
          </p:nvSpPr>
          <p:spPr>
            <a:xfrm>
              <a:off x="0" y="0"/>
              <a:ext cx="10191750" cy="800100"/>
            </a:xfrm>
            <a:custGeom>
              <a:avLst/>
              <a:gdLst/>
              <a:ahLst/>
              <a:cxnLst/>
              <a:rect l="l" t="t" r="r" b="b"/>
              <a:pathLst>
                <a:path w="10191750" h="800100">
                  <a:moveTo>
                    <a:pt x="0" y="0"/>
                  </a:moveTo>
                  <a:lnTo>
                    <a:pt x="10191750" y="0"/>
                  </a:lnTo>
                  <a:lnTo>
                    <a:pt x="10191750" y="800100"/>
                  </a:lnTo>
                  <a:lnTo>
                    <a:pt x="0" y="800100"/>
                  </a:lnTo>
                  <a:close/>
                </a:path>
              </a:pathLst>
            </a:custGeom>
            <a:blipFill>
              <a:blip r:embed="rId22">
                <a:alphaModFix amt="0"/>
              </a:blip>
              <a:stretch>
                <a:fillRect t="-198202" b="-198202"/>
              </a:stretch>
            </a:blipFill>
          </p:spPr>
        </p:sp>
        <p:sp>
          <p:nvSpPr>
            <p:cNvPr id="59" name="TextBox 59"/>
            <p:cNvSpPr txBox="1"/>
            <p:nvPr/>
          </p:nvSpPr>
          <p:spPr>
            <a:xfrm>
              <a:off x="0" y="-66675"/>
              <a:ext cx="10191750" cy="866775"/>
            </a:xfrm>
            <a:prstGeom prst="rect">
              <a:avLst/>
            </a:prstGeom>
          </p:spPr>
          <p:txBody>
            <a:bodyPr lIns="0" tIns="0" rIns="0" bIns="0" rtlCol="0" anchor="ctr"/>
            <a:lstStyle/>
            <a:p>
              <a:pPr algn="l">
                <a:lnSpc>
                  <a:spcPts val="2362"/>
                </a:lnSpc>
              </a:pPr>
              <a:r>
                <a:rPr lang="en-US" sz="1575" i="1">
                  <a:solidFill>
                    <a:srgbClr val="7F8C8D"/>
                  </a:solidFill>
                  <a:latin typeface="Calibri (MS) Italics"/>
                  <a:ea typeface="Calibri (MS) Italics"/>
                  <a:cs typeface="Calibri (MS) Italics"/>
                  <a:sym typeface="Calibri (MS) Italics"/>
                </a:rPr>
                <a:t>* Truy vấn thực hiện gom nhóm theo tên sản phẩm và tính tổng doanh thu để lọc ra các mặt hàng chủ lực.</a:t>
              </a:r>
            </a:p>
          </p:txBody>
        </p:sp>
      </p:grpSp>
      <p:grpSp>
        <p:nvGrpSpPr>
          <p:cNvPr id="60" name="Group 60"/>
          <p:cNvGrpSpPr/>
          <p:nvPr/>
        </p:nvGrpSpPr>
        <p:grpSpPr>
          <a:xfrm>
            <a:off x="1457325" y="7465219"/>
            <a:ext cx="5554980" cy="385762"/>
            <a:chOff x="0" y="0"/>
            <a:chExt cx="7406640" cy="514350"/>
          </a:xfrm>
        </p:grpSpPr>
        <p:sp>
          <p:nvSpPr>
            <p:cNvPr id="61" name="Freeform 61"/>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22">
                <a:alphaModFix amt="0"/>
              </a:blip>
              <a:stretch>
                <a:fillRect t="-230584" b="-230584"/>
              </a:stretch>
            </a:blipFill>
          </p:spPr>
        </p:sp>
        <p:sp>
          <p:nvSpPr>
            <p:cNvPr id="62" name="TextBox 62"/>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Mục đích Phân tích</a:t>
              </a:r>
            </a:p>
          </p:txBody>
        </p:sp>
      </p:grpSp>
      <p:grpSp>
        <p:nvGrpSpPr>
          <p:cNvPr id="63" name="Group 63"/>
          <p:cNvGrpSpPr/>
          <p:nvPr/>
        </p:nvGrpSpPr>
        <p:grpSpPr>
          <a:xfrm>
            <a:off x="928688" y="8229600"/>
            <a:ext cx="7643812" cy="685800"/>
            <a:chOff x="0" y="0"/>
            <a:chExt cx="10191750" cy="914400"/>
          </a:xfrm>
        </p:grpSpPr>
        <p:sp>
          <p:nvSpPr>
            <p:cNvPr id="64" name="Freeform 64"/>
            <p:cNvSpPr/>
            <p:nvPr/>
          </p:nvSpPr>
          <p:spPr>
            <a:xfrm>
              <a:off x="0" y="0"/>
              <a:ext cx="10191750" cy="914400"/>
            </a:xfrm>
            <a:custGeom>
              <a:avLst/>
              <a:gdLst/>
              <a:ahLst/>
              <a:cxnLst/>
              <a:rect l="l" t="t" r="r" b="b"/>
              <a:pathLst>
                <a:path w="10191750" h="914400">
                  <a:moveTo>
                    <a:pt x="0" y="0"/>
                  </a:moveTo>
                  <a:lnTo>
                    <a:pt x="10191750" y="0"/>
                  </a:lnTo>
                  <a:lnTo>
                    <a:pt x="10191750" y="914400"/>
                  </a:lnTo>
                  <a:lnTo>
                    <a:pt x="0" y="914400"/>
                  </a:lnTo>
                  <a:close/>
                </a:path>
              </a:pathLst>
            </a:custGeom>
            <a:blipFill>
              <a:blip r:embed="rId22">
                <a:alphaModFix amt="0"/>
              </a:blip>
              <a:stretch>
                <a:fillRect t="-167176" b="-167176"/>
              </a:stretch>
            </a:blipFill>
          </p:spPr>
        </p:sp>
        <p:sp>
          <p:nvSpPr>
            <p:cNvPr id="65" name="TextBox 65"/>
            <p:cNvSpPr txBox="1"/>
            <p:nvPr/>
          </p:nvSpPr>
          <p:spPr>
            <a:xfrm>
              <a:off x="0" y="-95250"/>
              <a:ext cx="10191750" cy="10096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Xác định danh tính cụ thể của </a:t>
              </a:r>
              <a:r>
                <a:rPr lang="en-US" sz="1800" b="1">
                  <a:solidFill>
                    <a:srgbClr val="E67E22"/>
                  </a:solidFill>
                  <a:latin typeface="Calibri (MS) Bold"/>
                  <a:ea typeface="Calibri (MS) Bold"/>
                  <a:cs typeface="Calibri (MS) Bold"/>
                  <a:sym typeface="Calibri (MS) Bold"/>
                </a:rPr>
                <a:t>20 mã hàng</a:t>
              </a:r>
              <a:r>
                <a:rPr lang="en-US" sz="1800">
                  <a:solidFill>
                    <a:srgbClr val="2C3E50"/>
                  </a:solidFill>
                  <a:latin typeface="Calibri (MS)"/>
                  <a:ea typeface="Calibri (MS)"/>
                  <a:cs typeface="Calibri (MS)"/>
                  <a:sym typeface="Calibri (MS)"/>
                </a:rPr>
                <a:t> đóng góp dòng tiền lớn nhất, từ đó phân loại nhóm sản phẩm "ngôi sao" (Star) trong danh mục kinh doanh.</a:t>
              </a:r>
            </a:p>
          </p:txBody>
        </p:sp>
      </p:grpSp>
      <p:grpSp>
        <p:nvGrpSpPr>
          <p:cNvPr id="66" name="Group 66"/>
          <p:cNvGrpSpPr/>
          <p:nvPr/>
        </p:nvGrpSpPr>
        <p:grpSpPr>
          <a:xfrm>
            <a:off x="10244138" y="2185988"/>
            <a:ext cx="8043862" cy="385762"/>
            <a:chOff x="0" y="0"/>
            <a:chExt cx="10725150" cy="514350"/>
          </a:xfrm>
        </p:grpSpPr>
        <p:sp>
          <p:nvSpPr>
            <p:cNvPr id="67" name="Freeform 67"/>
            <p:cNvSpPr/>
            <p:nvPr/>
          </p:nvSpPr>
          <p:spPr>
            <a:xfrm>
              <a:off x="0" y="0"/>
              <a:ext cx="10725150" cy="514350"/>
            </a:xfrm>
            <a:custGeom>
              <a:avLst/>
              <a:gdLst/>
              <a:ahLst/>
              <a:cxnLst/>
              <a:rect l="l" t="t" r="r" b="b"/>
              <a:pathLst>
                <a:path w="10725150" h="514350">
                  <a:moveTo>
                    <a:pt x="0" y="0"/>
                  </a:moveTo>
                  <a:lnTo>
                    <a:pt x="10725150" y="0"/>
                  </a:lnTo>
                  <a:lnTo>
                    <a:pt x="10725150" y="514350"/>
                  </a:lnTo>
                  <a:lnTo>
                    <a:pt x="0" y="514350"/>
                  </a:lnTo>
                  <a:close/>
                </a:path>
              </a:pathLst>
            </a:custGeom>
            <a:blipFill>
              <a:blip r:embed="rId22">
                <a:alphaModFix amt="0"/>
              </a:blip>
              <a:stretch>
                <a:fillRect t="-356299" b="-356299"/>
              </a:stretch>
            </a:blipFill>
          </p:spPr>
        </p:sp>
        <p:sp>
          <p:nvSpPr>
            <p:cNvPr id="68" name="TextBox 68"/>
            <p:cNvSpPr txBox="1"/>
            <p:nvPr/>
          </p:nvSpPr>
          <p:spPr>
            <a:xfrm>
              <a:off x="0" y="-95250"/>
              <a:ext cx="1072515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Ý nghĩa &amp; Chiến lược Kinh doanh</a:t>
              </a:r>
            </a:p>
          </p:txBody>
        </p:sp>
      </p:grpSp>
      <p:grpSp>
        <p:nvGrpSpPr>
          <p:cNvPr id="69" name="Group 69"/>
          <p:cNvGrpSpPr/>
          <p:nvPr/>
        </p:nvGrpSpPr>
        <p:grpSpPr>
          <a:xfrm>
            <a:off x="10179844" y="2950369"/>
            <a:ext cx="7179469" cy="685800"/>
            <a:chOff x="0" y="0"/>
            <a:chExt cx="9572625" cy="914400"/>
          </a:xfrm>
        </p:grpSpPr>
        <p:sp>
          <p:nvSpPr>
            <p:cNvPr id="70" name="Freeform 70"/>
            <p:cNvSpPr/>
            <p:nvPr/>
          </p:nvSpPr>
          <p:spPr>
            <a:xfrm>
              <a:off x="0" y="0"/>
              <a:ext cx="9572626" cy="914400"/>
            </a:xfrm>
            <a:custGeom>
              <a:avLst/>
              <a:gdLst/>
              <a:ahLst/>
              <a:cxnLst/>
              <a:rect l="l" t="t" r="r" b="b"/>
              <a:pathLst>
                <a:path w="9572626" h="914400">
                  <a:moveTo>
                    <a:pt x="0" y="0"/>
                  </a:moveTo>
                  <a:lnTo>
                    <a:pt x="9572626" y="0"/>
                  </a:lnTo>
                  <a:lnTo>
                    <a:pt x="9572626" y="914400"/>
                  </a:lnTo>
                  <a:lnTo>
                    <a:pt x="0" y="914400"/>
                  </a:lnTo>
                  <a:close/>
                </a:path>
              </a:pathLst>
            </a:custGeom>
            <a:blipFill>
              <a:blip r:embed="rId22">
                <a:alphaModFix amt="0"/>
              </a:blip>
              <a:stretch>
                <a:fillRect t="-153983" b="-153983"/>
              </a:stretch>
            </a:blipFill>
          </p:spPr>
        </p:sp>
        <p:sp>
          <p:nvSpPr>
            <p:cNvPr id="71" name="TextBox 71"/>
            <p:cNvSpPr txBox="1"/>
            <p:nvPr/>
          </p:nvSpPr>
          <p:spPr>
            <a:xfrm>
              <a:off x="0" y="-95250"/>
              <a:ext cx="9572625" cy="1009650"/>
            </a:xfrm>
            <a:prstGeom prst="rect">
              <a:avLst/>
            </a:prstGeom>
          </p:spPr>
          <p:txBody>
            <a:bodyPr lIns="0" tIns="0" rIns="0" bIns="0" rtlCol="0" anchor="ctr"/>
            <a:lstStyle/>
            <a:p>
              <a:pPr algn="l">
                <a:lnSpc>
                  <a:spcPts val="2700"/>
                </a:lnSpc>
              </a:pPr>
              <a:r>
                <a:rPr lang="en-US" sz="1800" b="1">
                  <a:solidFill>
                    <a:srgbClr val="2C3E50"/>
                  </a:solidFill>
                  <a:latin typeface="Calibri (MS) Bold"/>
                  <a:ea typeface="Calibri (MS) Bold"/>
                  <a:cs typeface="Calibri (MS) Bold"/>
                  <a:sym typeface="Calibri (MS) Bold"/>
                </a:rPr>
                <a:t>Tối ưu Trade Marketing:</a:t>
              </a:r>
              <a:r>
                <a:rPr lang="en-US" sz="1800">
                  <a:solidFill>
                    <a:srgbClr val="2C3E50"/>
                  </a:solidFill>
                  <a:latin typeface="Calibri (MS)"/>
                  <a:ea typeface="Calibri (MS)"/>
                  <a:cs typeface="Calibri (MS)"/>
                  <a:sym typeface="Calibri (MS)"/>
                </a:rPr>
                <a:t> Các sản phẩm này cần được ưu tiên vị trí trưng bày tại sảnh chính hoặc đầu các kệ hàng (End-cap).</a:t>
              </a:r>
            </a:p>
          </p:txBody>
        </p:sp>
      </p:grpSp>
      <p:grpSp>
        <p:nvGrpSpPr>
          <p:cNvPr id="72" name="Group 72"/>
          <p:cNvGrpSpPr/>
          <p:nvPr/>
        </p:nvGrpSpPr>
        <p:grpSpPr>
          <a:xfrm>
            <a:off x="10179844" y="3807619"/>
            <a:ext cx="7179469" cy="685800"/>
            <a:chOff x="0" y="0"/>
            <a:chExt cx="9572625" cy="914400"/>
          </a:xfrm>
        </p:grpSpPr>
        <p:sp>
          <p:nvSpPr>
            <p:cNvPr id="73" name="Freeform 73"/>
            <p:cNvSpPr/>
            <p:nvPr/>
          </p:nvSpPr>
          <p:spPr>
            <a:xfrm>
              <a:off x="0" y="0"/>
              <a:ext cx="9572626" cy="914400"/>
            </a:xfrm>
            <a:custGeom>
              <a:avLst/>
              <a:gdLst/>
              <a:ahLst/>
              <a:cxnLst/>
              <a:rect l="l" t="t" r="r" b="b"/>
              <a:pathLst>
                <a:path w="9572626" h="914400">
                  <a:moveTo>
                    <a:pt x="0" y="0"/>
                  </a:moveTo>
                  <a:lnTo>
                    <a:pt x="9572626" y="0"/>
                  </a:lnTo>
                  <a:lnTo>
                    <a:pt x="9572626" y="914400"/>
                  </a:lnTo>
                  <a:lnTo>
                    <a:pt x="0" y="914400"/>
                  </a:lnTo>
                  <a:close/>
                </a:path>
              </a:pathLst>
            </a:custGeom>
            <a:blipFill>
              <a:blip r:embed="rId22">
                <a:alphaModFix amt="0"/>
              </a:blip>
              <a:stretch>
                <a:fillRect t="-153983" b="-153983"/>
              </a:stretch>
            </a:blipFill>
          </p:spPr>
        </p:sp>
        <p:sp>
          <p:nvSpPr>
            <p:cNvPr id="74" name="TextBox 74"/>
            <p:cNvSpPr txBox="1"/>
            <p:nvPr/>
          </p:nvSpPr>
          <p:spPr>
            <a:xfrm>
              <a:off x="0" y="-95250"/>
              <a:ext cx="9572625" cy="1009650"/>
            </a:xfrm>
            <a:prstGeom prst="rect">
              <a:avLst/>
            </a:prstGeom>
          </p:spPr>
          <p:txBody>
            <a:bodyPr lIns="0" tIns="0" rIns="0" bIns="0" rtlCol="0" anchor="ctr"/>
            <a:lstStyle/>
            <a:p>
              <a:pPr algn="l">
                <a:lnSpc>
                  <a:spcPts val="2700"/>
                </a:lnSpc>
              </a:pPr>
              <a:r>
                <a:rPr lang="en-US" sz="1800" b="1">
                  <a:solidFill>
                    <a:srgbClr val="2C3E50"/>
                  </a:solidFill>
                  <a:latin typeface="Calibri (MS) Bold"/>
                  <a:ea typeface="Calibri (MS) Bold"/>
                  <a:cs typeface="Calibri (MS) Bold"/>
                  <a:sym typeface="Calibri (MS) Bold"/>
                </a:rPr>
                <a:t>Chiến dịch Website:</a:t>
              </a:r>
              <a:r>
                <a:rPr lang="en-US" sz="1800">
                  <a:solidFill>
                    <a:srgbClr val="2C3E50"/>
                  </a:solidFill>
                  <a:latin typeface="Calibri (MS)"/>
                  <a:ea typeface="Calibri (MS)"/>
                  <a:cs typeface="Calibri (MS)"/>
                  <a:sym typeface="Calibri (MS)"/>
                </a:rPr>
                <a:t> Đặt banner quảng cáo và ưu tiên kết quả tìm kiếm cho Top 20 để tối đa hóa tỷ lệ chuyển đổi.</a:t>
              </a:r>
            </a:p>
          </p:txBody>
        </p:sp>
      </p:grpSp>
      <p:grpSp>
        <p:nvGrpSpPr>
          <p:cNvPr id="75" name="Group 75"/>
          <p:cNvGrpSpPr/>
          <p:nvPr/>
        </p:nvGrpSpPr>
        <p:grpSpPr>
          <a:xfrm>
            <a:off x="10179844" y="4664869"/>
            <a:ext cx="7179469" cy="685800"/>
            <a:chOff x="0" y="0"/>
            <a:chExt cx="9572625" cy="914400"/>
          </a:xfrm>
        </p:grpSpPr>
        <p:sp>
          <p:nvSpPr>
            <p:cNvPr id="76" name="Freeform 76"/>
            <p:cNvSpPr/>
            <p:nvPr/>
          </p:nvSpPr>
          <p:spPr>
            <a:xfrm>
              <a:off x="0" y="0"/>
              <a:ext cx="9572626" cy="914400"/>
            </a:xfrm>
            <a:custGeom>
              <a:avLst/>
              <a:gdLst/>
              <a:ahLst/>
              <a:cxnLst/>
              <a:rect l="l" t="t" r="r" b="b"/>
              <a:pathLst>
                <a:path w="9572626" h="914400">
                  <a:moveTo>
                    <a:pt x="0" y="0"/>
                  </a:moveTo>
                  <a:lnTo>
                    <a:pt x="9572626" y="0"/>
                  </a:lnTo>
                  <a:lnTo>
                    <a:pt x="9572626" y="914400"/>
                  </a:lnTo>
                  <a:lnTo>
                    <a:pt x="0" y="914400"/>
                  </a:lnTo>
                  <a:close/>
                </a:path>
              </a:pathLst>
            </a:custGeom>
            <a:blipFill>
              <a:blip r:embed="rId22">
                <a:alphaModFix amt="0"/>
              </a:blip>
              <a:stretch>
                <a:fillRect t="-153983" b="-153983"/>
              </a:stretch>
            </a:blipFill>
          </p:spPr>
        </p:sp>
        <p:sp>
          <p:nvSpPr>
            <p:cNvPr id="77" name="TextBox 77"/>
            <p:cNvSpPr txBox="1"/>
            <p:nvPr/>
          </p:nvSpPr>
          <p:spPr>
            <a:xfrm>
              <a:off x="0" y="-95250"/>
              <a:ext cx="9572625" cy="1009650"/>
            </a:xfrm>
            <a:prstGeom prst="rect">
              <a:avLst/>
            </a:prstGeom>
          </p:spPr>
          <p:txBody>
            <a:bodyPr lIns="0" tIns="0" rIns="0" bIns="0" rtlCol="0" anchor="ctr"/>
            <a:lstStyle/>
            <a:p>
              <a:pPr algn="l">
                <a:lnSpc>
                  <a:spcPts val="2700"/>
                </a:lnSpc>
              </a:pPr>
              <a:r>
                <a:rPr lang="en-US" sz="1800" b="1">
                  <a:solidFill>
                    <a:srgbClr val="2C3E50"/>
                  </a:solidFill>
                  <a:latin typeface="Calibri (MS) Bold"/>
                  <a:ea typeface="Calibri (MS) Bold"/>
                  <a:cs typeface="Calibri (MS) Bold"/>
                  <a:sym typeface="Calibri (MS) Bold"/>
                </a:rPr>
                <a:t>Quản trị tồn kho:</a:t>
              </a:r>
              <a:r>
                <a:rPr lang="en-US" sz="1800">
                  <a:solidFill>
                    <a:srgbClr val="2C3E50"/>
                  </a:solidFill>
                  <a:latin typeface="Calibri (MS)"/>
                  <a:ea typeface="Calibri (MS)"/>
                  <a:cs typeface="Calibri (MS)"/>
                  <a:sym typeface="Calibri (MS)"/>
                </a:rPr>
                <a:t> Đảm bảo mức tồn kho an toàn (Safety Stock) cao hơn để tránh tình trạng đứt hàng cho các sản phẩm chủ lực.</a:t>
              </a:r>
            </a:p>
          </p:txBody>
        </p:sp>
      </p:grpSp>
      <p:grpSp>
        <p:nvGrpSpPr>
          <p:cNvPr id="78" name="Group 78"/>
          <p:cNvGrpSpPr/>
          <p:nvPr/>
        </p:nvGrpSpPr>
        <p:grpSpPr>
          <a:xfrm>
            <a:off x="10179844" y="5522119"/>
            <a:ext cx="7179469" cy="685800"/>
            <a:chOff x="0" y="0"/>
            <a:chExt cx="9572625" cy="914400"/>
          </a:xfrm>
        </p:grpSpPr>
        <p:sp>
          <p:nvSpPr>
            <p:cNvPr id="79" name="Freeform 79"/>
            <p:cNvSpPr/>
            <p:nvPr/>
          </p:nvSpPr>
          <p:spPr>
            <a:xfrm>
              <a:off x="0" y="0"/>
              <a:ext cx="9572626" cy="914400"/>
            </a:xfrm>
            <a:custGeom>
              <a:avLst/>
              <a:gdLst/>
              <a:ahLst/>
              <a:cxnLst/>
              <a:rect l="l" t="t" r="r" b="b"/>
              <a:pathLst>
                <a:path w="9572626" h="914400">
                  <a:moveTo>
                    <a:pt x="0" y="0"/>
                  </a:moveTo>
                  <a:lnTo>
                    <a:pt x="9572626" y="0"/>
                  </a:lnTo>
                  <a:lnTo>
                    <a:pt x="9572626" y="914400"/>
                  </a:lnTo>
                  <a:lnTo>
                    <a:pt x="0" y="914400"/>
                  </a:lnTo>
                  <a:close/>
                </a:path>
              </a:pathLst>
            </a:custGeom>
            <a:blipFill>
              <a:blip r:embed="rId22">
                <a:alphaModFix amt="0"/>
              </a:blip>
              <a:stretch>
                <a:fillRect t="-153983" b="-153983"/>
              </a:stretch>
            </a:blipFill>
          </p:spPr>
        </p:sp>
        <p:sp>
          <p:nvSpPr>
            <p:cNvPr id="80" name="TextBox 80"/>
            <p:cNvSpPr txBox="1"/>
            <p:nvPr/>
          </p:nvSpPr>
          <p:spPr>
            <a:xfrm>
              <a:off x="0" y="-95250"/>
              <a:ext cx="9572625" cy="1009650"/>
            </a:xfrm>
            <a:prstGeom prst="rect">
              <a:avLst/>
            </a:prstGeom>
          </p:spPr>
          <p:txBody>
            <a:bodyPr lIns="0" tIns="0" rIns="0" bIns="0" rtlCol="0" anchor="ctr"/>
            <a:lstStyle/>
            <a:p>
              <a:pPr algn="l">
                <a:lnSpc>
                  <a:spcPts val="2700"/>
                </a:lnSpc>
              </a:pPr>
              <a:r>
                <a:rPr lang="en-US" sz="1800" b="1">
                  <a:solidFill>
                    <a:srgbClr val="2C3E50"/>
                  </a:solidFill>
                  <a:latin typeface="Calibri (MS) Bold"/>
                  <a:ea typeface="Calibri (MS) Bold"/>
                  <a:cs typeface="Calibri (MS) Bold"/>
                  <a:sym typeface="Calibri (MS) Bold"/>
                </a:rPr>
                <a:t>Cross-selling:</a:t>
              </a:r>
              <a:r>
                <a:rPr lang="en-US" sz="1800">
                  <a:solidFill>
                    <a:srgbClr val="2C3E50"/>
                  </a:solidFill>
                  <a:latin typeface="Calibri (MS)"/>
                  <a:ea typeface="Calibri (MS)"/>
                  <a:cs typeface="Calibri (MS)"/>
                  <a:sym typeface="Calibri (MS)"/>
                </a:rPr>
                <a:t> Sử dụng các sản phẩm này làm "mồi" để bán kèm các phụ kiện hoặc dịch vụ bảo hành mở rộng có biên lợi nhuận cao.</a:t>
              </a:r>
            </a:p>
          </p:txBody>
        </p:sp>
      </p:grpSp>
      <p:grpSp>
        <p:nvGrpSpPr>
          <p:cNvPr id="81" name="Group 81"/>
          <p:cNvGrpSpPr/>
          <p:nvPr/>
        </p:nvGrpSpPr>
        <p:grpSpPr>
          <a:xfrm>
            <a:off x="10244138" y="7172325"/>
            <a:ext cx="5246370" cy="385762"/>
            <a:chOff x="0" y="0"/>
            <a:chExt cx="6995160" cy="514350"/>
          </a:xfrm>
        </p:grpSpPr>
        <p:sp>
          <p:nvSpPr>
            <p:cNvPr id="82" name="Freeform 82"/>
            <p:cNvSpPr/>
            <p:nvPr/>
          </p:nvSpPr>
          <p:spPr>
            <a:xfrm>
              <a:off x="0" y="0"/>
              <a:ext cx="6995160" cy="514350"/>
            </a:xfrm>
            <a:custGeom>
              <a:avLst/>
              <a:gdLst/>
              <a:ahLst/>
              <a:cxnLst/>
              <a:rect l="l" t="t" r="r" b="b"/>
              <a:pathLst>
                <a:path w="6995160" h="514350">
                  <a:moveTo>
                    <a:pt x="0" y="0"/>
                  </a:moveTo>
                  <a:lnTo>
                    <a:pt x="6995160" y="0"/>
                  </a:lnTo>
                  <a:lnTo>
                    <a:pt x="6995160" y="514350"/>
                  </a:lnTo>
                  <a:lnTo>
                    <a:pt x="0" y="514350"/>
                  </a:lnTo>
                  <a:close/>
                </a:path>
              </a:pathLst>
            </a:custGeom>
            <a:blipFill>
              <a:blip r:embed="rId22">
                <a:alphaModFix amt="0"/>
              </a:blip>
              <a:stretch>
                <a:fillRect t="-214996" b="-214996"/>
              </a:stretch>
            </a:blipFill>
          </p:spPr>
        </p:sp>
        <p:sp>
          <p:nvSpPr>
            <p:cNvPr id="83" name="TextBox 83"/>
            <p:cNvSpPr txBox="1"/>
            <p:nvPr/>
          </p:nvSpPr>
          <p:spPr>
            <a:xfrm>
              <a:off x="0" y="-95250"/>
              <a:ext cx="6995160" cy="609600"/>
            </a:xfrm>
            <a:prstGeom prst="rect">
              <a:avLst/>
            </a:prstGeom>
          </p:spPr>
          <p:txBody>
            <a:bodyPr lIns="0" tIns="0" rIns="0" bIns="0" rtlCol="0" anchor="ctr"/>
            <a:lstStyle/>
            <a:p>
              <a:pPr algn="l">
                <a:lnSpc>
                  <a:spcPts val="3037"/>
                </a:lnSpc>
              </a:pPr>
              <a:r>
                <a:rPr lang="en-US" sz="2025" b="1">
                  <a:solidFill>
                    <a:srgbClr val="FFFFFF"/>
                  </a:solidFill>
                  <a:latin typeface="Calibri (MS) Bold"/>
                  <a:ea typeface="Calibri (MS) Bold"/>
                  <a:cs typeface="Calibri (MS) Bold"/>
                  <a:sym typeface="Calibri (MS) Bold"/>
                </a:rPr>
                <a:t>Giá trị Thực tiễn</a:t>
              </a:r>
            </a:p>
          </p:txBody>
        </p:sp>
      </p:grpSp>
      <p:grpSp>
        <p:nvGrpSpPr>
          <p:cNvPr id="84" name="Group 84"/>
          <p:cNvGrpSpPr/>
          <p:nvPr/>
        </p:nvGrpSpPr>
        <p:grpSpPr>
          <a:xfrm>
            <a:off x="9715500" y="7936706"/>
            <a:ext cx="7643812" cy="1028700"/>
            <a:chOff x="0" y="0"/>
            <a:chExt cx="10191750" cy="1371600"/>
          </a:xfrm>
        </p:grpSpPr>
        <p:sp>
          <p:nvSpPr>
            <p:cNvPr id="85" name="Freeform 85"/>
            <p:cNvSpPr/>
            <p:nvPr/>
          </p:nvSpPr>
          <p:spPr>
            <a:xfrm>
              <a:off x="0" y="0"/>
              <a:ext cx="10191750" cy="1371600"/>
            </a:xfrm>
            <a:custGeom>
              <a:avLst/>
              <a:gdLst/>
              <a:ahLst/>
              <a:cxnLst/>
              <a:rect l="l" t="t" r="r" b="b"/>
              <a:pathLst>
                <a:path w="10191750" h="1371600">
                  <a:moveTo>
                    <a:pt x="0" y="0"/>
                  </a:moveTo>
                  <a:lnTo>
                    <a:pt x="10191750" y="0"/>
                  </a:lnTo>
                  <a:lnTo>
                    <a:pt x="10191750" y="1371600"/>
                  </a:lnTo>
                  <a:lnTo>
                    <a:pt x="0" y="1371600"/>
                  </a:lnTo>
                  <a:close/>
                </a:path>
              </a:pathLst>
            </a:custGeom>
            <a:blipFill>
              <a:blip r:embed="rId22">
                <a:alphaModFix amt="0"/>
              </a:blip>
              <a:stretch>
                <a:fillRect t="-94784" b="-94784"/>
              </a:stretch>
            </a:blipFill>
          </p:spPr>
        </p:sp>
        <p:sp>
          <p:nvSpPr>
            <p:cNvPr id="86" name="TextBox 86"/>
            <p:cNvSpPr txBox="1"/>
            <p:nvPr/>
          </p:nvSpPr>
          <p:spPr>
            <a:xfrm>
              <a:off x="0" y="-95250"/>
              <a:ext cx="10191750" cy="1466850"/>
            </a:xfrm>
            <a:prstGeom prst="rect">
              <a:avLst/>
            </a:prstGeom>
          </p:spPr>
          <p:txBody>
            <a:bodyPr lIns="0" tIns="0" rIns="0" bIns="0" rtlCol="0" anchor="ctr"/>
            <a:lstStyle/>
            <a:p>
              <a:pPr algn="l">
                <a:lnSpc>
                  <a:spcPts val="2700"/>
                </a:lnSpc>
              </a:pPr>
              <a:r>
                <a:rPr lang="en-US" sz="1800">
                  <a:solidFill>
                    <a:srgbClr val="FFFFFF"/>
                  </a:solidFill>
                  <a:latin typeface="Calibri (MS)"/>
                  <a:ea typeface="Calibri (MS)"/>
                  <a:cs typeface="Calibri (MS)"/>
                  <a:sym typeface="Calibri (MS)"/>
                </a:rPr>
                <a:t>Giúp Ban giám đốc tập trung nguồn lực vào nhóm sản phẩm mang lại </a:t>
              </a:r>
              <a:r>
                <a:rPr lang="en-US" sz="1800" b="1">
                  <a:solidFill>
                    <a:srgbClr val="FFFFFF"/>
                  </a:solidFill>
                  <a:latin typeface="Calibri (MS) Bold"/>
                  <a:ea typeface="Calibri (MS) Bold"/>
                  <a:cs typeface="Calibri (MS) Bold"/>
                  <a:sym typeface="Calibri (MS) Bold"/>
                </a:rPr>
                <a:t>80% doanh thu</a:t>
              </a:r>
              <a:r>
                <a:rPr lang="en-US" sz="1800">
                  <a:solidFill>
                    <a:srgbClr val="FFFFFF"/>
                  </a:solidFill>
                  <a:latin typeface="Calibri (MS)"/>
                  <a:ea typeface="Calibri (MS)"/>
                  <a:cs typeface="Calibri (MS)"/>
                  <a:sym typeface="Calibri (MS)"/>
                </a:rPr>
                <a:t> theo nguyên lý Pareto, từ đó tối ưu hóa chi phí vận hành và quảng cáo.</a:t>
              </a:r>
            </a:p>
          </p:txBody>
        </p:sp>
      </p:grpSp>
      <p:grpSp>
        <p:nvGrpSpPr>
          <p:cNvPr id="87" name="Group 87"/>
          <p:cNvGrpSpPr/>
          <p:nvPr/>
        </p:nvGrpSpPr>
        <p:grpSpPr>
          <a:xfrm>
            <a:off x="571500" y="9915525"/>
            <a:ext cx="11932920" cy="257175"/>
            <a:chOff x="0" y="0"/>
            <a:chExt cx="15910560" cy="342900"/>
          </a:xfrm>
        </p:grpSpPr>
        <p:sp>
          <p:nvSpPr>
            <p:cNvPr id="88" name="Freeform 88"/>
            <p:cNvSpPr/>
            <p:nvPr/>
          </p:nvSpPr>
          <p:spPr>
            <a:xfrm>
              <a:off x="0" y="0"/>
              <a:ext cx="15910561" cy="342900"/>
            </a:xfrm>
            <a:custGeom>
              <a:avLst/>
              <a:gdLst/>
              <a:ahLst/>
              <a:cxnLst/>
              <a:rect l="l" t="t" r="r" b="b"/>
              <a:pathLst>
                <a:path w="15910561" h="342900">
                  <a:moveTo>
                    <a:pt x="0" y="0"/>
                  </a:moveTo>
                  <a:lnTo>
                    <a:pt x="15910561" y="0"/>
                  </a:lnTo>
                  <a:lnTo>
                    <a:pt x="15910561" y="342900"/>
                  </a:lnTo>
                  <a:lnTo>
                    <a:pt x="0" y="342900"/>
                  </a:lnTo>
                  <a:close/>
                </a:path>
              </a:pathLst>
            </a:custGeom>
            <a:blipFill>
              <a:blip r:embed="rId22">
                <a:alphaModFix amt="0"/>
              </a:blip>
              <a:stretch>
                <a:fillRect t="-854105" b="-854105"/>
              </a:stretch>
            </a:blipFill>
          </p:spPr>
        </p:sp>
        <p:sp>
          <p:nvSpPr>
            <p:cNvPr id="89" name="TextBox 89"/>
            <p:cNvSpPr txBox="1"/>
            <p:nvPr/>
          </p:nvSpPr>
          <p:spPr>
            <a:xfrm>
              <a:off x="0" y="-66675"/>
              <a:ext cx="15910560" cy="409575"/>
            </a:xfrm>
            <a:prstGeom prst="rect">
              <a:avLst/>
            </a:prstGeom>
          </p:spPr>
          <p:txBody>
            <a:bodyPr lIns="0" tIns="0" rIns="0" bIns="0" rtlCol="0" anchor="ctr"/>
            <a:lstStyle/>
            <a:p>
              <a:pPr algn="l">
                <a:lnSpc>
                  <a:spcPts val="2025"/>
                </a:lnSpc>
              </a:pPr>
              <a:r>
                <a:rPr lang="en-US" sz="1350">
                  <a:solidFill>
                    <a:srgbClr val="7F8C8D"/>
                  </a:solidFill>
                  <a:latin typeface="Calibri (MS)"/>
                  <a:ea typeface="Calibri (MS)"/>
                  <a:cs typeface="Calibri (MS)"/>
                  <a:sym typeface="Calibri (MS)"/>
                </a:rPr>
                <a:t>Học phần: Dữ liệu lớn và ứng dụng | GVHD: Nguyễn Văn Thắng</a:t>
              </a:r>
            </a:p>
          </p:txBody>
        </p:sp>
      </p:grpSp>
      <p:grpSp>
        <p:nvGrpSpPr>
          <p:cNvPr id="90" name="Group 90"/>
          <p:cNvGrpSpPr/>
          <p:nvPr/>
        </p:nvGrpSpPr>
        <p:grpSpPr>
          <a:xfrm>
            <a:off x="13816012" y="9915525"/>
            <a:ext cx="4471988" cy="257175"/>
            <a:chOff x="0" y="0"/>
            <a:chExt cx="5962650" cy="342900"/>
          </a:xfrm>
        </p:grpSpPr>
        <p:sp>
          <p:nvSpPr>
            <p:cNvPr id="91" name="Freeform 91"/>
            <p:cNvSpPr/>
            <p:nvPr/>
          </p:nvSpPr>
          <p:spPr>
            <a:xfrm>
              <a:off x="0" y="0"/>
              <a:ext cx="5962650" cy="342900"/>
            </a:xfrm>
            <a:custGeom>
              <a:avLst/>
              <a:gdLst/>
              <a:ahLst/>
              <a:cxnLst/>
              <a:rect l="l" t="t" r="r" b="b"/>
              <a:pathLst>
                <a:path w="5962650" h="342900">
                  <a:moveTo>
                    <a:pt x="0" y="0"/>
                  </a:moveTo>
                  <a:lnTo>
                    <a:pt x="5962650" y="0"/>
                  </a:lnTo>
                  <a:lnTo>
                    <a:pt x="5962650" y="342900"/>
                  </a:lnTo>
                  <a:lnTo>
                    <a:pt x="0" y="342900"/>
                  </a:lnTo>
                  <a:close/>
                </a:path>
              </a:pathLst>
            </a:custGeom>
            <a:blipFill>
              <a:blip r:embed="rId22">
                <a:alphaModFix amt="0"/>
              </a:blip>
              <a:stretch>
                <a:fillRect t="-288823" b="-288823"/>
              </a:stretch>
            </a:blipFill>
          </p:spPr>
        </p:sp>
        <p:sp>
          <p:nvSpPr>
            <p:cNvPr id="92" name="TextBox 92"/>
            <p:cNvSpPr txBox="1"/>
            <p:nvPr/>
          </p:nvSpPr>
          <p:spPr>
            <a:xfrm>
              <a:off x="0" y="-66675"/>
              <a:ext cx="5962650" cy="409575"/>
            </a:xfrm>
            <a:prstGeom prst="rect">
              <a:avLst/>
            </a:prstGeom>
          </p:spPr>
          <p:txBody>
            <a:bodyPr lIns="0" tIns="0" rIns="0" bIns="0" rtlCol="0" anchor="ctr"/>
            <a:lstStyle/>
            <a:p>
              <a:pPr algn="l">
                <a:lnSpc>
                  <a:spcPts val="2025"/>
                </a:lnSpc>
              </a:pPr>
              <a:r>
                <a:rPr lang="en-US" sz="1350">
                  <a:solidFill>
                    <a:srgbClr val="7F8C8D"/>
                  </a:solidFill>
                  <a:latin typeface="Calibri (MS)"/>
                  <a:ea typeface="Calibri (MS)"/>
                  <a:cs typeface="Calibri (MS)"/>
                  <a:sym typeface="Calibri (MS)"/>
                </a:rPr>
                <a:t>Sinh viên: Hoàng Xuân Duẩn - MSSV: 2221050668</a:t>
              </a:r>
            </a:p>
          </p:txBody>
        </p:sp>
      </p:grpSp>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571500" y="428625"/>
            <a:ext cx="17145000" cy="1314450"/>
            <a:chOff x="0" y="0"/>
            <a:chExt cx="22860000" cy="1752600"/>
          </a:xfrm>
        </p:grpSpPr>
        <p:sp>
          <p:nvSpPr>
            <p:cNvPr id="6" name="Freeform 6"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4"/>
              <a:stretch>
                <a:fillRect/>
              </a:stretch>
            </a:blipFill>
          </p:spPr>
        </p:sp>
      </p:grpSp>
      <p:grpSp>
        <p:nvGrpSpPr>
          <p:cNvPr id="7" name="Group 7"/>
          <p:cNvGrpSpPr/>
          <p:nvPr/>
        </p:nvGrpSpPr>
        <p:grpSpPr>
          <a:xfrm>
            <a:off x="571500" y="2171700"/>
            <a:ext cx="6686550" cy="3593306"/>
            <a:chOff x="0" y="0"/>
            <a:chExt cx="8915400" cy="4791075"/>
          </a:xfrm>
        </p:grpSpPr>
        <p:sp>
          <p:nvSpPr>
            <p:cNvPr id="8" name="Freeform 8" descr="preencoded.png"/>
            <p:cNvSpPr/>
            <p:nvPr/>
          </p:nvSpPr>
          <p:spPr>
            <a:xfrm>
              <a:off x="0" y="0"/>
              <a:ext cx="8915400" cy="4791075"/>
            </a:xfrm>
            <a:custGeom>
              <a:avLst/>
              <a:gdLst/>
              <a:ahLst/>
              <a:cxnLst/>
              <a:rect l="l" t="t" r="r" b="b"/>
              <a:pathLst>
                <a:path w="8915400" h="4791075">
                  <a:moveTo>
                    <a:pt x="0" y="0"/>
                  </a:moveTo>
                  <a:lnTo>
                    <a:pt x="8915400" y="0"/>
                  </a:lnTo>
                  <a:lnTo>
                    <a:pt x="8915400" y="4791075"/>
                  </a:lnTo>
                  <a:lnTo>
                    <a:pt x="0" y="4791075"/>
                  </a:lnTo>
                  <a:lnTo>
                    <a:pt x="0" y="0"/>
                  </a:lnTo>
                  <a:close/>
                </a:path>
              </a:pathLst>
            </a:custGeom>
            <a:blipFill>
              <a:blip r:embed="rId5"/>
              <a:stretch>
                <a:fillRect l="-99" r="-99"/>
              </a:stretch>
            </a:blipFill>
          </p:spPr>
        </p:sp>
      </p:grpSp>
      <p:grpSp>
        <p:nvGrpSpPr>
          <p:cNvPr id="9" name="Group 9"/>
          <p:cNvGrpSpPr/>
          <p:nvPr/>
        </p:nvGrpSpPr>
        <p:grpSpPr>
          <a:xfrm>
            <a:off x="928688" y="2607469"/>
            <a:ext cx="285750" cy="228600"/>
            <a:chOff x="0" y="0"/>
            <a:chExt cx="381000" cy="304800"/>
          </a:xfrm>
        </p:grpSpPr>
        <p:sp>
          <p:nvSpPr>
            <p:cNvPr id="10" name="Freeform 10" descr="preencoded.png"/>
            <p:cNvSpPr/>
            <p:nvPr/>
          </p:nvSpPr>
          <p:spPr>
            <a:xfrm>
              <a:off x="0" y="0"/>
              <a:ext cx="381000" cy="304800"/>
            </a:xfrm>
            <a:custGeom>
              <a:avLst/>
              <a:gdLst/>
              <a:ahLst/>
              <a:cxnLst/>
              <a:rect l="l" t="t" r="r" b="b"/>
              <a:pathLst>
                <a:path w="381000" h="304800">
                  <a:moveTo>
                    <a:pt x="0" y="0"/>
                  </a:moveTo>
                  <a:lnTo>
                    <a:pt x="381000" y="0"/>
                  </a:lnTo>
                  <a:lnTo>
                    <a:pt x="381000" y="304800"/>
                  </a:lnTo>
                  <a:lnTo>
                    <a:pt x="0" y="304800"/>
                  </a:lnTo>
                  <a:lnTo>
                    <a:pt x="0" y="0"/>
                  </a:lnTo>
                  <a:close/>
                </a:path>
              </a:pathLst>
            </a:custGeom>
            <a:blipFill>
              <a:blip r:embed="rId6"/>
              <a:stretch>
                <a:fillRect/>
              </a:stretch>
            </a:blipFill>
          </p:spPr>
        </p:sp>
      </p:grpSp>
      <p:grpSp>
        <p:nvGrpSpPr>
          <p:cNvPr id="11" name="Group 11"/>
          <p:cNvGrpSpPr/>
          <p:nvPr/>
        </p:nvGrpSpPr>
        <p:grpSpPr>
          <a:xfrm>
            <a:off x="571500" y="6122194"/>
            <a:ext cx="6686550" cy="3593306"/>
            <a:chOff x="0" y="0"/>
            <a:chExt cx="8915400" cy="4791075"/>
          </a:xfrm>
        </p:grpSpPr>
        <p:sp>
          <p:nvSpPr>
            <p:cNvPr id="12" name="Freeform 12" descr="preencoded.png"/>
            <p:cNvSpPr/>
            <p:nvPr/>
          </p:nvSpPr>
          <p:spPr>
            <a:xfrm>
              <a:off x="0" y="0"/>
              <a:ext cx="8915400" cy="4791075"/>
            </a:xfrm>
            <a:custGeom>
              <a:avLst/>
              <a:gdLst/>
              <a:ahLst/>
              <a:cxnLst/>
              <a:rect l="l" t="t" r="r" b="b"/>
              <a:pathLst>
                <a:path w="8915400" h="4791075">
                  <a:moveTo>
                    <a:pt x="0" y="0"/>
                  </a:moveTo>
                  <a:lnTo>
                    <a:pt x="8915400" y="0"/>
                  </a:lnTo>
                  <a:lnTo>
                    <a:pt x="8915400" y="4791075"/>
                  </a:lnTo>
                  <a:lnTo>
                    <a:pt x="0" y="4791075"/>
                  </a:lnTo>
                  <a:lnTo>
                    <a:pt x="0" y="0"/>
                  </a:lnTo>
                  <a:close/>
                </a:path>
              </a:pathLst>
            </a:custGeom>
            <a:blipFill>
              <a:blip r:embed="rId7"/>
              <a:stretch>
                <a:fillRect l="-99" r="-99"/>
              </a:stretch>
            </a:blipFill>
          </p:spPr>
        </p:sp>
      </p:grpSp>
      <p:grpSp>
        <p:nvGrpSpPr>
          <p:cNvPr id="13" name="Group 13"/>
          <p:cNvGrpSpPr/>
          <p:nvPr/>
        </p:nvGrpSpPr>
        <p:grpSpPr>
          <a:xfrm>
            <a:off x="928688" y="6557962"/>
            <a:ext cx="285750" cy="228600"/>
            <a:chOff x="0" y="0"/>
            <a:chExt cx="381000" cy="304800"/>
          </a:xfrm>
        </p:grpSpPr>
        <p:sp>
          <p:nvSpPr>
            <p:cNvPr id="14" name="Freeform 14" descr="preencoded.png"/>
            <p:cNvSpPr/>
            <p:nvPr/>
          </p:nvSpPr>
          <p:spPr>
            <a:xfrm>
              <a:off x="0" y="0"/>
              <a:ext cx="381000" cy="304800"/>
            </a:xfrm>
            <a:custGeom>
              <a:avLst/>
              <a:gdLst/>
              <a:ahLst/>
              <a:cxnLst/>
              <a:rect l="l" t="t" r="r" b="b"/>
              <a:pathLst>
                <a:path w="381000" h="304800">
                  <a:moveTo>
                    <a:pt x="0" y="0"/>
                  </a:moveTo>
                  <a:lnTo>
                    <a:pt x="381000" y="0"/>
                  </a:lnTo>
                  <a:lnTo>
                    <a:pt x="381000" y="304800"/>
                  </a:lnTo>
                  <a:lnTo>
                    <a:pt x="0" y="304800"/>
                  </a:lnTo>
                  <a:lnTo>
                    <a:pt x="0" y="0"/>
                  </a:lnTo>
                  <a:close/>
                </a:path>
              </a:pathLst>
            </a:custGeom>
            <a:blipFill>
              <a:blip r:embed="rId8"/>
              <a:stretch>
                <a:fillRect/>
              </a:stretch>
            </a:blipFill>
          </p:spPr>
        </p:sp>
      </p:grpSp>
      <p:grpSp>
        <p:nvGrpSpPr>
          <p:cNvPr id="15" name="Group 15"/>
          <p:cNvGrpSpPr/>
          <p:nvPr/>
        </p:nvGrpSpPr>
        <p:grpSpPr>
          <a:xfrm>
            <a:off x="7686675" y="2214562"/>
            <a:ext cx="10029825" cy="2228850"/>
            <a:chOff x="0" y="0"/>
            <a:chExt cx="13373100" cy="2971800"/>
          </a:xfrm>
        </p:grpSpPr>
        <p:sp>
          <p:nvSpPr>
            <p:cNvPr id="16" name="Freeform 16" descr="preencoded.png"/>
            <p:cNvSpPr/>
            <p:nvPr/>
          </p:nvSpPr>
          <p:spPr>
            <a:xfrm>
              <a:off x="0" y="0"/>
              <a:ext cx="13373100" cy="2971800"/>
            </a:xfrm>
            <a:custGeom>
              <a:avLst/>
              <a:gdLst/>
              <a:ahLst/>
              <a:cxnLst/>
              <a:rect l="l" t="t" r="r" b="b"/>
              <a:pathLst>
                <a:path w="13373100" h="2971800">
                  <a:moveTo>
                    <a:pt x="0" y="0"/>
                  </a:moveTo>
                  <a:lnTo>
                    <a:pt x="13373100" y="0"/>
                  </a:lnTo>
                  <a:lnTo>
                    <a:pt x="13373100" y="2971800"/>
                  </a:lnTo>
                  <a:lnTo>
                    <a:pt x="0" y="2971800"/>
                  </a:lnTo>
                  <a:lnTo>
                    <a:pt x="0" y="0"/>
                  </a:lnTo>
                  <a:close/>
                </a:path>
              </a:pathLst>
            </a:custGeom>
            <a:blipFill>
              <a:blip r:embed="rId9"/>
              <a:stretch>
                <a:fillRect/>
              </a:stretch>
            </a:blipFill>
          </p:spPr>
        </p:sp>
      </p:grpSp>
      <p:grpSp>
        <p:nvGrpSpPr>
          <p:cNvPr id="17" name="Group 17"/>
          <p:cNvGrpSpPr/>
          <p:nvPr/>
        </p:nvGrpSpPr>
        <p:grpSpPr>
          <a:xfrm>
            <a:off x="7686675" y="4729162"/>
            <a:ext cx="10029825" cy="4286250"/>
            <a:chOff x="0" y="0"/>
            <a:chExt cx="13373100" cy="5715000"/>
          </a:xfrm>
        </p:grpSpPr>
        <p:sp>
          <p:nvSpPr>
            <p:cNvPr id="18" name="Freeform 18" descr="preencoded.png"/>
            <p:cNvSpPr/>
            <p:nvPr/>
          </p:nvSpPr>
          <p:spPr>
            <a:xfrm>
              <a:off x="0" y="0"/>
              <a:ext cx="13373100" cy="5715000"/>
            </a:xfrm>
            <a:custGeom>
              <a:avLst/>
              <a:gdLst/>
              <a:ahLst/>
              <a:cxnLst/>
              <a:rect l="l" t="t" r="r" b="b"/>
              <a:pathLst>
                <a:path w="13373100" h="5715000">
                  <a:moveTo>
                    <a:pt x="0" y="0"/>
                  </a:moveTo>
                  <a:lnTo>
                    <a:pt x="13373100" y="0"/>
                  </a:lnTo>
                  <a:lnTo>
                    <a:pt x="13373100" y="5715000"/>
                  </a:lnTo>
                  <a:lnTo>
                    <a:pt x="0" y="5715000"/>
                  </a:lnTo>
                  <a:lnTo>
                    <a:pt x="0" y="0"/>
                  </a:lnTo>
                  <a:close/>
                </a:path>
              </a:pathLst>
            </a:custGeom>
            <a:blipFill>
              <a:blip r:embed="rId10"/>
              <a:stretch>
                <a:fillRect/>
              </a:stretch>
            </a:blipFill>
          </p:spPr>
        </p:sp>
      </p:grpSp>
      <p:grpSp>
        <p:nvGrpSpPr>
          <p:cNvPr id="19" name="Group 19"/>
          <p:cNvGrpSpPr/>
          <p:nvPr/>
        </p:nvGrpSpPr>
        <p:grpSpPr>
          <a:xfrm>
            <a:off x="7900988" y="4943475"/>
            <a:ext cx="9601200" cy="3857625"/>
            <a:chOff x="0" y="0"/>
            <a:chExt cx="12801600" cy="5143500"/>
          </a:xfrm>
        </p:grpSpPr>
        <p:sp>
          <p:nvSpPr>
            <p:cNvPr id="20" name="Freeform 20" descr="preencoded.png"/>
            <p:cNvSpPr/>
            <p:nvPr/>
          </p:nvSpPr>
          <p:spPr>
            <a:xfrm>
              <a:off x="0" y="0"/>
              <a:ext cx="12801600" cy="5143500"/>
            </a:xfrm>
            <a:custGeom>
              <a:avLst/>
              <a:gdLst/>
              <a:ahLst/>
              <a:cxnLst/>
              <a:rect l="l" t="t" r="r" b="b"/>
              <a:pathLst>
                <a:path w="12801600" h="5143500">
                  <a:moveTo>
                    <a:pt x="0" y="0"/>
                  </a:moveTo>
                  <a:lnTo>
                    <a:pt x="12801600" y="0"/>
                  </a:lnTo>
                  <a:lnTo>
                    <a:pt x="12801600" y="5143500"/>
                  </a:lnTo>
                  <a:lnTo>
                    <a:pt x="0" y="5143500"/>
                  </a:lnTo>
                  <a:lnTo>
                    <a:pt x="0" y="0"/>
                  </a:lnTo>
                  <a:close/>
                </a:path>
              </a:pathLst>
            </a:custGeom>
            <a:blipFill>
              <a:blip r:embed="rId11"/>
              <a:stretch>
                <a:fillRect/>
              </a:stretch>
            </a:blipFill>
          </p:spPr>
        </p:sp>
      </p:grpSp>
      <p:grpSp>
        <p:nvGrpSpPr>
          <p:cNvPr id="21" name="Group 21"/>
          <p:cNvGrpSpPr/>
          <p:nvPr/>
        </p:nvGrpSpPr>
        <p:grpSpPr>
          <a:xfrm>
            <a:off x="1000125" y="642938"/>
            <a:ext cx="17287875" cy="514350"/>
            <a:chOff x="0" y="0"/>
            <a:chExt cx="23050500" cy="685800"/>
          </a:xfrm>
        </p:grpSpPr>
        <p:sp>
          <p:nvSpPr>
            <p:cNvPr id="22" name="Freeform 22"/>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12">
                <a:alphaModFix amt="0"/>
              </a:blip>
              <a:stretch>
                <a:fillRect t="-604913" b="-604913"/>
              </a:stretch>
            </a:blipFill>
          </p:spPr>
        </p:sp>
        <p:sp>
          <p:nvSpPr>
            <p:cNvPr id="23" name="TextBox 23"/>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4: SO SÁNH TÌNH HÌNH KINH DOANH GIỮA CÁC THÀNH PHỐ</a:t>
              </a:r>
            </a:p>
          </p:txBody>
        </p:sp>
      </p:grpSp>
      <p:grpSp>
        <p:nvGrpSpPr>
          <p:cNvPr id="24" name="Group 24"/>
          <p:cNvGrpSpPr/>
          <p:nvPr/>
        </p:nvGrpSpPr>
        <p:grpSpPr>
          <a:xfrm>
            <a:off x="1000125" y="1228725"/>
            <a:ext cx="17287875" cy="300038"/>
            <a:chOff x="0" y="0"/>
            <a:chExt cx="23050500" cy="400050"/>
          </a:xfrm>
        </p:grpSpPr>
        <p:sp>
          <p:nvSpPr>
            <p:cNvPr id="25" name="Freeform 25"/>
            <p:cNvSpPr/>
            <p:nvPr/>
          </p:nvSpPr>
          <p:spPr>
            <a:xfrm>
              <a:off x="0" y="0"/>
              <a:ext cx="23050500" cy="400050"/>
            </a:xfrm>
            <a:custGeom>
              <a:avLst/>
              <a:gdLst/>
              <a:ahLst/>
              <a:cxnLst/>
              <a:rect l="l" t="t" r="r" b="b"/>
              <a:pathLst>
                <a:path w="23050500" h="400050">
                  <a:moveTo>
                    <a:pt x="0" y="0"/>
                  </a:moveTo>
                  <a:lnTo>
                    <a:pt x="23050500" y="0"/>
                  </a:lnTo>
                  <a:lnTo>
                    <a:pt x="23050500" y="400050"/>
                  </a:lnTo>
                  <a:lnTo>
                    <a:pt x="0" y="400050"/>
                  </a:lnTo>
                  <a:close/>
                </a:path>
              </a:pathLst>
            </a:custGeom>
            <a:blipFill>
              <a:blip r:embed="rId12">
                <a:alphaModFix amt="0"/>
              </a:blip>
              <a:stretch>
                <a:fillRect t="-1072709" b="-1072709"/>
              </a:stretch>
            </a:blipFill>
          </p:spPr>
        </p:sp>
        <p:sp>
          <p:nvSpPr>
            <p:cNvPr id="26" name="TextBox 26"/>
            <p:cNvSpPr txBox="1"/>
            <p:nvPr/>
          </p:nvSpPr>
          <p:spPr>
            <a:xfrm>
              <a:off x="0" y="-66675"/>
              <a:ext cx="230505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Thực thi truy vấn HiveQL &amp; Trực quan hóa kết quả kinh doanh theo vùng địa lý</a:t>
              </a:r>
            </a:p>
          </p:txBody>
        </p:sp>
      </p:grpSp>
      <p:grpSp>
        <p:nvGrpSpPr>
          <p:cNvPr id="27" name="Group 27"/>
          <p:cNvGrpSpPr/>
          <p:nvPr/>
        </p:nvGrpSpPr>
        <p:grpSpPr>
          <a:xfrm>
            <a:off x="1214438" y="2528888"/>
            <a:ext cx="5554980" cy="385762"/>
            <a:chOff x="0" y="0"/>
            <a:chExt cx="7406640" cy="514350"/>
          </a:xfrm>
        </p:grpSpPr>
        <p:sp>
          <p:nvSpPr>
            <p:cNvPr id="28" name="Freeform 28"/>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12">
                <a:alphaModFix amt="0"/>
              </a:blip>
              <a:stretch>
                <a:fillRect t="-230584" b="-230584"/>
              </a:stretch>
            </a:blipFill>
          </p:spPr>
        </p:sp>
        <p:sp>
          <p:nvSpPr>
            <p:cNvPr id="29" name="TextBox 29"/>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Mục đích phân tích</a:t>
              </a:r>
            </a:p>
          </p:txBody>
        </p:sp>
      </p:grpSp>
      <p:grpSp>
        <p:nvGrpSpPr>
          <p:cNvPr id="30" name="Group 30"/>
          <p:cNvGrpSpPr/>
          <p:nvPr/>
        </p:nvGrpSpPr>
        <p:grpSpPr>
          <a:xfrm>
            <a:off x="928688" y="3128962"/>
            <a:ext cx="5972175" cy="2200275"/>
            <a:chOff x="0" y="0"/>
            <a:chExt cx="7962900" cy="2933700"/>
          </a:xfrm>
        </p:grpSpPr>
        <p:sp>
          <p:nvSpPr>
            <p:cNvPr id="31" name="Freeform 31"/>
            <p:cNvSpPr/>
            <p:nvPr/>
          </p:nvSpPr>
          <p:spPr>
            <a:xfrm>
              <a:off x="0" y="0"/>
              <a:ext cx="7962900" cy="2933700"/>
            </a:xfrm>
            <a:custGeom>
              <a:avLst/>
              <a:gdLst/>
              <a:ahLst/>
              <a:cxnLst/>
              <a:rect l="l" t="t" r="r" b="b"/>
              <a:pathLst>
                <a:path w="7962900" h="2933700">
                  <a:moveTo>
                    <a:pt x="0" y="0"/>
                  </a:moveTo>
                  <a:lnTo>
                    <a:pt x="7962900" y="0"/>
                  </a:lnTo>
                  <a:lnTo>
                    <a:pt x="7962900" y="2933700"/>
                  </a:lnTo>
                  <a:lnTo>
                    <a:pt x="0" y="2933700"/>
                  </a:lnTo>
                  <a:close/>
                </a:path>
              </a:pathLst>
            </a:custGeom>
            <a:blipFill>
              <a:blip r:embed="rId12">
                <a:alphaModFix amt="0"/>
              </a:blip>
              <a:stretch>
                <a:fillRect t="-2887" b="-2887"/>
              </a:stretch>
            </a:blipFill>
          </p:spPr>
        </p:sp>
        <p:sp>
          <p:nvSpPr>
            <p:cNvPr id="32" name="TextBox 32"/>
            <p:cNvSpPr txBox="1"/>
            <p:nvPr/>
          </p:nvSpPr>
          <p:spPr>
            <a:xfrm>
              <a:off x="0" y="-104775"/>
              <a:ext cx="7962900" cy="30384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Đo lường năng lực tiêu thụ và độ phủ thương hiệu của chuỗi điện máy tại từng thị trường địa lý vùng miền để:</a:t>
              </a:r>
            </a:p>
          </p:txBody>
        </p:sp>
      </p:grpSp>
      <p:grpSp>
        <p:nvGrpSpPr>
          <p:cNvPr id="33" name="Group 33"/>
          <p:cNvGrpSpPr/>
          <p:nvPr/>
        </p:nvGrpSpPr>
        <p:grpSpPr>
          <a:xfrm>
            <a:off x="1214438" y="6479381"/>
            <a:ext cx="5554980" cy="385762"/>
            <a:chOff x="0" y="0"/>
            <a:chExt cx="7406640" cy="514350"/>
          </a:xfrm>
        </p:grpSpPr>
        <p:sp>
          <p:nvSpPr>
            <p:cNvPr id="34" name="Freeform 34"/>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12">
                <a:alphaModFix amt="0"/>
              </a:blip>
              <a:stretch>
                <a:fillRect t="-230584" b="-230584"/>
              </a:stretch>
            </a:blipFill>
          </p:spPr>
        </p:sp>
        <p:sp>
          <p:nvSpPr>
            <p:cNvPr id="35" name="TextBox 35"/>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Ý nghĩa chiến lược</a:t>
              </a:r>
            </a:p>
          </p:txBody>
        </p:sp>
      </p:grpSp>
      <p:grpSp>
        <p:nvGrpSpPr>
          <p:cNvPr id="36" name="Group 36"/>
          <p:cNvGrpSpPr/>
          <p:nvPr/>
        </p:nvGrpSpPr>
        <p:grpSpPr>
          <a:xfrm>
            <a:off x="928688" y="7079456"/>
            <a:ext cx="5972175" cy="1857375"/>
            <a:chOff x="0" y="0"/>
            <a:chExt cx="7962900" cy="2476500"/>
          </a:xfrm>
        </p:grpSpPr>
        <p:sp>
          <p:nvSpPr>
            <p:cNvPr id="37" name="Freeform 37"/>
            <p:cNvSpPr/>
            <p:nvPr/>
          </p:nvSpPr>
          <p:spPr>
            <a:xfrm>
              <a:off x="0" y="0"/>
              <a:ext cx="7962900" cy="2476500"/>
            </a:xfrm>
            <a:custGeom>
              <a:avLst/>
              <a:gdLst/>
              <a:ahLst/>
              <a:cxnLst/>
              <a:rect l="l" t="t" r="r" b="b"/>
              <a:pathLst>
                <a:path w="7962900" h="2476500">
                  <a:moveTo>
                    <a:pt x="0" y="0"/>
                  </a:moveTo>
                  <a:lnTo>
                    <a:pt x="7962900" y="0"/>
                  </a:lnTo>
                  <a:lnTo>
                    <a:pt x="7962900" y="2476500"/>
                  </a:lnTo>
                  <a:lnTo>
                    <a:pt x="0" y="2476500"/>
                  </a:lnTo>
                  <a:close/>
                </a:path>
              </a:pathLst>
            </a:custGeom>
            <a:blipFill>
              <a:blip r:embed="rId12">
                <a:alphaModFix amt="0"/>
              </a:blip>
              <a:stretch>
                <a:fillRect t="-12651" b="-12651"/>
              </a:stretch>
            </a:blipFill>
          </p:spPr>
        </p:sp>
        <p:sp>
          <p:nvSpPr>
            <p:cNvPr id="38" name="TextBox 38"/>
            <p:cNvSpPr txBox="1"/>
            <p:nvPr/>
          </p:nvSpPr>
          <p:spPr>
            <a:xfrm>
              <a:off x="0" y="-104775"/>
              <a:ext cx="7962900" cy="25812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Dữ liệu là cơ sở để định hướng mở rộng mạng lưới phân phối:</a:t>
              </a:r>
            </a:p>
          </p:txBody>
        </p:sp>
      </p:grpSp>
      <p:grpSp>
        <p:nvGrpSpPr>
          <p:cNvPr id="39" name="Group 39"/>
          <p:cNvGrpSpPr/>
          <p:nvPr/>
        </p:nvGrpSpPr>
        <p:grpSpPr>
          <a:xfrm>
            <a:off x="7900988" y="2214562"/>
            <a:ext cx="9601200" cy="2228850"/>
            <a:chOff x="0" y="0"/>
            <a:chExt cx="12801600" cy="2971800"/>
          </a:xfrm>
        </p:grpSpPr>
        <p:sp>
          <p:nvSpPr>
            <p:cNvPr id="40" name="Freeform 40"/>
            <p:cNvSpPr/>
            <p:nvPr/>
          </p:nvSpPr>
          <p:spPr>
            <a:xfrm>
              <a:off x="0" y="0"/>
              <a:ext cx="12801600" cy="2971800"/>
            </a:xfrm>
            <a:custGeom>
              <a:avLst/>
              <a:gdLst/>
              <a:ahLst/>
              <a:cxnLst/>
              <a:rect l="l" t="t" r="r" b="b"/>
              <a:pathLst>
                <a:path w="12801600" h="2971800">
                  <a:moveTo>
                    <a:pt x="0" y="0"/>
                  </a:moveTo>
                  <a:lnTo>
                    <a:pt x="12801600" y="0"/>
                  </a:lnTo>
                  <a:lnTo>
                    <a:pt x="12801600" y="2971800"/>
                  </a:lnTo>
                  <a:lnTo>
                    <a:pt x="0" y="2971800"/>
                  </a:lnTo>
                  <a:close/>
                </a:path>
              </a:pathLst>
            </a:custGeom>
            <a:blipFill>
              <a:blip r:embed="rId12">
                <a:alphaModFix amt="0"/>
              </a:blip>
              <a:stretch>
                <a:fillRect t="-33935" b="-33935"/>
              </a:stretch>
            </a:blipFill>
          </p:spPr>
        </p:sp>
        <p:sp>
          <p:nvSpPr>
            <p:cNvPr id="41" name="TextBox 41"/>
            <p:cNvSpPr txBox="1"/>
            <p:nvPr/>
          </p:nvSpPr>
          <p:spPr>
            <a:xfrm>
              <a:off x="0" y="-66675"/>
              <a:ext cx="12801600" cy="3038475"/>
            </a:xfrm>
            <a:prstGeom prst="rect">
              <a:avLst/>
            </a:prstGeom>
          </p:spPr>
          <p:txBody>
            <a:bodyPr lIns="0" tIns="0" rIns="0" bIns="0" rtlCol="0" anchor="ctr"/>
            <a:lstStyle/>
            <a:p>
              <a:pPr algn="l">
                <a:lnSpc>
                  <a:spcPts val="2362"/>
                </a:lnSpc>
              </a:pPr>
              <a:r>
                <a:rPr lang="en-US" sz="1575">
                  <a:solidFill>
                    <a:srgbClr val="569CD6"/>
                  </a:solidFill>
                  <a:latin typeface="Calibri (MS)"/>
                  <a:ea typeface="Calibri (MS)"/>
                  <a:cs typeface="Calibri (MS)"/>
                  <a:sym typeface="Calibri (MS)"/>
                </a:rPr>
                <a:t>SELECT</a:t>
              </a:r>
              <a:r>
                <a:rPr lang="en-US" sz="1575">
                  <a:solidFill>
                    <a:srgbClr val="D4D4D4"/>
                  </a:solidFill>
                  <a:latin typeface="Calibri (MS)"/>
                  <a:ea typeface="Calibri (MS)"/>
                  <a:cs typeface="Calibri (MS)"/>
                  <a:sym typeface="Calibri (MS)"/>
                </a:rPr>
                <a:t> thanh_pho,</a:t>
              </a:r>
            </a:p>
            <a:p>
              <a:pPr algn="l">
                <a:lnSpc>
                  <a:spcPts val="2362"/>
                </a:lnSpc>
              </a:pPr>
              <a:r>
                <a:rPr lang="en-US" sz="1575">
                  <a:solidFill>
                    <a:srgbClr val="D4D4D4"/>
                  </a:solidFill>
                  <a:latin typeface="Calibri (MS)"/>
                  <a:ea typeface="Calibri (MS)"/>
                  <a:cs typeface="Calibri (MS)"/>
                  <a:sym typeface="Calibri (MS)"/>
                </a:rPr>
                <a:t>       </a:t>
              </a:r>
              <a:r>
                <a:rPr lang="en-US" sz="1575">
                  <a:solidFill>
                    <a:srgbClr val="DCDCAA"/>
                  </a:solidFill>
                  <a:latin typeface="Calibri (MS)"/>
                  <a:ea typeface="Calibri (MS)"/>
                  <a:cs typeface="Calibri (MS)"/>
                  <a:sym typeface="Calibri (MS)"/>
                </a:rPr>
                <a:t>SUM</a:t>
              </a:r>
              <a:r>
                <a:rPr lang="en-US" sz="1575">
                  <a:solidFill>
                    <a:srgbClr val="D4D4D4"/>
                  </a:solidFill>
                  <a:latin typeface="Calibri (MS)"/>
                  <a:ea typeface="Calibri (MS)"/>
                  <a:cs typeface="Calibri (MS)"/>
                  <a:sym typeface="Calibri (MS)"/>
                </a:rPr>
                <a:t>(thanh_tien) </a:t>
              </a:r>
              <a:r>
                <a:rPr lang="en-US" sz="1575">
                  <a:solidFill>
                    <a:srgbClr val="569CD6"/>
                  </a:solidFill>
                  <a:latin typeface="Calibri (MS)"/>
                  <a:ea typeface="Calibri (MS)"/>
                  <a:cs typeface="Calibri (MS)"/>
                  <a:sym typeface="Calibri (MS)"/>
                </a:rPr>
                <a:t>AS</a:t>
              </a:r>
              <a:r>
                <a:rPr lang="en-US" sz="1575">
                  <a:solidFill>
                    <a:srgbClr val="D4D4D4"/>
                  </a:solidFill>
                  <a:latin typeface="Calibri (MS)"/>
                  <a:ea typeface="Calibri (MS)"/>
                  <a:cs typeface="Calibri (MS)"/>
                  <a:sym typeface="Calibri (MS)"/>
                </a:rPr>
                <a:t> tong_doanh_thu,</a:t>
              </a:r>
            </a:p>
            <a:p>
              <a:pPr algn="l">
                <a:lnSpc>
                  <a:spcPts val="2362"/>
                </a:lnSpc>
              </a:pPr>
              <a:r>
                <a:rPr lang="en-US" sz="1575">
                  <a:solidFill>
                    <a:srgbClr val="D4D4D4"/>
                  </a:solidFill>
                  <a:latin typeface="Calibri (MS)"/>
                  <a:ea typeface="Calibri (MS)"/>
                  <a:cs typeface="Calibri (MS)"/>
                  <a:sym typeface="Calibri (MS)"/>
                </a:rPr>
                <a:t>       </a:t>
              </a:r>
              <a:r>
                <a:rPr lang="en-US" sz="1575">
                  <a:solidFill>
                    <a:srgbClr val="DCDCAA"/>
                  </a:solidFill>
                  <a:latin typeface="Calibri (MS)"/>
                  <a:ea typeface="Calibri (MS)"/>
                  <a:cs typeface="Calibri (MS)"/>
                  <a:sym typeface="Calibri (MS)"/>
                </a:rPr>
                <a:t>COUNT</a:t>
              </a:r>
              <a:r>
                <a:rPr lang="en-US" sz="1575">
                  <a:solidFill>
                    <a:srgbClr val="D4D4D4"/>
                  </a:solidFill>
                  <a:latin typeface="Calibri (MS)"/>
                  <a:ea typeface="Calibri (MS)"/>
                  <a:cs typeface="Calibri (MS)"/>
                  <a:sym typeface="Calibri (MS)"/>
                </a:rPr>
                <a:t>(ma_don_hang) </a:t>
              </a:r>
              <a:r>
                <a:rPr lang="en-US" sz="1575">
                  <a:solidFill>
                    <a:srgbClr val="569CD6"/>
                  </a:solidFill>
                  <a:latin typeface="Calibri (MS)"/>
                  <a:ea typeface="Calibri (MS)"/>
                  <a:cs typeface="Calibri (MS)"/>
                  <a:sym typeface="Calibri (MS)"/>
                </a:rPr>
                <a:t>AS</a:t>
              </a:r>
              <a:r>
                <a:rPr lang="en-US" sz="1575">
                  <a:solidFill>
                    <a:srgbClr val="D4D4D4"/>
                  </a:solidFill>
                  <a:latin typeface="Calibri (MS)"/>
                  <a:ea typeface="Calibri (MS)"/>
                  <a:cs typeface="Calibri (MS)"/>
                  <a:sym typeface="Calibri (MS)"/>
                </a:rPr>
                <a:t> so_don_hang</a:t>
              </a:r>
            </a:p>
            <a:p>
              <a:pPr algn="l">
                <a:lnSpc>
                  <a:spcPts val="2362"/>
                </a:lnSpc>
              </a:pPr>
              <a:r>
                <a:rPr lang="en-US" sz="1575">
                  <a:solidFill>
                    <a:srgbClr val="569CD6"/>
                  </a:solidFill>
                  <a:latin typeface="Calibri (MS)"/>
                  <a:ea typeface="Calibri (MS)"/>
                  <a:cs typeface="Calibri (MS)"/>
                  <a:sym typeface="Calibri (MS)"/>
                </a:rPr>
                <a:t>FROM</a:t>
              </a:r>
              <a:r>
                <a:rPr lang="en-US" sz="1575">
                  <a:solidFill>
                    <a:srgbClr val="D4D4D4"/>
                  </a:solidFill>
                  <a:latin typeface="Calibri (MS)"/>
                  <a:ea typeface="Calibri (MS)"/>
                  <a:cs typeface="Calibri (MS)"/>
                  <a:sym typeface="Calibri (MS)"/>
                </a:rPr>
                <a:t> </a:t>
              </a:r>
              <a:r>
                <a:rPr lang="en-US" sz="1575">
                  <a:solidFill>
                    <a:srgbClr val="4EC9B0"/>
                  </a:solidFill>
                  <a:latin typeface="Calibri (MS)"/>
                  <a:ea typeface="Calibri (MS)"/>
                  <a:cs typeface="Calibri (MS)"/>
                  <a:sym typeface="Calibri (MS)"/>
                </a:rPr>
                <a:t>ban_hang_dien_may</a:t>
              </a:r>
            </a:p>
            <a:p>
              <a:pPr algn="l">
                <a:lnSpc>
                  <a:spcPts val="2362"/>
                </a:lnSpc>
              </a:pPr>
              <a:r>
                <a:rPr lang="en-US" sz="1575">
                  <a:solidFill>
                    <a:srgbClr val="569CD6"/>
                  </a:solidFill>
                  <a:latin typeface="Calibri (MS)"/>
                  <a:ea typeface="Calibri (MS)"/>
                  <a:cs typeface="Calibri (MS)"/>
                  <a:sym typeface="Calibri (MS)"/>
                </a:rPr>
                <a:t>GROUP BY</a:t>
              </a:r>
              <a:r>
                <a:rPr lang="en-US" sz="1575">
                  <a:solidFill>
                    <a:srgbClr val="D4D4D4"/>
                  </a:solidFill>
                  <a:latin typeface="Calibri (MS)"/>
                  <a:ea typeface="Calibri (MS)"/>
                  <a:cs typeface="Calibri (MS)"/>
                  <a:sym typeface="Calibri (MS)"/>
                </a:rPr>
                <a:t> thanh_pho</a:t>
              </a:r>
            </a:p>
            <a:p>
              <a:pPr algn="l">
                <a:lnSpc>
                  <a:spcPts val="2362"/>
                </a:lnSpc>
              </a:pPr>
              <a:r>
                <a:rPr lang="en-US" sz="1575">
                  <a:solidFill>
                    <a:srgbClr val="569CD6"/>
                  </a:solidFill>
                  <a:latin typeface="Calibri (MS)"/>
                  <a:ea typeface="Calibri (MS)"/>
                  <a:cs typeface="Calibri (MS)"/>
                  <a:sym typeface="Calibri (MS)"/>
                </a:rPr>
                <a:t>ORDER BY</a:t>
              </a:r>
              <a:r>
                <a:rPr lang="en-US" sz="1575">
                  <a:solidFill>
                    <a:srgbClr val="D4D4D4"/>
                  </a:solidFill>
                  <a:latin typeface="Calibri (MS)"/>
                  <a:ea typeface="Calibri (MS)"/>
                  <a:cs typeface="Calibri (MS)"/>
                  <a:sym typeface="Calibri (MS)"/>
                </a:rPr>
                <a:t> tong_doanh_thu </a:t>
              </a:r>
              <a:r>
                <a:rPr lang="en-US" sz="1575">
                  <a:solidFill>
                    <a:srgbClr val="569CD6"/>
                  </a:solidFill>
                  <a:latin typeface="Calibri (MS)"/>
                  <a:ea typeface="Calibri (MS)"/>
                  <a:cs typeface="Calibri (MS)"/>
                  <a:sym typeface="Calibri (MS)"/>
                </a:rPr>
                <a:t>DESC</a:t>
              </a:r>
              <a:r>
                <a:rPr lang="en-US" sz="1575">
                  <a:solidFill>
                    <a:srgbClr val="D4D4D4"/>
                  </a:solidFill>
                  <a:latin typeface="Calibri (MS)"/>
                  <a:ea typeface="Calibri (MS)"/>
                  <a:cs typeface="Calibri (MS)"/>
                  <a:sym typeface="Calibri (MS)"/>
                </a:rPr>
                <a:t>;</a:t>
              </a:r>
            </a:p>
          </p:txBody>
        </p:sp>
      </p:grpSp>
      <p:grpSp>
        <p:nvGrpSpPr>
          <p:cNvPr id="42" name="Group 42"/>
          <p:cNvGrpSpPr/>
          <p:nvPr/>
        </p:nvGrpSpPr>
        <p:grpSpPr>
          <a:xfrm>
            <a:off x="7686675" y="9415462"/>
            <a:ext cx="10029825" cy="257175"/>
            <a:chOff x="0" y="0"/>
            <a:chExt cx="13373100" cy="342900"/>
          </a:xfrm>
        </p:grpSpPr>
        <p:sp>
          <p:nvSpPr>
            <p:cNvPr id="43" name="Freeform 43"/>
            <p:cNvSpPr/>
            <p:nvPr/>
          </p:nvSpPr>
          <p:spPr>
            <a:xfrm>
              <a:off x="0" y="0"/>
              <a:ext cx="13373100" cy="342900"/>
            </a:xfrm>
            <a:custGeom>
              <a:avLst/>
              <a:gdLst/>
              <a:ahLst/>
              <a:cxnLst/>
              <a:rect l="l" t="t" r="r" b="b"/>
              <a:pathLst>
                <a:path w="13373100" h="342900">
                  <a:moveTo>
                    <a:pt x="0" y="0"/>
                  </a:moveTo>
                  <a:lnTo>
                    <a:pt x="13373100" y="0"/>
                  </a:lnTo>
                  <a:lnTo>
                    <a:pt x="13373100" y="342900"/>
                  </a:lnTo>
                  <a:lnTo>
                    <a:pt x="0" y="342900"/>
                  </a:lnTo>
                  <a:close/>
                </a:path>
              </a:pathLst>
            </a:custGeom>
            <a:blipFill>
              <a:blip r:embed="rId12">
                <a:alphaModFix amt="0"/>
              </a:blip>
              <a:stretch>
                <a:fillRect t="-709916" b="-709916"/>
              </a:stretch>
            </a:blipFill>
          </p:spPr>
        </p:sp>
        <p:sp>
          <p:nvSpPr>
            <p:cNvPr id="44" name="TextBox 44"/>
            <p:cNvSpPr txBox="1"/>
            <p:nvPr/>
          </p:nvSpPr>
          <p:spPr>
            <a:xfrm>
              <a:off x="0" y="-66675"/>
              <a:ext cx="13373100" cy="409575"/>
            </a:xfrm>
            <a:prstGeom prst="rect">
              <a:avLst/>
            </a:prstGeom>
          </p:spPr>
          <p:txBody>
            <a:bodyPr lIns="0" tIns="0" rIns="0" bIns="0" rtlCol="0" anchor="ctr"/>
            <a:lstStyle/>
            <a:p>
              <a:pPr algn="r">
                <a:lnSpc>
                  <a:spcPts val="2025"/>
                </a:lnSpc>
              </a:pPr>
              <a:r>
                <a:rPr lang="en-US" sz="1350" i="1">
                  <a:solidFill>
                    <a:srgbClr val="718096"/>
                  </a:solidFill>
                  <a:latin typeface="Calibri (MS) Italics"/>
                  <a:ea typeface="Calibri (MS) Italics"/>
                  <a:cs typeface="Calibri (MS) Italics"/>
                  <a:sym typeface="Calibri (MS) Italics"/>
                </a:rPr>
                <a:t>* Biểu đồ mô phỏng tỷ trọng doanh thu giữa các thành phố lớn</a:t>
              </a:r>
            </a:p>
          </p:txBody>
        </p:sp>
      </p:gr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0"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7" name="Group 7"/>
          <p:cNvGrpSpPr/>
          <p:nvPr/>
        </p:nvGrpSpPr>
        <p:grpSpPr>
          <a:xfrm>
            <a:off x="571500" y="428625"/>
            <a:ext cx="17145000" cy="1314450"/>
            <a:chOff x="0" y="0"/>
            <a:chExt cx="22860000" cy="1752600"/>
          </a:xfrm>
        </p:grpSpPr>
        <p:sp>
          <p:nvSpPr>
            <p:cNvPr id="8" name="Freeform 8"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4"/>
              <a:stretch>
                <a:fillRect/>
              </a:stretch>
            </a:blipFill>
          </p:spPr>
        </p:sp>
      </p:grpSp>
      <p:grpSp>
        <p:nvGrpSpPr>
          <p:cNvPr id="9" name="Group 9"/>
          <p:cNvGrpSpPr/>
          <p:nvPr/>
        </p:nvGrpSpPr>
        <p:grpSpPr>
          <a:xfrm>
            <a:off x="571500" y="3856730"/>
            <a:ext cx="8358188" cy="4173741"/>
            <a:chOff x="0" y="0"/>
            <a:chExt cx="11144250" cy="5564988"/>
          </a:xfrm>
        </p:grpSpPr>
        <p:sp>
          <p:nvSpPr>
            <p:cNvPr id="10" name="Freeform 10" descr="preencoded.png"/>
            <p:cNvSpPr/>
            <p:nvPr/>
          </p:nvSpPr>
          <p:spPr>
            <a:xfrm>
              <a:off x="0" y="0"/>
              <a:ext cx="11144250" cy="5565013"/>
            </a:xfrm>
            <a:custGeom>
              <a:avLst/>
              <a:gdLst/>
              <a:ahLst/>
              <a:cxnLst/>
              <a:rect l="l" t="t" r="r" b="b"/>
              <a:pathLst>
                <a:path w="11144250" h="5565013">
                  <a:moveTo>
                    <a:pt x="0" y="0"/>
                  </a:moveTo>
                  <a:lnTo>
                    <a:pt x="11144250" y="0"/>
                  </a:lnTo>
                  <a:lnTo>
                    <a:pt x="11144250" y="5565013"/>
                  </a:lnTo>
                  <a:lnTo>
                    <a:pt x="0" y="5565013"/>
                  </a:lnTo>
                  <a:lnTo>
                    <a:pt x="0" y="0"/>
                  </a:lnTo>
                  <a:close/>
                </a:path>
              </a:pathLst>
            </a:custGeom>
            <a:blipFill>
              <a:blip r:embed="rId5"/>
              <a:stretch>
                <a:fillRect t="-1005" b="-1005"/>
              </a:stretch>
            </a:blipFill>
          </p:spPr>
        </p:sp>
      </p:grpSp>
      <p:grpSp>
        <p:nvGrpSpPr>
          <p:cNvPr id="11" name="Group 11"/>
          <p:cNvGrpSpPr/>
          <p:nvPr/>
        </p:nvGrpSpPr>
        <p:grpSpPr>
          <a:xfrm>
            <a:off x="928688" y="4271067"/>
            <a:ext cx="285750" cy="228600"/>
            <a:chOff x="0" y="0"/>
            <a:chExt cx="381000" cy="304800"/>
          </a:xfrm>
        </p:grpSpPr>
        <p:sp>
          <p:nvSpPr>
            <p:cNvPr id="12" name="Freeform 12" descr="preencoded.png"/>
            <p:cNvSpPr/>
            <p:nvPr/>
          </p:nvSpPr>
          <p:spPr>
            <a:xfrm>
              <a:off x="0" y="0"/>
              <a:ext cx="381000" cy="304800"/>
            </a:xfrm>
            <a:custGeom>
              <a:avLst/>
              <a:gdLst/>
              <a:ahLst/>
              <a:cxnLst/>
              <a:rect l="l" t="t" r="r" b="b"/>
              <a:pathLst>
                <a:path w="381000" h="304800">
                  <a:moveTo>
                    <a:pt x="0" y="0"/>
                  </a:moveTo>
                  <a:lnTo>
                    <a:pt x="381000" y="0"/>
                  </a:lnTo>
                  <a:lnTo>
                    <a:pt x="381000" y="304800"/>
                  </a:lnTo>
                  <a:lnTo>
                    <a:pt x="0" y="304800"/>
                  </a:lnTo>
                  <a:lnTo>
                    <a:pt x="0" y="0"/>
                  </a:lnTo>
                  <a:close/>
                </a:path>
              </a:pathLst>
            </a:custGeom>
            <a:blipFill>
              <a:blip r:embed="rId6"/>
              <a:stretch>
                <a:fillRect/>
              </a:stretch>
            </a:blipFill>
          </p:spPr>
        </p:sp>
      </p:grpSp>
      <p:grpSp>
        <p:nvGrpSpPr>
          <p:cNvPr id="13" name="Group 13"/>
          <p:cNvGrpSpPr/>
          <p:nvPr/>
        </p:nvGrpSpPr>
        <p:grpSpPr>
          <a:xfrm>
            <a:off x="928688" y="4771130"/>
            <a:ext cx="7643812" cy="2902153"/>
            <a:chOff x="0" y="0"/>
            <a:chExt cx="10191750" cy="3869538"/>
          </a:xfrm>
        </p:grpSpPr>
        <p:sp>
          <p:nvSpPr>
            <p:cNvPr id="14" name="Freeform 14" descr="preencoded.png"/>
            <p:cNvSpPr/>
            <p:nvPr/>
          </p:nvSpPr>
          <p:spPr>
            <a:xfrm>
              <a:off x="0" y="0"/>
              <a:ext cx="10191750" cy="3869563"/>
            </a:xfrm>
            <a:custGeom>
              <a:avLst/>
              <a:gdLst/>
              <a:ahLst/>
              <a:cxnLst/>
              <a:rect l="l" t="t" r="r" b="b"/>
              <a:pathLst>
                <a:path w="10191750" h="3869563">
                  <a:moveTo>
                    <a:pt x="0" y="0"/>
                  </a:moveTo>
                  <a:lnTo>
                    <a:pt x="10191750" y="0"/>
                  </a:lnTo>
                  <a:lnTo>
                    <a:pt x="10191750" y="3869563"/>
                  </a:lnTo>
                  <a:lnTo>
                    <a:pt x="0" y="3869563"/>
                  </a:lnTo>
                  <a:lnTo>
                    <a:pt x="0" y="0"/>
                  </a:lnTo>
                  <a:close/>
                </a:path>
              </a:pathLst>
            </a:custGeom>
            <a:blipFill>
              <a:blip r:embed="rId7"/>
              <a:stretch>
                <a:fillRect t="-461" b="-460"/>
              </a:stretch>
            </a:blipFill>
          </p:spPr>
        </p:sp>
      </p:grpSp>
      <p:grpSp>
        <p:nvGrpSpPr>
          <p:cNvPr id="15" name="Group 15"/>
          <p:cNvGrpSpPr/>
          <p:nvPr/>
        </p:nvGrpSpPr>
        <p:grpSpPr>
          <a:xfrm>
            <a:off x="9358312" y="2171700"/>
            <a:ext cx="8358188" cy="3629025"/>
            <a:chOff x="0" y="0"/>
            <a:chExt cx="11144250" cy="4838700"/>
          </a:xfrm>
        </p:grpSpPr>
        <p:sp>
          <p:nvSpPr>
            <p:cNvPr id="16" name="Freeform 16" descr="preencoded.png"/>
            <p:cNvSpPr/>
            <p:nvPr/>
          </p:nvSpPr>
          <p:spPr>
            <a:xfrm>
              <a:off x="0" y="0"/>
              <a:ext cx="11144250" cy="4838700"/>
            </a:xfrm>
            <a:custGeom>
              <a:avLst/>
              <a:gdLst/>
              <a:ahLst/>
              <a:cxnLst/>
              <a:rect l="l" t="t" r="r" b="b"/>
              <a:pathLst>
                <a:path w="11144250" h="4838700">
                  <a:moveTo>
                    <a:pt x="0" y="0"/>
                  </a:moveTo>
                  <a:lnTo>
                    <a:pt x="11144250" y="0"/>
                  </a:lnTo>
                  <a:lnTo>
                    <a:pt x="11144250" y="4838700"/>
                  </a:lnTo>
                  <a:lnTo>
                    <a:pt x="0" y="4838700"/>
                  </a:lnTo>
                  <a:lnTo>
                    <a:pt x="0" y="0"/>
                  </a:lnTo>
                  <a:close/>
                </a:path>
              </a:pathLst>
            </a:custGeom>
            <a:blipFill>
              <a:blip r:embed="rId8"/>
              <a:stretch>
                <a:fillRect/>
              </a:stretch>
            </a:blipFill>
          </p:spPr>
        </p:sp>
      </p:grpSp>
      <p:grpSp>
        <p:nvGrpSpPr>
          <p:cNvPr id="17" name="Group 17"/>
          <p:cNvGrpSpPr/>
          <p:nvPr/>
        </p:nvGrpSpPr>
        <p:grpSpPr>
          <a:xfrm>
            <a:off x="9644062" y="2518839"/>
            <a:ext cx="321469" cy="262976"/>
            <a:chOff x="0" y="0"/>
            <a:chExt cx="428625" cy="350634"/>
          </a:xfrm>
        </p:grpSpPr>
        <p:sp>
          <p:nvSpPr>
            <p:cNvPr id="18" name="Freeform 18"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9"/>
              <a:stretch>
                <a:fillRect t="-7" b="-7"/>
              </a:stretch>
            </a:blipFill>
          </p:spPr>
        </p:sp>
      </p:grpSp>
      <p:grpSp>
        <p:nvGrpSpPr>
          <p:cNvPr id="19" name="Group 19"/>
          <p:cNvGrpSpPr/>
          <p:nvPr/>
        </p:nvGrpSpPr>
        <p:grpSpPr>
          <a:xfrm>
            <a:off x="9644062" y="3014662"/>
            <a:ext cx="285750" cy="235296"/>
            <a:chOff x="0" y="0"/>
            <a:chExt cx="381000" cy="313728"/>
          </a:xfrm>
        </p:grpSpPr>
        <p:sp>
          <p:nvSpPr>
            <p:cNvPr id="20" name="Freeform 20" descr="preencoded.png"/>
            <p:cNvSpPr/>
            <p:nvPr/>
          </p:nvSpPr>
          <p:spPr>
            <a:xfrm>
              <a:off x="0" y="0"/>
              <a:ext cx="381000" cy="313690"/>
            </a:xfrm>
            <a:custGeom>
              <a:avLst/>
              <a:gdLst/>
              <a:ahLst/>
              <a:cxnLst/>
              <a:rect l="l" t="t" r="r" b="b"/>
              <a:pathLst>
                <a:path w="381000" h="313690">
                  <a:moveTo>
                    <a:pt x="0" y="0"/>
                  </a:moveTo>
                  <a:lnTo>
                    <a:pt x="381000" y="0"/>
                  </a:lnTo>
                  <a:lnTo>
                    <a:pt x="381000" y="313690"/>
                  </a:lnTo>
                  <a:lnTo>
                    <a:pt x="0" y="313690"/>
                  </a:lnTo>
                  <a:lnTo>
                    <a:pt x="0" y="0"/>
                  </a:lnTo>
                  <a:close/>
                </a:path>
              </a:pathLst>
            </a:custGeom>
            <a:blipFill>
              <a:blip r:embed="rId10"/>
              <a:stretch>
                <a:fillRect t="-4" b="-20"/>
              </a:stretch>
            </a:blipFill>
          </p:spPr>
        </p:sp>
      </p:grpSp>
      <p:grpSp>
        <p:nvGrpSpPr>
          <p:cNvPr id="21" name="Group 21"/>
          <p:cNvGrpSpPr/>
          <p:nvPr/>
        </p:nvGrpSpPr>
        <p:grpSpPr>
          <a:xfrm>
            <a:off x="9644062" y="3500438"/>
            <a:ext cx="285750" cy="235296"/>
            <a:chOff x="0" y="0"/>
            <a:chExt cx="381000" cy="313728"/>
          </a:xfrm>
        </p:grpSpPr>
        <p:sp>
          <p:nvSpPr>
            <p:cNvPr id="22" name="Freeform 22" descr="preencoded.png"/>
            <p:cNvSpPr/>
            <p:nvPr/>
          </p:nvSpPr>
          <p:spPr>
            <a:xfrm>
              <a:off x="0" y="0"/>
              <a:ext cx="381000" cy="313690"/>
            </a:xfrm>
            <a:custGeom>
              <a:avLst/>
              <a:gdLst/>
              <a:ahLst/>
              <a:cxnLst/>
              <a:rect l="l" t="t" r="r" b="b"/>
              <a:pathLst>
                <a:path w="381000" h="313690">
                  <a:moveTo>
                    <a:pt x="0" y="0"/>
                  </a:moveTo>
                  <a:lnTo>
                    <a:pt x="381000" y="0"/>
                  </a:lnTo>
                  <a:lnTo>
                    <a:pt x="381000" y="313690"/>
                  </a:lnTo>
                  <a:lnTo>
                    <a:pt x="0" y="313690"/>
                  </a:lnTo>
                  <a:lnTo>
                    <a:pt x="0" y="0"/>
                  </a:lnTo>
                  <a:close/>
                </a:path>
              </a:pathLst>
            </a:custGeom>
            <a:blipFill>
              <a:blip r:embed="rId11"/>
              <a:stretch>
                <a:fillRect t="-4" b="-20"/>
              </a:stretch>
            </a:blipFill>
          </p:spPr>
        </p:sp>
      </p:grpSp>
      <p:grpSp>
        <p:nvGrpSpPr>
          <p:cNvPr id="23" name="Group 23"/>
          <p:cNvGrpSpPr/>
          <p:nvPr/>
        </p:nvGrpSpPr>
        <p:grpSpPr>
          <a:xfrm>
            <a:off x="9644062" y="3986212"/>
            <a:ext cx="285750" cy="235296"/>
            <a:chOff x="0" y="0"/>
            <a:chExt cx="381000" cy="313728"/>
          </a:xfrm>
        </p:grpSpPr>
        <p:sp>
          <p:nvSpPr>
            <p:cNvPr id="24" name="Freeform 24" descr="preencoded.png"/>
            <p:cNvSpPr/>
            <p:nvPr/>
          </p:nvSpPr>
          <p:spPr>
            <a:xfrm>
              <a:off x="0" y="0"/>
              <a:ext cx="381000" cy="313690"/>
            </a:xfrm>
            <a:custGeom>
              <a:avLst/>
              <a:gdLst/>
              <a:ahLst/>
              <a:cxnLst/>
              <a:rect l="l" t="t" r="r" b="b"/>
              <a:pathLst>
                <a:path w="381000" h="313690">
                  <a:moveTo>
                    <a:pt x="0" y="0"/>
                  </a:moveTo>
                  <a:lnTo>
                    <a:pt x="381000" y="0"/>
                  </a:lnTo>
                  <a:lnTo>
                    <a:pt x="381000" y="313690"/>
                  </a:lnTo>
                  <a:lnTo>
                    <a:pt x="0" y="313690"/>
                  </a:lnTo>
                  <a:lnTo>
                    <a:pt x="0" y="0"/>
                  </a:lnTo>
                  <a:close/>
                </a:path>
              </a:pathLst>
            </a:custGeom>
            <a:blipFill>
              <a:blip r:embed="rId12"/>
              <a:stretch>
                <a:fillRect t="-4" b="-20"/>
              </a:stretch>
            </a:blipFill>
          </p:spPr>
        </p:sp>
      </p:grpSp>
      <p:grpSp>
        <p:nvGrpSpPr>
          <p:cNvPr id="25" name="Group 25"/>
          <p:cNvGrpSpPr/>
          <p:nvPr/>
        </p:nvGrpSpPr>
        <p:grpSpPr>
          <a:xfrm>
            <a:off x="9358312" y="6086475"/>
            <a:ext cx="8358188" cy="3629025"/>
            <a:chOff x="0" y="0"/>
            <a:chExt cx="11144250" cy="4838700"/>
          </a:xfrm>
        </p:grpSpPr>
        <p:sp>
          <p:nvSpPr>
            <p:cNvPr id="26" name="Freeform 26" descr="preencoded.png"/>
            <p:cNvSpPr/>
            <p:nvPr/>
          </p:nvSpPr>
          <p:spPr>
            <a:xfrm>
              <a:off x="0" y="0"/>
              <a:ext cx="11144250" cy="4838700"/>
            </a:xfrm>
            <a:custGeom>
              <a:avLst/>
              <a:gdLst/>
              <a:ahLst/>
              <a:cxnLst/>
              <a:rect l="l" t="t" r="r" b="b"/>
              <a:pathLst>
                <a:path w="11144250" h="4838700">
                  <a:moveTo>
                    <a:pt x="0" y="0"/>
                  </a:moveTo>
                  <a:lnTo>
                    <a:pt x="11144250" y="0"/>
                  </a:lnTo>
                  <a:lnTo>
                    <a:pt x="11144250" y="4838700"/>
                  </a:lnTo>
                  <a:lnTo>
                    <a:pt x="0" y="4838700"/>
                  </a:lnTo>
                  <a:lnTo>
                    <a:pt x="0" y="0"/>
                  </a:lnTo>
                  <a:close/>
                </a:path>
              </a:pathLst>
            </a:custGeom>
            <a:blipFill>
              <a:blip r:embed="rId13"/>
              <a:stretch>
                <a:fillRect/>
              </a:stretch>
            </a:blipFill>
          </p:spPr>
        </p:sp>
      </p:grpSp>
      <p:grpSp>
        <p:nvGrpSpPr>
          <p:cNvPr id="27" name="Group 27"/>
          <p:cNvGrpSpPr/>
          <p:nvPr/>
        </p:nvGrpSpPr>
        <p:grpSpPr>
          <a:xfrm>
            <a:off x="9644062" y="6433614"/>
            <a:ext cx="321469" cy="262976"/>
            <a:chOff x="0" y="0"/>
            <a:chExt cx="428625" cy="350634"/>
          </a:xfrm>
        </p:grpSpPr>
        <p:sp>
          <p:nvSpPr>
            <p:cNvPr id="28" name="Freeform 28"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4"/>
              <a:stretch>
                <a:fillRect t="-7" b="-7"/>
              </a:stretch>
            </a:blipFill>
          </p:spPr>
        </p:sp>
      </p:grpSp>
      <p:grpSp>
        <p:nvGrpSpPr>
          <p:cNvPr id="29" name="Group 29"/>
          <p:cNvGrpSpPr/>
          <p:nvPr/>
        </p:nvGrpSpPr>
        <p:grpSpPr>
          <a:xfrm>
            <a:off x="9644062" y="6929438"/>
            <a:ext cx="285750" cy="235296"/>
            <a:chOff x="0" y="0"/>
            <a:chExt cx="381000" cy="313728"/>
          </a:xfrm>
        </p:grpSpPr>
        <p:sp>
          <p:nvSpPr>
            <p:cNvPr id="30" name="Freeform 30" descr="preencoded.png"/>
            <p:cNvSpPr/>
            <p:nvPr/>
          </p:nvSpPr>
          <p:spPr>
            <a:xfrm>
              <a:off x="0" y="0"/>
              <a:ext cx="381000" cy="313690"/>
            </a:xfrm>
            <a:custGeom>
              <a:avLst/>
              <a:gdLst/>
              <a:ahLst/>
              <a:cxnLst/>
              <a:rect l="l" t="t" r="r" b="b"/>
              <a:pathLst>
                <a:path w="381000" h="313690">
                  <a:moveTo>
                    <a:pt x="0" y="0"/>
                  </a:moveTo>
                  <a:lnTo>
                    <a:pt x="381000" y="0"/>
                  </a:lnTo>
                  <a:lnTo>
                    <a:pt x="381000" y="313690"/>
                  </a:lnTo>
                  <a:lnTo>
                    <a:pt x="0" y="313690"/>
                  </a:lnTo>
                  <a:lnTo>
                    <a:pt x="0" y="0"/>
                  </a:lnTo>
                  <a:close/>
                </a:path>
              </a:pathLst>
            </a:custGeom>
            <a:blipFill>
              <a:blip r:embed="rId15"/>
              <a:stretch>
                <a:fillRect t="-4" b="-20"/>
              </a:stretch>
            </a:blipFill>
          </p:spPr>
        </p:sp>
      </p:grpSp>
      <p:grpSp>
        <p:nvGrpSpPr>
          <p:cNvPr id="31" name="Group 31"/>
          <p:cNvGrpSpPr/>
          <p:nvPr/>
        </p:nvGrpSpPr>
        <p:grpSpPr>
          <a:xfrm>
            <a:off x="9644062" y="7415212"/>
            <a:ext cx="285750" cy="235296"/>
            <a:chOff x="0" y="0"/>
            <a:chExt cx="381000" cy="313728"/>
          </a:xfrm>
        </p:grpSpPr>
        <p:sp>
          <p:nvSpPr>
            <p:cNvPr id="32" name="Freeform 32" descr="preencoded.png"/>
            <p:cNvSpPr/>
            <p:nvPr/>
          </p:nvSpPr>
          <p:spPr>
            <a:xfrm>
              <a:off x="0" y="0"/>
              <a:ext cx="381000" cy="313690"/>
            </a:xfrm>
            <a:custGeom>
              <a:avLst/>
              <a:gdLst/>
              <a:ahLst/>
              <a:cxnLst/>
              <a:rect l="l" t="t" r="r" b="b"/>
              <a:pathLst>
                <a:path w="381000" h="313690">
                  <a:moveTo>
                    <a:pt x="0" y="0"/>
                  </a:moveTo>
                  <a:lnTo>
                    <a:pt x="381000" y="0"/>
                  </a:lnTo>
                  <a:lnTo>
                    <a:pt x="381000" y="313690"/>
                  </a:lnTo>
                  <a:lnTo>
                    <a:pt x="0" y="313690"/>
                  </a:lnTo>
                  <a:lnTo>
                    <a:pt x="0" y="0"/>
                  </a:lnTo>
                  <a:close/>
                </a:path>
              </a:pathLst>
            </a:custGeom>
            <a:blipFill>
              <a:blip r:embed="rId16"/>
              <a:stretch>
                <a:fillRect t="-4" b="-20"/>
              </a:stretch>
            </a:blipFill>
          </p:spPr>
        </p:sp>
      </p:grpSp>
      <p:grpSp>
        <p:nvGrpSpPr>
          <p:cNvPr id="33" name="Group 33"/>
          <p:cNvGrpSpPr/>
          <p:nvPr/>
        </p:nvGrpSpPr>
        <p:grpSpPr>
          <a:xfrm>
            <a:off x="9644062" y="7900988"/>
            <a:ext cx="285750" cy="235296"/>
            <a:chOff x="0" y="0"/>
            <a:chExt cx="381000" cy="313728"/>
          </a:xfrm>
        </p:grpSpPr>
        <p:sp>
          <p:nvSpPr>
            <p:cNvPr id="34" name="Freeform 34" descr="preencoded.png"/>
            <p:cNvSpPr/>
            <p:nvPr/>
          </p:nvSpPr>
          <p:spPr>
            <a:xfrm>
              <a:off x="0" y="0"/>
              <a:ext cx="381000" cy="313690"/>
            </a:xfrm>
            <a:custGeom>
              <a:avLst/>
              <a:gdLst/>
              <a:ahLst/>
              <a:cxnLst/>
              <a:rect l="l" t="t" r="r" b="b"/>
              <a:pathLst>
                <a:path w="381000" h="313690">
                  <a:moveTo>
                    <a:pt x="0" y="0"/>
                  </a:moveTo>
                  <a:lnTo>
                    <a:pt x="381000" y="0"/>
                  </a:lnTo>
                  <a:lnTo>
                    <a:pt x="381000" y="313690"/>
                  </a:lnTo>
                  <a:lnTo>
                    <a:pt x="0" y="313690"/>
                  </a:lnTo>
                  <a:lnTo>
                    <a:pt x="0" y="0"/>
                  </a:lnTo>
                  <a:close/>
                </a:path>
              </a:pathLst>
            </a:custGeom>
            <a:blipFill>
              <a:blip r:embed="rId17"/>
              <a:stretch>
                <a:fillRect t="-4" b="-20"/>
              </a:stretch>
            </a:blipFill>
          </p:spPr>
        </p:sp>
      </p:grpSp>
      <p:grpSp>
        <p:nvGrpSpPr>
          <p:cNvPr id="35" name="Group 35"/>
          <p:cNvGrpSpPr/>
          <p:nvPr/>
        </p:nvGrpSpPr>
        <p:grpSpPr>
          <a:xfrm>
            <a:off x="1000125" y="642938"/>
            <a:ext cx="17287875" cy="514350"/>
            <a:chOff x="0" y="0"/>
            <a:chExt cx="23050500" cy="685800"/>
          </a:xfrm>
        </p:grpSpPr>
        <p:sp>
          <p:nvSpPr>
            <p:cNvPr id="36" name="Freeform 36"/>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18">
                <a:alphaModFix amt="0"/>
              </a:blip>
              <a:stretch>
                <a:fillRect t="-604913" b="-604913"/>
              </a:stretch>
            </a:blipFill>
          </p:spPr>
        </p:sp>
        <p:sp>
          <p:nvSpPr>
            <p:cNvPr id="37" name="TextBox 37"/>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5: THỐNG KÊ XU HƯỚNG SỬ DỤNG CÁC HÌNH THỨC THANH TOÁN</a:t>
              </a:r>
            </a:p>
          </p:txBody>
        </p:sp>
      </p:grpSp>
      <p:grpSp>
        <p:nvGrpSpPr>
          <p:cNvPr id="38" name="Group 38"/>
          <p:cNvGrpSpPr/>
          <p:nvPr/>
        </p:nvGrpSpPr>
        <p:grpSpPr>
          <a:xfrm>
            <a:off x="1000125" y="1228725"/>
            <a:ext cx="16287750" cy="300038"/>
            <a:chOff x="0" y="0"/>
            <a:chExt cx="21717000" cy="400050"/>
          </a:xfrm>
        </p:grpSpPr>
        <p:sp>
          <p:nvSpPr>
            <p:cNvPr id="39" name="Freeform 39"/>
            <p:cNvSpPr/>
            <p:nvPr/>
          </p:nvSpPr>
          <p:spPr>
            <a:xfrm>
              <a:off x="0" y="0"/>
              <a:ext cx="21717000" cy="400050"/>
            </a:xfrm>
            <a:custGeom>
              <a:avLst/>
              <a:gdLst/>
              <a:ahLst/>
              <a:cxnLst/>
              <a:rect l="l" t="t" r="r" b="b"/>
              <a:pathLst>
                <a:path w="21717000" h="400050">
                  <a:moveTo>
                    <a:pt x="0" y="0"/>
                  </a:moveTo>
                  <a:lnTo>
                    <a:pt x="21717000" y="0"/>
                  </a:lnTo>
                  <a:lnTo>
                    <a:pt x="21717000" y="400050"/>
                  </a:lnTo>
                  <a:lnTo>
                    <a:pt x="0" y="400050"/>
                  </a:lnTo>
                  <a:close/>
                </a:path>
              </a:pathLst>
            </a:custGeom>
            <a:blipFill>
              <a:blip r:embed="rId18">
                <a:alphaModFix amt="0"/>
              </a:blip>
              <a:stretch>
                <a:fillRect t="-1007759" b="-1007759"/>
              </a:stretch>
            </a:blipFill>
          </p:spPr>
        </p:sp>
        <p:sp>
          <p:nvSpPr>
            <p:cNvPr id="40" name="TextBox 40"/>
            <p:cNvSpPr txBox="1"/>
            <p:nvPr/>
          </p:nvSpPr>
          <p:spPr>
            <a:xfrm>
              <a:off x="0" y="-66675"/>
              <a:ext cx="217170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Thực thi truy vấn HiveQL &amp; Phân tích hành vi tài chính khách hàng</a:t>
              </a:r>
            </a:p>
          </p:txBody>
        </p:sp>
      </p:grpSp>
      <p:grpSp>
        <p:nvGrpSpPr>
          <p:cNvPr id="41" name="Group 41"/>
          <p:cNvGrpSpPr/>
          <p:nvPr/>
        </p:nvGrpSpPr>
        <p:grpSpPr>
          <a:xfrm>
            <a:off x="1357312" y="4213917"/>
            <a:ext cx="8778240" cy="342900"/>
            <a:chOff x="0" y="0"/>
            <a:chExt cx="11704320" cy="457200"/>
          </a:xfrm>
        </p:grpSpPr>
        <p:sp>
          <p:nvSpPr>
            <p:cNvPr id="42" name="Freeform 42"/>
            <p:cNvSpPr/>
            <p:nvPr/>
          </p:nvSpPr>
          <p:spPr>
            <a:xfrm>
              <a:off x="0" y="0"/>
              <a:ext cx="11704320" cy="457200"/>
            </a:xfrm>
            <a:custGeom>
              <a:avLst/>
              <a:gdLst/>
              <a:ahLst/>
              <a:cxnLst/>
              <a:rect l="l" t="t" r="r" b="b"/>
              <a:pathLst>
                <a:path w="11704320" h="457200">
                  <a:moveTo>
                    <a:pt x="0" y="0"/>
                  </a:moveTo>
                  <a:lnTo>
                    <a:pt x="11704320" y="0"/>
                  </a:lnTo>
                  <a:lnTo>
                    <a:pt x="11704320" y="457200"/>
                  </a:lnTo>
                  <a:lnTo>
                    <a:pt x="0" y="457200"/>
                  </a:lnTo>
                  <a:close/>
                </a:path>
              </a:pathLst>
            </a:custGeom>
            <a:blipFill>
              <a:blip r:embed="rId18">
                <a:alphaModFix amt="0"/>
              </a:blip>
              <a:stretch>
                <a:fillRect t="-448816" b="-448816"/>
              </a:stretch>
            </a:blipFill>
          </p:spPr>
        </p:sp>
        <p:sp>
          <p:nvSpPr>
            <p:cNvPr id="43" name="TextBox 43"/>
            <p:cNvSpPr txBox="1"/>
            <p:nvPr/>
          </p:nvSpPr>
          <p:spPr>
            <a:xfrm>
              <a:off x="0" y="-95250"/>
              <a:ext cx="11704320" cy="552450"/>
            </a:xfrm>
            <a:prstGeom prst="rect">
              <a:avLst/>
            </a:prstGeom>
          </p:spPr>
          <p:txBody>
            <a:bodyPr lIns="0" tIns="0" rIns="0" bIns="0" rtlCol="0" anchor="ctr"/>
            <a:lstStyle/>
            <a:p>
              <a:pPr algn="l">
                <a:lnSpc>
                  <a:spcPts val="2700"/>
                </a:lnSpc>
              </a:pPr>
              <a:r>
                <a:rPr lang="en-US" sz="1800" b="1">
                  <a:solidFill>
                    <a:srgbClr val="007ACC"/>
                  </a:solidFill>
                  <a:latin typeface="Calibri (MS) Bold"/>
                  <a:ea typeface="Calibri (MS) Bold"/>
                  <a:cs typeface="Calibri (MS) Bold"/>
                  <a:sym typeface="Calibri (MS) Bold"/>
                </a:rPr>
                <a:t>Truy vấn HiveQL (Payment Trends)</a:t>
              </a:r>
            </a:p>
          </p:txBody>
        </p:sp>
      </p:grpSp>
      <p:grpSp>
        <p:nvGrpSpPr>
          <p:cNvPr id="44" name="Group 44"/>
          <p:cNvGrpSpPr/>
          <p:nvPr/>
        </p:nvGrpSpPr>
        <p:grpSpPr>
          <a:xfrm>
            <a:off x="1214438" y="4771130"/>
            <a:ext cx="7072312" cy="2902153"/>
            <a:chOff x="0" y="0"/>
            <a:chExt cx="9429750" cy="3869538"/>
          </a:xfrm>
        </p:grpSpPr>
        <p:sp>
          <p:nvSpPr>
            <p:cNvPr id="45" name="Freeform 45"/>
            <p:cNvSpPr/>
            <p:nvPr/>
          </p:nvSpPr>
          <p:spPr>
            <a:xfrm>
              <a:off x="0" y="0"/>
              <a:ext cx="9429750" cy="3869532"/>
            </a:xfrm>
            <a:custGeom>
              <a:avLst/>
              <a:gdLst/>
              <a:ahLst/>
              <a:cxnLst/>
              <a:rect l="l" t="t" r="r" b="b"/>
              <a:pathLst>
                <a:path w="9429750" h="3869532">
                  <a:moveTo>
                    <a:pt x="0" y="0"/>
                  </a:moveTo>
                  <a:lnTo>
                    <a:pt x="9429750" y="0"/>
                  </a:lnTo>
                  <a:lnTo>
                    <a:pt x="9429750" y="3869532"/>
                  </a:lnTo>
                  <a:lnTo>
                    <a:pt x="0" y="3869532"/>
                  </a:lnTo>
                  <a:close/>
                </a:path>
              </a:pathLst>
            </a:custGeom>
            <a:blipFill>
              <a:blip r:embed="rId18">
                <a:alphaModFix amt="0"/>
              </a:blip>
              <a:stretch>
                <a:fillRect l="-2649" r="-2649"/>
              </a:stretch>
            </a:blipFill>
          </p:spPr>
        </p:sp>
        <p:sp>
          <p:nvSpPr>
            <p:cNvPr id="46" name="TextBox 46"/>
            <p:cNvSpPr txBox="1"/>
            <p:nvPr/>
          </p:nvSpPr>
          <p:spPr>
            <a:xfrm>
              <a:off x="0" y="-114300"/>
              <a:ext cx="9429750" cy="3983838"/>
            </a:xfrm>
            <a:prstGeom prst="rect">
              <a:avLst/>
            </a:prstGeom>
          </p:spPr>
          <p:txBody>
            <a:bodyPr lIns="0" tIns="0" rIns="0" bIns="0" rtlCol="0" anchor="ctr"/>
            <a:lstStyle/>
            <a:p>
              <a:pPr algn="l">
                <a:lnSpc>
                  <a:spcPts val="3060"/>
                </a:lnSpc>
              </a:pPr>
              <a:r>
                <a:rPr lang="en-US" sz="1912">
                  <a:solidFill>
                    <a:srgbClr val="34495E"/>
                  </a:solidFill>
                  <a:latin typeface="Calibri (MS)"/>
                  <a:ea typeface="Calibri (MS)"/>
                  <a:cs typeface="Calibri (MS)"/>
                  <a:sym typeface="Calibri (MS)"/>
                </a:rPr>
                <a:t>SELECT hinh_thuc_tt, </a:t>
              </a:r>
            </a:p>
            <a:p>
              <a:pPr algn="l">
                <a:lnSpc>
                  <a:spcPts val="3060"/>
                </a:lnSpc>
              </a:pPr>
              <a:r>
                <a:rPr lang="en-US" sz="1912">
                  <a:solidFill>
                    <a:srgbClr val="34495E"/>
                  </a:solidFill>
                  <a:latin typeface="Calibri (MS)"/>
                  <a:ea typeface="Calibri (MS)"/>
                  <a:cs typeface="Calibri (MS)"/>
                  <a:sym typeface="Calibri (MS)"/>
                </a:rPr>
                <a:t>       COUNT(*) AS so_luong_gd, </a:t>
              </a:r>
            </a:p>
            <a:p>
              <a:pPr algn="l">
                <a:lnSpc>
                  <a:spcPts val="3060"/>
                </a:lnSpc>
              </a:pPr>
              <a:r>
                <a:rPr lang="en-US" sz="1912">
                  <a:solidFill>
                    <a:srgbClr val="34495E"/>
                  </a:solidFill>
                  <a:latin typeface="Calibri (MS)"/>
                  <a:ea typeface="Calibri (MS)"/>
                  <a:cs typeface="Calibri (MS)"/>
                  <a:sym typeface="Calibri (MS)"/>
                </a:rPr>
                <a:t>       SUM(thanh_tien) AS tong_doanh_thu</a:t>
              </a:r>
            </a:p>
            <a:p>
              <a:pPr algn="l">
                <a:lnSpc>
                  <a:spcPts val="3060"/>
                </a:lnSpc>
              </a:pPr>
              <a:r>
                <a:rPr lang="en-US" sz="1912">
                  <a:solidFill>
                    <a:srgbClr val="34495E"/>
                  </a:solidFill>
                  <a:latin typeface="Calibri (MS)"/>
                  <a:ea typeface="Calibri (MS)"/>
                  <a:cs typeface="Calibri (MS)"/>
                  <a:sym typeface="Calibri (MS)"/>
                </a:rPr>
                <a:t>FROM ban_hang_dien_may</a:t>
              </a:r>
            </a:p>
            <a:p>
              <a:pPr algn="l">
                <a:lnSpc>
                  <a:spcPts val="3060"/>
                </a:lnSpc>
              </a:pPr>
              <a:r>
                <a:rPr lang="en-US" sz="1912">
                  <a:solidFill>
                    <a:srgbClr val="34495E"/>
                  </a:solidFill>
                  <a:latin typeface="Calibri (MS)"/>
                  <a:ea typeface="Calibri (MS)"/>
                  <a:cs typeface="Calibri (MS)"/>
                  <a:sym typeface="Calibri (MS)"/>
                </a:rPr>
                <a:t>GROUP BY hinh_thuc_tt</a:t>
              </a:r>
            </a:p>
            <a:p>
              <a:pPr algn="l">
                <a:lnSpc>
                  <a:spcPts val="3060"/>
                </a:lnSpc>
              </a:pPr>
              <a:r>
                <a:rPr lang="en-US" sz="1912">
                  <a:solidFill>
                    <a:srgbClr val="34495E"/>
                  </a:solidFill>
                  <a:latin typeface="Calibri (MS)"/>
                  <a:ea typeface="Calibri (MS)"/>
                  <a:cs typeface="Calibri (MS)"/>
                  <a:sym typeface="Calibri (MS)"/>
                </a:rPr>
                <a:t>ORDER BY tong_doanh_thu DESC;</a:t>
              </a:r>
            </a:p>
          </p:txBody>
        </p:sp>
      </p:grpSp>
      <p:grpSp>
        <p:nvGrpSpPr>
          <p:cNvPr id="47" name="Group 47"/>
          <p:cNvGrpSpPr/>
          <p:nvPr/>
        </p:nvGrpSpPr>
        <p:grpSpPr>
          <a:xfrm>
            <a:off x="10108406" y="2457450"/>
            <a:ext cx="7786688" cy="385762"/>
            <a:chOff x="0" y="0"/>
            <a:chExt cx="10382250" cy="514350"/>
          </a:xfrm>
        </p:grpSpPr>
        <p:sp>
          <p:nvSpPr>
            <p:cNvPr id="48" name="Freeform 48"/>
            <p:cNvSpPr/>
            <p:nvPr/>
          </p:nvSpPr>
          <p:spPr>
            <a:xfrm>
              <a:off x="0" y="0"/>
              <a:ext cx="10382250" cy="514350"/>
            </a:xfrm>
            <a:custGeom>
              <a:avLst/>
              <a:gdLst/>
              <a:ahLst/>
              <a:cxnLst/>
              <a:rect l="l" t="t" r="r" b="b"/>
              <a:pathLst>
                <a:path w="10382250" h="514350">
                  <a:moveTo>
                    <a:pt x="0" y="0"/>
                  </a:moveTo>
                  <a:lnTo>
                    <a:pt x="10382250" y="0"/>
                  </a:lnTo>
                  <a:lnTo>
                    <a:pt x="10382250" y="514350"/>
                  </a:lnTo>
                  <a:lnTo>
                    <a:pt x="0" y="514350"/>
                  </a:lnTo>
                  <a:close/>
                </a:path>
              </a:pathLst>
            </a:custGeom>
            <a:blipFill>
              <a:blip r:embed="rId18">
                <a:alphaModFix amt="0"/>
              </a:blip>
              <a:stretch>
                <a:fillRect t="-343309" b="-343309"/>
              </a:stretch>
            </a:blipFill>
          </p:spPr>
        </p:sp>
        <p:sp>
          <p:nvSpPr>
            <p:cNvPr id="49" name="TextBox 49"/>
            <p:cNvSpPr txBox="1"/>
            <p:nvPr/>
          </p:nvSpPr>
          <p:spPr>
            <a:xfrm>
              <a:off x="0" y="-95250"/>
              <a:ext cx="10382250" cy="609600"/>
            </a:xfrm>
            <a:prstGeom prst="rect">
              <a:avLst/>
            </a:prstGeom>
          </p:spPr>
          <p:txBody>
            <a:bodyPr lIns="0" tIns="0" rIns="0" bIns="0" rtlCol="0" anchor="ctr"/>
            <a:lstStyle/>
            <a:p>
              <a:pPr algn="l">
                <a:lnSpc>
                  <a:spcPts val="3037"/>
                </a:lnSpc>
              </a:pPr>
              <a:r>
                <a:rPr lang="en-US" sz="2025" b="1">
                  <a:solidFill>
                    <a:srgbClr val="007ACC"/>
                  </a:solidFill>
                  <a:latin typeface="Calibri (MS) Bold"/>
                  <a:ea typeface="Calibri (MS) Bold"/>
                  <a:cs typeface="Calibri (MS) Bold"/>
                  <a:sym typeface="Calibri (MS) Bold"/>
                </a:rPr>
                <a:t>Mục đích phân tích</a:t>
              </a:r>
            </a:p>
          </p:txBody>
        </p:sp>
      </p:grpSp>
      <p:grpSp>
        <p:nvGrpSpPr>
          <p:cNvPr id="50" name="Group 50"/>
          <p:cNvGrpSpPr/>
          <p:nvPr/>
        </p:nvGrpSpPr>
        <p:grpSpPr>
          <a:xfrm>
            <a:off x="10101262" y="3014662"/>
            <a:ext cx="8186738" cy="342900"/>
            <a:chOff x="0" y="0"/>
            <a:chExt cx="10915650" cy="457200"/>
          </a:xfrm>
        </p:grpSpPr>
        <p:sp>
          <p:nvSpPr>
            <p:cNvPr id="51" name="Freeform 51"/>
            <p:cNvSpPr/>
            <p:nvPr/>
          </p:nvSpPr>
          <p:spPr>
            <a:xfrm>
              <a:off x="0" y="0"/>
              <a:ext cx="10915650" cy="457200"/>
            </a:xfrm>
            <a:custGeom>
              <a:avLst/>
              <a:gdLst/>
              <a:ahLst/>
              <a:cxnLst/>
              <a:rect l="l" t="t" r="r" b="b"/>
              <a:pathLst>
                <a:path w="10915650" h="457200">
                  <a:moveTo>
                    <a:pt x="0" y="0"/>
                  </a:moveTo>
                  <a:lnTo>
                    <a:pt x="10915650" y="0"/>
                  </a:lnTo>
                  <a:lnTo>
                    <a:pt x="10915650" y="457200"/>
                  </a:lnTo>
                  <a:lnTo>
                    <a:pt x="0" y="457200"/>
                  </a:lnTo>
                  <a:close/>
                </a:path>
              </a:pathLst>
            </a:custGeom>
            <a:blipFill>
              <a:blip r:embed="rId18">
                <a:alphaModFix amt="0"/>
              </a:blip>
              <a:stretch>
                <a:fillRect t="-415205" b="-415205"/>
              </a:stretch>
            </a:blipFill>
          </p:spPr>
        </p:sp>
        <p:sp>
          <p:nvSpPr>
            <p:cNvPr id="52" name="TextBox 52"/>
            <p:cNvSpPr txBox="1"/>
            <p:nvPr/>
          </p:nvSpPr>
          <p:spPr>
            <a:xfrm>
              <a:off x="0" y="-95250"/>
              <a:ext cx="10915650"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Hiểu sâu sắc hành vi tài chính của khách hàng hiện đại.</a:t>
              </a:r>
            </a:p>
          </p:txBody>
        </p:sp>
      </p:grpSp>
      <p:grpSp>
        <p:nvGrpSpPr>
          <p:cNvPr id="53" name="Group 53"/>
          <p:cNvGrpSpPr/>
          <p:nvPr/>
        </p:nvGrpSpPr>
        <p:grpSpPr>
          <a:xfrm>
            <a:off x="10101262" y="3500438"/>
            <a:ext cx="8186738" cy="342900"/>
            <a:chOff x="0" y="0"/>
            <a:chExt cx="10915650" cy="457200"/>
          </a:xfrm>
        </p:grpSpPr>
        <p:sp>
          <p:nvSpPr>
            <p:cNvPr id="54" name="Freeform 54"/>
            <p:cNvSpPr/>
            <p:nvPr/>
          </p:nvSpPr>
          <p:spPr>
            <a:xfrm>
              <a:off x="0" y="0"/>
              <a:ext cx="10915650" cy="457200"/>
            </a:xfrm>
            <a:custGeom>
              <a:avLst/>
              <a:gdLst/>
              <a:ahLst/>
              <a:cxnLst/>
              <a:rect l="l" t="t" r="r" b="b"/>
              <a:pathLst>
                <a:path w="10915650" h="457200">
                  <a:moveTo>
                    <a:pt x="0" y="0"/>
                  </a:moveTo>
                  <a:lnTo>
                    <a:pt x="10915650" y="0"/>
                  </a:lnTo>
                  <a:lnTo>
                    <a:pt x="10915650" y="457200"/>
                  </a:lnTo>
                  <a:lnTo>
                    <a:pt x="0" y="457200"/>
                  </a:lnTo>
                  <a:close/>
                </a:path>
              </a:pathLst>
            </a:custGeom>
            <a:blipFill>
              <a:blip r:embed="rId18">
                <a:alphaModFix amt="0"/>
              </a:blip>
              <a:stretch>
                <a:fillRect t="-415205" b="-415205"/>
              </a:stretch>
            </a:blipFill>
          </p:spPr>
        </p:sp>
        <p:sp>
          <p:nvSpPr>
            <p:cNvPr id="55" name="TextBox 55"/>
            <p:cNvSpPr txBox="1"/>
            <p:nvPr/>
          </p:nvSpPr>
          <p:spPr>
            <a:xfrm>
              <a:off x="0" y="-95250"/>
              <a:ext cx="10915650"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Ghi nhận mức độ</a:t>
              </a:r>
              <a:r>
                <a:rPr lang="en-US" sz="1800" b="1">
                  <a:solidFill>
                    <a:srgbClr val="E67E22"/>
                  </a:solidFill>
                  <a:latin typeface="Calibri (MS) Bold"/>
                  <a:ea typeface="Calibri (MS) Bold"/>
                  <a:cs typeface="Calibri (MS) Bold"/>
                  <a:sym typeface="Calibri (MS) Bold"/>
                </a:rPr>
                <a:t>chuyển đổi số</a:t>
              </a:r>
              <a:r>
                <a:rPr lang="en-US" sz="1800">
                  <a:solidFill>
                    <a:srgbClr val="2C3E50"/>
                  </a:solidFill>
                  <a:latin typeface="Calibri (MS)"/>
                  <a:ea typeface="Calibri (MS)"/>
                  <a:cs typeface="Calibri (MS)"/>
                  <a:sym typeface="Calibri (MS)"/>
                </a:rPr>
                <a:t>trong thanh toán bán lẻ.</a:t>
              </a:r>
            </a:p>
          </p:txBody>
        </p:sp>
      </p:grpSp>
      <p:grpSp>
        <p:nvGrpSpPr>
          <p:cNvPr id="56" name="Group 56"/>
          <p:cNvGrpSpPr/>
          <p:nvPr/>
        </p:nvGrpSpPr>
        <p:grpSpPr>
          <a:xfrm>
            <a:off x="10101262" y="3986212"/>
            <a:ext cx="8186738" cy="342900"/>
            <a:chOff x="0" y="0"/>
            <a:chExt cx="10915650" cy="457200"/>
          </a:xfrm>
        </p:grpSpPr>
        <p:sp>
          <p:nvSpPr>
            <p:cNvPr id="57" name="Freeform 57"/>
            <p:cNvSpPr/>
            <p:nvPr/>
          </p:nvSpPr>
          <p:spPr>
            <a:xfrm>
              <a:off x="0" y="0"/>
              <a:ext cx="10915650" cy="457200"/>
            </a:xfrm>
            <a:custGeom>
              <a:avLst/>
              <a:gdLst/>
              <a:ahLst/>
              <a:cxnLst/>
              <a:rect l="l" t="t" r="r" b="b"/>
              <a:pathLst>
                <a:path w="10915650" h="457200">
                  <a:moveTo>
                    <a:pt x="0" y="0"/>
                  </a:moveTo>
                  <a:lnTo>
                    <a:pt x="10915650" y="0"/>
                  </a:lnTo>
                  <a:lnTo>
                    <a:pt x="10915650" y="457200"/>
                  </a:lnTo>
                  <a:lnTo>
                    <a:pt x="0" y="457200"/>
                  </a:lnTo>
                  <a:close/>
                </a:path>
              </a:pathLst>
            </a:custGeom>
            <a:blipFill>
              <a:blip r:embed="rId18">
                <a:alphaModFix amt="0"/>
              </a:blip>
              <a:stretch>
                <a:fillRect t="-415205" b="-415205"/>
              </a:stretch>
            </a:blipFill>
          </p:spPr>
        </p:sp>
        <p:sp>
          <p:nvSpPr>
            <p:cNvPr id="58" name="TextBox 58"/>
            <p:cNvSpPr txBox="1"/>
            <p:nvPr/>
          </p:nvSpPr>
          <p:spPr>
            <a:xfrm>
              <a:off x="0" y="-95250"/>
              <a:ext cx="10915650"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Đánh giá sự phổ biến của Ví điện tử so với Tiền mặt.</a:t>
              </a:r>
            </a:p>
          </p:txBody>
        </p:sp>
      </p:grpSp>
      <p:grpSp>
        <p:nvGrpSpPr>
          <p:cNvPr id="59" name="Group 59"/>
          <p:cNvGrpSpPr/>
          <p:nvPr/>
        </p:nvGrpSpPr>
        <p:grpSpPr>
          <a:xfrm>
            <a:off x="10108406" y="6372225"/>
            <a:ext cx="7786688" cy="385762"/>
            <a:chOff x="0" y="0"/>
            <a:chExt cx="10382250" cy="514350"/>
          </a:xfrm>
        </p:grpSpPr>
        <p:sp>
          <p:nvSpPr>
            <p:cNvPr id="60" name="Freeform 60"/>
            <p:cNvSpPr/>
            <p:nvPr/>
          </p:nvSpPr>
          <p:spPr>
            <a:xfrm>
              <a:off x="0" y="0"/>
              <a:ext cx="10382250" cy="514350"/>
            </a:xfrm>
            <a:custGeom>
              <a:avLst/>
              <a:gdLst/>
              <a:ahLst/>
              <a:cxnLst/>
              <a:rect l="l" t="t" r="r" b="b"/>
              <a:pathLst>
                <a:path w="10382250" h="514350">
                  <a:moveTo>
                    <a:pt x="0" y="0"/>
                  </a:moveTo>
                  <a:lnTo>
                    <a:pt x="10382250" y="0"/>
                  </a:lnTo>
                  <a:lnTo>
                    <a:pt x="10382250" y="514350"/>
                  </a:lnTo>
                  <a:lnTo>
                    <a:pt x="0" y="514350"/>
                  </a:lnTo>
                  <a:close/>
                </a:path>
              </a:pathLst>
            </a:custGeom>
            <a:blipFill>
              <a:blip r:embed="rId18">
                <a:alphaModFix amt="0"/>
              </a:blip>
              <a:stretch>
                <a:fillRect t="-343309" b="-343309"/>
              </a:stretch>
            </a:blipFill>
          </p:spPr>
        </p:sp>
        <p:sp>
          <p:nvSpPr>
            <p:cNvPr id="61" name="TextBox 61"/>
            <p:cNvSpPr txBox="1"/>
            <p:nvPr/>
          </p:nvSpPr>
          <p:spPr>
            <a:xfrm>
              <a:off x="0" y="-95250"/>
              <a:ext cx="10382250" cy="609600"/>
            </a:xfrm>
            <a:prstGeom prst="rect">
              <a:avLst/>
            </a:prstGeom>
          </p:spPr>
          <p:txBody>
            <a:bodyPr lIns="0" tIns="0" rIns="0" bIns="0" rtlCol="0" anchor="ctr"/>
            <a:lstStyle/>
            <a:p>
              <a:pPr algn="l">
                <a:lnSpc>
                  <a:spcPts val="3037"/>
                </a:lnSpc>
              </a:pPr>
              <a:r>
                <a:rPr lang="en-US" sz="2025" b="1">
                  <a:solidFill>
                    <a:srgbClr val="E67E22"/>
                  </a:solidFill>
                  <a:latin typeface="Calibri (MS) Bold"/>
                  <a:ea typeface="Calibri (MS) Bold"/>
                  <a:cs typeface="Calibri (MS) Bold"/>
                  <a:sym typeface="Calibri (MS) Bold"/>
                </a:rPr>
                <a:t>Ý nghĩa chiến lược</a:t>
              </a:r>
            </a:p>
          </p:txBody>
        </p:sp>
      </p:grpSp>
      <p:grpSp>
        <p:nvGrpSpPr>
          <p:cNvPr id="62" name="Group 62"/>
          <p:cNvGrpSpPr/>
          <p:nvPr/>
        </p:nvGrpSpPr>
        <p:grpSpPr>
          <a:xfrm>
            <a:off x="10101262" y="6929438"/>
            <a:ext cx="8186738" cy="342900"/>
            <a:chOff x="0" y="0"/>
            <a:chExt cx="10915650" cy="457200"/>
          </a:xfrm>
        </p:grpSpPr>
        <p:sp>
          <p:nvSpPr>
            <p:cNvPr id="63" name="Freeform 63"/>
            <p:cNvSpPr/>
            <p:nvPr/>
          </p:nvSpPr>
          <p:spPr>
            <a:xfrm>
              <a:off x="0" y="0"/>
              <a:ext cx="10915650" cy="457200"/>
            </a:xfrm>
            <a:custGeom>
              <a:avLst/>
              <a:gdLst/>
              <a:ahLst/>
              <a:cxnLst/>
              <a:rect l="l" t="t" r="r" b="b"/>
              <a:pathLst>
                <a:path w="10915650" h="457200">
                  <a:moveTo>
                    <a:pt x="0" y="0"/>
                  </a:moveTo>
                  <a:lnTo>
                    <a:pt x="10915650" y="0"/>
                  </a:lnTo>
                  <a:lnTo>
                    <a:pt x="10915650" y="457200"/>
                  </a:lnTo>
                  <a:lnTo>
                    <a:pt x="0" y="457200"/>
                  </a:lnTo>
                  <a:close/>
                </a:path>
              </a:pathLst>
            </a:custGeom>
            <a:blipFill>
              <a:blip r:embed="rId18">
                <a:alphaModFix amt="0"/>
              </a:blip>
              <a:stretch>
                <a:fillRect t="-415205" b="-415205"/>
              </a:stretch>
            </a:blipFill>
          </p:spPr>
        </p:sp>
        <p:sp>
          <p:nvSpPr>
            <p:cNvPr id="64" name="TextBox 64"/>
            <p:cNvSpPr txBox="1"/>
            <p:nvPr/>
          </p:nvSpPr>
          <p:spPr>
            <a:xfrm>
              <a:off x="0" y="-95250"/>
              <a:ext cx="10915650"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Cơ sở đàm phán</a:t>
              </a:r>
              <a:r>
                <a:rPr lang="en-US" sz="1800" b="1">
                  <a:solidFill>
                    <a:srgbClr val="E67E22"/>
                  </a:solidFill>
                  <a:latin typeface="Calibri (MS) Bold"/>
                  <a:ea typeface="Calibri (MS) Bold"/>
                  <a:cs typeface="Calibri (MS) Bold"/>
                  <a:sym typeface="Calibri (MS) Bold"/>
                </a:rPr>
                <a:t>phí chiết khấu</a:t>
              </a:r>
              <a:r>
                <a:rPr lang="en-US" sz="1800">
                  <a:solidFill>
                    <a:srgbClr val="2C3E50"/>
                  </a:solidFill>
                  <a:latin typeface="Calibri (MS)"/>
                  <a:ea typeface="Calibri (MS)"/>
                  <a:cs typeface="Calibri (MS)"/>
                  <a:sym typeface="Calibri (MS)"/>
                </a:rPr>
                <a:t>với các cổng thanh toán/ngân hàng.</a:t>
              </a:r>
            </a:p>
          </p:txBody>
        </p:sp>
      </p:grpSp>
      <p:grpSp>
        <p:nvGrpSpPr>
          <p:cNvPr id="65" name="Group 65"/>
          <p:cNvGrpSpPr/>
          <p:nvPr/>
        </p:nvGrpSpPr>
        <p:grpSpPr>
          <a:xfrm>
            <a:off x="10101262" y="7415212"/>
            <a:ext cx="8186738" cy="342900"/>
            <a:chOff x="0" y="0"/>
            <a:chExt cx="10915650" cy="457200"/>
          </a:xfrm>
        </p:grpSpPr>
        <p:sp>
          <p:nvSpPr>
            <p:cNvPr id="66" name="Freeform 66"/>
            <p:cNvSpPr/>
            <p:nvPr/>
          </p:nvSpPr>
          <p:spPr>
            <a:xfrm>
              <a:off x="0" y="0"/>
              <a:ext cx="10915650" cy="457200"/>
            </a:xfrm>
            <a:custGeom>
              <a:avLst/>
              <a:gdLst/>
              <a:ahLst/>
              <a:cxnLst/>
              <a:rect l="l" t="t" r="r" b="b"/>
              <a:pathLst>
                <a:path w="10915650" h="457200">
                  <a:moveTo>
                    <a:pt x="0" y="0"/>
                  </a:moveTo>
                  <a:lnTo>
                    <a:pt x="10915650" y="0"/>
                  </a:lnTo>
                  <a:lnTo>
                    <a:pt x="10915650" y="457200"/>
                  </a:lnTo>
                  <a:lnTo>
                    <a:pt x="0" y="457200"/>
                  </a:lnTo>
                  <a:close/>
                </a:path>
              </a:pathLst>
            </a:custGeom>
            <a:blipFill>
              <a:blip r:embed="rId18">
                <a:alphaModFix amt="0"/>
              </a:blip>
              <a:stretch>
                <a:fillRect t="-415205" b="-415205"/>
              </a:stretch>
            </a:blipFill>
          </p:spPr>
        </p:sp>
        <p:sp>
          <p:nvSpPr>
            <p:cNvPr id="67" name="TextBox 67"/>
            <p:cNvSpPr txBox="1"/>
            <p:nvPr/>
          </p:nvSpPr>
          <p:spPr>
            <a:xfrm>
              <a:off x="0" y="-95250"/>
              <a:ext cx="10915650"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Đẩy mạnh ưu đãi hoàn tiền (Cashback) cho phương thức mục tiêu.</a:t>
              </a:r>
            </a:p>
          </p:txBody>
        </p:sp>
      </p:grpSp>
      <p:grpSp>
        <p:nvGrpSpPr>
          <p:cNvPr id="68" name="Group 68"/>
          <p:cNvGrpSpPr/>
          <p:nvPr/>
        </p:nvGrpSpPr>
        <p:grpSpPr>
          <a:xfrm>
            <a:off x="10101262" y="7900988"/>
            <a:ext cx="8186738" cy="342900"/>
            <a:chOff x="0" y="0"/>
            <a:chExt cx="10915650" cy="457200"/>
          </a:xfrm>
        </p:grpSpPr>
        <p:sp>
          <p:nvSpPr>
            <p:cNvPr id="69" name="Freeform 69"/>
            <p:cNvSpPr/>
            <p:nvPr/>
          </p:nvSpPr>
          <p:spPr>
            <a:xfrm>
              <a:off x="0" y="0"/>
              <a:ext cx="10915650" cy="457200"/>
            </a:xfrm>
            <a:custGeom>
              <a:avLst/>
              <a:gdLst/>
              <a:ahLst/>
              <a:cxnLst/>
              <a:rect l="l" t="t" r="r" b="b"/>
              <a:pathLst>
                <a:path w="10915650" h="457200">
                  <a:moveTo>
                    <a:pt x="0" y="0"/>
                  </a:moveTo>
                  <a:lnTo>
                    <a:pt x="10915650" y="0"/>
                  </a:lnTo>
                  <a:lnTo>
                    <a:pt x="10915650" y="457200"/>
                  </a:lnTo>
                  <a:lnTo>
                    <a:pt x="0" y="457200"/>
                  </a:lnTo>
                  <a:close/>
                </a:path>
              </a:pathLst>
            </a:custGeom>
            <a:blipFill>
              <a:blip r:embed="rId18">
                <a:alphaModFix amt="0"/>
              </a:blip>
              <a:stretch>
                <a:fillRect t="-415205" b="-415205"/>
              </a:stretch>
            </a:blipFill>
          </p:spPr>
        </p:sp>
        <p:sp>
          <p:nvSpPr>
            <p:cNvPr id="70" name="TextBox 70"/>
            <p:cNvSpPr txBox="1"/>
            <p:nvPr/>
          </p:nvSpPr>
          <p:spPr>
            <a:xfrm>
              <a:off x="0" y="-95250"/>
              <a:ext cx="10915650" cy="552450"/>
            </a:xfrm>
            <a:prstGeom prst="rect">
              <a:avLst/>
            </a:prstGeom>
          </p:spPr>
          <p:txBody>
            <a:bodyPr lIns="0" tIns="0" rIns="0" bIns="0" rtlCol="0" anchor="ctr"/>
            <a:lstStyle/>
            <a:p>
              <a:pPr algn="l">
                <a:lnSpc>
                  <a:spcPts val="2700"/>
                </a:lnSpc>
              </a:pPr>
              <a:r>
                <a:rPr lang="en-US" sz="1800">
                  <a:solidFill>
                    <a:srgbClr val="2C3E50"/>
                  </a:solidFill>
                  <a:latin typeface="Calibri (MS)"/>
                  <a:ea typeface="Calibri (MS)"/>
                  <a:cs typeface="Calibri (MS)"/>
                  <a:sym typeface="Calibri (MS)"/>
                </a:rPr>
                <a:t>Tối ưu hóa quy trình quản lý dòng tiền và rủi ro tiền mặt.</a:t>
              </a:r>
            </a:p>
          </p:txBody>
        </p:sp>
      </p:gr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571500" y="428625"/>
            <a:ext cx="17145000" cy="1314450"/>
            <a:chOff x="0" y="0"/>
            <a:chExt cx="22860000" cy="1752600"/>
          </a:xfrm>
        </p:grpSpPr>
        <p:sp>
          <p:nvSpPr>
            <p:cNvPr id="6" name="Freeform 6"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4"/>
              <a:stretch>
                <a:fillRect/>
              </a:stretch>
            </a:blipFill>
          </p:spPr>
        </p:sp>
      </p:grpSp>
      <p:grpSp>
        <p:nvGrpSpPr>
          <p:cNvPr id="7" name="Group 7"/>
          <p:cNvGrpSpPr/>
          <p:nvPr/>
        </p:nvGrpSpPr>
        <p:grpSpPr>
          <a:xfrm>
            <a:off x="571500" y="2028825"/>
            <a:ext cx="8358188" cy="7829550"/>
            <a:chOff x="0" y="0"/>
            <a:chExt cx="11144250" cy="10439400"/>
          </a:xfrm>
        </p:grpSpPr>
        <p:sp>
          <p:nvSpPr>
            <p:cNvPr id="8" name="Freeform 8" descr="preencoded.png"/>
            <p:cNvSpPr/>
            <p:nvPr/>
          </p:nvSpPr>
          <p:spPr>
            <a:xfrm>
              <a:off x="0" y="0"/>
              <a:ext cx="11144250" cy="10439400"/>
            </a:xfrm>
            <a:custGeom>
              <a:avLst/>
              <a:gdLst/>
              <a:ahLst/>
              <a:cxnLst/>
              <a:rect l="l" t="t" r="r" b="b"/>
              <a:pathLst>
                <a:path w="11144250" h="10439400">
                  <a:moveTo>
                    <a:pt x="0" y="0"/>
                  </a:moveTo>
                  <a:lnTo>
                    <a:pt x="11144250" y="0"/>
                  </a:lnTo>
                  <a:lnTo>
                    <a:pt x="11144250" y="10439400"/>
                  </a:lnTo>
                  <a:lnTo>
                    <a:pt x="0" y="10439400"/>
                  </a:lnTo>
                  <a:lnTo>
                    <a:pt x="0" y="0"/>
                  </a:lnTo>
                  <a:close/>
                </a:path>
              </a:pathLst>
            </a:custGeom>
            <a:blipFill>
              <a:blip r:embed="rId5"/>
              <a:stretch>
                <a:fillRect/>
              </a:stretch>
            </a:blipFill>
          </p:spPr>
        </p:sp>
      </p:grpSp>
      <p:grpSp>
        <p:nvGrpSpPr>
          <p:cNvPr id="9" name="Group 9"/>
          <p:cNvGrpSpPr/>
          <p:nvPr/>
        </p:nvGrpSpPr>
        <p:grpSpPr>
          <a:xfrm>
            <a:off x="928688" y="2386012"/>
            <a:ext cx="7643812" cy="528638"/>
            <a:chOff x="0" y="0"/>
            <a:chExt cx="10191750" cy="704850"/>
          </a:xfrm>
        </p:grpSpPr>
        <p:sp>
          <p:nvSpPr>
            <p:cNvPr id="10" name="Freeform 10" descr="preencoded.png"/>
            <p:cNvSpPr/>
            <p:nvPr/>
          </p:nvSpPr>
          <p:spPr>
            <a:xfrm>
              <a:off x="0" y="0"/>
              <a:ext cx="10191750" cy="704850"/>
            </a:xfrm>
            <a:custGeom>
              <a:avLst/>
              <a:gdLst/>
              <a:ahLst/>
              <a:cxnLst/>
              <a:rect l="l" t="t" r="r" b="b"/>
              <a:pathLst>
                <a:path w="10191750" h="704850">
                  <a:moveTo>
                    <a:pt x="0" y="0"/>
                  </a:moveTo>
                  <a:lnTo>
                    <a:pt x="10191750" y="0"/>
                  </a:lnTo>
                  <a:lnTo>
                    <a:pt x="10191750" y="704850"/>
                  </a:lnTo>
                  <a:lnTo>
                    <a:pt x="0" y="704850"/>
                  </a:lnTo>
                  <a:lnTo>
                    <a:pt x="0" y="0"/>
                  </a:lnTo>
                  <a:close/>
                </a:path>
              </a:pathLst>
            </a:custGeom>
            <a:blipFill>
              <a:blip r:embed="rId6"/>
              <a:stretch>
                <a:fillRect t="-2702" b="-2702"/>
              </a:stretch>
            </a:blipFill>
          </p:spPr>
        </p:sp>
      </p:grpSp>
      <p:grpSp>
        <p:nvGrpSpPr>
          <p:cNvPr id="11" name="Group 11"/>
          <p:cNvGrpSpPr/>
          <p:nvPr/>
        </p:nvGrpSpPr>
        <p:grpSpPr>
          <a:xfrm>
            <a:off x="928688" y="2407444"/>
            <a:ext cx="428625" cy="342900"/>
            <a:chOff x="0" y="0"/>
            <a:chExt cx="571500" cy="457200"/>
          </a:xfrm>
        </p:grpSpPr>
        <p:sp>
          <p:nvSpPr>
            <p:cNvPr id="12" name="Freeform 12" descr="preencoded.png"/>
            <p:cNvSpPr/>
            <p:nvPr/>
          </p:nvSpPr>
          <p:spPr>
            <a:xfrm>
              <a:off x="0" y="0"/>
              <a:ext cx="571500" cy="457200"/>
            </a:xfrm>
            <a:custGeom>
              <a:avLst/>
              <a:gdLst/>
              <a:ahLst/>
              <a:cxnLst/>
              <a:rect l="l" t="t" r="r" b="b"/>
              <a:pathLst>
                <a:path w="571500" h="457200">
                  <a:moveTo>
                    <a:pt x="0" y="0"/>
                  </a:moveTo>
                  <a:lnTo>
                    <a:pt x="571500" y="0"/>
                  </a:lnTo>
                  <a:lnTo>
                    <a:pt x="571500" y="457200"/>
                  </a:lnTo>
                  <a:lnTo>
                    <a:pt x="0" y="457200"/>
                  </a:lnTo>
                  <a:lnTo>
                    <a:pt x="0" y="0"/>
                  </a:lnTo>
                  <a:close/>
                </a:path>
              </a:pathLst>
            </a:custGeom>
            <a:blipFill>
              <a:blip r:embed="rId7"/>
              <a:stretch>
                <a:fillRect/>
              </a:stretch>
            </a:blipFill>
          </p:spPr>
        </p:sp>
      </p:grpSp>
      <p:grpSp>
        <p:nvGrpSpPr>
          <p:cNvPr id="13" name="Group 13"/>
          <p:cNvGrpSpPr/>
          <p:nvPr/>
        </p:nvGrpSpPr>
        <p:grpSpPr>
          <a:xfrm>
            <a:off x="928688" y="3200400"/>
            <a:ext cx="214312" cy="233734"/>
            <a:chOff x="0" y="0"/>
            <a:chExt cx="285750" cy="311645"/>
          </a:xfrm>
        </p:grpSpPr>
        <p:sp>
          <p:nvSpPr>
            <p:cNvPr id="14" name="Freeform 14" descr="preencoded.png"/>
            <p:cNvSpPr/>
            <p:nvPr/>
          </p:nvSpPr>
          <p:spPr>
            <a:xfrm>
              <a:off x="0" y="0"/>
              <a:ext cx="285750" cy="311658"/>
            </a:xfrm>
            <a:custGeom>
              <a:avLst/>
              <a:gdLst/>
              <a:ahLst/>
              <a:cxnLst/>
              <a:rect l="l" t="t" r="r" b="b"/>
              <a:pathLst>
                <a:path w="285750" h="311658">
                  <a:moveTo>
                    <a:pt x="0" y="0"/>
                  </a:moveTo>
                  <a:lnTo>
                    <a:pt x="285750" y="0"/>
                  </a:lnTo>
                  <a:lnTo>
                    <a:pt x="285750" y="311658"/>
                  </a:lnTo>
                  <a:lnTo>
                    <a:pt x="0" y="311658"/>
                  </a:lnTo>
                  <a:lnTo>
                    <a:pt x="0" y="0"/>
                  </a:lnTo>
                  <a:close/>
                </a:path>
              </a:pathLst>
            </a:custGeom>
            <a:blipFill>
              <a:blip r:embed="rId8"/>
              <a:stretch>
                <a:fillRect t="-12" b="-8"/>
              </a:stretch>
            </a:blipFill>
          </p:spPr>
        </p:sp>
      </p:grpSp>
      <p:grpSp>
        <p:nvGrpSpPr>
          <p:cNvPr id="15" name="Group 15"/>
          <p:cNvGrpSpPr/>
          <p:nvPr/>
        </p:nvGrpSpPr>
        <p:grpSpPr>
          <a:xfrm>
            <a:off x="928688" y="4057650"/>
            <a:ext cx="214312" cy="197796"/>
            <a:chOff x="0" y="0"/>
            <a:chExt cx="285750" cy="263728"/>
          </a:xfrm>
        </p:grpSpPr>
        <p:sp>
          <p:nvSpPr>
            <p:cNvPr id="16" name="Freeform 16" descr="preencoded.png"/>
            <p:cNvSpPr/>
            <p:nvPr/>
          </p:nvSpPr>
          <p:spPr>
            <a:xfrm>
              <a:off x="0" y="0"/>
              <a:ext cx="285750" cy="263779"/>
            </a:xfrm>
            <a:custGeom>
              <a:avLst/>
              <a:gdLst/>
              <a:ahLst/>
              <a:cxnLst/>
              <a:rect l="l" t="t" r="r" b="b"/>
              <a:pathLst>
                <a:path w="285750" h="263779">
                  <a:moveTo>
                    <a:pt x="0" y="0"/>
                  </a:moveTo>
                  <a:lnTo>
                    <a:pt x="285750" y="0"/>
                  </a:lnTo>
                  <a:lnTo>
                    <a:pt x="285750" y="263779"/>
                  </a:lnTo>
                  <a:lnTo>
                    <a:pt x="0" y="263779"/>
                  </a:lnTo>
                  <a:lnTo>
                    <a:pt x="0" y="0"/>
                  </a:lnTo>
                  <a:close/>
                </a:path>
              </a:pathLst>
            </a:custGeom>
            <a:blipFill>
              <a:blip r:embed="rId9"/>
              <a:stretch>
                <a:fillRect t="-9" b="14"/>
              </a:stretch>
            </a:blipFill>
          </p:spPr>
        </p:sp>
      </p:grpSp>
      <p:grpSp>
        <p:nvGrpSpPr>
          <p:cNvPr id="17" name="Group 17"/>
          <p:cNvGrpSpPr/>
          <p:nvPr/>
        </p:nvGrpSpPr>
        <p:grpSpPr>
          <a:xfrm>
            <a:off x="928688" y="5357812"/>
            <a:ext cx="7643812" cy="2371725"/>
            <a:chOff x="0" y="0"/>
            <a:chExt cx="10191750" cy="3162300"/>
          </a:xfrm>
        </p:grpSpPr>
        <p:sp>
          <p:nvSpPr>
            <p:cNvPr id="18" name="Freeform 18" descr="preencoded.png"/>
            <p:cNvSpPr/>
            <p:nvPr/>
          </p:nvSpPr>
          <p:spPr>
            <a:xfrm>
              <a:off x="0" y="0"/>
              <a:ext cx="10191750" cy="3162300"/>
            </a:xfrm>
            <a:custGeom>
              <a:avLst/>
              <a:gdLst/>
              <a:ahLst/>
              <a:cxnLst/>
              <a:rect l="l" t="t" r="r" b="b"/>
              <a:pathLst>
                <a:path w="10191750" h="3162300">
                  <a:moveTo>
                    <a:pt x="0" y="0"/>
                  </a:moveTo>
                  <a:lnTo>
                    <a:pt x="10191750" y="0"/>
                  </a:lnTo>
                  <a:lnTo>
                    <a:pt x="10191750" y="3162300"/>
                  </a:lnTo>
                  <a:lnTo>
                    <a:pt x="0" y="3162300"/>
                  </a:lnTo>
                  <a:lnTo>
                    <a:pt x="0" y="0"/>
                  </a:lnTo>
                  <a:close/>
                </a:path>
              </a:pathLst>
            </a:custGeom>
            <a:blipFill>
              <a:blip r:embed="rId10"/>
              <a:stretch>
                <a:fillRect/>
              </a:stretch>
            </a:blipFill>
          </p:spPr>
        </p:sp>
      </p:grpSp>
      <p:grpSp>
        <p:nvGrpSpPr>
          <p:cNvPr id="19" name="Group 19"/>
          <p:cNvGrpSpPr/>
          <p:nvPr/>
        </p:nvGrpSpPr>
        <p:grpSpPr>
          <a:xfrm>
            <a:off x="9358312" y="2028825"/>
            <a:ext cx="8358188" cy="7829550"/>
            <a:chOff x="0" y="0"/>
            <a:chExt cx="11144250" cy="10439400"/>
          </a:xfrm>
        </p:grpSpPr>
        <p:sp>
          <p:nvSpPr>
            <p:cNvPr id="20" name="Freeform 20" descr="preencoded.png"/>
            <p:cNvSpPr/>
            <p:nvPr/>
          </p:nvSpPr>
          <p:spPr>
            <a:xfrm>
              <a:off x="0" y="0"/>
              <a:ext cx="11144250" cy="10439400"/>
            </a:xfrm>
            <a:custGeom>
              <a:avLst/>
              <a:gdLst/>
              <a:ahLst/>
              <a:cxnLst/>
              <a:rect l="l" t="t" r="r" b="b"/>
              <a:pathLst>
                <a:path w="11144250" h="10439400">
                  <a:moveTo>
                    <a:pt x="0" y="0"/>
                  </a:moveTo>
                  <a:lnTo>
                    <a:pt x="11144250" y="0"/>
                  </a:lnTo>
                  <a:lnTo>
                    <a:pt x="11144250" y="10439400"/>
                  </a:lnTo>
                  <a:lnTo>
                    <a:pt x="0" y="10439400"/>
                  </a:lnTo>
                  <a:lnTo>
                    <a:pt x="0" y="0"/>
                  </a:lnTo>
                  <a:close/>
                </a:path>
              </a:pathLst>
            </a:custGeom>
            <a:blipFill>
              <a:blip r:embed="rId5"/>
              <a:stretch>
                <a:fillRect/>
              </a:stretch>
            </a:blipFill>
          </p:spPr>
        </p:sp>
      </p:grpSp>
      <p:grpSp>
        <p:nvGrpSpPr>
          <p:cNvPr id="21" name="Group 21"/>
          <p:cNvGrpSpPr/>
          <p:nvPr/>
        </p:nvGrpSpPr>
        <p:grpSpPr>
          <a:xfrm>
            <a:off x="9715500" y="2386012"/>
            <a:ext cx="7643812" cy="528638"/>
            <a:chOff x="0" y="0"/>
            <a:chExt cx="10191750" cy="704850"/>
          </a:xfrm>
        </p:grpSpPr>
        <p:sp>
          <p:nvSpPr>
            <p:cNvPr id="22" name="Freeform 22" descr="preencoded.png"/>
            <p:cNvSpPr/>
            <p:nvPr/>
          </p:nvSpPr>
          <p:spPr>
            <a:xfrm>
              <a:off x="0" y="0"/>
              <a:ext cx="10191750" cy="704850"/>
            </a:xfrm>
            <a:custGeom>
              <a:avLst/>
              <a:gdLst/>
              <a:ahLst/>
              <a:cxnLst/>
              <a:rect l="l" t="t" r="r" b="b"/>
              <a:pathLst>
                <a:path w="10191750" h="704850">
                  <a:moveTo>
                    <a:pt x="0" y="0"/>
                  </a:moveTo>
                  <a:lnTo>
                    <a:pt x="10191750" y="0"/>
                  </a:lnTo>
                  <a:lnTo>
                    <a:pt x="10191750" y="704850"/>
                  </a:lnTo>
                  <a:lnTo>
                    <a:pt x="0" y="704850"/>
                  </a:lnTo>
                  <a:lnTo>
                    <a:pt x="0" y="0"/>
                  </a:lnTo>
                  <a:close/>
                </a:path>
              </a:pathLst>
            </a:custGeom>
            <a:blipFill>
              <a:blip r:embed="rId6"/>
              <a:stretch>
                <a:fillRect t="-2702" b="-2702"/>
              </a:stretch>
            </a:blipFill>
          </p:spPr>
        </p:sp>
      </p:grpSp>
      <p:grpSp>
        <p:nvGrpSpPr>
          <p:cNvPr id="23" name="Group 23"/>
          <p:cNvGrpSpPr/>
          <p:nvPr/>
        </p:nvGrpSpPr>
        <p:grpSpPr>
          <a:xfrm>
            <a:off x="9715500" y="2407444"/>
            <a:ext cx="428625" cy="342900"/>
            <a:chOff x="0" y="0"/>
            <a:chExt cx="571500" cy="457200"/>
          </a:xfrm>
        </p:grpSpPr>
        <p:sp>
          <p:nvSpPr>
            <p:cNvPr id="24" name="Freeform 24" descr="preencoded.png"/>
            <p:cNvSpPr/>
            <p:nvPr/>
          </p:nvSpPr>
          <p:spPr>
            <a:xfrm>
              <a:off x="0" y="0"/>
              <a:ext cx="571500" cy="457200"/>
            </a:xfrm>
            <a:custGeom>
              <a:avLst/>
              <a:gdLst/>
              <a:ahLst/>
              <a:cxnLst/>
              <a:rect l="l" t="t" r="r" b="b"/>
              <a:pathLst>
                <a:path w="571500" h="457200">
                  <a:moveTo>
                    <a:pt x="0" y="0"/>
                  </a:moveTo>
                  <a:lnTo>
                    <a:pt x="571500" y="0"/>
                  </a:lnTo>
                  <a:lnTo>
                    <a:pt x="571500" y="457200"/>
                  </a:lnTo>
                  <a:lnTo>
                    <a:pt x="0" y="457200"/>
                  </a:lnTo>
                  <a:lnTo>
                    <a:pt x="0" y="0"/>
                  </a:lnTo>
                  <a:close/>
                </a:path>
              </a:pathLst>
            </a:custGeom>
            <a:blipFill>
              <a:blip r:embed="rId11"/>
              <a:stretch>
                <a:fillRect/>
              </a:stretch>
            </a:blipFill>
          </p:spPr>
        </p:sp>
      </p:grpSp>
      <p:grpSp>
        <p:nvGrpSpPr>
          <p:cNvPr id="25" name="Group 25"/>
          <p:cNvGrpSpPr/>
          <p:nvPr/>
        </p:nvGrpSpPr>
        <p:grpSpPr>
          <a:xfrm>
            <a:off x="9715500" y="3200400"/>
            <a:ext cx="214312" cy="233734"/>
            <a:chOff x="0" y="0"/>
            <a:chExt cx="285750" cy="311645"/>
          </a:xfrm>
        </p:grpSpPr>
        <p:sp>
          <p:nvSpPr>
            <p:cNvPr id="26" name="Freeform 26" descr="preencoded.png"/>
            <p:cNvSpPr/>
            <p:nvPr/>
          </p:nvSpPr>
          <p:spPr>
            <a:xfrm>
              <a:off x="0" y="0"/>
              <a:ext cx="285750" cy="311658"/>
            </a:xfrm>
            <a:custGeom>
              <a:avLst/>
              <a:gdLst/>
              <a:ahLst/>
              <a:cxnLst/>
              <a:rect l="l" t="t" r="r" b="b"/>
              <a:pathLst>
                <a:path w="285750" h="311658">
                  <a:moveTo>
                    <a:pt x="0" y="0"/>
                  </a:moveTo>
                  <a:lnTo>
                    <a:pt x="285750" y="0"/>
                  </a:lnTo>
                  <a:lnTo>
                    <a:pt x="285750" y="311658"/>
                  </a:lnTo>
                  <a:lnTo>
                    <a:pt x="0" y="311658"/>
                  </a:lnTo>
                  <a:lnTo>
                    <a:pt x="0" y="0"/>
                  </a:lnTo>
                  <a:close/>
                </a:path>
              </a:pathLst>
            </a:custGeom>
            <a:blipFill>
              <a:blip r:embed="rId12"/>
              <a:stretch>
                <a:fillRect t="-12" b="-8"/>
              </a:stretch>
            </a:blipFill>
          </p:spPr>
        </p:sp>
      </p:grpSp>
      <p:grpSp>
        <p:nvGrpSpPr>
          <p:cNvPr id="27" name="Group 27"/>
          <p:cNvGrpSpPr/>
          <p:nvPr/>
        </p:nvGrpSpPr>
        <p:grpSpPr>
          <a:xfrm>
            <a:off x="9715500" y="4057650"/>
            <a:ext cx="214312" cy="171450"/>
            <a:chOff x="0" y="0"/>
            <a:chExt cx="285750" cy="228600"/>
          </a:xfrm>
        </p:grpSpPr>
        <p:sp>
          <p:nvSpPr>
            <p:cNvPr id="28" name="Freeform 28" descr="preencoded.png"/>
            <p:cNvSpPr/>
            <p:nvPr/>
          </p:nvSpPr>
          <p:spPr>
            <a:xfrm>
              <a:off x="0" y="0"/>
              <a:ext cx="285750" cy="228600"/>
            </a:xfrm>
            <a:custGeom>
              <a:avLst/>
              <a:gdLst/>
              <a:ahLst/>
              <a:cxnLst/>
              <a:rect l="l" t="t" r="r" b="b"/>
              <a:pathLst>
                <a:path w="285750" h="228600">
                  <a:moveTo>
                    <a:pt x="0" y="0"/>
                  </a:moveTo>
                  <a:lnTo>
                    <a:pt x="285750" y="0"/>
                  </a:lnTo>
                  <a:lnTo>
                    <a:pt x="285750" y="228600"/>
                  </a:lnTo>
                  <a:lnTo>
                    <a:pt x="0" y="228600"/>
                  </a:lnTo>
                  <a:lnTo>
                    <a:pt x="0" y="0"/>
                  </a:lnTo>
                  <a:close/>
                </a:path>
              </a:pathLst>
            </a:custGeom>
            <a:blipFill>
              <a:blip r:embed="rId13"/>
              <a:stretch>
                <a:fillRect/>
              </a:stretch>
            </a:blipFill>
          </p:spPr>
        </p:sp>
      </p:grpSp>
      <p:grpSp>
        <p:nvGrpSpPr>
          <p:cNvPr id="29" name="Group 29"/>
          <p:cNvGrpSpPr/>
          <p:nvPr/>
        </p:nvGrpSpPr>
        <p:grpSpPr>
          <a:xfrm>
            <a:off x="9715500" y="4914900"/>
            <a:ext cx="214312" cy="214312"/>
            <a:chOff x="0" y="0"/>
            <a:chExt cx="285750" cy="285750"/>
          </a:xfrm>
        </p:grpSpPr>
        <p:sp>
          <p:nvSpPr>
            <p:cNvPr id="30" name="Freeform 30" descr="preencoded.png"/>
            <p:cNvSpPr/>
            <p:nvPr/>
          </p:nvSpPr>
          <p:spPr>
            <a:xfrm>
              <a:off x="0" y="0"/>
              <a:ext cx="285750" cy="285750"/>
            </a:xfrm>
            <a:custGeom>
              <a:avLst/>
              <a:gdLst/>
              <a:ahLst/>
              <a:cxnLst/>
              <a:rect l="l" t="t" r="r" b="b"/>
              <a:pathLst>
                <a:path w="285750" h="285750">
                  <a:moveTo>
                    <a:pt x="0" y="0"/>
                  </a:moveTo>
                  <a:lnTo>
                    <a:pt x="285750" y="0"/>
                  </a:lnTo>
                  <a:lnTo>
                    <a:pt x="285750" y="285750"/>
                  </a:lnTo>
                  <a:lnTo>
                    <a:pt x="0" y="285750"/>
                  </a:lnTo>
                  <a:lnTo>
                    <a:pt x="0" y="0"/>
                  </a:lnTo>
                  <a:close/>
                </a:path>
              </a:pathLst>
            </a:custGeom>
            <a:blipFill>
              <a:blip r:embed="rId14"/>
              <a:stretch>
                <a:fillRect/>
              </a:stretch>
            </a:blipFill>
          </p:spPr>
        </p:sp>
      </p:grpSp>
      <p:grpSp>
        <p:nvGrpSpPr>
          <p:cNvPr id="31" name="Group 31"/>
          <p:cNvGrpSpPr/>
          <p:nvPr/>
        </p:nvGrpSpPr>
        <p:grpSpPr>
          <a:xfrm>
            <a:off x="9715500" y="5843588"/>
            <a:ext cx="7643812" cy="1400175"/>
            <a:chOff x="0" y="0"/>
            <a:chExt cx="10191750" cy="1866900"/>
          </a:xfrm>
        </p:grpSpPr>
        <p:sp>
          <p:nvSpPr>
            <p:cNvPr id="32" name="Freeform 32" descr="preencoded.png"/>
            <p:cNvSpPr/>
            <p:nvPr/>
          </p:nvSpPr>
          <p:spPr>
            <a:xfrm>
              <a:off x="0" y="0"/>
              <a:ext cx="10191750" cy="1866900"/>
            </a:xfrm>
            <a:custGeom>
              <a:avLst/>
              <a:gdLst/>
              <a:ahLst/>
              <a:cxnLst/>
              <a:rect l="l" t="t" r="r" b="b"/>
              <a:pathLst>
                <a:path w="10191750" h="1866900">
                  <a:moveTo>
                    <a:pt x="0" y="0"/>
                  </a:moveTo>
                  <a:lnTo>
                    <a:pt x="10191750" y="0"/>
                  </a:lnTo>
                  <a:lnTo>
                    <a:pt x="10191750" y="1866900"/>
                  </a:lnTo>
                  <a:lnTo>
                    <a:pt x="0" y="1866900"/>
                  </a:lnTo>
                  <a:lnTo>
                    <a:pt x="0" y="0"/>
                  </a:lnTo>
                  <a:close/>
                </a:path>
              </a:pathLst>
            </a:custGeom>
            <a:blipFill>
              <a:blip r:embed="rId15"/>
              <a:stretch>
                <a:fillRect/>
              </a:stretch>
            </a:blipFill>
          </p:spPr>
        </p:sp>
      </p:grpSp>
      <p:grpSp>
        <p:nvGrpSpPr>
          <p:cNvPr id="33" name="Group 33"/>
          <p:cNvGrpSpPr/>
          <p:nvPr/>
        </p:nvGrpSpPr>
        <p:grpSpPr>
          <a:xfrm>
            <a:off x="1000125" y="642938"/>
            <a:ext cx="17287875" cy="514350"/>
            <a:chOff x="0" y="0"/>
            <a:chExt cx="23050500" cy="685800"/>
          </a:xfrm>
        </p:grpSpPr>
        <p:sp>
          <p:nvSpPr>
            <p:cNvPr id="34" name="Freeform 34"/>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16">
                <a:alphaModFix amt="0"/>
              </a:blip>
              <a:stretch>
                <a:fillRect t="-604913" b="-604913"/>
              </a:stretch>
            </a:blipFill>
          </p:spPr>
        </p:sp>
        <p:sp>
          <p:nvSpPr>
            <p:cNvPr id="35" name="TextBox 35"/>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6: THỐNG KÊ DOANH THU BIẾN ĐỘNG THEO TỪNG THÁNG</a:t>
              </a:r>
            </a:p>
          </p:txBody>
        </p:sp>
      </p:grpSp>
      <p:grpSp>
        <p:nvGrpSpPr>
          <p:cNvPr id="36" name="Group 36"/>
          <p:cNvGrpSpPr/>
          <p:nvPr/>
        </p:nvGrpSpPr>
        <p:grpSpPr>
          <a:xfrm>
            <a:off x="1000125" y="1228725"/>
            <a:ext cx="16287750" cy="300038"/>
            <a:chOff x="0" y="0"/>
            <a:chExt cx="21717000" cy="400050"/>
          </a:xfrm>
        </p:grpSpPr>
        <p:sp>
          <p:nvSpPr>
            <p:cNvPr id="37" name="Freeform 37"/>
            <p:cNvSpPr/>
            <p:nvPr/>
          </p:nvSpPr>
          <p:spPr>
            <a:xfrm>
              <a:off x="0" y="0"/>
              <a:ext cx="21717000" cy="400050"/>
            </a:xfrm>
            <a:custGeom>
              <a:avLst/>
              <a:gdLst/>
              <a:ahLst/>
              <a:cxnLst/>
              <a:rect l="l" t="t" r="r" b="b"/>
              <a:pathLst>
                <a:path w="21717000" h="400050">
                  <a:moveTo>
                    <a:pt x="0" y="0"/>
                  </a:moveTo>
                  <a:lnTo>
                    <a:pt x="21717000" y="0"/>
                  </a:lnTo>
                  <a:lnTo>
                    <a:pt x="21717000" y="400050"/>
                  </a:lnTo>
                  <a:lnTo>
                    <a:pt x="0" y="400050"/>
                  </a:lnTo>
                  <a:close/>
                </a:path>
              </a:pathLst>
            </a:custGeom>
            <a:blipFill>
              <a:blip r:embed="rId16">
                <a:alphaModFix amt="0"/>
              </a:blip>
              <a:stretch>
                <a:fillRect t="-1007759" b="-1007759"/>
              </a:stretch>
            </a:blipFill>
          </p:spPr>
        </p:sp>
        <p:sp>
          <p:nvSpPr>
            <p:cNvPr id="38" name="TextBox 38"/>
            <p:cNvSpPr txBox="1"/>
            <p:nvPr/>
          </p:nvSpPr>
          <p:spPr>
            <a:xfrm>
              <a:off x="0" y="-66675"/>
              <a:ext cx="217170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Thực thi truy vấn HiveQL &amp; Trực quan hóa kết quả</a:t>
              </a:r>
            </a:p>
          </p:txBody>
        </p:sp>
      </p:grpSp>
      <p:grpSp>
        <p:nvGrpSpPr>
          <p:cNvPr id="39" name="Group 39"/>
          <p:cNvGrpSpPr/>
          <p:nvPr/>
        </p:nvGrpSpPr>
        <p:grpSpPr>
          <a:xfrm>
            <a:off x="1571625" y="2386012"/>
            <a:ext cx="5554980" cy="385762"/>
            <a:chOff x="0" y="0"/>
            <a:chExt cx="7406640" cy="514350"/>
          </a:xfrm>
        </p:grpSpPr>
        <p:sp>
          <p:nvSpPr>
            <p:cNvPr id="40" name="Freeform 40"/>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16">
                <a:alphaModFix amt="0"/>
              </a:blip>
              <a:stretch>
                <a:fillRect t="-230584" b="-230584"/>
              </a:stretch>
            </a:blipFill>
          </p:spPr>
        </p:sp>
        <p:sp>
          <p:nvSpPr>
            <p:cNvPr id="41" name="TextBox 41"/>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Mục đích Phân tích</a:t>
              </a:r>
            </a:p>
          </p:txBody>
        </p:sp>
      </p:grpSp>
      <p:grpSp>
        <p:nvGrpSpPr>
          <p:cNvPr id="42" name="Group 42"/>
          <p:cNvGrpSpPr/>
          <p:nvPr/>
        </p:nvGrpSpPr>
        <p:grpSpPr>
          <a:xfrm>
            <a:off x="1285875" y="3128962"/>
            <a:ext cx="7286625" cy="685800"/>
            <a:chOff x="0" y="0"/>
            <a:chExt cx="9715500" cy="914400"/>
          </a:xfrm>
        </p:grpSpPr>
        <p:sp>
          <p:nvSpPr>
            <p:cNvPr id="43" name="Freeform 43"/>
            <p:cNvSpPr/>
            <p:nvPr/>
          </p:nvSpPr>
          <p:spPr>
            <a:xfrm>
              <a:off x="0" y="0"/>
              <a:ext cx="9715500" cy="914400"/>
            </a:xfrm>
            <a:custGeom>
              <a:avLst/>
              <a:gdLst/>
              <a:ahLst/>
              <a:cxnLst/>
              <a:rect l="l" t="t" r="r" b="b"/>
              <a:pathLst>
                <a:path w="9715500" h="914400">
                  <a:moveTo>
                    <a:pt x="0" y="0"/>
                  </a:moveTo>
                  <a:lnTo>
                    <a:pt x="9715500" y="0"/>
                  </a:lnTo>
                  <a:lnTo>
                    <a:pt x="9715500" y="914400"/>
                  </a:lnTo>
                  <a:lnTo>
                    <a:pt x="0" y="914400"/>
                  </a:lnTo>
                  <a:close/>
                </a:path>
              </a:pathLst>
            </a:custGeom>
            <a:blipFill>
              <a:blip r:embed="rId16">
                <a:alphaModFix amt="0"/>
              </a:blip>
              <a:stretch>
                <a:fillRect t="-157028" b="-157028"/>
              </a:stretch>
            </a:blipFill>
          </p:spPr>
        </p:sp>
        <p:sp>
          <p:nvSpPr>
            <p:cNvPr id="44" name="TextBox 44"/>
            <p:cNvSpPr txBox="1"/>
            <p:nvPr/>
          </p:nvSpPr>
          <p:spPr>
            <a:xfrm>
              <a:off x="0" y="-104775"/>
              <a:ext cx="9715500"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Phát hiện tính chu kỳ thời gian và xu hướng mùa vụ (Seasonality) của thị trường điện máy bán lẻ.</a:t>
              </a:r>
            </a:p>
          </p:txBody>
        </p:sp>
      </p:grpSp>
      <p:grpSp>
        <p:nvGrpSpPr>
          <p:cNvPr id="45" name="Group 45"/>
          <p:cNvGrpSpPr/>
          <p:nvPr/>
        </p:nvGrpSpPr>
        <p:grpSpPr>
          <a:xfrm>
            <a:off x="1285875" y="3986212"/>
            <a:ext cx="7286625" cy="685800"/>
            <a:chOff x="0" y="0"/>
            <a:chExt cx="9715500" cy="914400"/>
          </a:xfrm>
        </p:grpSpPr>
        <p:sp>
          <p:nvSpPr>
            <p:cNvPr id="46" name="Freeform 46"/>
            <p:cNvSpPr/>
            <p:nvPr/>
          </p:nvSpPr>
          <p:spPr>
            <a:xfrm>
              <a:off x="0" y="0"/>
              <a:ext cx="9715500" cy="914400"/>
            </a:xfrm>
            <a:custGeom>
              <a:avLst/>
              <a:gdLst/>
              <a:ahLst/>
              <a:cxnLst/>
              <a:rect l="l" t="t" r="r" b="b"/>
              <a:pathLst>
                <a:path w="9715500" h="914400">
                  <a:moveTo>
                    <a:pt x="0" y="0"/>
                  </a:moveTo>
                  <a:lnTo>
                    <a:pt x="9715500" y="0"/>
                  </a:lnTo>
                  <a:lnTo>
                    <a:pt x="9715500" y="914400"/>
                  </a:lnTo>
                  <a:lnTo>
                    <a:pt x="0" y="914400"/>
                  </a:lnTo>
                  <a:close/>
                </a:path>
              </a:pathLst>
            </a:custGeom>
            <a:blipFill>
              <a:blip r:embed="rId16">
                <a:alphaModFix amt="0"/>
              </a:blip>
              <a:stretch>
                <a:fillRect t="-157028" b="-157028"/>
              </a:stretch>
            </a:blipFill>
          </p:spPr>
        </p:sp>
        <p:sp>
          <p:nvSpPr>
            <p:cNvPr id="47" name="TextBox 47"/>
            <p:cNvSpPr txBox="1"/>
            <p:nvPr/>
          </p:nvSpPr>
          <p:spPr>
            <a:xfrm>
              <a:off x="0" y="-104775"/>
              <a:ext cx="9715500" cy="1019175"/>
            </a:xfrm>
            <a:prstGeom prst="rect">
              <a:avLst/>
            </a:prstGeom>
          </p:spPr>
          <p:txBody>
            <a:bodyPr lIns="0" tIns="0" rIns="0" bIns="0" rtlCol="0" anchor="ctr"/>
            <a:lstStyle/>
            <a:p>
              <a:pPr algn="l">
                <a:lnSpc>
                  <a:spcPts val="2700"/>
                </a:lnSpc>
              </a:pPr>
              <a:r>
                <a:rPr lang="en-US" sz="1687">
                  <a:solidFill>
                    <a:srgbClr val="2C3E50"/>
                  </a:solidFill>
                  <a:latin typeface="Calibri (MS)"/>
                  <a:ea typeface="Calibri (MS)"/>
                  <a:cs typeface="Calibri (MS)"/>
                  <a:sym typeface="Calibri (MS)"/>
                </a:rPr>
                <a:t>Nhận diện các thời điểm bùng nổ doanh số trong năm để chuẩn bị nguồn lực tối ưu.</a:t>
              </a:r>
            </a:p>
          </p:txBody>
        </p:sp>
      </p:grpSp>
      <p:grpSp>
        <p:nvGrpSpPr>
          <p:cNvPr id="48" name="Group 48"/>
          <p:cNvGrpSpPr/>
          <p:nvPr/>
        </p:nvGrpSpPr>
        <p:grpSpPr>
          <a:xfrm>
            <a:off x="928688" y="4843462"/>
            <a:ext cx="7643812" cy="257175"/>
            <a:chOff x="0" y="0"/>
            <a:chExt cx="10191750" cy="342900"/>
          </a:xfrm>
        </p:grpSpPr>
        <p:sp>
          <p:nvSpPr>
            <p:cNvPr id="49" name="Freeform 49"/>
            <p:cNvSpPr/>
            <p:nvPr/>
          </p:nvSpPr>
          <p:spPr>
            <a:xfrm>
              <a:off x="0" y="0"/>
              <a:ext cx="10191750" cy="342900"/>
            </a:xfrm>
            <a:custGeom>
              <a:avLst/>
              <a:gdLst/>
              <a:ahLst/>
              <a:cxnLst/>
              <a:rect l="l" t="t" r="r" b="b"/>
              <a:pathLst>
                <a:path w="10191750" h="342900">
                  <a:moveTo>
                    <a:pt x="0" y="0"/>
                  </a:moveTo>
                  <a:lnTo>
                    <a:pt x="10191750" y="0"/>
                  </a:lnTo>
                  <a:lnTo>
                    <a:pt x="10191750" y="342900"/>
                  </a:lnTo>
                  <a:lnTo>
                    <a:pt x="0" y="342900"/>
                  </a:lnTo>
                  <a:close/>
                </a:path>
              </a:pathLst>
            </a:custGeom>
            <a:blipFill>
              <a:blip r:embed="rId16">
                <a:alphaModFix amt="0"/>
              </a:blip>
              <a:stretch>
                <a:fillRect t="-529138" b="-529138"/>
              </a:stretch>
            </a:blipFill>
          </p:spPr>
        </p:sp>
        <p:sp>
          <p:nvSpPr>
            <p:cNvPr id="50" name="TextBox 50"/>
            <p:cNvSpPr txBox="1"/>
            <p:nvPr/>
          </p:nvSpPr>
          <p:spPr>
            <a:xfrm>
              <a:off x="0" y="-66675"/>
              <a:ext cx="10191750" cy="409575"/>
            </a:xfrm>
            <a:prstGeom prst="rect">
              <a:avLst/>
            </a:prstGeom>
          </p:spPr>
          <p:txBody>
            <a:bodyPr lIns="0" tIns="0" rIns="0" bIns="0" rtlCol="0" anchor="ctr"/>
            <a:lstStyle/>
            <a:p>
              <a:pPr algn="l">
                <a:lnSpc>
                  <a:spcPts val="2025"/>
                </a:lnSpc>
              </a:pPr>
              <a:r>
                <a:rPr lang="en-US" sz="1350" b="1">
                  <a:solidFill>
                    <a:srgbClr val="007ACC"/>
                  </a:solidFill>
                  <a:latin typeface="Calibri (MS) Bold"/>
                  <a:ea typeface="Calibri (MS) Bold"/>
                  <a:cs typeface="Calibri (MS) Bold"/>
                  <a:sym typeface="Calibri (MS) Bold"/>
                </a:rPr>
                <a:t>TRUY VẤN HIVEQL</a:t>
              </a:r>
            </a:p>
          </p:txBody>
        </p:sp>
      </p:grpSp>
      <p:grpSp>
        <p:nvGrpSpPr>
          <p:cNvPr id="51" name="Group 51"/>
          <p:cNvGrpSpPr/>
          <p:nvPr/>
        </p:nvGrpSpPr>
        <p:grpSpPr>
          <a:xfrm>
            <a:off x="1214438" y="5643562"/>
            <a:ext cx="7072312" cy="1800225"/>
            <a:chOff x="0" y="0"/>
            <a:chExt cx="9429750" cy="2400300"/>
          </a:xfrm>
        </p:grpSpPr>
        <p:sp>
          <p:nvSpPr>
            <p:cNvPr id="52" name="Freeform 52"/>
            <p:cNvSpPr/>
            <p:nvPr/>
          </p:nvSpPr>
          <p:spPr>
            <a:xfrm>
              <a:off x="0" y="0"/>
              <a:ext cx="9429750" cy="2400300"/>
            </a:xfrm>
            <a:custGeom>
              <a:avLst/>
              <a:gdLst/>
              <a:ahLst/>
              <a:cxnLst/>
              <a:rect l="l" t="t" r="r" b="b"/>
              <a:pathLst>
                <a:path w="9429750" h="2400300">
                  <a:moveTo>
                    <a:pt x="0" y="0"/>
                  </a:moveTo>
                  <a:lnTo>
                    <a:pt x="9429750" y="0"/>
                  </a:lnTo>
                  <a:lnTo>
                    <a:pt x="9429750" y="2400300"/>
                  </a:lnTo>
                  <a:lnTo>
                    <a:pt x="0" y="2400300"/>
                  </a:lnTo>
                  <a:close/>
                </a:path>
              </a:pathLst>
            </a:custGeom>
            <a:blipFill>
              <a:blip r:embed="rId16">
                <a:alphaModFix amt="0"/>
              </a:blip>
              <a:stretch>
                <a:fillRect t="-26548" b="-26548"/>
              </a:stretch>
            </a:blipFill>
          </p:spPr>
        </p:sp>
        <p:sp>
          <p:nvSpPr>
            <p:cNvPr id="53" name="TextBox 53"/>
            <p:cNvSpPr txBox="1"/>
            <p:nvPr/>
          </p:nvSpPr>
          <p:spPr>
            <a:xfrm>
              <a:off x="0" y="-66675"/>
              <a:ext cx="9429750" cy="2466975"/>
            </a:xfrm>
            <a:prstGeom prst="rect">
              <a:avLst/>
            </a:prstGeom>
          </p:spPr>
          <p:txBody>
            <a:bodyPr lIns="0" tIns="0" rIns="0" bIns="0" rtlCol="0" anchor="ctr"/>
            <a:lstStyle/>
            <a:p>
              <a:pPr algn="l">
                <a:lnSpc>
                  <a:spcPts val="2362"/>
                </a:lnSpc>
              </a:pPr>
              <a:r>
                <a:rPr lang="en-US" sz="1575">
                  <a:solidFill>
                    <a:srgbClr val="F4F7F6"/>
                  </a:solidFill>
                  <a:latin typeface="Calibri (MS)"/>
                  <a:ea typeface="Calibri (MS)"/>
                  <a:cs typeface="Calibri (MS)"/>
                  <a:sym typeface="Calibri (MS)"/>
                </a:rPr>
                <a:t>SELECT </a:t>
              </a:r>
            </a:p>
            <a:p>
              <a:pPr algn="l">
                <a:lnSpc>
                  <a:spcPts val="2362"/>
                </a:lnSpc>
              </a:pPr>
              <a:r>
                <a:rPr lang="en-US" sz="1575">
                  <a:solidFill>
                    <a:srgbClr val="F4F7F6"/>
                  </a:solidFill>
                  <a:latin typeface="Calibri (MS)"/>
                  <a:ea typeface="Calibri (MS)"/>
                  <a:cs typeface="Calibri (MS)"/>
                  <a:sym typeface="Calibri (MS)"/>
                </a:rPr>
                <a:t>  SUBSTR(ngay_ban, 1, 7) AS thang,</a:t>
              </a:r>
            </a:p>
            <a:p>
              <a:pPr algn="l">
                <a:lnSpc>
                  <a:spcPts val="2362"/>
                </a:lnSpc>
              </a:pPr>
              <a:r>
                <a:rPr lang="en-US" sz="1575">
                  <a:solidFill>
                    <a:srgbClr val="F4F7F6"/>
                  </a:solidFill>
                  <a:latin typeface="Calibri (MS)"/>
                  <a:ea typeface="Calibri (MS)"/>
                  <a:cs typeface="Calibri (MS)"/>
                  <a:sym typeface="Calibri (MS)"/>
                </a:rPr>
                <a:t>  ROUND(SUM(thanh_tien), 2) AS tong_doanh_thu</a:t>
              </a:r>
            </a:p>
            <a:p>
              <a:pPr algn="l">
                <a:lnSpc>
                  <a:spcPts val="2362"/>
                </a:lnSpc>
              </a:pPr>
              <a:r>
                <a:rPr lang="en-US" sz="1575">
                  <a:solidFill>
                    <a:srgbClr val="F4F7F6"/>
                  </a:solidFill>
                  <a:latin typeface="Calibri (MS)"/>
                  <a:ea typeface="Calibri (MS)"/>
                  <a:cs typeface="Calibri (MS)"/>
                  <a:sym typeface="Calibri (MS)"/>
                </a:rPr>
                <a:t>FROM ban_hang_dien_may</a:t>
              </a:r>
            </a:p>
            <a:p>
              <a:pPr algn="l">
                <a:lnSpc>
                  <a:spcPts val="2362"/>
                </a:lnSpc>
              </a:pPr>
              <a:r>
                <a:rPr lang="en-US" sz="1575">
                  <a:solidFill>
                    <a:srgbClr val="F4F7F6"/>
                  </a:solidFill>
                  <a:latin typeface="Calibri (MS)"/>
                  <a:ea typeface="Calibri (MS)"/>
                  <a:cs typeface="Calibri (MS)"/>
                  <a:sym typeface="Calibri (MS)"/>
                </a:rPr>
                <a:t>GROUP BY thang</a:t>
              </a:r>
            </a:p>
            <a:p>
              <a:pPr algn="l">
                <a:lnSpc>
                  <a:spcPts val="2362"/>
                </a:lnSpc>
              </a:pPr>
              <a:r>
                <a:rPr lang="en-US" sz="1575">
                  <a:solidFill>
                    <a:srgbClr val="F4F7F6"/>
                  </a:solidFill>
                  <a:latin typeface="Calibri (MS)"/>
                  <a:ea typeface="Calibri (MS)"/>
                  <a:cs typeface="Calibri (MS)"/>
                  <a:sym typeface="Calibri (MS)"/>
                </a:rPr>
                <a:t>ORDER BY thang ASC;</a:t>
              </a:r>
            </a:p>
          </p:txBody>
        </p:sp>
      </p:grpSp>
      <p:grpSp>
        <p:nvGrpSpPr>
          <p:cNvPr id="54" name="Group 54"/>
          <p:cNvGrpSpPr/>
          <p:nvPr/>
        </p:nvGrpSpPr>
        <p:grpSpPr>
          <a:xfrm>
            <a:off x="10358438" y="2386012"/>
            <a:ext cx="5554980" cy="385762"/>
            <a:chOff x="0" y="0"/>
            <a:chExt cx="7406640" cy="514350"/>
          </a:xfrm>
        </p:grpSpPr>
        <p:sp>
          <p:nvSpPr>
            <p:cNvPr id="55" name="Freeform 55"/>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16">
                <a:alphaModFix amt="0"/>
              </a:blip>
              <a:stretch>
                <a:fillRect t="-230584" b="-230584"/>
              </a:stretch>
            </a:blipFill>
          </p:spPr>
        </p:sp>
        <p:sp>
          <p:nvSpPr>
            <p:cNvPr id="56" name="TextBox 56"/>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Ý nghĩa Chiến lược</a:t>
              </a:r>
            </a:p>
          </p:txBody>
        </p:sp>
      </p:grpSp>
      <p:grpSp>
        <p:nvGrpSpPr>
          <p:cNvPr id="57" name="Group 57"/>
          <p:cNvGrpSpPr/>
          <p:nvPr/>
        </p:nvGrpSpPr>
        <p:grpSpPr>
          <a:xfrm>
            <a:off x="10072688" y="3128962"/>
            <a:ext cx="7286625" cy="685800"/>
            <a:chOff x="0" y="0"/>
            <a:chExt cx="9715500" cy="914400"/>
          </a:xfrm>
        </p:grpSpPr>
        <p:sp>
          <p:nvSpPr>
            <p:cNvPr id="58" name="Freeform 58"/>
            <p:cNvSpPr/>
            <p:nvPr/>
          </p:nvSpPr>
          <p:spPr>
            <a:xfrm>
              <a:off x="0" y="0"/>
              <a:ext cx="9715500" cy="914400"/>
            </a:xfrm>
            <a:custGeom>
              <a:avLst/>
              <a:gdLst/>
              <a:ahLst/>
              <a:cxnLst/>
              <a:rect l="l" t="t" r="r" b="b"/>
              <a:pathLst>
                <a:path w="9715500" h="914400">
                  <a:moveTo>
                    <a:pt x="0" y="0"/>
                  </a:moveTo>
                  <a:lnTo>
                    <a:pt x="9715500" y="0"/>
                  </a:lnTo>
                  <a:lnTo>
                    <a:pt x="9715500" y="914400"/>
                  </a:lnTo>
                  <a:lnTo>
                    <a:pt x="0" y="914400"/>
                  </a:lnTo>
                  <a:close/>
                </a:path>
              </a:pathLst>
            </a:custGeom>
            <a:blipFill>
              <a:blip r:embed="rId16">
                <a:alphaModFix amt="0"/>
              </a:blip>
              <a:stretch>
                <a:fillRect t="-157028" b="-157028"/>
              </a:stretch>
            </a:blipFill>
          </p:spPr>
        </p:sp>
        <p:sp>
          <p:nvSpPr>
            <p:cNvPr id="59" name="TextBox 59"/>
            <p:cNvSpPr txBox="1"/>
            <p:nvPr/>
          </p:nvSpPr>
          <p:spPr>
            <a:xfrm>
              <a:off x="0" y="-104775"/>
              <a:ext cx="9715500" cy="1019175"/>
            </a:xfrm>
            <a:prstGeom prst="rect">
              <a:avLst/>
            </a:prstGeom>
          </p:spPr>
          <p:txBody>
            <a:bodyPr lIns="0" tIns="0" rIns="0" bIns="0" rtlCol="0" anchor="ctr"/>
            <a:lstStyle/>
            <a:p>
              <a:pPr algn="l">
                <a:lnSpc>
                  <a:spcPts val="2700"/>
                </a:lnSpc>
              </a:pPr>
              <a:r>
                <a:rPr lang="en-US" sz="1687" b="1">
                  <a:solidFill>
                    <a:srgbClr val="2C3E50"/>
                  </a:solidFill>
                  <a:latin typeface="Calibri (MS) Bold"/>
                  <a:ea typeface="Calibri (MS) Bold"/>
                  <a:cs typeface="Calibri (MS) Bold"/>
                  <a:sym typeface="Calibri (MS) Bold"/>
                </a:rPr>
                <a:t>Lập kế hoạch tài chính:</a:t>
              </a:r>
              <a:r>
                <a:rPr lang="en-US" sz="1687">
                  <a:solidFill>
                    <a:srgbClr val="2C3E50"/>
                  </a:solidFill>
                  <a:latin typeface="Calibri (MS)"/>
                  <a:ea typeface="Calibri (MS)"/>
                  <a:cs typeface="Calibri (MS)"/>
                  <a:sym typeface="Calibri (MS)"/>
                </a:rPr>
                <a:t> Dự phóng dòng tiền chính xác theo từng giai đoạn cao điểm/thấp điểm.</a:t>
              </a:r>
            </a:p>
          </p:txBody>
        </p:sp>
      </p:grpSp>
      <p:grpSp>
        <p:nvGrpSpPr>
          <p:cNvPr id="60" name="Group 60"/>
          <p:cNvGrpSpPr/>
          <p:nvPr/>
        </p:nvGrpSpPr>
        <p:grpSpPr>
          <a:xfrm>
            <a:off x="10072688" y="3986212"/>
            <a:ext cx="7286625" cy="685800"/>
            <a:chOff x="0" y="0"/>
            <a:chExt cx="9715500" cy="914400"/>
          </a:xfrm>
        </p:grpSpPr>
        <p:sp>
          <p:nvSpPr>
            <p:cNvPr id="61" name="Freeform 61"/>
            <p:cNvSpPr/>
            <p:nvPr/>
          </p:nvSpPr>
          <p:spPr>
            <a:xfrm>
              <a:off x="0" y="0"/>
              <a:ext cx="9715500" cy="914400"/>
            </a:xfrm>
            <a:custGeom>
              <a:avLst/>
              <a:gdLst/>
              <a:ahLst/>
              <a:cxnLst/>
              <a:rect l="l" t="t" r="r" b="b"/>
              <a:pathLst>
                <a:path w="9715500" h="914400">
                  <a:moveTo>
                    <a:pt x="0" y="0"/>
                  </a:moveTo>
                  <a:lnTo>
                    <a:pt x="9715500" y="0"/>
                  </a:lnTo>
                  <a:lnTo>
                    <a:pt x="9715500" y="914400"/>
                  </a:lnTo>
                  <a:lnTo>
                    <a:pt x="0" y="914400"/>
                  </a:lnTo>
                  <a:close/>
                </a:path>
              </a:pathLst>
            </a:custGeom>
            <a:blipFill>
              <a:blip r:embed="rId16">
                <a:alphaModFix amt="0"/>
              </a:blip>
              <a:stretch>
                <a:fillRect t="-157028" b="-157028"/>
              </a:stretch>
            </a:blipFill>
          </p:spPr>
        </p:sp>
        <p:sp>
          <p:nvSpPr>
            <p:cNvPr id="62" name="TextBox 62"/>
            <p:cNvSpPr txBox="1"/>
            <p:nvPr/>
          </p:nvSpPr>
          <p:spPr>
            <a:xfrm>
              <a:off x="0" y="-104775"/>
              <a:ext cx="9715500" cy="1019175"/>
            </a:xfrm>
            <a:prstGeom prst="rect">
              <a:avLst/>
            </a:prstGeom>
          </p:spPr>
          <p:txBody>
            <a:bodyPr lIns="0" tIns="0" rIns="0" bIns="0" rtlCol="0" anchor="ctr"/>
            <a:lstStyle/>
            <a:p>
              <a:pPr algn="l">
                <a:lnSpc>
                  <a:spcPts val="2700"/>
                </a:lnSpc>
              </a:pPr>
              <a:r>
                <a:rPr lang="en-US" sz="1687" b="1">
                  <a:solidFill>
                    <a:srgbClr val="2C3E50"/>
                  </a:solidFill>
                  <a:latin typeface="Calibri (MS) Bold"/>
                  <a:ea typeface="Calibri (MS) Bold"/>
                  <a:cs typeface="Calibri (MS) Bold"/>
                  <a:sym typeface="Calibri (MS) Bold"/>
                </a:rPr>
                <a:t>Quản trị nhân sự:</a:t>
              </a:r>
              <a:r>
                <a:rPr lang="en-US" sz="1687">
                  <a:solidFill>
                    <a:srgbClr val="2C3E50"/>
                  </a:solidFill>
                  <a:latin typeface="Calibri (MS)"/>
                  <a:ea typeface="Calibri (MS)"/>
                  <a:cs typeface="Calibri (MS)"/>
                  <a:sym typeface="Calibri (MS)"/>
                </a:rPr>
                <a:t> Bổ sung nhân viên thời vụ vào các tháng cao điểm cận Tết hoặc mùa Hè.</a:t>
              </a:r>
            </a:p>
          </p:txBody>
        </p:sp>
      </p:grpSp>
      <p:grpSp>
        <p:nvGrpSpPr>
          <p:cNvPr id="63" name="Group 63"/>
          <p:cNvGrpSpPr/>
          <p:nvPr/>
        </p:nvGrpSpPr>
        <p:grpSpPr>
          <a:xfrm>
            <a:off x="10072688" y="4843462"/>
            <a:ext cx="7286625" cy="685800"/>
            <a:chOff x="0" y="0"/>
            <a:chExt cx="9715500" cy="914400"/>
          </a:xfrm>
        </p:grpSpPr>
        <p:sp>
          <p:nvSpPr>
            <p:cNvPr id="64" name="Freeform 64"/>
            <p:cNvSpPr/>
            <p:nvPr/>
          </p:nvSpPr>
          <p:spPr>
            <a:xfrm>
              <a:off x="0" y="0"/>
              <a:ext cx="9715500" cy="914400"/>
            </a:xfrm>
            <a:custGeom>
              <a:avLst/>
              <a:gdLst/>
              <a:ahLst/>
              <a:cxnLst/>
              <a:rect l="l" t="t" r="r" b="b"/>
              <a:pathLst>
                <a:path w="9715500" h="914400">
                  <a:moveTo>
                    <a:pt x="0" y="0"/>
                  </a:moveTo>
                  <a:lnTo>
                    <a:pt x="9715500" y="0"/>
                  </a:lnTo>
                  <a:lnTo>
                    <a:pt x="9715500" y="914400"/>
                  </a:lnTo>
                  <a:lnTo>
                    <a:pt x="0" y="914400"/>
                  </a:lnTo>
                  <a:close/>
                </a:path>
              </a:pathLst>
            </a:custGeom>
            <a:blipFill>
              <a:blip r:embed="rId16">
                <a:alphaModFix amt="0"/>
              </a:blip>
              <a:stretch>
                <a:fillRect t="-157028" b="-157028"/>
              </a:stretch>
            </a:blipFill>
          </p:spPr>
        </p:sp>
        <p:sp>
          <p:nvSpPr>
            <p:cNvPr id="65" name="TextBox 65"/>
            <p:cNvSpPr txBox="1"/>
            <p:nvPr/>
          </p:nvSpPr>
          <p:spPr>
            <a:xfrm>
              <a:off x="0" y="-104775"/>
              <a:ext cx="9715500" cy="1019175"/>
            </a:xfrm>
            <a:prstGeom prst="rect">
              <a:avLst/>
            </a:prstGeom>
          </p:spPr>
          <p:txBody>
            <a:bodyPr lIns="0" tIns="0" rIns="0" bIns="0" rtlCol="0" anchor="ctr"/>
            <a:lstStyle/>
            <a:p>
              <a:pPr algn="l">
                <a:lnSpc>
                  <a:spcPts val="2700"/>
                </a:lnSpc>
              </a:pPr>
              <a:r>
                <a:rPr lang="en-US" sz="1687" b="1">
                  <a:solidFill>
                    <a:srgbClr val="2C3E50"/>
                  </a:solidFill>
                  <a:latin typeface="Calibri (MS) Bold"/>
                  <a:ea typeface="Calibri (MS) Bold"/>
                  <a:cs typeface="Calibri (MS) Bold"/>
                  <a:sym typeface="Calibri (MS) Bold"/>
                </a:rPr>
                <a:t>Tối ưu Marketing:</a:t>
              </a:r>
              <a:r>
                <a:rPr lang="en-US" sz="1687">
                  <a:solidFill>
                    <a:srgbClr val="2C3E50"/>
                  </a:solidFill>
                  <a:latin typeface="Calibri (MS)"/>
                  <a:ea typeface="Calibri (MS)"/>
                  <a:cs typeface="Calibri (MS)"/>
                  <a:sym typeface="Calibri (MS)"/>
                </a:rPr>
                <a:t> Tăng ngân sách quảng cáo đúng thời điểm khách hàng có nhu cầu mua sắm cao nhất.</a:t>
              </a:r>
            </a:p>
          </p:txBody>
        </p:sp>
      </p:grpSp>
      <p:grpSp>
        <p:nvGrpSpPr>
          <p:cNvPr id="66" name="Group 66"/>
          <p:cNvGrpSpPr/>
          <p:nvPr/>
        </p:nvGrpSpPr>
        <p:grpSpPr>
          <a:xfrm>
            <a:off x="9929812" y="6057900"/>
            <a:ext cx="7215188" cy="300038"/>
            <a:chOff x="0" y="0"/>
            <a:chExt cx="9620250" cy="400050"/>
          </a:xfrm>
        </p:grpSpPr>
        <p:sp>
          <p:nvSpPr>
            <p:cNvPr id="67" name="Freeform 67"/>
            <p:cNvSpPr/>
            <p:nvPr/>
          </p:nvSpPr>
          <p:spPr>
            <a:xfrm>
              <a:off x="0" y="0"/>
              <a:ext cx="9620250" cy="400050"/>
            </a:xfrm>
            <a:custGeom>
              <a:avLst/>
              <a:gdLst/>
              <a:ahLst/>
              <a:cxnLst/>
              <a:rect l="l" t="t" r="r" b="b"/>
              <a:pathLst>
                <a:path w="9620250" h="400050">
                  <a:moveTo>
                    <a:pt x="0" y="0"/>
                  </a:moveTo>
                  <a:lnTo>
                    <a:pt x="9620250" y="0"/>
                  </a:lnTo>
                  <a:lnTo>
                    <a:pt x="9620250" y="400050"/>
                  </a:lnTo>
                  <a:lnTo>
                    <a:pt x="0" y="400050"/>
                  </a:lnTo>
                  <a:close/>
                </a:path>
              </a:pathLst>
            </a:custGeom>
            <a:blipFill>
              <a:blip r:embed="rId16">
                <a:alphaModFix amt="0"/>
              </a:blip>
              <a:stretch>
                <a:fillRect t="-418568" b="-418568"/>
              </a:stretch>
            </a:blipFill>
          </p:spPr>
        </p:sp>
        <p:sp>
          <p:nvSpPr>
            <p:cNvPr id="68" name="TextBox 68"/>
            <p:cNvSpPr txBox="1"/>
            <p:nvPr/>
          </p:nvSpPr>
          <p:spPr>
            <a:xfrm>
              <a:off x="0" y="-66675"/>
              <a:ext cx="9620250" cy="466725"/>
            </a:xfrm>
            <a:prstGeom prst="rect">
              <a:avLst/>
            </a:prstGeom>
          </p:spPr>
          <p:txBody>
            <a:bodyPr lIns="0" tIns="0" rIns="0" bIns="0" rtlCol="0" anchor="ctr"/>
            <a:lstStyle/>
            <a:p>
              <a:pPr algn="l">
                <a:lnSpc>
                  <a:spcPts val="2362"/>
                </a:lnSpc>
              </a:pPr>
              <a:r>
                <a:rPr lang="en-US" sz="1575" b="1">
                  <a:solidFill>
                    <a:srgbClr val="E67E22"/>
                  </a:solidFill>
                  <a:latin typeface="Calibri (MS) Bold"/>
                  <a:ea typeface="Calibri (MS) Bold"/>
                  <a:cs typeface="Calibri (MS) Bold"/>
                  <a:sym typeface="Calibri (MS) Bold"/>
                </a:rPr>
                <a:t>Insight từ Dữ liệu:</a:t>
              </a:r>
            </a:p>
          </p:txBody>
        </p:sp>
      </p:grpSp>
      <p:grpSp>
        <p:nvGrpSpPr>
          <p:cNvPr id="69" name="Group 69"/>
          <p:cNvGrpSpPr/>
          <p:nvPr/>
        </p:nvGrpSpPr>
        <p:grpSpPr>
          <a:xfrm>
            <a:off x="9929812" y="6429375"/>
            <a:ext cx="7215188" cy="600075"/>
            <a:chOff x="0" y="0"/>
            <a:chExt cx="9620250" cy="800100"/>
          </a:xfrm>
        </p:grpSpPr>
        <p:sp>
          <p:nvSpPr>
            <p:cNvPr id="70" name="Freeform 70"/>
            <p:cNvSpPr/>
            <p:nvPr/>
          </p:nvSpPr>
          <p:spPr>
            <a:xfrm>
              <a:off x="0" y="0"/>
              <a:ext cx="9620250" cy="800100"/>
            </a:xfrm>
            <a:custGeom>
              <a:avLst/>
              <a:gdLst/>
              <a:ahLst/>
              <a:cxnLst/>
              <a:rect l="l" t="t" r="r" b="b"/>
              <a:pathLst>
                <a:path w="9620250" h="800100">
                  <a:moveTo>
                    <a:pt x="0" y="0"/>
                  </a:moveTo>
                  <a:lnTo>
                    <a:pt x="9620250" y="0"/>
                  </a:lnTo>
                  <a:lnTo>
                    <a:pt x="9620250" y="800100"/>
                  </a:lnTo>
                  <a:lnTo>
                    <a:pt x="0" y="800100"/>
                  </a:lnTo>
                  <a:close/>
                </a:path>
              </a:pathLst>
            </a:custGeom>
            <a:blipFill>
              <a:blip r:embed="rId16">
                <a:alphaModFix amt="0"/>
              </a:blip>
              <a:stretch>
                <a:fillRect t="-184284" b="-184284"/>
              </a:stretch>
            </a:blipFill>
          </p:spPr>
        </p:sp>
        <p:sp>
          <p:nvSpPr>
            <p:cNvPr id="71" name="TextBox 71"/>
            <p:cNvSpPr txBox="1"/>
            <p:nvPr/>
          </p:nvSpPr>
          <p:spPr>
            <a:xfrm>
              <a:off x="0" y="-66675"/>
              <a:ext cx="9620250" cy="866775"/>
            </a:xfrm>
            <a:prstGeom prst="rect">
              <a:avLst/>
            </a:prstGeom>
          </p:spPr>
          <p:txBody>
            <a:bodyPr lIns="0" tIns="0" rIns="0" bIns="0" rtlCol="0" anchor="ctr"/>
            <a:lstStyle/>
            <a:p>
              <a:pPr algn="l">
                <a:lnSpc>
                  <a:spcPts val="2362"/>
                </a:lnSpc>
              </a:pPr>
              <a:r>
                <a:rPr lang="en-US" sz="1575" i="1">
                  <a:solidFill>
                    <a:srgbClr val="2C3E50"/>
                  </a:solidFill>
                  <a:latin typeface="Calibri (MS) Italics"/>
                  <a:ea typeface="Calibri (MS) Italics"/>
                  <a:cs typeface="Calibri (MS) Italics"/>
                  <a:sym typeface="Calibri (MS) Italics"/>
                </a:rPr>
                <a:t>Thị trường điện máy thường đạt đỉnh doanh thu vào tháng 1 (mua sắm Tết) và tháng 5-6 (nhu cầu điện lạnh tăng cao).</a:t>
              </a:r>
            </a:p>
          </p:txBody>
        </p:sp>
      </p:gr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9525"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stretch>
                <a:fillRect/>
              </a:stretch>
            </a:blipFill>
          </p:spPr>
        </p:sp>
      </p:grpSp>
      <p:grpSp>
        <p:nvGrpSpPr>
          <p:cNvPr id="7" name="Group 7"/>
          <p:cNvGrpSpPr/>
          <p:nvPr/>
        </p:nvGrpSpPr>
        <p:grpSpPr>
          <a:xfrm>
            <a:off x="571500" y="257175"/>
            <a:ext cx="17145000" cy="1243012"/>
            <a:chOff x="0" y="0"/>
            <a:chExt cx="22860000" cy="1657350"/>
          </a:xfrm>
        </p:grpSpPr>
        <p:sp>
          <p:nvSpPr>
            <p:cNvPr id="8" name="Freeform 8" descr="preencoded.png"/>
            <p:cNvSpPr/>
            <p:nvPr/>
          </p:nvSpPr>
          <p:spPr>
            <a:xfrm>
              <a:off x="0" y="0"/>
              <a:ext cx="22860000" cy="1657350"/>
            </a:xfrm>
            <a:custGeom>
              <a:avLst/>
              <a:gdLst/>
              <a:ahLst/>
              <a:cxnLst/>
              <a:rect l="l" t="t" r="r" b="b"/>
              <a:pathLst>
                <a:path w="22860000" h="1657350">
                  <a:moveTo>
                    <a:pt x="0" y="0"/>
                  </a:moveTo>
                  <a:lnTo>
                    <a:pt x="22860000" y="0"/>
                  </a:lnTo>
                  <a:lnTo>
                    <a:pt x="22860000" y="1657350"/>
                  </a:lnTo>
                  <a:lnTo>
                    <a:pt x="0" y="1657350"/>
                  </a:lnTo>
                  <a:lnTo>
                    <a:pt x="0" y="0"/>
                  </a:lnTo>
                  <a:close/>
                </a:path>
              </a:pathLst>
            </a:custGeom>
            <a:blipFill>
              <a:blip r:embed="rId5"/>
              <a:stretch>
                <a:fillRect/>
              </a:stretch>
            </a:blipFill>
          </p:spPr>
        </p:sp>
      </p:grpSp>
      <p:grpSp>
        <p:nvGrpSpPr>
          <p:cNvPr id="9" name="Group 9"/>
          <p:cNvGrpSpPr/>
          <p:nvPr/>
        </p:nvGrpSpPr>
        <p:grpSpPr>
          <a:xfrm>
            <a:off x="571500" y="3032970"/>
            <a:ext cx="6515100" cy="3263798"/>
            <a:chOff x="0" y="0"/>
            <a:chExt cx="8686800" cy="4351731"/>
          </a:xfrm>
        </p:grpSpPr>
        <p:sp>
          <p:nvSpPr>
            <p:cNvPr id="10" name="Freeform 10" descr="preencoded.png"/>
            <p:cNvSpPr/>
            <p:nvPr/>
          </p:nvSpPr>
          <p:spPr>
            <a:xfrm>
              <a:off x="0" y="0"/>
              <a:ext cx="8686800" cy="4351782"/>
            </a:xfrm>
            <a:custGeom>
              <a:avLst/>
              <a:gdLst/>
              <a:ahLst/>
              <a:cxnLst/>
              <a:rect l="l" t="t" r="r" b="b"/>
              <a:pathLst>
                <a:path w="8686800" h="4351782">
                  <a:moveTo>
                    <a:pt x="0" y="0"/>
                  </a:moveTo>
                  <a:lnTo>
                    <a:pt x="8686800" y="0"/>
                  </a:lnTo>
                  <a:lnTo>
                    <a:pt x="8686800" y="4351782"/>
                  </a:lnTo>
                  <a:lnTo>
                    <a:pt x="0" y="4351782"/>
                  </a:lnTo>
                  <a:lnTo>
                    <a:pt x="0" y="0"/>
                  </a:lnTo>
                  <a:close/>
                </a:path>
              </a:pathLst>
            </a:custGeom>
            <a:blipFill>
              <a:blip r:embed="rId6"/>
              <a:stretch>
                <a:fillRect l="-95" r="-95" b="1"/>
              </a:stretch>
            </a:blipFill>
          </p:spPr>
        </p:sp>
      </p:grpSp>
      <p:grpSp>
        <p:nvGrpSpPr>
          <p:cNvPr id="11" name="Group 11"/>
          <p:cNvGrpSpPr/>
          <p:nvPr/>
        </p:nvGrpSpPr>
        <p:grpSpPr>
          <a:xfrm>
            <a:off x="800100" y="3265589"/>
            <a:ext cx="196453" cy="166087"/>
            <a:chOff x="0" y="0"/>
            <a:chExt cx="261938" cy="221450"/>
          </a:xfrm>
        </p:grpSpPr>
        <p:sp>
          <p:nvSpPr>
            <p:cNvPr id="12" name="Freeform 12" descr="preencoded.png"/>
            <p:cNvSpPr/>
            <p:nvPr/>
          </p:nvSpPr>
          <p:spPr>
            <a:xfrm>
              <a:off x="0" y="0"/>
              <a:ext cx="262001" cy="221488"/>
            </a:xfrm>
            <a:custGeom>
              <a:avLst/>
              <a:gdLst/>
              <a:ahLst/>
              <a:cxnLst/>
              <a:rect l="l" t="t" r="r" b="b"/>
              <a:pathLst>
                <a:path w="262001" h="221488">
                  <a:moveTo>
                    <a:pt x="0" y="0"/>
                  </a:moveTo>
                  <a:lnTo>
                    <a:pt x="262001" y="0"/>
                  </a:lnTo>
                  <a:lnTo>
                    <a:pt x="262001" y="221488"/>
                  </a:lnTo>
                  <a:lnTo>
                    <a:pt x="0" y="221488"/>
                  </a:lnTo>
                  <a:lnTo>
                    <a:pt x="0" y="0"/>
                  </a:lnTo>
                  <a:close/>
                </a:path>
              </a:pathLst>
            </a:custGeom>
            <a:blipFill>
              <a:blip r:embed="rId7"/>
              <a:stretch>
                <a:fillRect t="-40" r="24" b="-28"/>
              </a:stretch>
            </a:blipFill>
          </p:spPr>
        </p:sp>
      </p:grpSp>
      <p:grpSp>
        <p:nvGrpSpPr>
          <p:cNvPr id="13" name="Group 13"/>
          <p:cNvGrpSpPr/>
          <p:nvPr/>
        </p:nvGrpSpPr>
        <p:grpSpPr>
          <a:xfrm>
            <a:off x="571500" y="6468218"/>
            <a:ext cx="6515100" cy="1042988"/>
            <a:chOff x="0" y="0"/>
            <a:chExt cx="8686800" cy="1390650"/>
          </a:xfrm>
        </p:grpSpPr>
        <p:sp>
          <p:nvSpPr>
            <p:cNvPr id="14" name="Freeform 14" descr="preencoded.png"/>
            <p:cNvSpPr/>
            <p:nvPr/>
          </p:nvSpPr>
          <p:spPr>
            <a:xfrm>
              <a:off x="0" y="0"/>
              <a:ext cx="8686800" cy="1390650"/>
            </a:xfrm>
            <a:custGeom>
              <a:avLst/>
              <a:gdLst/>
              <a:ahLst/>
              <a:cxnLst/>
              <a:rect l="l" t="t" r="r" b="b"/>
              <a:pathLst>
                <a:path w="8686800" h="1390650">
                  <a:moveTo>
                    <a:pt x="0" y="0"/>
                  </a:moveTo>
                  <a:lnTo>
                    <a:pt x="8686800" y="0"/>
                  </a:lnTo>
                  <a:lnTo>
                    <a:pt x="8686800" y="1390650"/>
                  </a:lnTo>
                  <a:lnTo>
                    <a:pt x="0" y="1390650"/>
                  </a:lnTo>
                  <a:lnTo>
                    <a:pt x="0" y="0"/>
                  </a:lnTo>
                  <a:close/>
                </a:path>
              </a:pathLst>
            </a:custGeom>
            <a:blipFill>
              <a:blip r:embed="rId8"/>
              <a:stretch>
                <a:fillRect/>
              </a:stretch>
            </a:blipFill>
          </p:spPr>
        </p:sp>
      </p:grpSp>
      <p:grpSp>
        <p:nvGrpSpPr>
          <p:cNvPr id="15" name="Group 15"/>
          <p:cNvGrpSpPr/>
          <p:nvPr/>
        </p:nvGrpSpPr>
        <p:grpSpPr>
          <a:xfrm>
            <a:off x="771525" y="6639668"/>
            <a:ext cx="321469" cy="262976"/>
            <a:chOff x="0" y="0"/>
            <a:chExt cx="428625" cy="350634"/>
          </a:xfrm>
        </p:grpSpPr>
        <p:sp>
          <p:nvSpPr>
            <p:cNvPr id="16" name="Freeform 16"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9"/>
              <a:stretch>
                <a:fillRect t="-7" b="-7"/>
              </a:stretch>
            </a:blipFill>
          </p:spPr>
        </p:sp>
      </p:grpSp>
      <p:grpSp>
        <p:nvGrpSpPr>
          <p:cNvPr id="17" name="Group 17"/>
          <p:cNvGrpSpPr/>
          <p:nvPr/>
        </p:nvGrpSpPr>
        <p:grpSpPr>
          <a:xfrm>
            <a:off x="571500" y="7654080"/>
            <a:ext cx="6515100" cy="1042988"/>
            <a:chOff x="0" y="0"/>
            <a:chExt cx="8686800" cy="1390650"/>
          </a:xfrm>
        </p:grpSpPr>
        <p:sp>
          <p:nvSpPr>
            <p:cNvPr id="18" name="Freeform 18" descr="preencoded.png"/>
            <p:cNvSpPr/>
            <p:nvPr/>
          </p:nvSpPr>
          <p:spPr>
            <a:xfrm>
              <a:off x="0" y="0"/>
              <a:ext cx="8686800" cy="1390650"/>
            </a:xfrm>
            <a:custGeom>
              <a:avLst/>
              <a:gdLst/>
              <a:ahLst/>
              <a:cxnLst/>
              <a:rect l="l" t="t" r="r" b="b"/>
              <a:pathLst>
                <a:path w="8686800" h="1390650">
                  <a:moveTo>
                    <a:pt x="0" y="0"/>
                  </a:moveTo>
                  <a:lnTo>
                    <a:pt x="8686800" y="0"/>
                  </a:lnTo>
                  <a:lnTo>
                    <a:pt x="8686800" y="1390650"/>
                  </a:lnTo>
                  <a:lnTo>
                    <a:pt x="0" y="1390650"/>
                  </a:lnTo>
                  <a:lnTo>
                    <a:pt x="0" y="0"/>
                  </a:lnTo>
                  <a:close/>
                </a:path>
              </a:pathLst>
            </a:custGeom>
            <a:blipFill>
              <a:blip r:embed="rId10"/>
              <a:stretch>
                <a:fillRect/>
              </a:stretch>
            </a:blipFill>
          </p:spPr>
        </p:sp>
      </p:grpSp>
      <p:grpSp>
        <p:nvGrpSpPr>
          <p:cNvPr id="19" name="Group 19"/>
          <p:cNvGrpSpPr/>
          <p:nvPr/>
        </p:nvGrpSpPr>
        <p:grpSpPr>
          <a:xfrm>
            <a:off x="771525" y="7825530"/>
            <a:ext cx="321469" cy="262976"/>
            <a:chOff x="0" y="0"/>
            <a:chExt cx="428625" cy="350634"/>
          </a:xfrm>
        </p:grpSpPr>
        <p:sp>
          <p:nvSpPr>
            <p:cNvPr id="20" name="Freeform 20"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1"/>
              <a:stretch>
                <a:fillRect t="-7" b="-7"/>
              </a:stretch>
            </a:blipFill>
          </p:spPr>
        </p:sp>
      </p:grpSp>
      <p:grpSp>
        <p:nvGrpSpPr>
          <p:cNvPr id="21" name="Group 21"/>
          <p:cNvGrpSpPr/>
          <p:nvPr/>
        </p:nvGrpSpPr>
        <p:grpSpPr>
          <a:xfrm>
            <a:off x="7343775" y="1700212"/>
            <a:ext cx="10372725" cy="7146874"/>
            <a:chOff x="0" y="0"/>
            <a:chExt cx="13830300" cy="9529166"/>
          </a:xfrm>
        </p:grpSpPr>
        <p:sp>
          <p:nvSpPr>
            <p:cNvPr id="22" name="Freeform 22" descr="preencoded.png"/>
            <p:cNvSpPr/>
            <p:nvPr/>
          </p:nvSpPr>
          <p:spPr>
            <a:xfrm>
              <a:off x="0" y="0"/>
              <a:ext cx="13830300" cy="9529191"/>
            </a:xfrm>
            <a:custGeom>
              <a:avLst/>
              <a:gdLst/>
              <a:ahLst/>
              <a:cxnLst/>
              <a:rect l="l" t="t" r="r" b="b"/>
              <a:pathLst>
                <a:path w="13830300" h="9529191">
                  <a:moveTo>
                    <a:pt x="0" y="0"/>
                  </a:moveTo>
                  <a:lnTo>
                    <a:pt x="13830300" y="0"/>
                  </a:lnTo>
                  <a:lnTo>
                    <a:pt x="13830300" y="9529191"/>
                  </a:lnTo>
                  <a:lnTo>
                    <a:pt x="0" y="9529191"/>
                  </a:lnTo>
                  <a:lnTo>
                    <a:pt x="0" y="0"/>
                  </a:lnTo>
                  <a:close/>
                </a:path>
              </a:pathLst>
            </a:custGeom>
            <a:blipFill>
              <a:blip r:embed="rId12"/>
              <a:stretch>
                <a:fillRect l="-323" r="-323"/>
              </a:stretch>
            </a:blipFill>
          </p:spPr>
        </p:sp>
      </p:grpSp>
      <p:grpSp>
        <p:nvGrpSpPr>
          <p:cNvPr id="23" name="Group 23"/>
          <p:cNvGrpSpPr/>
          <p:nvPr/>
        </p:nvGrpSpPr>
        <p:grpSpPr>
          <a:xfrm>
            <a:off x="7572375" y="2243138"/>
            <a:ext cx="9915525" cy="5572125"/>
            <a:chOff x="0" y="0"/>
            <a:chExt cx="13220700" cy="7429500"/>
          </a:xfrm>
        </p:grpSpPr>
        <p:sp>
          <p:nvSpPr>
            <p:cNvPr id="24" name="Freeform 24" descr="preencoded.png"/>
            <p:cNvSpPr/>
            <p:nvPr/>
          </p:nvSpPr>
          <p:spPr>
            <a:xfrm>
              <a:off x="0" y="0"/>
              <a:ext cx="13220700" cy="7429500"/>
            </a:xfrm>
            <a:custGeom>
              <a:avLst/>
              <a:gdLst/>
              <a:ahLst/>
              <a:cxnLst/>
              <a:rect l="l" t="t" r="r" b="b"/>
              <a:pathLst>
                <a:path w="13220700" h="7429500">
                  <a:moveTo>
                    <a:pt x="0" y="0"/>
                  </a:moveTo>
                  <a:lnTo>
                    <a:pt x="13220700" y="0"/>
                  </a:lnTo>
                  <a:lnTo>
                    <a:pt x="13220700" y="7429500"/>
                  </a:lnTo>
                  <a:lnTo>
                    <a:pt x="0" y="7429500"/>
                  </a:lnTo>
                  <a:lnTo>
                    <a:pt x="0" y="0"/>
                  </a:lnTo>
                  <a:close/>
                </a:path>
              </a:pathLst>
            </a:custGeom>
            <a:blipFill>
              <a:blip r:embed="rId13"/>
              <a:stretch>
                <a:fillRect/>
              </a:stretch>
            </a:blipFill>
          </p:spPr>
        </p:sp>
      </p:grpSp>
      <p:grpSp>
        <p:nvGrpSpPr>
          <p:cNvPr id="25" name="Group 25"/>
          <p:cNvGrpSpPr/>
          <p:nvPr/>
        </p:nvGrpSpPr>
        <p:grpSpPr>
          <a:xfrm>
            <a:off x="7343775" y="9018537"/>
            <a:ext cx="3362249" cy="1011288"/>
            <a:chOff x="0" y="0"/>
            <a:chExt cx="4482998" cy="1348384"/>
          </a:xfrm>
        </p:grpSpPr>
        <p:sp>
          <p:nvSpPr>
            <p:cNvPr id="26" name="Freeform 26" descr="preencoded.png"/>
            <p:cNvSpPr/>
            <p:nvPr/>
          </p:nvSpPr>
          <p:spPr>
            <a:xfrm>
              <a:off x="0" y="0"/>
              <a:ext cx="4482973" cy="1348359"/>
            </a:xfrm>
            <a:custGeom>
              <a:avLst/>
              <a:gdLst/>
              <a:ahLst/>
              <a:cxnLst/>
              <a:rect l="l" t="t" r="r" b="b"/>
              <a:pathLst>
                <a:path w="4482973" h="1348359">
                  <a:moveTo>
                    <a:pt x="0" y="0"/>
                  </a:moveTo>
                  <a:lnTo>
                    <a:pt x="4482973" y="0"/>
                  </a:lnTo>
                  <a:lnTo>
                    <a:pt x="4482973" y="1348359"/>
                  </a:lnTo>
                  <a:lnTo>
                    <a:pt x="0" y="1348359"/>
                  </a:lnTo>
                  <a:lnTo>
                    <a:pt x="0" y="0"/>
                  </a:lnTo>
                  <a:close/>
                </a:path>
              </a:pathLst>
            </a:custGeom>
            <a:blipFill>
              <a:blip r:embed="rId14"/>
              <a:stretch>
                <a:fillRect t="-1639" b="-1640"/>
              </a:stretch>
            </a:blipFill>
          </p:spPr>
        </p:sp>
      </p:grpSp>
      <p:grpSp>
        <p:nvGrpSpPr>
          <p:cNvPr id="27" name="Group 27"/>
          <p:cNvGrpSpPr/>
          <p:nvPr/>
        </p:nvGrpSpPr>
        <p:grpSpPr>
          <a:xfrm>
            <a:off x="7543800" y="9381306"/>
            <a:ext cx="357188" cy="285750"/>
            <a:chOff x="0" y="0"/>
            <a:chExt cx="476250" cy="381000"/>
          </a:xfrm>
        </p:grpSpPr>
        <p:sp>
          <p:nvSpPr>
            <p:cNvPr id="28" name="Freeform 28"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15"/>
              <a:stretch>
                <a:fillRect/>
              </a:stretch>
            </a:blipFill>
          </p:spPr>
        </p:sp>
      </p:grpSp>
      <p:grpSp>
        <p:nvGrpSpPr>
          <p:cNvPr id="29" name="Group 29"/>
          <p:cNvGrpSpPr/>
          <p:nvPr/>
        </p:nvGrpSpPr>
        <p:grpSpPr>
          <a:xfrm>
            <a:off x="10848899" y="9018537"/>
            <a:ext cx="3362249" cy="1011288"/>
            <a:chOff x="0" y="0"/>
            <a:chExt cx="4482998" cy="1348384"/>
          </a:xfrm>
        </p:grpSpPr>
        <p:sp>
          <p:nvSpPr>
            <p:cNvPr id="30" name="Freeform 30" descr="preencoded.png"/>
            <p:cNvSpPr/>
            <p:nvPr/>
          </p:nvSpPr>
          <p:spPr>
            <a:xfrm>
              <a:off x="0" y="0"/>
              <a:ext cx="4482973" cy="1348359"/>
            </a:xfrm>
            <a:custGeom>
              <a:avLst/>
              <a:gdLst/>
              <a:ahLst/>
              <a:cxnLst/>
              <a:rect l="l" t="t" r="r" b="b"/>
              <a:pathLst>
                <a:path w="4482973" h="1348359">
                  <a:moveTo>
                    <a:pt x="0" y="0"/>
                  </a:moveTo>
                  <a:lnTo>
                    <a:pt x="4482973" y="0"/>
                  </a:lnTo>
                  <a:lnTo>
                    <a:pt x="4482973" y="1348359"/>
                  </a:lnTo>
                  <a:lnTo>
                    <a:pt x="0" y="1348359"/>
                  </a:lnTo>
                  <a:lnTo>
                    <a:pt x="0" y="0"/>
                  </a:lnTo>
                  <a:close/>
                </a:path>
              </a:pathLst>
            </a:custGeom>
            <a:blipFill>
              <a:blip r:embed="rId16"/>
              <a:stretch>
                <a:fillRect t="-1639" b="-1640"/>
              </a:stretch>
            </a:blipFill>
          </p:spPr>
        </p:sp>
      </p:grpSp>
      <p:grpSp>
        <p:nvGrpSpPr>
          <p:cNvPr id="31" name="Group 31"/>
          <p:cNvGrpSpPr/>
          <p:nvPr/>
        </p:nvGrpSpPr>
        <p:grpSpPr>
          <a:xfrm>
            <a:off x="11048924" y="9381306"/>
            <a:ext cx="357188" cy="285750"/>
            <a:chOff x="0" y="0"/>
            <a:chExt cx="476250" cy="381000"/>
          </a:xfrm>
        </p:grpSpPr>
        <p:sp>
          <p:nvSpPr>
            <p:cNvPr id="32" name="Freeform 32"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17"/>
              <a:stretch>
                <a:fillRect/>
              </a:stretch>
            </a:blipFill>
          </p:spPr>
        </p:sp>
      </p:grpSp>
      <p:grpSp>
        <p:nvGrpSpPr>
          <p:cNvPr id="33" name="Group 33"/>
          <p:cNvGrpSpPr/>
          <p:nvPr/>
        </p:nvGrpSpPr>
        <p:grpSpPr>
          <a:xfrm>
            <a:off x="14354023" y="9018537"/>
            <a:ext cx="3362249" cy="1011288"/>
            <a:chOff x="0" y="0"/>
            <a:chExt cx="4482998" cy="1348384"/>
          </a:xfrm>
        </p:grpSpPr>
        <p:sp>
          <p:nvSpPr>
            <p:cNvPr id="34" name="Freeform 34" descr="preencoded.png"/>
            <p:cNvSpPr/>
            <p:nvPr/>
          </p:nvSpPr>
          <p:spPr>
            <a:xfrm>
              <a:off x="0" y="0"/>
              <a:ext cx="4482973" cy="1348359"/>
            </a:xfrm>
            <a:custGeom>
              <a:avLst/>
              <a:gdLst/>
              <a:ahLst/>
              <a:cxnLst/>
              <a:rect l="l" t="t" r="r" b="b"/>
              <a:pathLst>
                <a:path w="4482973" h="1348359">
                  <a:moveTo>
                    <a:pt x="0" y="0"/>
                  </a:moveTo>
                  <a:lnTo>
                    <a:pt x="4482973" y="0"/>
                  </a:lnTo>
                  <a:lnTo>
                    <a:pt x="4482973" y="1348359"/>
                  </a:lnTo>
                  <a:lnTo>
                    <a:pt x="0" y="1348359"/>
                  </a:lnTo>
                  <a:lnTo>
                    <a:pt x="0" y="0"/>
                  </a:lnTo>
                  <a:close/>
                </a:path>
              </a:pathLst>
            </a:custGeom>
            <a:blipFill>
              <a:blip r:embed="rId18"/>
              <a:stretch>
                <a:fillRect t="-1639" b="-1640"/>
              </a:stretch>
            </a:blipFill>
          </p:spPr>
        </p:sp>
      </p:grpSp>
      <p:grpSp>
        <p:nvGrpSpPr>
          <p:cNvPr id="35" name="Group 35"/>
          <p:cNvGrpSpPr/>
          <p:nvPr/>
        </p:nvGrpSpPr>
        <p:grpSpPr>
          <a:xfrm>
            <a:off x="14554048" y="9381306"/>
            <a:ext cx="357188" cy="285750"/>
            <a:chOff x="0" y="0"/>
            <a:chExt cx="476250" cy="381000"/>
          </a:xfrm>
        </p:grpSpPr>
        <p:sp>
          <p:nvSpPr>
            <p:cNvPr id="36" name="Freeform 36" descr="preencoded.png"/>
            <p:cNvSpPr/>
            <p:nvPr/>
          </p:nvSpPr>
          <p:spPr>
            <a:xfrm>
              <a:off x="0" y="0"/>
              <a:ext cx="476250" cy="381000"/>
            </a:xfrm>
            <a:custGeom>
              <a:avLst/>
              <a:gdLst/>
              <a:ahLst/>
              <a:cxnLst/>
              <a:rect l="l" t="t" r="r" b="b"/>
              <a:pathLst>
                <a:path w="476250" h="381000">
                  <a:moveTo>
                    <a:pt x="0" y="0"/>
                  </a:moveTo>
                  <a:lnTo>
                    <a:pt x="476250" y="0"/>
                  </a:lnTo>
                  <a:lnTo>
                    <a:pt x="476250" y="381000"/>
                  </a:lnTo>
                  <a:lnTo>
                    <a:pt x="0" y="381000"/>
                  </a:lnTo>
                  <a:lnTo>
                    <a:pt x="0" y="0"/>
                  </a:lnTo>
                  <a:close/>
                </a:path>
              </a:pathLst>
            </a:custGeom>
            <a:blipFill>
              <a:blip r:embed="rId19"/>
              <a:stretch>
                <a:fillRect/>
              </a:stretch>
            </a:blipFill>
          </p:spPr>
        </p:sp>
      </p:grpSp>
      <p:grpSp>
        <p:nvGrpSpPr>
          <p:cNvPr id="37" name="Group 37"/>
          <p:cNvGrpSpPr/>
          <p:nvPr/>
        </p:nvGrpSpPr>
        <p:grpSpPr>
          <a:xfrm>
            <a:off x="914400" y="442912"/>
            <a:ext cx="17373600" cy="514350"/>
            <a:chOff x="0" y="0"/>
            <a:chExt cx="23164800" cy="685800"/>
          </a:xfrm>
        </p:grpSpPr>
        <p:sp>
          <p:nvSpPr>
            <p:cNvPr id="38" name="Freeform 38"/>
            <p:cNvSpPr/>
            <p:nvPr/>
          </p:nvSpPr>
          <p:spPr>
            <a:xfrm>
              <a:off x="0" y="0"/>
              <a:ext cx="23164800" cy="685800"/>
            </a:xfrm>
            <a:custGeom>
              <a:avLst/>
              <a:gdLst/>
              <a:ahLst/>
              <a:cxnLst/>
              <a:rect l="l" t="t" r="r" b="b"/>
              <a:pathLst>
                <a:path w="23164800" h="685800">
                  <a:moveTo>
                    <a:pt x="0" y="0"/>
                  </a:moveTo>
                  <a:lnTo>
                    <a:pt x="23164800" y="0"/>
                  </a:lnTo>
                  <a:lnTo>
                    <a:pt x="23164800" y="685800"/>
                  </a:lnTo>
                  <a:lnTo>
                    <a:pt x="0" y="685800"/>
                  </a:lnTo>
                  <a:close/>
                </a:path>
              </a:pathLst>
            </a:custGeom>
            <a:blipFill>
              <a:blip r:embed="rId20">
                <a:alphaModFix amt="0"/>
              </a:blip>
              <a:stretch>
                <a:fillRect t="-608161" b="-608161"/>
              </a:stretch>
            </a:blipFill>
          </p:spPr>
        </p:sp>
        <p:sp>
          <p:nvSpPr>
            <p:cNvPr id="39" name="TextBox 39"/>
            <p:cNvSpPr txBox="1"/>
            <p:nvPr/>
          </p:nvSpPr>
          <p:spPr>
            <a:xfrm>
              <a:off x="0" y="-85725"/>
              <a:ext cx="23164800" cy="771525"/>
            </a:xfrm>
            <a:prstGeom prst="rect">
              <a:avLst/>
            </a:prstGeom>
          </p:spPr>
          <p:txBody>
            <a:bodyPr lIns="0" tIns="0" rIns="0" bIns="0" rtlCol="0" anchor="ctr"/>
            <a:lstStyle/>
            <a:p>
              <a:pPr algn="l">
                <a:lnSpc>
                  <a:spcPts val="4050"/>
                </a:lnSpc>
              </a:pPr>
              <a:r>
                <a:rPr lang="en-US" sz="2700" b="1" spc="45">
                  <a:solidFill>
                    <a:srgbClr val="2C3E50"/>
                  </a:solidFill>
                  <a:latin typeface="Roboto Bold"/>
                  <a:ea typeface="Roboto Bold"/>
                  <a:cs typeface="Roboto Bold"/>
                  <a:sym typeface="Roboto Bold"/>
                </a:rPr>
                <a:t>PHÂN TÍCH 7: GIÁ TRỊ ĐƠN HÀNG TRUNG BÌNH (AOV) THEO THÀNH PHỐ</a:t>
              </a:r>
            </a:p>
          </p:txBody>
        </p:sp>
      </p:grpSp>
      <p:grpSp>
        <p:nvGrpSpPr>
          <p:cNvPr id="40" name="Group 40"/>
          <p:cNvGrpSpPr/>
          <p:nvPr/>
        </p:nvGrpSpPr>
        <p:grpSpPr>
          <a:xfrm>
            <a:off x="914400" y="1014412"/>
            <a:ext cx="16802100" cy="300038"/>
            <a:chOff x="0" y="0"/>
            <a:chExt cx="22402800" cy="400050"/>
          </a:xfrm>
        </p:grpSpPr>
        <p:sp>
          <p:nvSpPr>
            <p:cNvPr id="41" name="Freeform 41"/>
            <p:cNvSpPr/>
            <p:nvPr/>
          </p:nvSpPr>
          <p:spPr>
            <a:xfrm>
              <a:off x="0" y="0"/>
              <a:ext cx="22402800" cy="400050"/>
            </a:xfrm>
            <a:custGeom>
              <a:avLst/>
              <a:gdLst/>
              <a:ahLst/>
              <a:cxnLst/>
              <a:rect l="l" t="t" r="r" b="b"/>
              <a:pathLst>
                <a:path w="22402800" h="400050">
                  <a:moveTo>
                    <a:pt x="0" y="0"/>
                  </a:moveTo>
                  <a:lnTo>
                    <a:pt x="22402800" y="0"/>
                  </a:lnTo>
                  <a:lnTo>
                    <a:pt x="22402800" y="400050"/>
                  </a:lnTo>
                  <a:lnTo>
                    <a:pt x="0" y="400050"/>
                  </a:lnTo>
                  <a:close/>
                </a:path>
              </a:pathLst>
            </a:custGeom>
            <a:blipFill>
              <a:blip r:embed="rId20">
                <a:alphaModFix amt="0"/>
              </a:blip>
              <a:stretch>
                <a:fillRect t="-1041162" b="-1041162"/>
              </a:stretch>
            </a:blipFill>
          </p:spPr>
        </p:sp>
        <p:sp>
          <p:nvSpPr>
            <p:cNvPr id="42" name="TextBox 42"/>
            <p:cNvSpPr txBox="1"/>
            <p:nvPr/>
          </p:nvSpPr>
          <p:spPr>
            <a:xfrm>
              <a:off x="0" y="-57150"/>
              <a:ext cx="22402800" cy="457200"/>
            </a:xfrm>
            <a:prstGeom prst="rect">
              <a:avLst/>
            </a:prstGeom>
          </p:spPr>
          <p:txBody>
            <a:bodyPr lIns="0" tIns="0" rIns="0" bIns="0" rtlCol="0" anchor="ctr"/>
            <a:lstStyle/>
            <a:p>
              <a:pPr algn="l">
                <a:lnSpc>
                  <a:spcPts val="2362"/>
                </a:lnSpc>
              </a:pPr>
              <a:r>
                <a:rPr lang="en-US" sz="1575">
                  <a:solidFill>
                    <a:srgbClr val="007ACC"/>
                  </a:solidFill>
                  <a:latin typeface="Roboto"/>
                  <a:ea typeface="Roboto"/>
                  <a:cs typeface="Roboto"/>
                  <a:sym typeface="Roboto"/>
                </a:rPr>
                <a:t>Thực thi truy vấn HiveQL &amp; Đo lường sức mua theo từng vùng miền địa lý</a:t>
              </a:r>
            </a:p>
          </p:txBody>
        </p:sp>
      </p:grpSp>
      <p:grpSp>
        <p:nvGrpSpPr>
          <p:cNvPr id="43" name="Group 43"/>
          <p:cNvGrpSpPr/>
          <p:nvPr/>
        </p:nvGrpSpPr>
        <p:grpSpPr>
          <a:xfrm>
            <a:off x="996553" y="3232995"/>
            <a:ext cx="6057900" cy="235744"/>
            <a:chOff x="0" y="0"/>
            <a:chExt cx="8077200" cy="314325"/>
          </a:xfrm>
        </p:grpSpPr>
        <p:sp>
          <p:nvSpPr>
            <p:cNvPr id="44" name="Freeform 44"/>
            <p:cNvSpPr/>
            <p:nvPr/>
          </p:nvSpPr>
          <p:spPr>
            <a:xfrm>
              <a:off x="0" y="0"/>
              <a:ext cx="8077200" cy="314326"/>
            </a:xfrm>
            <a:custGeom>
              <a:avLst/>
              <a:gdLst/>
              <a:ahLst/>
              <a:cxnLst/>
              <a:rect l="l" t="t" r="r" b="b"/>
              <a:pathLst>
                <a:path w="8077200" h="314326">
                  <a:moveTo>
                    <a:pt x="0" y="0"/>
                  </a:moveTo>
                  <a:lnTo>
                    <a:pt x="8077200" y="0"/>
                  </a:lnTo>
                  <a:lnTo>
                    <a:pt x="8077200" y="314326"/>
                  </a:lnTo>
                  <a:lnTo>
                    <a:pt x="0" y="314326"/>
                  </a:lnTo>
                  <a:close/>
                </a:path>
              </a:pathLst>
            </a:custGeom>
            <a:blipFill>
              <a:blip r:embed="rId20">
                <a:alphaModFix amt="0"/>
              </a:blip>
              <a:stretch>
                <a:fillRect t="-450705" b="-450704"/>
              </a:stretch>
            </a:blipFill>
          </p:spPr>
        </p:sp>
        <p:sp>
          <p:nvSpPr>
            <p:cNvPr id="45" name="TextBox 45"/>
            <p:cNvSpPr txBox="1"/>
            <p:nvPr/>
          </p:nvSpPr>
          <p:spPr>
            <a:xfrm>
              <a:off x="0" y="-38100"/>
              <a:ext cx="8077200" cy="352425"/>
            </a:xfrm>
            <a:prstGeom prst="rect">
              <a:avLst/>
            </a:prstGeom>
          </p:spPr>
          <p:txBody>
            <a:bodyPr lIns="0" tIns="0" rIns="0" bIns="0" rtlCol="0" anchor="ctr"/>
            <a:lstStyle/>
            <a:p>
              <a:pPr algn="l">
                <a:lnSpc>
                  <a:spcPts val="1857"/>
                </a:lnSpc>
              </a:pPr>
              <a:r>
                <a:rPr lang="en-US" sz="1237" b="1" spc="90">
                  <a:solidFill>
                    <a:srgbClr val="E67E22"/>
                  </a:solidFill>
                  <a:latin typeface="Roboto Bold"/>
                  <a:ea typeface="Roboto Bold"/>
                  <a:cs typeface="Roboto Bold"/>
                  <a:sym typeface="Roboto Bold"/>
                </a:rPr>
                <a:t>  HIVEQL QUERY</a:t>
              </a:r>
            </a:p>
          </p:txBody>
        </p:sp>
      </p:grpSp>
      <p:grpSp>
        <p:nvGrpSpPr>
          <p:cNvPr id="46" name="Group 46"/>
          <p:cNvGrpSpPr/>
          <p:nvPr/>
        </p:nvGrpSpPr>
        <p:grpSpPr>
          <a:xfrm>
            <a:off x="800100" y="3611613"/>
            <a:ext cx="6978015" cy="171450"/>
            <a:chOff x="0" y="0"/>
            <a:chExt cx="9304020" cy="228600"/>
          </a:xfrm>
        </p:grpSpPr>
        <p:sp>
          <p:nvSpPr>
            <p:cNvPr id="47" name="Freeform 47"/>
            <p:cNvSpPr/>
            <p:nvPr/>
          </p:nvSpPr>
          <p:spPr>
            <a:xfrm>
              <a:off x="0" y="0"/>
              <a:ext cx="9304020" cy="228600"/>
            </a:xfrm>
            <a:custGeom>
              <a:avLst/>
              <a:gdLst/>
              <a:ahLst/>
              <a:cxnLst/>
              <a:rect l="l" t="t" r="r" b="b"/>
              <a:pathLst>
                <a:path w="9304020" h="228600">
                  <a:moveTo>
                    <a:pt x="0" y="0"/>
                  </a:moveTo>
                  <a:lnTo>
                    <a:pt x="9304020" y="0"/>
                  </a:lnTo>
                  <a:lnTo>
                    <a:pt x="9304020" y="228600"/>
                  </a:lnTo>
                  <a:lnTo>
                    <a:pt x="0" y="228600"/>
                  </a:lnTo>
                  <a:close/>
                </a:path>
              </a:pathLst>
            </a:custGeom>
            <a:blipFill>
              <a:blip r:embed="rId20">
                <a:alphaModFix amt="0"/>
              </a:blip>
              <a:stretch>
                <a:fillRect t="-743041" b="-743041"/>
              </a:stretch>
            </a:blipFill>
          </p:spPr>
        </p:sp>
        <p:sp>
          <p:nvSpPr>
            <p:cNvPr id="48" name="TextBox 48"/>
            <p:cNvSpPr txBox="1"/>
            <p:nvPr/>
          </p:nvSpPr>
          <p:spPr>
            <a:xfrm>
              <a:off x="0" y="-66675"/>
              <a:ext cx="9304020" cy="295275"/>
            </a:xfrm>
            <a:prstGeom prst="rect">
              <a:avLst/>
            </a:prstGeom>
          </p:spPr>
          <p:txBody>
            <a:bodyPr lIns="0" tIns="0" rIns="0" bIns="0" rtlCol="0" anchor="ctr"/>
            <a:lstStyle/>
            <a:p>
              <a:pPr algn="l">
                <a:lnSpc>
                  <a:spcPts val="1980"/>
                </a:lnSpc>
              </a:pPr>
              <a:r>
                <a:rPr lang="en-US" sz="1237" i="1">
                  <a:solidFill>
                    <a:srgbClr val="6A9955"/>
                  </a:solidFill>
                  <a:latin typeface="Calibri (MS) Italics"/>
                  <a:ea typeface="Calibri (MS) Italics"/>
                  <a:cs typeface="Calibri (MS) Italics"/>
                  <a:sym typeface="Calibri (MS) Italics"/>
                </a:rPr>
                <a:t>-- AOV = Tổng doanh thu / Số đơn hàng</a:t>
              </a:r>
            </a:p>
          </p:txBody>
        </p:sp>
      </p:grpSp>
      <p:grpSp>
        <p:nvGrpSpPr>
          <p:cNvPr id="49" name="Group 49"/>
          <p:cNvGrpSpPr/>
          <p:nvPr/>
        </p:nvGrpSpPr>
        <p:grpSpPr>
          <a:xfrm>
            <a:off x="800100" y="3862988"/>
            <a:ext cx="1131570" cy="171450"/>
            <a:chOff x="0" y="0"/>
            <a:chExt cx="1508760" cy="228600"/>
          </a:xfrm>
        </p:grpSpPr>
        <p:sp>
          <p:nvSpPr>
            <p:cNvPr id="50" name="Freeform 50"/>
            <p:cNvSpPr/>
            <p:nvPr/>
          </p:nvSpPr>
          <p:spPr>
            <a:xfrm>
              <a:off x="0" y="0"/>
              <a:ext cx="1508760" cy="228600"/>
            </a:xfrm>
            <a:custGeom>
              <a:avLst/>
              <a:gdLst/>
              <a:ahLst/>
              <a:cxnLst/>
              <a:rect l="l" t="t" r="r" b="b"/>
              <a:pathLst>
                <a:path w="1508760" h="228600">
                  <a:moveTo>
                    <a:pt x="0" y="0"/>
                  </a:moveTo>
                  <a:lnTo>
                    <a:pt x="1508760" y="0"/>
                  </a:lnTo>
                  <a:lnTo>
                    <a:pt x="1508760" y="228600"/>
                  </a:lnTo>
                  <a:lnTo>
                    <a:pt x="0" y="228600"/>
                  </a:lnTo>
                  <a:close/>
                </a:path>
              </a:pathLst>
            </a:custGeom>
            <a:blipFill>
              <a:blip r:embed="rId20">
                <a:alphaModFix amt="0"/>
              </a:blip>
              <a:stretch>
                <a:fillRect t="-78601" b="-78601"/>
              </a:stretch>
            </a:blipFill>
          </p:spPr>
        </p:sp>
        <p:sp>
          <p:nvSpPr>
            <p:cNvPr id="51" name="TextBox 51"/>
            <p:cNvSpPr txBox="1"/>
            <p:nvPr/>
          </p:nvSpPr>
          <p:spPr>
            <a:xfrm>
              <a:off x="0" y="-66675"/>
              <a:ext cx="1508760" cy="295275"/>
            </a:xfrm>
            <a:prstGeom prst="rect">
              <a:avLst/>
            </a:prstGeom>
          </p:spPr>
          <p:txBody>
            <a:bodyPr lIns="0" tIns="0" rIns="0" bIns="0" rtlCol="0" anchor="ctr"/>
            <a:lstStyle/>
            <a:p>
              <a:pPr algn="l">
                <a:lnSpc>
                  <a:spcPts val="1980"/>
                </a:lnSpc>
              </a:pPr>
              <a:r>
                <a:rPr lang="en-US" sz="1237" b="1">
                  <a:solidFill>
                    <a:srgbClr val="569CD6"/>
                  </a:solidFill>
                  <a:latin typeface="Calibri (MS) Bold"/>
                  <a:ea typeface="Calibri (MS) Bold"/>
                  <a:cs typeface="Calibri (MS) Bold"/>
                  <a:sym typeface="Calibri (MS) Bold"/>
                </a:rPr>
                <a:t>SELECT</a:t>
              </a:r>
            </a:p>
          </p:txBody>
        </p:sp>
      </p:grpSp>
      <p:sp>
        <p:nvSpPr>
          <p:cNvPr id="52" name="TextBox 52"/>
          <p:cNvSpPr txBox="1"/>
          <p:nvPr/>
        </p:nvSpPr>
        <p:spPr>
          <a:xfrm>
            <a:off x="1366018" y="4047677"/>
            <a:ext cx="3017520" cy="489499"/>
          </a:xfrm>
          <a:prstGeom prst="rect">
            <a:avLst/>
          </a:prstGeom>
        </p:spPr>
        <p:txBody>
          <a:bodyPr lIns="0" tIns="0" rIns="0" bIns="0" rtlCol="0" anchor="t">
            <a:spAutoFit/>
          </a:bodyPr>
          <a:lstStyle/>
          <a:p>
            <a:pPr algn="l">
              <a:lnSpc>
                <a:spcPts val="1980"/>
              </a:lnSpc>
            </a:pPr>
            <a:endParaRPr/>
          </a:p>
          <a:p>
            <a:pPr algn="l">
              <a:lnSpc>
                <a:spcPts val="1980"/>
              </a:lnSpc>
            </a:pPr>
            <a:r>
              <a:rPr lang="en-US" sz="1237">
                <a:solidFill>
                  <a:srgbClr val="A8D8F0"/>
                </a:solidFill>
                <a:latin typeface="Calibri (MS)"/>
                <a:ea typeface="Calibri (MS)"/>
                <a:cs typeface="Calibri (MS)"/>
                <a:sym typeface="Calibri (MS)"/>
              </a:rPr>
              <a:t>  thanh_pho,</a:t>
            </a:r>
          </a:p>
          <a:p>
            <a:pPr algn="l">
              <a:lnSpc>
                <a:spcPts val="1980"/>
              </a:lnSpc>
            </a:pPr>
            <a:r>
              <a:rPr lang="en-US" sz="1237">
                <a:solidFill>
                  <a:srgbClr val="A8D8F0"/>
                </a:solidFill>
                <a:latin typeface="Calibri (MS)"/>
                <a:ea typeface="Calibri (MS)"/>
                <a:cs typeface="Calibri (MS)"/>
                <a:sym typeface="Calibri (MS)"/>
              </a:rPr>
              <a:t>  </a:t>
            </a:r>
          </a:p>
        </p:txBody>
      </p:sp>
      <p:grpSp>
        <p:nvGrpSpPr>
          <p:cNvPr id="53" name="Group 53"/>
          <p:cNvGrpSpPr/>
          <p:nvPr/>
        </p:nvGrpSpPr>
        <p:grpSpPr>
          <a:xfrm>
            <a:off x="988743" y="4365727"/>
            <a:ext cx="942975" cy="171450"/>
            <a:chOff x="0" y="0"/>
            <a:chExt cx="1257300" cy="228600"/>
          </a:xfrm>
        </p:grpSpPr>
        <p:sp>
          <p:nvSpPr>
            <p:cNvPr id="54" name="Freeform 54"/>
            <p:cNvSpPr/>
            <p:nvPr/>
          </p:nvSpPr>
          <p:spPr>
            <a:xfrm>
              <a:off x="0" y="0"/>
              <a:ext cx="1257300" cy="228600"/>
            </a:xfrm>
            <a:custGeom>
              <a:avLst/>
              <a:gdLst/>
              <a:ahLst/>
              <a:cxnLst/>
              <a:rect l="l" t="t" r="r" b="b"/>
              <a:pathLst>
                <a:path w="1257300" h="228600">
                  <a:moveTo>
                    <a:pt x="0" y="0"/>
                  </a:moveTo>
                  <a:lnTo>
                    <a:pt x="1257300" y="0"/>
                  </a:lnTo>
                  <a:lnTo>
                    <a:pt x="1257300" y="228600"/>
                  </a:lnTo>
                  <a:lnTo>
                    <a:pt x="0" y="228600"/>
                  </a:lnTo>
                  <a:close/>
                </a:path>
              </a:pathLst>
            </a:custGeom>
            <a:blipFill>
              <a:blip r:embed="rId20">
                <a:alphaModFix amt="0"/>
              </a:blip>
              <a:stretch>
                <a:fillRect t="-57167" b="-57167"/>
              </a:stretch>
            </a:blipFill>
          </p:spPr>
        </p:sp>
        <p:sp>
          <p:nvSpPr>
            <p:cNvPr id="55" name="TextBox 55"/>
            <p:cNvSpPr txBox="1"/>
            <p:nvPr/>
          </p:nvSpPr>
          <p:spPr>
            <a:xfrm>
              <a:off x="0" y="-66675"/>
              <a:ext cx="1257300" cy="295275"/>
            </a:xfrm>
            <a:prstGeom prst="rect">
              <a:avLst/>
            </a:prstGeom>
          </p:spPr>
          <p:txBody>
            <a:bodyPr lIns="0" tIns="0" rIns="0" bIns="0" rtlCol="0" anchor="ctr"/>
            <a:lstStyle/>
            <a:p>
              <a:pPr algn="l">
                <a:lnSpc>
                  <a:spcPts val="1980"/>
                </a:lnSpc>
              </a:pPr>
              <a:r>
                <a:rPr lang="en-US" sz="1237">
                  <a:solidFill>
                    <a:srgbClr val="DCDCAA"/>
                  </a:solidFill>
                  <a:latin typeface="Calibri (MS)"/>
                  <a:ea typeface="Calibri (MS)"/>
                  <a:cs typeface="Calibri (MS)"/>
                  <a:sym typeface="Calibri (MS)"/>
                </a:rPr>
                <a:t>COUNT</a:t>
              </a:r>
            </a:p>
          </p:txBody>
        </p:sp>
      </p:grpSp>
      <p:sp>
        <p:nvSpPr>
          <p:cNvPr id="56" name="TextBox 56"/>
          <p:cNvSpPr txBox="1"/>
          <p:nvPr/>
        </p:nvSpPr>
        <p:spPr>
          <a:xfrm>
            <a:off x="1460449" y="4299052"/>
            <a:ext cx="2640330" cy="238125"/>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(ma_don_hang) </a:t>
            </a:r>
          </a:p>
        </p:txBody>
      </p:sp>
      <p:grpSp>
        <p:nvGrpSpPr>
          <p:cNvPr id="57" name="Group 57"/>
          <p:cNvGrpSpPr/>
          <p:nvPr/>
        </p:nvGrpSpPr>
        <p:grpSpPr>
          <a:xfrm>
            <a:off x="2780929" y="4365727"/>
            <a:ext cx="377190" cy="171450"/>
            <a:chOff x="0" y="0"/>
            <a:chExt cx="502920" cy="228600"/>
          </a:xfrm>
        </p:grpSpPr>
        <p:sp>
          <p:nvSpPr>
            <p:cNvPr id="58" name="Freeform 58"/>
            <p:cNvSpPr/>
            <p:nvPr/>
          </p:nvSpPr>
          <p:spPr>
            <a:xfrm>
              <a:off x="0" y="0"/>
              <a:ext cx="502920" cy="228600"/>
            </a:xfrm>
            <a:custGeom>
              <a:avLst/>
              <a:gdLst/>
              <a:ahLst/>
              <a:cxnLst/>
              <a:rect l="l" t="t" r="r" b="b"/>
              <a:pathLst>
                <a:path w="502920" h="228600">
                  <a:moveTo>
                    <a:pt x="0" y="0"/>
                  </a:moveTo>
                  <a:lnTo>
                    <a:pt x="502920" y="0"/>
                  </a:lnTo>
                  <a:lnTo>
                    <a:pt x="502920" y="228600"/>
                  </a:lnTo>
                  <a:lnTo>
                    <a:pt x="0" y="228600"/>
                  </a:lnTo>
                  <a:close/>
                </a:path>
              </a:pathLst>
            </a:custGeom>
            <a:blipFill>
              <a:blip r:embed="rId20">
                <a:alphaModFix amt="0"/>
              </a:blip>
              <a:stretch>
                <a:fillRect l="-8319" r="-8319"/>
              </a:stretch>
            </a:blipFill>
          </p:spPr>
        </p:sp>
        <p:sp>
          <p:nvSpPr>
            <p:cNvPr id="59" name="TextBox 59"/>
            <p:cNvSpPr txBox="1"/>
            <p:nvPr/>
          </p:nvSpPr>
          <p:spPr>
            <a:xfrm>
              <a:off x="0" y="-66675"/>
              <a:ext cx="502920" cy="295275"/>
            </a:xfrm>
            <a:prstGeom prst="rect">
              <a:avLst/>
            </a:prstGeom>
          </p:spPr>
          <p:txBody>
            <a:bodyPr lIns="0" tIns="0" rIns="0" bIns="0" rtlCol="0" anchor="ctr"/>
            <a:lstStyle/>
            <a:p>
              <a:pPr algn="l">
                <a:lnSpc>
                  <a:spcPts val="1980"/>
                </a:lnSpc>
              </a:pPr>
              <a:r>
                <a:rPr lang="en-US" sz="1237" b="1">
                  <a:solidFill>
                    <a:srgbClr val="569CD6"/>
                  </a:solidFill>
                  <a:latin typeface="Calibri (MS) Bold"/>
                  <a:ea typeface="Calibri (MS) Bold"/>
                  <a:cs typeface="Calibri (MS) Bold"/>
                  <a:sym typeface="Calibri (MS) Bold"/>
                </a:rPr>
                <a:t>AS</a:t>
              </a:r>
            </a:p>
          </p:txBody>
        </p:sp>
      </p:grpSp>
      <p:sp>
        <p:nvSpPr>
          <p:cNvPr id="60" name="TextBox 60"/>
          <p:cNvSpPr txBox="1"/>
          <p:nvPr/>
        </p:nvSpPr>
        <p:spPr>
          <a:xfrm>
            <a:off x="2969571" y="4299052"/>
            <a:ext cx="3395739" cy="489499"/>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 so_don_hang,</a:t>
            </a:r>
          </a:p>
          <a:p>
            <a:pPr algn="l">
              <a:lnSpc>
                <a:spcPts val="1980"/>
              </a:lnSpc>
            </a:pPr>
            <a:r>
              <a:rPr lang="en-US" sz="1237">
                <a:solidFill>
                  <a:srgbClr val="A8D8F0"/>
                </a:solidFill>
                <a:latin typeface="Calibri (MS)"/>
                <a:ea typeface="Calibri (MS)"/>
                <a:cs typeface="Calibri (MS)"/>
                <a:sym typeface="Calibri (MS)"/>
              </a:rPr>
              <a:t>  </a:t>
            </a:r>
          </a:p>
        </p:txBody>
      </p:sp>
      <p:grpSp>
        <p:nvGrpSpPr>
          <p:cNvPr id="61" name="Group 61"/>
          <p:cNvGrpSpPr/>
          <p:nvPr/>
        </p:nvGrpSpPr>
        <p:grpSpPr>
          <a:xfrm>
            <a:off x="988743" y="4617091"/>
            <a:ext cx="942975" cy="171450"/>
            <a:chOff x="0" y="0"/>
            <a:chExt cx="1257300" cy="228600"/>
          </a:xfrm>
        </p:grpSpPr>
        <p:sp>
          <p:nvSpPr>
            <p:cNvPr id="62" name="Freeform 62"/>
            <p:cNvSpPr/>
            <p:nvPr/>
          </p:nvSpPr>
          <p:spPr>
            <a:xfrm>
              <a:off x="0" y="0"/>
              <a:ext cx="1257300" cy="228600"/>
            </a:xfrm>
            <a:custGeom>
              <a:avLst/>
              <a:gdLst/>
              <a:ahLst/>
              <a:cxnLst/>
              <a:rect l="l" t="t" r="r" b="b"/>
              <a:pathLst>
                <a:path w="1257300" h="228600">
                  <a:moveTo>
                    <a:pt x="0" y="0"/>
                  </a:moveTo>
                  <a:lnTo>
                    <a:pt x="1257300" y="0"/>
                  </a:lnTo>
                  <a:lnTo>
                    <a:pt x="1257300" y="228600"/>
                  </a:lnTo>
                  <a:lnTo>
                    <a:pt x="0" y="228600"/>
                  </a:lnTo>
                  <a:close/>
                </a:path>
              </a:pathLst>
            </a:custGeom>
            <a:blipFill>
              <a:blip r:embed="rId20">
                <a:alphaModFix amt="0"/>
              </a:blip>
              <a:stretch>
                <a:fillRect t="-57167" b="-57167"/>
              </a:stretch>
            </a:blipFill>
          </p:spPr>
        </p:sp>
        <p:sp>
          <p:nvSpPr>
            <p:cNvPr id="63" name="TextBox 63"/>
            <p:cNvSpPr txBox="1"/>
            <p:nvPr/>
          </p:nvSpPr>
          <p:spPr>
            <a:xfrm>
              <a:off x="0" y="-66675"/>
              <a:ext cx="1257300" cy="295275"/>
            </a:xfrm>
            <a:prstGeom prst="rect">
              <a:avLst/>
            </a:prstGeom>
          </p:spPr>
          <p:txBody>
            <a:bodyPr lIns="0" tIns="0" rIns="0" bIns="0" rtlCol="0" anchor="ctr"/>
            <a:lstStyle/>
            <a:p>
              <a:pPr algn="l">
                <a:lnSpc>
                  <a:spcPts val="1980"/>
                </a:lnSpc>
              </a:pPr>
              <a:r>
                <a:rPr lang="en-US" sz="1237">
                  <a:solidFill>
                    <a:srgbClr val="DCDCAA"/>
                  </a:solidFill>
                  <a:latin typeface="Calibri (MS)"/>
                  <a:ea typeface="Calibri (MS)"/>
                  <a:cs typeface="Calibri (MS)"/>
                  <a:sym typeface="Calibri (MS)"/>
                </a:rPr>
                <a:t>ROUND</a:t>
              </a:r>
            </a:p>
          </p:txBody>
        </p:sp>
      </p:grpSp>
      <p:sp>
        <p:nvSpPr>
          <p:cNvPr id="64" name="TextBox 64"/>
          <p:cNvSpPr txBox="1"/>
          <p:nvPr/>
        </p:nvSpPr>
        <p:spPr>
          <a:xfrm>
            <a:off x="1460449" y="4550416"/>
            <a:ext cx="188595" cy="238125"/>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a:t>
            </a:r>
          </a:p>
        </p:txBody>
      </p:sp>
      <p:grpSp>
        <p:nvGrpSpPr>
          <p:cNvPr id="65" name="Group 65"/>
          <p:cNvGrpSpPr/>
          <p:nvPr/>
        </p:nvGrpSpPr>
        <p:grpSpPr>
          <a:xfrm>
            <a:off x="1554880" y="4617091"/>
            <a:ext cx="565785" cy="171450"/>
            <a:chOff x="0" y="0"/>
            <a:chExt cx="754380" cy="228600"/>
          </a:xfrm>
        </p:grpSpPr>
        <p:sp>
          <p:nvSpPr>
            <p:cNvPr id="66" name="Freeform 66"/>
            <p:cNvSpPr/>
            <p:nvPr/>
          </p:nvSpPr>
          <p:spPr>
            <a:xfrm>
              <a:off x="0" y="0"/>
              <a:ext cx="754380" cy="228600"/>
            </a:xfrm>
            <a:custGeom>
              <a:avLst/>
              <a:gdLst/>
              <a:ahLst/>
              <a:cxnLst/>
              <a:rect l="l" t="t" r="r" b="b"/>
              <a:pathLst>
                <a:path w="754380" h="228600">
                  <a:moveTo>
                    <a:pt x="0" y="0"/>
                  </a:moveTo>
                  <a:lnTo>
                    <a:pt x="754380" y="0"/>
                  </a:lnTo>
                  <a:lnTo>
                    <a:pt x="754380" y="228600"/>
                  </a:lnTo>
                  <a:lnTo>
                    <a:pt x="0" y="228600"/>
                  </a:lnTo>
                  <a:close/>
                </a:path>
              </a:pathLst>
            </a:custGeom>
            <a:blipFill>
              <a:blip r:embed="rId20">
                <a:alphaModFix amt="0"/>
              </a:blip>
              <a:stretch>
                <a:fillRect t="-14300" b="-14300"/>
              </a:stretch>
            </a:blipFill>
          </p:spPr>
        </p:sp>
        <p:sp>
          <p:nvSpPr>
            <p:cNvPr id="67" name="TextBox 67"/>
            <p:cNvSpPr txBox="1"/>
            <p:nvPr/>
          </p:nvSpPr>
          <p:spPr>
            <a:xfrm>
              <a:off x="0" y="-66675"/>
              <a:ext cx="754380" cy="295275"/>
            </a:xfrm>
            <a:prstGeom prst="rect">
              <a:avLst/>
            </a:prstGeom>
          </p:spPr>
          <p:txBody>
            <a:bodyPr lIns="0" tIns="0" rIns="0" bIns="0" rtlCol="0" anchor="ctr"/>
            <a:lstStyle/>
            <a:p>
              <a:pPr algn="l">
                <a:lnSpc>
                  <a:spcPts val="1980"/>
                </a:lnSpc>
              </a:pPr>
              <a:r>
                <a:rPr lang="en-US" sz="1237">
                  <a:solidFill>
                    <a:srgbClr val="DCDCAA"/>
                  </a:solidFill>
                  <a:latin typeface="Calibri (MS)"/>
                  <a:ea typeface="Calibri (MS)"/>
                  <a:cs typeface="Calibri (MS)"/>
                  <a:sym typeface="Calibri (MS)"/>
                </a:rPr>
                <a:t>SUM</a:t>
              </a:r>
            </a:p>
          </p:txBody>
        </p:sp>
      </p:grpSp>
      <p:sp>
        <p:nvSpPr>
          <p:cNvPr id="68" name="TextBox 68"/>
          <p:cNvSpPr txBox="1"/>
          <p:nvPr/>
        </p:nvSpPr>
        <p:spPr>
          <a:xfrm>
            <a:off x="1837954" y="4550416"/>
            <a:ext cx="2169690" cy="489499"/>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(thanh_tien)</a:t>
            </a:r>
          </a:p>
          <a:p>
            <a:pPr algn="l">
              <a:lnSpc>
                <a:spcPts val="1980"/>
              </a:lnSpc>
            </a:pPr>
            <a:r>
              <a:rPr lang="en-US" sz="1237">
                <a:solidFill>
                  <a:srgbClr val="A8D8F0"/>
                </a:solidFill>
                <a:latin typeface="Calibri (MS)"/>
                <a:ea typeface="Calibri (MS)"/>
                <a:cs typeface="Calibri (MS)"/>
                <a:sym typeface="Calibri (MS)"/>
              </a:rPr>
              <a:t>    / </a:t>
            </a:r>
          </a:p>
        </p:txBody>
      </p:sp>
      <p:grpSp>
        <p:nvGrpSpPr>
          <p:cNvPr id="69" name="Group 69"/>
          <p:cNvGrpSpPr/>
          <p:nvPr/>
        </p:nvGrpSpPr>
        <p:grpSpPr>
          <a:xfrm>
            <a:off x="1366018" y="4868466"/>
            <a:ext cx="942975" cy="171450"/>
            <a:chOff x="0" y="0"/>
            <a:chExt cx="1257300" cy="228600"/>
          </a:xfrm>
        </p:grpSpPr>
        <p:sp>
          <p:nvSpPr>
            <p:cNvPr id="70" name="Freeform 70"/>
            <p:cNvSpPr/>
            <p:nvPr/>
          </p:nvSpPr>
          <p:spPr>
            <a:xfrm>
              <a:off x="0" y="0"/>
              <a:ext cx="1257300" cy="228600"/>
            </a:xfrm>
            <a:custGeom>
              <a:avLst/>
              <a:gdLst/>
              <a:ahLst/>
              <a:cxnLst/>
              <a:rect l="l" t="t" r="r" b="b"/>
              <a:pathLst>
                <a:path w="1257300" h="228600">
                  <a:moveTo>
                    <a:pt x="0" y="0"/>
                  </a:moveTo>
                  <a:lnTo>
                    <a:pt x="1257300" y="0"/>
                  </a:lnTo>
                  <a:lnTo>
                    <a:pt x="1257300" y="228600"/>
                  </a:lnTo>
                  <a:lnTo>
                    <a:pt x="0" y="228600"/>
                  </a:lnTo>
                  <a:close/>
                </a:path>
              </a:pathLst>
            </a:custGeom>
            <a:blipFill>
              <a:blip r:embed="rId20">
                <a:alphaModFix amt="0"/>
              </a:blip>
              <a:stretch>
                <a:fillRect t="-57167" b="-57167"/>
              </a:stretch>
            </a:blipFill>
          </p:spPr>
        </p:sp>
        <p:sp>
          <p:nvSpPr>
            <p:cNvPr id="71" name="TextBox 71"/>
            <p:cNvSpPr txBox="1"/>
            <p:nvPr/>
          </p:nvSpPr>
          <p:spPr>
            <a:xfrm>
              <a:off x="0" y="-66675"/>
              <a:ext cx="1257300" cy="295275"/>
            </a:xfrm>
            <a:prstGeom prst="rect">
              <a:avLst/>
            </a:prstGeom>
          </p:spPr>
          <p:txBody>
            <a:bodyPr lIns="0" tIns="0" rIns="0" bIns="0" rtlCol="0" anchor="ctr"/>
            <a:lstStyle/>
            <a:p>
              <a:pPr algn="l">
                <a:lnSpc>
                  <a:spcPts val="1980"/>
                </a:lnSpc>
              </a:pPr>
              <a:r>
                <a:rPr lang="en-US" sz="1237">
                  <a:solidFill>
                    <a:srgbClr val="DCDCAA"/>
                  </a:solidFill>
                  <a:latin typeface="Calibri (MS)"/>
                  <a:ea typeface="Calibri (MS)"/>
                  <a:cs typeface="Calibri (MS)"/>
                  <a:sym typeface="Calibri (MS)"/>
                </a:rPr>
                <a:t>COUNT</a:t>
              </a:r>
            </a:p>
          </p:txBody>
        </p:sp>
      </p:grpSp>
      <p:sp>
        <p:nvSpPr>
          <p:cNvPr id="72" name="TextBox 72"/>
          <p:cNvSpPr txBox="1"/>
          <p:nvPr/>
        </p:nvSpPr>
        <p:spPr>
          <a:xfrm>
            <a:off x="1837725" y="4801791"/>
            <a:ext cx="4274820" cy="489499"/>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(ma_don_hang), 0)</a:t>
            </a:r>
          </a:p>
          <a:p>
            <a:pPr algn="l">
              <a:lnSpc>
                <a:spcPts val="1980"/>
              </a:lnSpc>
            </a:pPr>
            <a:r>
              <a:rPr lang="en-US" sz="1237">
                <a:solidFill>
                  <a:srgbClr val="A8D8F0"/>
                </a:solidFill>
                <a:latin typeface="Calibri (MS)"/>
                <a:ea typeface="Calibri (MS)"/>
                <a:cs typeface="Calibri (MS)"/>
                <a:sym typeface="Calibri (MS)"/>
              </a:rPr>
              <a:t>    </a:t>
            </a:r>
          </a:p>
        </p:txBody>
      </p:sp>
      <p:grpSp>
        <p:nvGrpSpPr>
          <p:cNvPr id="73" name="Group 73"/>
          <p:cNvGrpSpPr/>
          <p:nvPr/>
        </p:nvGrpSpPr>
        <p:grpSpPr>
          <a:xfrm>
            <a:off x="1177376" y="5119840"/>
            <a:ext cx="377190" cy="171450"/>
            <a:chOff x="0" y="0"/>
            <a:chExt cx="502920" cy="228600"/>
          </a:xfrm>
        </p:grpSpPr>
        <p:sp>
          <p:nvSpPr>
            <p:cNvPr id="74" name="Freeform 74"/>
            <p:cNvSpPr/>
            <p:nvPr/>
          </p:nvSpPr>
          <p:spPr>
            <a:xfrm>
              <a:off x="0" y="0"/>
              <a:ext cx="502920" cy="228600"/>
            </a:xfrm>
            <a:custGeom>
              <a:avLst/>
              <a:gdLst/>
              <a:ahLst/>
              <a:cxnLst/>
              <a:rect l="l" t="t" r="r" b="b"/>
              <a:pathLst>
                <a:path w="502920" h="228600">
                  <a:moveTo>
                    <a:pt x="0" y="0"/>
                  </a:moveTo>
                  <a:lnTo>
                    <a:pt x="502920" y="0"/>
                  </a:lnTo>
                  <a:lnTo>
                    <a:pt x="502920" y="228600"/>
                  </a:lnTo>
                  <a:lnTo>
                    <a:pt x="0" y="228600"/>
                  </a:lnTo>
                  <a:close/>
                </a:path>
              </a:pathLst>
            </a:custGeom>
            <a:blipFill>
              <a:blip r:embed="rId20">
                <a:alphaModFix amt="0"/>
              </a:blip>
              <a:stretch>
                <a:fillRect l="-8319" r="-8319"/>
              </a:stretch>
            </a:blipFill>
          </p:spPr>
        </p:sp>
        <p:sp>
          <p:nvSpPr>
            <p:cNvPr id="75" name="TextBox 75"/>
            <p:cNvSpPr txBox="1"/>
            <p:nvPr/>
          </p:nvSpPr>
          <p:spPr>
            <a:xfrm>
              <a:off x="0" y="-66675"/>
              <a:ext cx="502920" cy="295275"/>
            </a:xfrm>
            <a:prstGeom prst="rect">
              <a:avLst/>
            </a:prstGeom>
          </p:spPr>
          <p:txBody>
            <a:bodyPr lIns="0" tIns="0" rIns="0" bIns="0" rtlCol="0" anchor="ctr"/>
            <a:lstStyle/>
            <a:p>
              <a:pPr algn="l">
                <a:lnSpc>
                  <a:spcPts val="1980"/>
                </a:lnSpc>
              </a:pPr>
              <a:r>
                <a:rPr lang="en-US" sz="1237" b="1">
                  <a:solidFill>
                    <a:srgbClr val="569CD6"/>
                  </a:solidFill>
                  <a:latin typeface="Calibri (MS) Bold"/>
                  <a:ea typeface="Calibri (MS) Bold"/>
                  <a:cs typeface="Calibri (MS) Bold"/>
                  <a:sym typeface="Calibri (MS) Bold"/>
                </a:rPr>
                <a:t>AS</a:t>
              </a:r>
            </a:p>
          </p:txBody>
        </p:sp>
      </p:grpSp>
      <p:sp>
        <p:nvSpPr>
          <p:cNvPr id="76" name="TextBox 76"/>
          <p:cNvSpPr txBox="1"/>
          <p:nvPr/>
        </p:nvSpPr>
        <p:spPr>
          <a:xfrm>
            <a:off x="1366018" y="5053165"/>
            <a:ext cx="3017520" cy="238125"/>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 aov_trung_binh</a:t>
            </a:r>
          </a:p>
          <a:p>
            <a:pPr algn="l">
              <a:lnSpc>
                <a:spcPts val="1980"/>
              </a:lnSpc>
            </a:pPr>
            <a:endParaRPr lang="en-US" sz="1237">
              <a:solidFill>
                <a:srgbClr val="A8D8F0"/>
              </a:solidFill>
              <a:latin typeface="Calibri (MS)"/>
              <a:ea typeface="Calibri (MS)"/>
              <a:cs typeface="Calibri (MS)"/>
              <a:sym typeface="Calibri (MS)"/>
            </a:endParaRPr>
          </a:p>
        </p:txBody>
      </p:sp>
      <p:grpSp>
        <p:nvGrpSpPr>
          <p:cNvPr id="77" name="Group 77"/>
          <p:cNvGrpSpPr/>
          <p:nvPr/>
        </p:nvGrpSpPr>
        <p:grpSpPr>
          <a:xfrm>
            <a:off x="800100" y="5371205"/>
            <a:ext cx="754380" cy="171450"/>
            <a:chOff x="0" y="0"/>
            <a:chExt cx="1005840" cy="228600"/>
          </a:xfrm>
        </p:grpSpPr>
        <p:sp>
          <p:nvSpPr>
            <p:cNvPr id="78" name="Freeform 78"/>
            <p:cNvSpPr/>
            <p:nvPr/>
          </p:nvSpPr>
          <p:spPr>
            <a:xfrm>
              <a:off x="0" y="0"/>
              <a:ext cx="1005840" cy="228600"/>
            </a:xfrm>
            <a:custGeom>
              <a:avLst/>
              <a:gdLst/>
              <a:ahLst/>
              <a:cxnLst/>
              <a:rect l="l" t="t" r="r" b="b"/>
              <a:pathLst>
                <a:path w="1005840" h="228600">
                  <a:moveTo>
                    <a:pt x="0" y="0"/>
                  </a:moveTo>
                  <a:lnTo>
                    <a:pt x="1005840" y="0"/>
                  </a:lnTo>
                  <a:lnTo>
                    <a:pt x="1005840" y="228600"/>
                  </a:lnTo>
                  <a:lnTo>
                    <a:pt x="0" y="228600"/>
                  </a:lnTo>
                  <a:close/>
                </a:path>
              </a:pathLst>
            </a:custGeom>
            <a:blipFill>
              <a:blip r:embed="rId20">
                <a:alphaModFix amt="0"/>
              </a:blip>
              <a:stretch>
                <a:fillRect t="-35734" b="-35734"/>
              </a:stretch>
            </a:blipFill>
          </p:spPr>
        </p:sp>
        <p:sp>
          <p:nvSpPr>
            <p:cNvPr id="79" name="TextBox 79"/>
            <p:cNvSpPr txBox="1"/>
            <p:nvPr/>
          </p:nvSpPr>
          <p:spPr>
            <a:xfrm>
              <a:off x="0" y="-66675"/>
              <a:ext cx="1005840" cy="295275"/>
            </a:xfrm>
            <a:prstGeom prst="rect">
              <a:avLst/>
            </a:prstGeom>
          </p:spPr>
          <p:txBody>
            <a:bodyPr lIns="0" tIns="0" rIns="0" bIns="0" rtlCol="0" anchor="ctr"/>
            <a:lstStyle/>
            <a:p>
              <a:pPr algn="l">
                <a:lnSpc>
                  <a:spcPts val="1980"/>
                </a:lnSpc>
              </a:pPr>
              <a:r>
                <a:rPr lang="en-US" sz="1237" b="1">
                  <a:solidFill>
                    <a:srgbClr val="569CD6"/>
                  </a:solidFill>
                  <a:latin typeface="Calibri (MS) Bold"/>
                  <a:ea typeface="Calibri (MS) Bold"/>
                  <a:cs typeface="Calibri (MS) Bold"/>
                  <a:sym typeface="Calibri (MS) Bold"/>
                </a:rPr>
                <a:t>FROM</a:t>
              </a:r>
            </a:p>
          </p:txBody>
        </p:sp>
      </p:grpSp>
      <p:grpSp>
        <p:nvGrpSpPr>
          <p:cNvPr id="80" name="Group 80"/>
          <p:cNvGrpSpPr/>
          <p:nvPr/>
        </p:nvGrpSpPr>
        <p:grpSpPr>
          <a:xfrm>
            <a:off x="1271807" y="5371205"/>
            <a:ext cx="3206115" cy="171450"/>
            <a:chOff x="0" y="0"/>
            <a:chExt cx="4274820" cy="228600"/>
          </a:xfrm>
        </p:grpSpPr>
        <p:sp>
          <p:nvSpPr>
            <p:cNvPr id="81" name="Freeform 81"/>
            <p:cNvSpPr/>
            <p:nvPr/>
          </p:nvSpPr>
          <p:spPr>
            <a:xfrm>
              <a:off x="0" y="0"/>
              <a:ext cx="4274820" cy="228600"/>
            </a:xfrm>
            <a:custGeom>
              <a:avLst/>
              <a:gdLst/>
              <a:ahLst/>
              <a:cxnLst/>
              <a:rect l="l" t="t" r="r" b="b"/>
              <a:pathLst>
                <a:path w="4274820" h="228600">
                  <a:moveTo>
                    <a:pt x="0" y="0"/>
                  </a:moveTo>
                  <a:lnTo>
                    <a:pt x="4274820" y="0"/>
                  </a:lnTo>
                  <a:lnTo>
                    <a:pt x="4274820" y="228600"/>
                  </a:lnTo>
                  <a:lnTo>
                    <a:pt x="0" y="228600"/>
                  </a:lnTo>
                  <a:close/>
                </a:path>
              </a:pathLst>
            </a:custGeom>
            <a:blipFill>
              <a:blip r:embed="rId20">
                <a:alphaModFix amt="0"/>
              </a:blip>
              <a:stretch>
                <a:fillRect t="-314370" b="-314370"/>
              </a:stretch>
            </a:blipFill>
          </p:spPr>
        </p:sp>
        <p:sp>
          <p:nvSpPr>
            <p:cNvPr id="82" name="TextBox 82"/>
            <p:cNvSpPr txBox="1"/>
            <p:nvPr/>
          </p:nvSpPr>
          <p:spPr>
            <a:xfrm>
              <a:off x="0" y="-66675"/>
              <a:ext cx="4274820" cy="295275"/>
            </a:xfrm>
            <a:prstGeom prst="rect">
              <a:avLst/>
            </a:prstGeom>
          </p:spPr>
          <p:txBody>
            <a:bodyPr lIns="0" tIns="0" rIns="0" bIns="0" rtlCol="0" anchor="ctr"/>
            <a:lstStyle/>
            <a:p>
              <a:pPr algn="l">
                <a:lnSpc>
                  <a:spcPts val="1980"/>
                </a:lnSpc>
              </a:pPr>
              <a:r>
                <a:rPr lang="en-US" sz="1237">
                  <a:solidFill>
                    <a:srgbClr val="4EC9B0"/>
                  </a:solidFill>
                  <a:latin typeface="Calibri (MS)"/>
                  <a:ea typeface="Calibri (MS)"/>
                  <a:cs typeface="Calibri (MS)"/>
                  <a:sym typeface="Calibri (MS)"/>
                </a:rPr>
                <a:t>ban_hang_dien_may</a:t>
              </a:r>
            </a:p>
          </p:txBody>
        </p:sp>
      </p:grpSp>
      <p:grpSp>
        <p:nvGrpSpPr>
          <p:cNvPr id="83" name="Group 83"/>
          <p:cNvGrpSpPr/>
          <p:nvPr/>
        </p:nvGrpSpPr>
        <p:grpSpPr>
          <a:xfrm>
            <a:off x="800100" y="5622579"/>
            <a:ext cx="1508760" cy="171450"/>
            <a:chOff x="0" y="0"/>
            <a:chExt cx="2011680" cy="228600"/>
          </a:xfrm>
        </p:grpSpPr>
        <p:sp>
          <p:nvSpPr>
            <p:cNvPr id="84" name="Freeform 84"/>
            <p:cNvSpPr/>
            <p:nvPr/>
          </p:nvSpPr>
          <p:spPr>
            <a:xfrm>
              <a:off x="0" y="0"/>
              <a:ext cx="2011680" cy="228600"/>
            </a:xfrm>
            <a:custGeom>
              <a:avLst/>
              <a:gdLst/>
              <a:ahLst/>
              <a:cxnLst/>
              <a:rect l="l" t="t" r="r" b="b"/>
              <a:pathLst>
                <a:path w="2011680" h="228600">
                  <a:moveTo>
                    <a:pt x="0" y="0"/>
                  </a:moveTo>
                  <a:lnTo>
                    <a:pt x="2011680" y="0"/>
                  </a:lnTo>
                  <a:lnTo>
                    <a:pt x="2011680" y="228600"/>
                  </a:lnTo>
                  <a:lnTo>
                    <a:pt x="0" y="228600"/>
                  </a:lnTo>
                  <a:close/>
                </a:path>
              </a:pathLst>
            </a:custGeom>
            <a:blipFill>
              <a:blip r:embed="rId20">
                <a:alphaModFix amt="0"/>
              </a:blip>
              <a:stretch>
                <a:fillRect t="-121468" b="-121468"/>
              </a:stretch>
            </a:blipFill>
          </p:spPr>
        </p:sp>
        <p:sp>
          <p:nvSpPr>
            <p:cNvPr id="85" name="TextBox 85"/>
            <p:cNvSpPr txBox="1"/>
            <p:nvPr/>
          </p:nvSpPr>
          <p:spPr>
            <a:xfrm>
              <a:off x="0" y="-66675"/>
              <a:ext cx="2011680" cy="295275"/>
            </a:xfrm>
            <a:prstGeom prst="rect">
              <a:avLst/>
            </a:prstGeom>
          </p:spPr>
          <p:txBody>
            <a:bodyPr lIns="0" tIns="0" rIns="0" bIns="0" rtlCol="0" anchor="ctr"/>
            <a:lstStyle/>
            <a:p>
              <a:pPr algn="l">
                <a:lnSpc>
                  <a:spcPts val="1980"/>
                </a:lnSpc>
              </a:pPr>
              <a:r>
                <a:rPr lang="en-US" sz="1237" b="1">
                  <a:solidFill>
                    <a:srgbClr val="569CD6"/>
                  </a:solidFill>
                  <a:latin typeface="Calibri (MS) Bold"/>
                  <a:ea typeface="Calibri (MS) Bold"/>
                  <a:cs typeface="Calibri (MS) Bold"/>
                  <a:sym typeface="Calibri (MS) Bold"/>
                </a:rPr>
                <a:t>GROUP BY</a:t>
              </a:r>
            </a:p>
          </p:txBody>
        </p:sp>
      </p:grpSp>
      <p:sp>
        <p:nvSpPr>
          <p:cNvPr id="86" name="TextBox 86"/>
          <p:cNvSpPr txBox="1"/>
          <p:nvPr/>
        </p:nvSpPr>
        <p:spPr>
          <a:xfrm>
            <a:off x="1554661" y="5555904"/>
            <a:ext cx="2074545" cy="238125"/>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 thanh_pho</a:t>
            </a:r>
          </a:p>
          <a:p>
            <a:pPr algn="l">
              <a:lnSpc>
                <a:spcPts val="1980"/>
              </a:lnSpc>
            </a:pPr>
            <a:endParaRPr lang="en-US" sz="1237">
              <a:solidFill>
                <a:srgbClr val="A8D8F0"/>
              </a:solidFill>
              <a:latin typeface="Calibri (MS)"/>
              <a:ea typeface="Calibri (MS)"/>
              <a:cs typeface="Calibri (MS)"/>
              <a:sym typeface="Calibri (MS)"/>
            </a:endParaRPr>
          </a:p>
        </p:txBody>
      </p:sp>
      <p:grpSp>
        <p:nvGrpSpPr>
          <p:cNvPr id="87" name="Group 87"/>
          <p:cNvGrpSpPr/>
          <p:nvPr/>
        </p:nvGrpSpPr>
        <p:grpSpPr>
          <a:xfrm>
            <a:off x="800100" y="5873953"/>
            <a:ext cx="1508760" cy="171450"/>
            <a:chOff x="0" y="0"/>
            <a:chExt cx="2011680" cy="228600"/>
          </a:xfrm>
        </p:grpSpPr>
        <p:sp>
          <p:nvSpPr>
            <p:cNvPr id="88" name="Freeform 88"/>
            <p:cNvSpPr/>
            <p:nvPr/>
          </p:nvSpPr>
          <p:spPr>
            <a:xfrm>
              <a:off x="0" y="0"/>
              <a:ext cx="2011680" cy="228600"/>
            </a:xfrm>
            <a:custGeom>
              <a:avLst/>
              <a:gdLst/>
              <a:ahLst/>
              <a:cxnLst/>
              <a:rect l="l" t="t" r="r" b="b"/>
              <a:pathLst>
                <a:path w="2011680" h="228600">
                  <a:moveTo>
                    <a:pt x="0" y="0"/>
                  </a:moveTo>
                  <a:lnTo>
                    <a:pt x="2011680" y="0"/>
                  </a:lnTo>
                  <a:lnTo>
                    <a:pt x="2011680" y="228600"/>
                  </a:lnTo>
                  <a:lnTo>
                    <a:pt x="0" y="228600"/>
                  </a:lnTo>
                  <a:close/>
                </a:path>
              </a:pathLst>
            </a:custGeom>
            <a:blipFill>
              <a:blip r:embed="rId20">
                <a:alphaModFix amt="0"/>
              </a:blip>
              <a:stretch>
                <a:fillRect t="-121468" b="-121468"/>
              </a:stretch>
            </a:blipFill>
          </p:spPr>
        </p:sp>
        <p:sp>
          <p:nvSpPr>
            <p:cNvPr id="89" name="TextBox 89"/>
            <p:cNvSpPr txBox="1"/>
            <p:nvPr/>
          </p:nvSpPr>
          <p:spPr>
            <a:xfrm>
              <a:off x="0" y="-66675"/>
              <a:ext cx="2011680" cy="295275"/>
            </a:xfrm>
            <a:prstGeom prst="rect">
              <a:avLst/>
            </a:prstGeom>
          </p:spPr>
          <p:txBody>
            <a:bodyPr lIns="0" tIns="0" rIns="0" bIns="0" rtlCol="0" anchor="ctr"/>
            <a:lstStyle/>
            <a:p>
              <a:pPr algn="l">
                <a:lnSpc>
                  <a:spcPts val="1980"/>
                </a:lnSpc>
              </a:pPr>
              <a:r>
                <a:rPr lang="en-US" sz="1237" b="1">
                  <a:solidFill>
                    <a:srgbClr val="569CD6"/>
                  </a:solidFill>
                  <a:latin typeface="Calibri (MS) Bold"/>
                  <a:ea typeface="Calibri (MS) Bold"/>
                  <a:cs typeface="Calibri (MS) Bold"/>
                  <a:sym typeface="Calibri (MS) Bold"/>
                </a:rPr>
                <a:t>ORDER BY</a:t>
              </a:r>
            </a:p>
          </p:txBody>
        </p:sp>
      </p:grpSp>
      <p:sp>
        <p:nvSpPr>
          <p:cNvPr id="90" name="TextBox 90"/>
          <p:cNvSpPr txBox="1"/>
          <p:nvPr/>
        </p:nvSpPr>
        <p:spPr>
          <a:xfrm>
            <a:off x="1554661" y="5807278"/>
            <a:ext cx="3017520" cy="238125"/>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 aov_trung_binh </a:t>
            </a:r>
          </a:p>
        </p:txBody>
      </p:sp>
      <p:grpSp>
        <p:nvGrpSpPr>
          <p:cNvPr id="91" name="Group 91"/>
          <p:cNvGrpSpPr/>
          <p:nvPr/>
        </p:nvGrpSpPr>
        <p:grpSpPr>
          <a:xfrm>
            <a:off x="3063773" y="5873953"/>
            <a:ext cx="754380" cy="171450"/>
            <a:chOff x="0" y="0"/>
            <a:chExt cx="1005840" cy="228600"/>
          </a:xfrm>
        </p:grpSpPr>
        <p:sp>
          <p:nvSpPr>
            <p:cNvPr id="92" name="Freeform 92"/>
            <p:cNvSpPr/>
            <p:nvPr/>
          </p:nvSpPr>
          <p:spPr>
            <a:xfrm>
              <a:off x="0" y="0"/>
              <a:ext cx="1005840" cy="228600"/>
            </a:xfrm>
            <a:custGeom>
              <a:avLst/>
              <a:gdLst/>
              <a:ahLst/>
              <a:cxnLst/>
              <a:rect l="l" t="t" r="r" b="b"/>
              <a:pathLst>
                <a:path w="1005840" h="228600">
                  <a:moveTo>
                    <a:pt x="0" y="0"/>
                  </a:moveTo>
                  <a:lnTo>
                    <a:pt x="1005840" y="0"/>
                  </a:lnTo>
                  <a:lnTo>
                    <a:pt x="1005840" y="228600"/>
                  </a:lnTo>
                  <a:lnTo>
                    <a:pt x="0" y="228600"/>
                  </a:lnTo>
                  <a:close/>
                </a:path>
              </a:pathLst>
            </a:custGeom>
            <a:blipFill>
              <a:blip r:embed="rId20">
                <a:alphaModFix amt="0"/>
              </a:blip>
              <a:stretch>
                <a:fillRect t="-35734" b="-35734"/>
              </a:stretch>
            </a:blipFill>
          </p:spPr>
        </p:sp>
        <p:sp>
          <p:nvSpPr>
            <p:cNvPr id="93" name="TextBox 93"/>
            <p:cNvSpPr txBox="1"/>
            <p:nvPr/>
          </p:nvSpPr>
          <p:spPr>
            <a:xfrm>
              <a:off x="0" y="-66675"/>
              <a:ext cx="1005840" cy="295275"/>
            </a:xfrm>
            <a:prstGeom prst="rect">
              <a:avLst/>
            </a:prstGeom>
          </p:spPr>
          <p:txBody>
            <a:bodyPr lIns="0" tIns="0" rIns="0" bIns="0" rtlCol="0" anchor="ctr"/>
            <a:lstStyle/>
            <a:p>
              <a:pPr algn="l">
                <a:lnSpc>
                  <a:spcPts val="1980"/>
                </a:lnSpc>
              </a:pPr>
              <a:r>
                <a:rPr lang="en-US" sz="1237" b="1">
                  <a:solidFill>
                    <a:srgbClr val="569CD6"/>
                  </a:solidFill>
                  <a:latin typeface="Calibri (MS) Bold"/>
                  <a:ea typeface="Calibri (MS) Bold"/>
                  <a:cs typeface="Calibri (MS) Bold"/>
                  <a:sym typeface="Calibri (MS) Bold"/>
                </a:rPr>
                <a:t>DESC</a:t>
              </a:r>
            </a:p>
          </p:txBody>
        </p:sp>
      </p:grpSp>
      <p:sp>
        <p:nvSpPr>
          <p:cNvPr id="94" name="TextBox 94"/>
          <p:cNvSpPr txBox="1"/>
          <p:nvPr/>
        </p:nvSpPr>
        <p:spPr>
          <a:xfrm>
            <a:off x="3441059" y="5807278"/>
            <a:ext cx="188595" cy="238125"/>
          </a:xfrm>
          <a:prstGeom prst="rect">
            <a:avLst/>
          </a:prstGeom>
        </p:spPr>
        <p:txBody>
          <a:bodyPr lIns="0" tIns="0" rIns="0" bIns="0" rtlCol="0" anchor="t">
            <a:spAutoFit/>
          </a:bodyPr>
          <a:lstStyle/>
          <a:p>
            <a:pPr algn="l">
              <a:lnSpc>
                <a:spcPts val="1980"/>
              </a:lnSpc>
            </a:pPr>
            <a:r>
              <a:rPr lang="en-US" sz="1237">
                <a:solidFill>
                  <a:srgbClr val="A8D8F0"/>
                </a:solidFill>
                <a:latin typeface="Calibri (MS)"/>
                <a:ea typeface="Calibri (MS)"/>
                <a:cs typeface="Calibri (MS)"/>
                <a:sym typeface="Calibri (MS)"/>
              </a:rPr>
              <a:t>;</a:t>
            </a:r>
          </a:p>
        </p:txBody>
      </p:sp>
      <p:grpSp>
        <p:nvGrpSpPr>
          <p:cNvPr id="95" name="Group 95"/>
          <p:cNvGrpSpPr/>
          <p:nvPr/>
        </p:nvGrpSpPr>
        <p:grpSpPr>
          <a:xfrm>
            <a:off x="1235869" y="6611093"/>
            <a:ext cx="5650706" cy="257175"/>
            <a:chOff x="0" y="0"/>
            <a:chExt cx="7534275" cy="342900"/>
          </a:xfrm>
        </p:grpSpPr>
        <p:sp>
          <p:nvSpPr>
            <p:cNvPr id="96" name="Freeform 96"/>
            <p:cNvSpPr/>
            <p:nvPr/>
          </p:nvSpPr>
          <p:spPr>
            <a:xfrm>
              <a:off x="0" y="0"/>
              <a:ext cx="7534276" cy="342900"/>
            </a:xfrm>
            <a:custGeom>
              <a:avLst/>
              <a:gdLst/>
              <a:ahLst/>
              <a:cxnLst/>
              <a:rect l="l" t="t" r="r" b="b"/>
              <a:pathLst>
                <a:path w="7534276" h="342900">
                  <a:moveTo>
                    <a:pt x="0" y="0"/>
                  </a:moveTo>
                  <a:lnTo>
                    <a:pt x="7534276" y="0"/>
                  </a:lnTo>
                  <a:lnTo>
                    <a:pt x="7534276" y="342900"/>
                  </a:lnTo>
                  <a:lnTo>
                    <a:pt x="0" y="342900"/>
                  </a:lnTo>
                  <a:close/>
                </a:path>
              </a:pathLst>
            </a:custGeom>
            <a:blipFill>
              <a:blip r:embed="rId20">
                <a:alphaModFix amt="0"/>
              </a:blip>
              <a:stretch>
                <a:fillRect t="-378129" b="-378129"/>
              </a:stretch>
            </a:blipFill>
          </p:spPr>
        </p:sp>
        <p:sp>
          <p:nvSpPr>
            <p:cNvPr id="97" name="TextBox 97"/>
            <p:cNvSpPr txBox="1"/>
            <p:nvPr/>
          </p:nvSpPr>
          <p:spPr>
            <a:xfrm>
              <a:off x="0" y="-47625"/>
              <a:ext cx="7534275" cy="390525"/>
            </a:xfrm>
            <a:prstGeom prst="rect">
              <a:avLst/>
            </a:prstGeom>
          </p:spPr>
          <p:txBody>
            <a:bodyPr lIns="0" tIns="0" rIns="0" bIns="0" rtlCol="0" anchor="ctr"/>
            <a:lstStyle/>
            <a:p>
              <a:pPr algn="l">
                <a:lnSpc>
                  <a:spcPts val="2025"/>
                </a:lnSpc>
              </a:pPr>
              <a:r>
                <a:rPr lang="en-US" sz="1350" b="1">
                  <a:solidFill>
                    <a:srgbClr val="2C3E50"/>
                  </a:solidFill>
                  <a:latin typeface="Roboto Bold"/>
                  <a:ea typeface="Roboto Bold"/>
                  <a:cs typeface="Roboto Bold"/>
                  <a:sym typeface="Roboto Bold"/>
                </a:rPr>
                <a:t>Chỉ số AOV là gì?</a:t>
              </a:r>
            </a:p>
          </p:txBody>
        </p:sp>
      </p:grpSp>
      <p:grpSp>
        <p:nvGrpSpPr>
          <p:cNvPr id="98" name="Group 98"/>
          <p:cNvGrpSpPr/>
          <p:nvPr/>
        </p:nvGrpSpPr>
        <p:grpSpPr>
          <a:xfrm>
            <a:off x="1235869" y="6896843"/>
            <a:ext cx="5650706" cy="471488"/>
            <a:chOff x="0" y="0"/>
            <a:chExt cx="7534275" cy="628650"/>
          </a:xfrm>
        </p:grpSpPr>
        <p:sp>
          <p:nvSpPr>
            <p:cNvPr id="99" name="Freeform 99"/>
            <p:cNvSpPr/>
            <p:nvPr/>
          </p:nvSpPr>
          <p:spPr>
            <a:xfrm>
              <a:off x="0" y="0"/>
              <a:ext cx="7534276" cy="628650"/>
            </a:xfrm>
            <a:custGeom>
              <a:avLst/>
              <a:gdLst/>
              <a:ahLst/>
              <a:cxnLst/>
              <a:rect l="l" t="t" r="r" b="b"/>
              <a:pathLst>
                <a:path w="7534276" h="628650">
                  <a:moveTo>
                    <a:pt x="0" y="0"/>
                  </a:moveTo>
                  <a:lnTo>
                    <a:pt x="7534276" y="0"/>
                  </a:lnTo>
                  <a:lnTo>
                    <a:pt x="7534276" y="628650"/>
                  </a:lnTo>
                  <a:lnTo>
                    <a:pt x="0" y="628650"/>
                  </a:lnTo>
                  <a:close/>
                </a:path>
              </a:pathLst>
            </a:custGeom>
            <a:blipFill>
              <a:blip r:embed="rId20">
                <a:alphaModFix amt="0"/>
              </a:blip>
              <a:stretch>
                <a:fillRect t="-183525" b="-183525"/>
              </a:stretch>
            </a:blipFill>
          </p:spPr>
        </p:sp>
        <p:sp>
          <p:nvSpPr>
            <p:cNvPr id="100" name="TextBox 100"/>
            <p:cNvSpPr txBox="1"/>
            <p:nvPr/>
          </p:nvSpPr>
          <p:spPr>
            <a:xfrm>
              <a:off x="0" y="-38100"/>
              <a:ext cx="7534275" cy="666750"/>
            </a:xfrm>
            <a:prstGeom prst="rect">
              <a:avLst/>
            </a:prstGeom>
          </p:spPr>
          <p:txBody>
            <a:bodyPr lIns="0" tIns="0" rIns="0" bIns="0" rtlCol="0" anchor="ctr"/>
            <a:lstStyle/>
            <a:p>
              <a:pPr algn="l">
                <a:lnSpc>
                  <a:spcPts val="1857"/>
                </a:lnSpc>
              </a:pPr>
              <a:r>
                <a:rPr lang="en-US" sz="1237">
                  <a:solidFill>
                    <a:srgbClr val="5D6D7E"/>
                  </a:solidFill>
                  <a:latin typeface="Roboto"/>
                  <a:ea typeface="Roboto"/>
                  <a:cs typeface="Roboto"/>
                  <a:sym typeface="Roboto"/>
                </a:rPr>
                <a:t>Average Order Value — giá trị trung bình mỗi lần giao dịch, phản ánh sức chi tiêu của khách tại từng địa phương.</a:t>
              </a:r>
            </a:p>
          </p:txBody>
        </p:sp>
      </p:grpSp>
      <p:grpSp>
        <p:nvGrpSpPr>
          <p:cNvPr id="101" name="Group 101"/>
          <p:cNvGrpSpPr/>
          <p:nvPr/>
        </p:nvGrpSpPr>
        <p:grpSpPr>
          <a:xfrm>
            <a:off x="1235869" y="7796955"/>
            <a:ext cx="6172200" cy="257175"/>
            <a:chOff x="0" y="0"/>
            <a:chExt cx="8229600" cy="342900"/>
          </a:xfrm>
        </p:grpSpPr>
        <p:sp>
          <p:nvSpPr>
            <p:cNvPr id="102" name="Freeform 102"/>
            <p:cNvSpPr/>
            <p:nvPr/>
          </p:nvSpPr>
          <p:spPr>
            <a:xfrm>
              <a:off x="0" y="0"/>
              <a:ext cx="8229600" cy="342900"/>
            </a:xfrm>
            <a:custGeom>
              <a:avLst/>
              <a:gdLst/>
              <a:ahLst/>
              <a:cxnLst/>
              <a:rect l="l" t="t" r="r" b="b"/>
              <a:pathLst>
                <a:path w="8229600" h="342900">
                  <a:moveTo>
                    <a:pt x="0" y="0"/>
                  </a:moveTo>
                  <a:lnTo>
                    <a:pt x="8229600" y="0"/>
                  </a:lnTo>
                  <a:lnTo>
                    <a:pt x="8229600" y="342900"/>
                  </a:lnTo>
                  <a:lnTo>
                    <a:pt x="0" y="342900"/>
                  </a:lnTo>
                  <a:close/>
                </a:path>
              </a:pathLst>
            </a:custGeom>
            <a:blipFill>
              <a:blip r:embed="rId20">
                <a:alphaModFix amt="0"/>
              </a:blip>
              <a:stretch>
                <a:fillRect t="-417640" b="-417640"/>
              </a:stretch>
            </a:blipFill>
          </p:spPr>
        </p:sp>
        <p:sp>
          <p:nvSpPr>
            <p:cNvPr id="103" name="TextBox 103"/>
            <p:cNvSpPr txBox="1"/>
            <p:nvPr/>
          </p:nvSpPr>
          <p:spPr>
            <a:xfrm>
              <a:off x="0" y="-47625"/>
              <a:ext cx="8229600" cy="390525"/>
            </a:xfrm>
            <a:prstGeom prst="rect">
              <a:avLst/>
            </a:prstGeom>
          </p:spPr>
          <p:txBody>
            <a:bodyPr lIns="0" tIns="0" rIns="0" bIns="0" rtlCol="0" anchor="ctr"/>
            <a:lstStyle/>
            <a:p>
              <a:pPr algn="l">
                <a:lnSpc>
                  <a:spcPts val="2025"/>
                </a:lnSpc>
              </a:pPr>
              <a:r>
                <a:rPr lang="en-US" sz="1350" b="1">
                  <a:solidFill>
                    <a:srgbClr val="2C3E50"/>
                  </a:solidFill>
                  <a:latin typeface="Roboto Bold"/>
                  <a:ea typeface="Roboto Bold"/>
                  <a:cs typeface="Roboto Bold"/>
                  <a:sym typeface="Roboto Bold"/>
                </a:rPr>
                <a:t>AOV cao → Tiềm năng Up-selling</a:t>
              </a:r>
            </a:p>
          </p:txBody>
        </p:sp>
      </p:grpSp>
      <p:grpSp>
        <p:nvGrpSpPr>
          <p:cNvPr id="104" name="Group 104"/>
          <p:cNvGrpSpPr/>
          <p:nvPr/>
        </p:nvGrpSpPr>
        <p:grpSpPr>
          <a:xfrm>
            <a:off x="1235869" y="8082705"/>
            <a:ext cx="5650706" cy="471488"/>
            <a:chOff x="0" y="0"/>
            <a:chExt cx="7534275" cy="628650"/>
          </a:xfrm>
        </p:grpSpPr>
        <p:sp>
          <p:nvSpPr>
            <p:cNvPr id="105" name="Freeform 105"/>
            <p:cNvSpPr/>
            <p:nvPr/>
          </p:nvSpPr>
          <p:spPr>
            <a:xfrm>
              <a:off x="0" y="0"/>
              <a:ext cx="7534276" cy="628650"/>
            </a:xfrm>
            <a:custGeom>
              <a:avLst/>
              <a:gdLst/>
              <a:ahLst/>
              <a:cxnLst/>
              <a:rect l="l" t="t" r="r" b="b"/>
              <a:pathLst>
                <a:path w="7534276" h="628650">
                  <a:moveTo>
                    <a:pt x="0" y="0"/>
                  </a:moveTo>
                  <a:lnTo>
                    <a:pt x="7534276" y="0"/>
                  </a:lnTo>
                  <a:lnTo>
                    <a:pt x="7534276" y="628650"/>
                  </a:lnTo>
                  <a:lnTo>
                    <a:pt x="0" y="628650"/>
                  </a:lnTo>
                  <a:close/>
                </a:path>
              </a:pathLst>
            </a:custGeom>
            <a:blipFill>
              <a:blip r:embed="rId20">
                <a:alphaModFix amt="0"/>
              </a:blip>
              <a:stretch>
                <a:fillRect t="-183525" b="-183525"/>
              </a:stretch>
            </a:blipFill>
          </p:spPr>
        </p:sp>
        <p:sp>
          <p:nvSpPr>
            <p:cNvPr id="106" name="TextBox 106"/>
            <p:cNvSpPr txBox="1"/>
            <p:nvPr/>
          </p:nvSpPr>
          <p:spPr>
            <a:xfrm>
              <a:off x="0" y="-38100"/>
              <a:ext cx="7534275" cy="666750"/>
            </a:xfrm>
            <a:prstGeom prst="rect">
              <a:avLst/>
            </a:prstGeom>
          </p:spPr>
          <p:txBody>
            <a:bodyPr lIns="0" tIns="0" rIns="0" bIns="0" rtlCol="0" anchor="ctr"/>
            <a:lstStyle/>
            <a:p>
              <a:pPr algn="l">
                <a:lnSpc>
                  <a:spcPts val="1857"/>
                </a:lnSpc>
              </a:pPr>
              <a:r>
                <a:rPr lang="en-US" sz="1237">
                  <a:solidFill>
                    <a:srgbClr val="5D6D7E"/>
                  </a:solidFill>
                  <a:latin typeface="Roboto"/>
                  <a:ea typeface="Roboto"/>
                  <a:cs typeface="Roboto"/>
                  <a:sym typeface="Roboto"/>
                </a:rPr>
                <a:t>Thành phố có AOV lớn cho thấy khách sẵn sàng chi mạnh — ưu tiên triển khai chiến lược bán thêm và gói dịch vụ cao cấp.</a:t>
              </a:r>
            </a:p>
          </p:txBody>
        </p:sp>
      </p:grpSp>
      <p:grpSp>
        <p:nvGrpSpPr>
          <p:cNvPr id="107" name="Group 107"/>
          <p:cNvGrpSpPr/>
          <p:nvPr/>
        </p:nvGrpSpPr>
        <p:grpSpPr>
          <a:xfrm>
            <a:off x="7572375" y="1900238"/>
            <a:ext cx="9915525" cy="257175"/>
            <a:chOff x="0" y="0"/>
            <a:chExt cx="13220700" cy="342900"/>
          </a:xfrm>
        </p:grpSpPr>
        <p:sp>
          <p:nvSpPr>
            <p:cNvPr id="108" name="Freeform 108"/>
            <p:cNvSpPr/>
            <p:nvPr/>
          </p:nvSpPr>
          <p:spPr>
            <a:xfrm>
              <a:off x="0" y="0"/>
              <a:ext cx="13220700" cy="342900"/>
            </a:xfrm>
            <a:custGeom>
              <a:avLst/>
              <a:gdLst/>
              <a:ahLst/>
              <a:cxnLst/>
              <a:rect l="l" t="t" r="r" b="b"/>
              <a:pathLst>
                <a:path w="13220700" h="342900">
                  <a:moveTo>
                    <a:pt x="0" y="0"/>
                  </a:moveTo>
                  <a:lnTo>
                    <a:pt x="13220700" y="0"/>
                  </a:lnTo>
                  <a:lnTo>
                    <a:pt x="13220700" y="342900"/>
                  </a:lnTo>
                  <a:lnTo>
                    <a:pt x="0" y="342900"/>
                  </a:lnTo>
                  <a:close/>
                </a:path>
              </a:pathLst>
            </a:custGeom>
            <a:blipFill>
              <a:blip r:embed="rId20">
                <a:alphaModFix amt="0"/>
              </a:blip>
              <a:stretch>
                <a:fillRect t="-701256" b="-701256"/>
              </a:stretch>
            </a:blipFill>
          </p:spPr>
        </p:sp>
        <p:sp>
          <p:nvSpPr>
            <p:cNvPr id="109" name="TextBox 109"/>
            <p:cNvSpPr txBox="1"/>
            <p:nvPr/>
          </p:nvSpPr>
          <p:spPr>
            <a:xfrm>
              <a:off x="0" y="-47625"/>
              <a:ext cx="13220700" cy="390525"/>
            </a:xfrm>
            <a:prstGeom prst="rect">
              <a:avLst/>
            </a:prstGeom>
          </p:spPr>
          <p:txBody>
            <a:bodyPr lIns="0" tIns="0" rIns="0" bIns="0" rtlCol="0" anchor="ctr"/>
            <a:lstStyle/>
            <a:p>
              <a:pPr algn="l">
                <a:lnSpc>
                  <a:spcPts val="2025"/>
                </a:lnSpc>
              </a:pPr>
              <a:r>
                <a:rPr lang="en-US" sz="1350" b="1" spc="36">
                  <a:solidFill>
                    <a:srgbClr val="007ACC"/>
                  </a:solidFill>
                  <a:latin typeface="Roboto Bold"/>
                  <a:ea typeface="Roboto Bold"/>
                  <a:cs typeface="Roboto Bold"/>
                  <a:sym typeface="Roboto Bold"/>
                </a:rPr>
                <a:t>BIỂU ĐỒ AOV &amp; SỐ ĐƠN HÀNG THEO THÀNH PHỐ</a:t>
              </a:r>
            </a:p>
          </p:txBody>
        </p:sp>
      </p:grpSp>
      <p:grpSp>
        <p:nvGrpSpPr>
          <p:cNvPr id="110" name="Group 110"/>
          <p:cNvGrpSpPr/>
          <p:nvPr/>
        </p:nvGrpSpPr>
        <p:grpSpPr>
          <a:xfrm>
            <a:off x="8043862" y="9161412"/>
            <a:ext cx="2674620" cy="257175"/>
            <a:chOff x="0" y="0"/>
            <a:chExt cx="3566160" cy="342900"/>
          </a:xfrm>
        </p:grpSpPr>
        <p:sp>
          <p:nvSpPr>
            <p:cNvPr id="111" name="Freeform 111"/>
            <p:cNvSpPr/>
            <p:nvPr/>
          </p:nvSpPr>
          <p:spPr>
            <a:xfrm>
              <a:off x="0" y="0"/>
              <a:ext cx="3566160" cy="342900"/>
            </a:xfrm>
            <a:custGeom>
              <a:avLst/>
              <a:gdLst/>
              <a:ahLst/>
              <a:cxnLst/>
              <a:rect l="l" t="t" r="r" b="b"/>
              <a:pathLst>
                <a:path w="3566160" h="342900">
                  <a:moveTo>
                    <a:pt x="0" y="0"/>
                  </a:moveTo>
                  <a:lnTo>
                    <a:pt x="3566160" y="0"/>
                  </a:lnTo>
                  <a:lnTo>
                    <a:pt x="3566160" y="342900"/>
                  </a:lnTo>
                  <a:lnTo>
                    <a:pt x="0" y="342900"/>
                  </a:lnTo>
                  <a:close/>
                </a:path>
              </a:pathLst>
            </a:custGeom>
            <a:blipFill>
              <a:blip r:embed="rId20">
                <a:alphaModFix amt="0"/>
              </a:blip>
              <a:stretch>
                <a:fillRect t="-152644" b="-152644"/>
              </a:stretch>
            </a:blipFill>
          </p:spPr>
        </p:sp>
        <p:sp>
          <p:nvSpPr>
            <p:cNvPr id="112" name="TextBox 112"/>
            <p:cNvSpPr txBox="1"/>
            <p:nvPr/>
          </p:nvSpPr>
          <p:spPr>
            <a:xfrm>
              <a:off x="0" y="-47625"/>
              <a:ext cx="3566160" cy="390525"/>
            </a:xfrm>
            <a:prstGeom prst="rect">
              <a:avLst/>
            </a:prstGeom>
          </p:spPr>
          <p:txBody>
            <a:bodyPr lIns="0" tIns="0" rIns="0" bIns="0" rtlCol="0" anchor="ctr"/>
            <a:lstStyle/>
            <a:p>
              <a:pPr algn="l">
                <a:lnSpc>
                  <a:spcPts val="2025"/>
                </a:lnSpc>
              </a:pPr>
              <a:r>
                <a:rPr lang="en-US" sz="1350" b="1">
                  <a:solidFill>
                    <a:srgbClr val="2C3E50"/>
                  </a:solidFill>
                  <a:latin typeface="Roboto Bold"/>
                  <a:ea typeface="Roboto Bold"/>
                  <a:cs typeface="Roboto Bold"/>
                  <a:sym typeface="Roboto Bold"/>
                </a:rPr>
                <a:t>Cross-selling</a:t>
              </a:r>
            </a:p>
          </p:txBody>
        </p:sp>
      </p:grpSp>
      <p:grpSp>
        <p:nvGrpSpPr>
          <p:cNvPr id="113" name="Group 113"/>
          <p:cNvGrpSpPr/>
          <p:nvPr/>
        </p:nvGrpSpPr>
        <p:grpSpPr>
          <a:xfrm>
            <a:off x="7979280" y="9418587"/>
            <a:ext cx="2672340" cy="477335"/>
            <a:chOff x="0" y="0"/>
            <a:chExt cx="3282848" cy="586384"/>
          </a:xfrm>
        </p:grpSpPr>
        <p:sp>
          <p:nvSpPr>
            <p:cNvPr id="114" name="Freeform 114"/>
            <p:cNvSpPr/>
            <p:nvPr/>
          </p:nvSpPr>
          <p:spPr>
            <a:xfrm>
              <a:off x="0" y="0"/>
              <a:ext cx="3282850" cy="586382"/>
            </a:xfrm>
            <a:custGeom>
              <a:avLst/>
              <a:gdLst/>
              <a:ahLst/>
              <a:cxnLst/>
              <a:rect l="l" t="t" r="r" b="b"/>
              <a:pathLst>
                <a:path w="3282850" h="586382">
                  <a:moveTo>
                    <a:pt x="0" y="0"/>
                  </a:moveTo>
                  <a:lnTo>
                    <a:pt x="3282850" y="0"/>
                  </a:lnTo>
                  <a:lnTo>
                    <a:pt x="3282850" y="586382"/>
                  </a:lnTo>
                  <a:lnTo>
                    <a:pt x="0" y="586382"/>
                  </a:lnTo>
                  <a:close/>
                </a:path>
              </a:pathLst>
            </a:custGeom>
            <a:blipFill>
              <a:blip r:embed="rId20">
                <a:alphaModFix amt="0"/>
              </a:blip>
              <a:stretch>
                <a:fillRect t="-59086" b="-59086"/>
              </a:stretch>
            </a:blipFill>
          </p:spPr>
        </p:sp>
        <p:sp>
          <p:nvSpPr>
            <p:cNvPr id="115" name="TextBox 115"/>
            <p:cNvSpPr txBox="1"/>
            <p:nvPr/>
          </p:nvSpPr>
          <p:spPr>
            <a:xfrm>
              <a:off x="0" y="-28575"/>
              <a:ext cx="3282848" cy="614959"/>
            </a:xfrm>
            <a:prstGeom prst="rect">
              <a:avLst/>
            </a:prstGeom>
          </p:spPr>
          <p:txBody>
            <a:bodyPr lIns="0" tIns="0" rIns="0" bIns="0" rtlCol="0" anchor="ctr"/>
            <a:lstStyle/>
            <a:p>
              <a:pPr algn="l">
                <a:lnSpc>
                  <a:spcPts val="1732"/>
                </a:lnSpc>
              </a:pPr>
              <a:r>
                <a:rPr lang="en-US" sz="1237">
                  <a:solidFill>
                    <a:srgbClr val="5D6D7E"/>
                  </a:solidFill>
                  <a:latin typeface="Roboto"/>
                  <a:ea typeface="Roboto"/>
                  <a:cs typeface="Roboto"/>
                  <a:sym typeface="Roboto"/>
                </a:rPr>
                <a:t>Vùng AOV thấp: gợi ý sản phẩm đi kèm tăng giá trị hóa đơn.</a:t>
              </a:r>
            </a:p>
          </p:txBody>
        </p:sp>
      </p:grpSp>
      <p:grpSp>
        <p:nvGrpSpPr>
          <p:cNvPr id="116" name="Group 116"/>
          <p:cNvGrpSpPr/>
          <p:nvPr/>
        </p:nvGrpSpPr>
        <p:grpSpPr>
          <a:xfrm>
            <a:off x="11548986" y="9161412"/>
            <a:ext cx="2462136" cy="257175"/>
            <a:chOff x="0" y="0"/>
            <a:chExt cx="3282848" cy="342900"/>
          </a:xfrm>
        </p:grpSpPr>
        <p:sp>
          <p:nvSpPr>
            <p:cNvPr id="117" name="Freeform 117"/>
            <p:cNvSpPr/>
            <p:nvPr/>
          </p:nvSpPr>
          <p:spPr>
            <a:xfrm>
              <a:off x="0" y="0"/>
              <a:ext cx="3282850" cy="342900"/>
            </a:xfrm>
            <a:custGeom>
              <a:avLst/>
              <a:gdLst/>
              <a:ahLst/>
              <a:cxnLst/>
              <a:rect l="l" t="t" r="r" b="b"/>
              <a:pathLst>
                <a:path w="3282850" h="342900">
                  <a:moveTo>
                    <a:pt x="0" y="0"/>
                  </a:moveTo>
                  <a:lnTo>
                    <a:pt x="3282850" y="0"/>
                  </a:lnTo>
                  <a:lnTo>
                    <a:pt x="3282850" y="342900"/>
                  </a:lnTo>
                  <a:lnTo>
                    <a:pt x="0" y="342900"/>
                  </a:lnTo>
                  <a:close/>
                </a:path>
              </a:pathLst>
            </a:custGeom>
            <a:blipFill>
              <a:blip r:embed="rId20">
                <a:alphaModFix amt="0"/>
              </a:blip>
              <a:stretch>
                <a:fillRect t="-136545" b="-136545"/>
              </a:stretch>
            </a:blipFill>
          </p:spPr>
        </p:sp>
        <p:sp>
          <p:nvSpPr>
            <p:cNvPr id="118" name="TextBox 118"/>
            <p:cNvSpPr txBox="1"/>
            <p:nvPr/>
          </p:nvSpPr>
          <p:spPr>
            <a:xfrm>
              <a:off x="0" y="-47625"/>
              <a:ext cx="3282848" cy="390525"/>
            </a:xfrm>
            <a:prstGeom prst="rect">
              <a:avLst/>
            </a:prstGeom>
          </p:spPr>
          <p:txBody>
            <a:bodyPr lIns="0" tIns="0" rIns="0" bIns="0" rtlCol="0" anchor="ctr"/>
            <a:lstStyle/>
            <a:p>
              <a:pPr algn="l">
                <a:lnSpc>
                  <a:spcPts val="2025"/>
                </a:lnSpc>
              </a:pPr>
              <a:r>
                <a:rPr lang="en-US" sz="1350" b="1">
                  <a:solidFill>
                    <a:srgbClr val="2C3E50"/>
                  </a:solidFill>
                  <a:latin typeface="Roboto Bold"/>
                  <a:ea typeface="Roboto Bold"/>
                  <a:cs typeface="Roboto Bold"/>
                  <a:sym typeface="Roboto Bold"/>
                </a:rPr>
                <a:t>Up-selling</a:t>
              </a:r>
            </a:p>
          </p:txBody>
        </p:sp>
      </p:grpSp>
      <p:grpSp>
        <p:nvGrpSpPr>
          <p:cNvPr id="119" name="Group 119"/>
          <p:cNvGrpSpPr/>
          <p:nvPr/>
        </p:nvGrpSpPr>
        <p:grpSpPr>
          <a:xfrm>
            <a:off x="11389010" y="9418587"/>
            <a:ext cx="2904385" cy="518783"/>
            <a:chOff x="0" y="0"/>
            <a:chExt cx="3282848" cy="586384"/>
          </a:xfrm>
        </p:grpSpPr>
        <p:sp>
          <p:nvSpPr>
            <p:cNvPr id="120" name="Freeform 120"/>
            <p:cNvSpPr/>
            <p:nvPr/>
          </p:nvSpPr>
          <p:spPr>
            <a:xfrm>
              <a:off x="0" y="0"/>
              <a:ext cx="3282850" cy="586382"/>
            </a:xfrm>
            <a:custGeom>
              <a:avLst/>
              <a:gdLst/>
              <a:ahLst/>
              <a:cxnLst/>
              <a:rect l="l" t="t" r="r" b="b"/>
              <a:pathLst>
                <a:path w="3282850" h="586382">
                  <a:moveTo>
                    <a:pt x="0" y="0"/>
                  </a:moveTo>
                  <a:lnTo>
                    <a:pt x="3282850" y="0"/>
                  </a:lnTo>
                  <a:lnTo>
                    <a:pt x="3282850" y="586382"/>
                  </a:lnTo>
                  <a:lnTo>
                    <a:pt x="0" y="586382"/>
                  </a:lnTo>
                  <a:close/>
                </a:path>
              </a:pathLst>
            </a:custGeom>
            <a:blipFill>
              <a:blip r:embed="rId20">
                <a:alphaModFix amt="0"/>
              </a:blip>
              <a:stretch>
                <a:fillRect t="-59086" b="-59086"/>
              </a:stretch>
            </a:blipFill>
          </p:spPr>
        </p:sp>
        <p:sp>
          <p:nvSpPr>
            <p:cNvPr id="121" name="TextBox 121"/>
            <p:cNvSpPr txBox="1"/>
            <p:nvPr/>
          </p:nvSpPr>
          <p:spPr>
            <a:xfrm>
              <a:off x="0" y="-28575"/>
              <a:ext cx="3282848" cy="614959"/>
            </a:xfrm>
            <a:prstGeom prst="rect">
              <a:avLst/>
            </a:prstGeom>
          </p:spPr>
          <p:txBody>
            <a:bodyPr lIns="0" tIns="0" rIns="0" bIns="0" rtlCol="0" anchor="ctr"/>
            <a:lstStyle/>
            <a:p>
              <a:pPr algn="l">
                <a:lnSpc>
                  <a:spcPts val="1732"/>
                </a:lnSpc>
              </a:pPr>
              <a:r>
                <a:rPr lang="en-US" sz="1237">
                  <a:solidFill>
                    <a:srgbClr val="5D6D7E"/>
                  </a:solidFill>
                  <a:latin typeface="Roboto"/>
                  <a:ea typeface="Roboto"/>
                  <a:cs typeface="Roboto"/>
                  <a:sym typeface="Roboto"/>
                </a:rPr>
                <a:t>Vùng AOV cao: đẩy phiên bản cao cấp, combo bảo hành mở rộng.</a:t>
              </a:r>
            </a:p>
          </p:txBody>
        </p:sp>
      </p:grpSp>
      <p:grpSp>
        <p:nvGrpSpPr>
          <p:cNvPr id="122" name="Group 122"/>
          <p:cNvGrpSpPr/>
          <p:nvPr/>
        </p:nvGrpSpPr>
        <p:grpSpPr>
          <a:xfrm>
            <a:off x="15054110" y="9161412"/>
            <a:ext cx="3233890" cy="257175"/>
            <a:chOff x="0" y="0"/>
            <a:chExt cx="4311853" cy="342900"/>
          </a:xfrm>
        </p:grpSpPr>
        <p:sp>
          <p:nvSpPr>
            <p:cNvPr id="123" name="Freeform 123"/>
            <p:cNvSpPr/>
            <p:nvPr/>
          </p:nvSpPr>
          <p:spPr>
            <a:xfrm>
              <a:off x="0" y="0"/>
              <a:ext cx="4311848" cy="342900"/>
            </a:xfrm>
            <a:custGeom>
              <a:avLst/>
              <a:gdLst/>
              <a:ahLst/>
              <a:cxnLst/>
              <a:rect l="l" t="t" r="r" b="b"/>
              <a:pathLst>
                <a:path w="4311848" h="342900">
                  <a:moveTo>
                    <a:pt x="0" y="0"/>
                  </a:moveTo>
                  <a:lnTo>
                    <a:pt x="4311848" y="0"/>
                  </a:lnTo>
                  <a:lnTo>
                    <a:pt x="4311848" y="342900"/>
                  </a:lnTo>
                  <a:lnTo>
                    <a:pt x="0" y="342900"/>
                  </a:lnTo>
                  <a:close/>
                </a:path>
              </a:pathLst>
            </a:custGeom>
            <a:blipFill>
              <a:blip r:embed="rId20">
                <a:alphaModFix amt="0"/>
              </a:blip>
              <a:stretch>
                <a:fillRect t="-195017" b="-195017"/>
              </a:stretch>
            </a:blipFill>
          </p:spPr>
        </p:sp>
        <p:sp>
          <p:nvSpPr>
            <p:cNvPr id="124" name="TextBox 124"/>
            <p:cNvSpPr txBox="1"/>
            <p:nvPr/>
          </p:nvSpPr>
          <p:spPr>
            <a:xfrm>
              <a:off x="0" y="-47625"/>
              <a:ext cx="4311853" cy="390525"/>
            </a:xfrm>
            <a:prstGeom prst="rect">
              <a:avLst/>
            </a:prstGeom>
          </p:spPr>
          <p:txBody>
            <a:bodyPr lIns="0" tIns="0" rIns="0" bIns="0" rtlCol="0" anchor="ctr"/>
            <a:lstStyle/>
            <a:p>
              <a:pPr algn="l">
                <a:lnSpc>
                  <a:spcPts val="2025"/>
                </a:lnSpc>
              </a:pPr>
              <a:r>
                <a:rPr lang="en-US" sz="1350" b="1">
                  <a:solidFill>
                    <a:srgbClr val="2C3E50"/>
                  </a:solidFill>
                  <a:latin typeface="Roboto Bold"/>
                  <a:ea typeface="Roboto Bold"/>
                  <a:cs typeface="Roboto Bold"/>
                  <a:sym typeface="Roboto Bold"/>
                </a:rPr>
                <a:t>Phân bổ ngân sách</a:t>
              </a:r>
            </a:p>
          </p:txBody>
        </p:sp>
      </p:grpSp>
      <p:grpSp>
        <p:nvGrpSpPr>
          <p:cNvPr id="125" name="Group 125"/>
          <p:cNvGrpSpPr/>
          <p:nvPr/>
        </p:nvGrpSpPr>
        <p:grpSpPr>
          <a:xfrm>
            <a:off x="14911235" y="9328290"/>
            <a:ext cx="2576665" cy="677533"/>
            <a:chOff x="0" y="0"/>
            <a:chExt cx="3435553" cy="903377"/>
          </a:xfrm>
        </p:grpSpPr>
        <p:sp>
          <p:nvSpPr>
            <p:cNvPr id="126" name="Freeform 126"/>
            <p:cNvSpPr/>
            <p:nvPr/>
          </p:nvSpPr>
          <p:spPr>
            <a:xfrm>
              <a:off x="0" y="0"/>
              <a:ext cx="3435555" cy="903373"/>
            </a:xfrm>
            <a:custGeom>
              <a:avLst/>
              <a:gdLst/>
              <a:ahLst/>
              <a:cxnLst/>
              <a:rect l="l" t="t" r="r" b="b"/>
              <a:pathLst>
                <a:path w="3435555" h="903373">
                  <a:moveTo>
                    <a:pt x="0" y="0"/>
                  </a:moveTo>
                  <a:lnTo>
                    <a:pt x="3435555" y="0"/>
                  </a:lnTo>
                  <a:lnTo>
                    <a:pt x="3435555" y="903373"/>
                  </a:lnTo>
                  <a:lnTo>
                    <a:pt x="0" y="903373"/>
                  </a:lnTo>
                  <a:close/>
                </a:path>
              </a:pathLst>
            </a:custGeom>
            <a:blipFill>
              <a:blip r:embed="rId20">
                <a:alphaModFix amt="0"/>
              </a:blip>
              <a:stretch>
                <a:fillRect t="-38353" r="4444" b="-3263"/>
              </a:stretch>
            </a:blipFill>
          </p:spPr>
        </p:sp>
        <p:sp>
          <p:nvSpPr>
            <p:cNvPr id="127" name="TextBox 127"/>
            <p:cNvSpPr txBox="1"/>
            <p:nvPr/>
          </p:nvSpPr>
          <p:spPr>
            <a:xfrm>
              <a:off x="0" y="-28575"/>
              <a:ext cx="3435553" cy="931952"/>
            </a:xfrm>
            <a:prstGeom prst="rect">
              <a:avLst/>
            </a:prstGeom>
          </p:spPr>
          <p:txBody>
            <a:bodyPr lIns="0" tIns="0" rIns="0" bIns="0" rtlCol="0" anchor="ctr"/>
            <a:lstStyle/>
            <a:p>
              <a:pPr algn="l">
                <a:lnSpc>
                  <a:spcPts val="1732"/>
                </a:lnSpc>
              </a:pPr>
              <a:r>
                <a:rPr lang="en-US" sz="1237">
                  <a:solidFill>
                    <a:srgbClr val="5D6D7E"/>
                  </a:solidFill>
                  <a:latin typeface="Roboto"/>
                  <a:ea typeface="Roboto"/>
                  <a:cs typeface="Roboto"/>
                  <a:sym typeface="Roboto"/>
                </a:rPr>
                <a:t>Tập trung quảng cáo tại thị trường có AOV &amp; lượng đơn cao nhất.</a:t>
              </a:r>
            </a:p>
          </p:txBody>
        </p:sp>
      </p:gr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0"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stretch>
                <a:fillRect/>
              </a:stretch>
            </a:blipFill>
          </p:spPr>
        </p:sp>
      </p:grpSp>
      <p:grpSp>
        <p:nvGrpSpPr>
          <p:cNvPr id="7" name="Group 7"/>
          <p:cNvGrpSpPr/>
          <p:nvPr/>
        </p:nvGrpSpPr>
        <p:grpSpPr>
          <a:xfrm>
            <a:off x="571500" y="285750"/>
            <a:ext cx="17145000" cy="1314450"/>
            <a:chOff x="0" y="0"/>
            <a:chExt cx="22860000" cy="1752600"/>
          </a:xfrm>
        </p:grpSpPr>
        <p:sp>
          <p:nvSpPr>
            <p:cNvPr id="8" name="Freeform 8"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5"/>
              <a:stretch>
                <a:fillRect/>
              </a:stretch>
            </a:blipFill>
          </p:spPr>
        </p:sp>
      </p:grpSp>
      <p:grpSp>
        <p:nvGrpSpPr>
          <p:cNvPr id="9" name="Group 9"/>
          <p:cNvGrpSpPr/>
          <p:nvPr/>
        </p:nvGrpSpPr>
        <p:grpSpPr>
          <a:xfrm>
            <a:off x="571500" y="2550319"/>
            <a:ext cx="8358188" cy="3371850"/>
            <a:chOff x="0" y="0"/>
            <a:chExt cx="11144250" cy="4495800"/>
          </a:xfrm>
        </p:grpSpPr>
        <p:sp>
          <p:nvSpPr>
            <p:cNvPr id="10" name="Freeform 10" descr="preencoded.png"/>
            <p:cNvSpPr/>
            <p:nvPr/>
          </p:nvSpPr>
          <p:spPr>
            <a:xfrm>
              <a:off x="0" y="0"/>
              <a:ext cx="11144250" cy="4495800"/>
            </a:xfrm>
            <a:custGeom>
              <a:avLst/>
              <a:gdLst/>
              <a:ahLst/>
              <a:cxnLst/>
              <a:rect l="l" t="t" r="r" b="b"/>
              <a:pathLst>
                <a:path w="11144250" h="4495800">
                  <a:moveTo>
                    <a:pt x="0" y="0"/>
                  </a:moveTo>
                  <a:lnTo>
                    <a:pt x="11144250" y="0"/>
                  </a:lnTo>
                  <a:lnTo>
                    <a:pt x="11144250" y="4495800"/>
                  </a:lnTo>
                  <a:lnTo>
                    <a:pt x="0" y="4495800"/>
                  </a:lnTo>
                  <a:lnTo>
                    <a:pt x="0" y="0"/>
                  </a:lnTo>
                  <a:close/>
                </a:path>
              </a:pathLst>
            </a:custGeom>
            <a:blipFill>
              <a:blip r:embed="rId6"/>
              <a:stretch>
                <a:fillRect t="-423" b="-423"/>
              </a:stretch>
            </a:blipFill>
          </p:spPr>
        </p:sp>
      </p:grpSp>
      <p:grpSp>
        <p:nvGrpSpPr>
          <p:cNvPr id="11" name="Group 11"/>
          <p:cNvGrpSpPr/>
          <p:nvPr/>
        </p:nvGrpSpPr>
        <p:grpSpPr>
          <a:xfrm>
            <a:off x="857250" y="2878931"/>
            <a:ext cx="214312" cy="171450"/>
            <a:chOff x="0" y="0"/>
            <a:chExt cx="285750" cy="228600"/>
          </a:xfrm>
        </p:grpSpPr>
        <p:sp>
          <p:nvSpPr>
            <p:cNvPr id="12" name="Freeform 12" descr="preencoded.png"/>
            <p:cNvSpPr/>
            <p:nvPr/>
          </p:nvSpPr>
          <p:spPr>
            <a:xfrm>
              <a:off x="0" y="0"/>
              <a:ext cx="285750" cy="228600"/>
            </a:xfrm>
            <a:custGeom>
              <a:avLst/>
              <a:gdLst/>
              <a:ahLst/>
              <a:cxnLst/>
              <a:rect l="l" t="t" r="r" b="b"/>
              <a:pathLst>
                <a:path w="285750" h="228600">
                  <a:moveTo>
                    <a:pt x="0" y="0"/>
                  </a:moveTo>
                  <a:lnTo>
                    <a:pt x="285750" y="0"/>
                  </a:lnTo>
                  <a:lnTo>
                    <a:pt x="285750" y="228600"/>
                  </a:lnTo>
                  <a:lnTo>
                    <a:pt x="0" y="228600"/>
                  </a:lnTo>
                  <a:lnTo>
                    <a:pt x="0" y="0"/>
                  </a:lnTo>
                  <a:close/>
                </a:path>
              </a:pathLst>
            </a:custGeom>
            <a:blipFill>
              <a:blip r:embed="rId7"/>
              <a:stretch>
                <a:fillRect/>
              </a:stretch>
            </a:blipFill>
          </p:spPr>
        </p:sp>
      </p:grpSp>
      <p:grpSp>
        <p:nvGrpSpPr>
          <p:cNvPr id="13" name="Group 13"/>
          <p:cNvGrpSpPr/>
          <p:nvPr/>
        </p:nvGrpSpPr>
        <p:grpSpPr>
          <a:xfrm>
            <a:off x="571500" y="6207919"/>
            <a:ext cx="8358188" cy="2843212"/>
            <a:chOff x="0" y="0"/>
            <a:chExt cx="11144250" cy="3790950"/>
          </a:xfrm>
        </p:grpSpPr>
        <p:sp>
          <p:nvSpPr>
            <p:cNvPr id="14" name="Freeform 14" descr="preencoded.png"/>
            <p:cNvSpPr/>
            <p:nvPr/>
          </p:nvSpPr>
          <p:spPr>
            <a:xfrm>
              <a:off x="0" y="0"/>
              <a:ext cx="11144250" cy="3790950"/>
            </a:xfrm>
            <a:custGeom>
              <a:avLst/>
              <a:gdLst/>
              <a:ahLst/>
              <a:cxnLst/>
              <a:rect l="l" t="t" r="r" b="b"/>
              <a:pathLst>
                <a:path w="11144250" h="3790950">
                  <a:moveTo>
                    <a:pt x="0" y="0"/>
                  </a:moveTo>
                  <a:lnTo>
                    <a:pt x="11144250" y="0"/>
                  </a:lnTo>
                  <a:lnTo>
                    <a:pt x="11144250" y="3790950"/>
                  </a:lnTo>
                  <a:lnTo>
                    <a:pt x="0" y="3790950"/>
                  </a:lnTo>
                  <a:lnTo>
                    <a:pt x="0" y="0"/>
                  </a:lnTo>
                  <a:close/>
                </a:path>
              </a:pathLst>
            </a:custGeom>
            <a:blipFill>
              <a:blip r:embed="rId8"/>
              <a:stretch>
                <a:fillRect t="-1005" b="-1005"/>
              </a:stretch>
            </a:blipFill>
          </p:spPr>
        </p:sp>
      </p:grpSp>
      <p:grpSp>
        <p:nvGrpSpPr>
          <p:cNvPr id="15" name="Group 15"/>
          <p:cNvGrpSpPr/>
          <p:nvPr/>
        </p:nvGrpSpPr>
        <p:grpSpPr>
          <a:xfrm>
            <a:off x="914400" y="6612207"/>
            <a:ext cx="321469" cy="262976"/>
            <a:chOff x="0" y="0"/>
            <a:chExt cx="428625" cy="350634"/>
          </a:xfrm>
        </p:grpSpPr>
        <p:sp>
          <p:nvSpPr>
            <p:cNvPr id="16" name="Freeform 16"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9"/>
              <a:stretch>
                <a:fillRect t="-7" b="-7"/>
              </a:stretch>
            </a:blipFill>
          </p:spPr>
        </p:sp>
      </p:grpSp>
      <p:grpSp>
        <p:nvGrpSpPr>
          <p:cNvPr id="17" name="Group 17"/>
          <p:cNvGrpSpPr/>
          <p:nvPr/>
        </p:nvGrpSpPr>
        <p:grpSpPr>
          <a:xfrm>
            <a:off x="914400" y="7108031"/>
            <a:ext cx="267891" cy="247126"/>
            <a:chOff x="0" y="0"/>
            <a:chExt cx="357188" cy="329502"/>
          </a:xfrm>
        </p:grpSpPr>
        <p:sp>
          <p:nvSpPr>
            <p:cNvPr id="18" name="Freeform 18" descr="preencoded.png"/>
            <p:cNvSpPr/>
            <p:nvPr/>
          </p:nvSpPr>
          <p:spPr>
            <a:xfrm>
              <a:off x="0" y="0"/>
              <a:ext cx="357251" cy="329565"/>
            </a:xfrm>
            <a:custGeom>
              <a:avLst/>
              <a:gdLst/>
              <a:ahLst/>
              <a:cxnLst/>
              <a:rect l="l" t="t" r="r" b="b"/>
              <a:pathLst>
                <a:path w="357251" h="329565">
                  <a:moveTo>
                    <a:pt x="0" y="0"/>
                  </a:moveTo>
                  <a:lnTo>
                    <a:pt x="357251" y="0"/>
                  </a:lnTo>
                  <a:lnTo>
                    <a:pt x="357251" y="329565"/>
                  </a:lnTo>
                  <a:lnTo>
                    <a:pt x="0" y="329565"/>
                  </a:lnTo>
                  <a:lnTo>
                    <a:pt x="0" y="0"/>
                  </a:lnTo>
                  <a:close/>
                </a:path>
              </a:pathLst>
            </a:custGeom>
            <a:blipFill>
              <a:blip r:embed="rId10"/>
              <a:stretch>
                <a:fillRect t="-30" r="17" b="-15"/>
              </a:stretch>
            </a:blipFill>
          </p:spPr>
        </p:sp>
      </p:grpSp>
      <p:grpSp>
        <p:nvGrpSpPr>
          <p:cNvPr id="19" name="Group 19"/>
          <p:cNvGrpSpPr/>
          <p:nvPr/>
        </p:nvGrpSpPr>
        <p:grpSpPr>
          <a:xfrm>
            <a:off x="914400" y="7908131"/>
            <a:ext cx="267891" cy="292227"/>
            <a:chOff x="0" y="0"/>
            <a:chExt cx="357188" cy="389636"/>
          </a:xfrm>
        </p:grpSpPr>
        <p:sp>
          <p:nvSpPr>
            <p:cNvPr id="20" name="Freeform 20" descr="preencoded.png"/>
            <p:cNvSpPr/>
            <p:nvPr/>
          </p:nvSpPr>
          <p:spPr>
            <a:xfrm>
              <a:off x="0" y="0"/>
              <a:ext cx="357251" cy="389636"/>
            </a:xfrm>
            <a:custGeom>
              <a:avLst/>
              <a:gdLst/>
              <a:ahLst/>
              <a:cxnLst/>
              <a:rect l="l" t="t" r="r" b="b"/>
              <a:pathLst>
                <a:path w="357251" h="389636">
                  <a:moveTo>
                    <a:pt x="0" y="0"/>
                  </a:moveTo>
                  <a:lnTo>
                    <a:pt x="357251" y="0"/>
                  </a:lnTo>
                  <a:lnTo>
                    <a:pt x="357251" y="389636"/>
                  </a:lnTo>
                  <a:lnTo>
                    <a:pt x="0" y="389636"/>
                  </a:lnTo>
                  <a:lnTo>
                    <a:pt x="0" y="0"/>
                  </a:lnTo>
                  <a:close/>
                </a:path>
              </a:pathLst>
            </a:custGeom>
            <a:blipFill>
              <a:blip r:embed="rId11"/>
              <a:stretch>
                <a:fillRect t="-3" r="17" b="-3"/>
              </a:stretch>
            </a:blipFill>
          </p:spPr>
        </p:sp>
      </p:grpSp>
      <p:grpSp>
        <p:nvGrpSpPr>
          <p:cNvPr id="21" name="Group 21"/>
          <p:cNvGrpSpPr/>
          <p:nvPr/>
        </p:nvGrpSpPr>
        <p:grpSpPr>
          <a:xfrm>
            <a:off x="9358312" y="2414588"/>
            <a:ext cx="8358188" cy="2843212"/>
            <a:chOff x="0" y="0"/>
            <a:chExt cx="11144250" cy="3790950"/>
          </a:xfrm>
        </p:grpSpPr>
        <p:sp>
          <p:nvSpPr>
            <p:cNvPr id="22" name="Freeform 22" descr="preencoded.png"/>
            <p:cNvSpPr/>
            <p:nvPr/>
          </p:nvSpPr>
          <p:spPr>
            <a:xfrm>
              <a:off x="0" y="0"/>
              <a:ext cx="11144250" cy="3790950"/>
            </a:xfrm>
            <a:custGeom>
              <a:avLst/>
              <a:gdLst/>
              <a:ahLst/>
              <a:cxnLst/>
              <a:rect l="l" t="t" r="r" b="b"/>
              <a:pathLst>
                <a:path w="11144250" h="3790950">
                  <a:moveTo>
                    <a:pt x="0" y="0"/>
                  </a:moveTo>
                  <a:lnTo>
                    <a:pt x="11144250" y="0"/>
                  </a:lnTo>
                  <a:lnTo>
                    <a:pt x="11144250" y="3790950"/>
                  </a:lnTo>
                  <a:lnTo>
                    <a:pt x="0" y="3790950"/>
                  </a:lnTo>
                  <a:lnTo>
                    <a:pt x="0" y="0"/>
                  </a:lnTo>
                  <a:close/>
                </a:path>
              </a:pathLst>
            </a:custGeom>
            <a:blipFill>
              <a:blip r:embed="rId12"/>
              <a:stretch>
                <a:fillRect t="-1005" b="-1005"/>
              </a:stretch>
            </a:blipFill>
          </p:spPr>
        </p:sp>
      </p:grpSp>
      <p:grpSp>
        <p:nvGrpSpPr>
          <p:cNvPr id="23" name="Group 23"/>
          <p:cNvGrpSpPr/>
          <p:nvPr/>
        </p:nvGrpSpPr>
        <p:grpSpPr>
          <a:xfrm>
            <a:off x="9701212" y="2818876"/>
            <a:ext cx="321469" cy="262976"/>
            <a:chOff x="0" y="0"/>
            <a:chExt cx="428625" cy="350634"/>
          </a:xfrm>
        </p:grpSpPr>
        <p:sp>
          <p:nvSpPr>
            <p:cNvPr id="24" name="Freeform 24"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3"/>
              <a:stretch>
                <a:fillRect t="-7" b="-7"/>
              </a:stretch>
            </a:blipFill>
          </p:spPr>
        </p:sp>
      </p:grpSp>
      <p:grpSp>
        <p:nvGrpSpPr>
          <p:cNvPr id="25" name="Group 25"/>
          <p:cNvGrpSpPr/>
          <p:nvPr/>
        </p:nvGrpSpPr>
        <p:grpSpPr>
          <a:xfrm>
            <a:off x="9701212" y="3314700"/>
            <a:ext cx="267891" cy="267891"/>
            <a:chOff x="0" y="0"/>
            <a:chExt cx="357188" cy="357188"/>
          </a:xfrm>
        </p:grpSpPr>
        <p:sp>
          <p:nvSpPr>
            <p:cNvPr id="26" name="Freeform 26" descr="preencoded.png"/>
            <p:cNvSpPr/>
            <p:nvPr/>
          </p:nvSpPr>
          <p:spPr>
            <a:xfrm>
              <a:off x="0" y="0"/>
              <a:ext cx="357251" cy="357251"/>
            </a:xfrm>
            <a:custGeom>
              <a:avLst/>
              <a:gdLst/>
              <a:ahLst/>
              <a:cxnLst/>
              <a:rect l="l" t="t" r="r" b="b"/>
              <a:pathLst>
                <a:path w="357251" h="357251">
                  <a:moveTo>
                    <a:pt x="0" y="0"/>
                  </a:moveTo>
                  <a:lnTo>
                    <a:pt x="357251" y="0"/>
                  </a:lnTo>
                  <a:lnTo>
                    <a:pt x="357251" y="357251"/>
                  </a:lnTo>
                  <a:lnTo>
                    <a:pt x="0" y="357251"/>
                  </a:lnTo>
                  <a:lnTo>
                    <a:pt x="0" y="0"/>
                  </a:lnTo>
                  <a:close/>
                </a:path>
              </a:pathLst>
            </a:custGeom>
            <a:blipFill>
              <a:blip r:embed="rId14"/>
              <a:stretch>
                <a:fillRect r="17" b="17"/>
              </a:stretch>
            </a:blipFill>
          </p:spPr>
        </p:sp>
      </p:grpSp>
      <p:grpSp>
        <p:nvGrpSpPr>
          <p:cNvPr id="27" name="Group 27"/>
          <p:cNvGrpSpPr/>
          <p:nvPr/>
        </p:nvGrpSpPr>
        <p:grpSpPr>
          <a:xfrm>
            <a:off x="9701212" y="4114800"/>
            <a:ext cx="267891" cy="267891"/>
            <a:chOff x="0" y="0"/>
            <a:chExt cx="357188" cy="357188"/>
          </a:xfrm>
        </p:grpSpPr>
        <p:sp>
          <p:nvSpPr>
            <p:cNvPr id="28" name="Freeform 28" descr="preencoded.png"/>
            <p:cNvSpPr/>
            <p:nvPr/>
          </p:nvSpPr>
          <p:spPr>
            <a:xfrm>
              <a:off x="0" y="0"/>
              <a:ext cx="357251" cy="357251"/>
            </a:xfrm>
            <a:custGeom>
              <a:avLst/>
              <a:gdLst/>
              <a:ahLst/>
              <a:cxnLst/>
              <a:rect l="l" t="t" r="r" b="b"/>
              <a:pathLst>
                <a:path w="357251" h="357251">
                  <a:moveTo>
                    <a:pt x="0" y="0"/>
                  </a:moveTo>
                  <a:lnTo>
                    <a:pt x="357251" y="0"/>
                  </a:lnTo>
                  <a:lnTo>
                    <a:pt x="357251" y="357251"/>
                  </a:lnTo>
                  <a:lnTo>
                    <a:pt x="0" y="357251"/>
                  </a:lnTo>
                  <a:lnTo>
                    <a:pt x="0" y="0"/>
                  </a:lnTo>
                  <a:close/>
                </a:path>
              </a:pathLst>
            </a:custGeom>
            <a:blipFill>
              <a:blip r:embed="rId14"/>
              <a:stretch>
                <a:fillRect r="17" b="17"/>
              </a:stretch>
            </a:blipFill>
          </p:spPr>
        </p:sp>
      </p:grpSp>
      <p:grpSp>
        <p:nvGrpSpPr>
          <p:cNvPr id="29" name="Group 29"/>
          <p:cNvGrpSpPr/>
          <p:nvPr/>
        </p:nvGrpSpPr>
        <p:grpSpPr>
          <a:xfrm>
            <a:off x="9358312" y="5543550"/>
            <a:ext cx="8358188" cy="3643312"/>
            <a:chOff x="0" y="0"/>
            <a:chExt cx="11144250" cy="4857750"/>
          </a:xfrm>
        </p:grpSpPr>
        <p:sp>
          <p:nvSpPr>
            <p:cNvPr id="30" name="Freeform 30" descr="preencoded.png"/>
            <p:cNvSpPr/>
            <p:nvPr/>
          </p:nvSpPr>
          <p:spPr>
            <a:xfrm>
              <a:off x="0" y="0"/>
              <a:ext cx="11144250" cy="4857750"/>
            </a:xfrm>
            <a:custGeom>
              <a:avLst/>
              <a:gdLst/>
              <a:ahLst/>
              <a:cxnLst/>
              <a:rect l="l" t="t" r="r" b="b"/>
              <a:pathLst>
                <a:path w="11144250" h="4857750">
                  <a:moveTo>
                    <a:pt x="0" y="0"/>
                  </a:moveTo>
                  <a:lnTo>
                    <a:pt x="11144250" y="0"/>
                  </a:lnTo>
                  <a:lnTo>
                    <a:pt x="11144250" y="4857750"/>
                  </a:lnTo>
                  <a:lnTo>
                    <a:pt x="0" y="4857750"/>
                  </a:lnTo>
                  <a:lnTo>
                    <a:pt x="0" y="0"/>
                  </a:lnTo>
                  <a:close/>
                </a:path>
              </a:pathLst>
            </a:custGeom>
            <a:blipFill>
              <a:blip r:embed="rId15"/>
              <a:stretch>
                <a:fillRect t="-784" b="-784"/>
              </a:stretch>
            </a:blipFill>
          </p:spPr>
        </p:sp>
      </p:grpSp>
      <p:grpSp>
        <p:nvGrpSpPr>
          <p:cNvPr id="31" name="Group 31"/>
          <p:cNvGrpSpPr/>
          <p:nvPr/>
        </p:nvGrpSpPr>
        <p:grpSpPr>
          <a:xfrm>
            <a:off x="9701212" y="5947839"/>
            <a:ext cx="321469" cy="262976"/>
            <a:chOff x="0" y="0"/>
            <a:chExt cx="428625" cy="350634"/>
          </a:xfrm>
        </p:grpSpPr>
        <p:sp>
          <p:nvSpPr>
            <p:cNvPr id="32" name="Freeform 32"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6"/>
              <a:stretch>
                <a:fillRect t="-7" b="-7"/>
              </a:stretch>
            </a:blipFill>
          </p:spPr>
        </p:sp>
      </p:grpSp>
      <p:grpSp>
        <p:nvGrpSpPr>
          <p:cNvPr id="33" name="Group 33"/>
          <p:cNvGrpSpPr/>
          <p:nvPr/>
        </p:nvGrpSpPr>
        <p:grpSpPr>
          <a:xfrm>
            <a:off x="9701212" y="6443662"/>
            <a:ext cx="267891" cy="229495"/>
            <a:chOff x="0" y="0"/>
            <a:chExt cx="357188" cy="305994"/>
          </a:xfrm>
        </p:grpSpPr>
        <p:sp>
          <p:nvSpPr>
            <p:cNvPr id="34" name="Freeform 34" descr="preencoded.png"/>
            <p:cNvSpPr/>
            <p:nvPr/>
          </p:nvSpPr>
          <p:spPr>
            <a:xfrm>
              <a:off x="0" y="0"/>
              <a:ext cx="357251" cy="305943"/>
            </a:xfrm>
            <a:custGeom>
              <a:avLst/>
              <a:gdLst/>
              <a:ahLst/>
              <a:cxnLst/>
              <a:rect l="l" t="t" r="r" b="b"/>
              <a:pathLst>
                <a:path w="357251" h="305943">
                  <a:moveTo>
                    <a:pt x="0" y="0"/>
                  </a:moveTo>
                  <a:lnTo>
                    <a:pt x="357251" y="0"/>
                  </a:lnTo>
                  <a:lnTo>
                    <a:pt x="357251" y="305943"/>
                  </a:lnTo>
                  <a:lnTo>
                    <a:pt x="0" y="305943"/>
                  </a:lnTo>
                  <a:lnTo>
                    <a:pt x="0" y="0"/>
                  </a:lnTo>
                  <a:close/>
                </a:path>
              </a:pathLst>
            </a:custGeom>
            <a:blipFill>
              <a:blip r:embed="rId17"/>
              <a:stretch>
                <a:fillRect t="-29" r="17" b="-41"/>
              </a:stretch>
            </a:blipFill>
          </p:spPr>
        </p:sp>
      </p:grpSp>
      <p:grpSp>
        <p:nvGrpSpPr>
          <p:cNvPr id="35" name="Group 35"/>
          <p:cNvGrpSpPr/>
          <p:nvPr/>
        </p:nvGrpSpPr>
        <p:grpSpPr>
          <a:xfrm>
            <a:off x="9701212" y="7243762"/>
            <a:ext cx="267891" cy="229495"/>
            <a:chOff x="0" y="0"/>
            <a:chExt cx="357188" cy="305994"/>
          </a:xfrm>
        </p:grpSpPr>
        <p:sp>
          <p:nvSpPr>
            <p:cNvPr id="36" name="Freeform 36" descr="preencoded.png"/>
            <p:cNvSpPr/>
            <p:nvPr/>
          </p:nvSpPr>
          <p:spPr>
            <a:xfrm>
              <a:off x="0" y="0"/>
              <a:ext cx="357251" cy="305943"/>
            </a:xfrm>
            <a:custGeom>
              <a:avLst/>
              <a:gdLst/>
              <a:ahLst/>
              <a:cxnLst/>
              <a:rect l="l" t="t" r="r" b="b"/>
              <a:pathLst>
                <a:path w="357251" h="305943">
                  <a:moveTo>
                    <a:pt x="0" y="0"/>
                  </a:moveTo>
                  <a:lnTo>
                    <a:pt x="357251" y="0"/>
                  </a:lnTo>
                  <a:lnTo>
                    <a:pt x="357251" y="305943"/>
                  </a:lnTo>
                  <a:lnTo>
                    <a:pt x="0" y="305943"/>
                  </a:lnTo>
                  <a:lnTo>
                    <a:pt x="0" y="0"/>
                  </a:lnTo>
                  <a:close/>
                </a:path>
              </a:pathLst>
            </a:custGeom>
            <a:blipFill>
              <a:blip r:embed="rId17"/>
              <a:stretch>
                <a:fillRect t="-29" r="17" b="-41"/>
              </a:stretch>
            </a:blipFill>
          </p:spPr>
        </p:sp>
      </p:grpSp>
      <p:grpSp>
        <p:nvGrpSpPr>
          <p:cNvPr id="37" name="Group 37"/>
          <p:cNvGrpSpPr/>
          <p:nvPr/>
        </p:nvGrpSpPr>
        <p:grpSpPr>
          <a:xfrm>
            <a:off x="9701212" y="8043862"/>
            <a:ext cx="267891" cy="229495"/>
            <a:chOff x="0" y="0"/>
            <a:chExt cx="357188" cy="305994"/>
          </a:xfrm>
        </p:grpSpPr>
        <p:sp>
          <p:nvSpPr>
            <p:cNvPr id="38" name="Freeform 38" descr="preencoded.png"/>
            <p:cNvSpPr/>
            <p:nvPr/>
          </p:nvSpPr>
          <p:spPr>
            <a:xfrm>
              <a:off x="0" y="0"/>
              <a:ext cx="357251" cy="305943"/>
            </a:xfrm>
            <a:custGeom>
              <a:avLst/>
              <a:gdLst/>
              <a:ahLst/>
              <a:cxnLst/>
              <a:rect l="l" t="t" r="r" b="b"/>
              <a:pathLst>
                <a:path w="357251" h="305943">
                  <a:moveTo>
                    <a:pt x="0" y="0"/>
                  </a:moveTo>
                  <a:lnTo>
                    <a:pt x="357251" y="0"/>
                  </a:lnTo>
                  <a:lnTo>
                    <a:pt x="357251" y="305943"/>
                  </a:lnTo>
                  <a:lnTo>
                    <a:pt x="0" y="305943"/>
                  </a:lnTo>
                  <a:lnTo>
                    <a:pt x="0" y="0"/>
                  </a:lnTo>
                  <a:close/>
                </a:path>
              </a:pathLst>
            </a:custGeom>
            <a:blipFill>
              <a:blip r:embed="rId17"/>
              <a:stretch>
                <a:fillRect t="-29" r="17" b="-41"/>
              </a:stretch>
            </a:blipFill>
          </p:spPr>
        </p:sp>
      </p:grpSp>
      <p:grpSp>
        <p:nvGrpSpPr>
          <p:cNvPr id="39" name="Group 39"/>
          <p:cNvGrpSpPr/>
          <p:nvPr/>
        </p:nvGrpSpPr>
        <p:grpSpPr>
          <a:xfrm>
            <a:off x="1000125" y="500062"/>
            <a:ext cx="17287875" cy="514350"/>
            <a:chOff x="0" y="0"/>
            <a:chExt cx="23050500" cy="685800"/>
          </a:xfrm>
        </p:grpSpPr>
        <p:sp>
          <p:nvSpPr>
            <p:cNvPr id="40" name="Freeform 40"/>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18">
                <a:alphaModFix amt="0"/>
              </a:blip>
              <a:stretch>
                <a:fillRect t="-604913" b="-604913"/>
              </a:stretch>
            </a:blipFill>
          </p:spPr>
        </p:sp>
        <p:sp>
          <p:nvSpPr>
            <p:cNvPr id="41" name="TextBox 41"/>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8: TOP 20 KHÁCH HÀNG VIP CHI TIÊU NHIỀU NHẤT</a:t>
              </a:r>
            </a:p>
          </p:txBody>
        </p:sp>
      </p:grpSp>
      <p:grpSp>
        <p:nvGrpSpPr>
          <p:cNvPr id="42" name="Group 42"/>
          <p:cNvGrpSpPr/>
          <p:nvPr/>
        </p:nvGrpSpPr>
        <p:grpSpPr>
          <a:xfrm>
            <a:off x="1000125" y="1085850"/>
            <a:ext cx="16287750" cy="300038"/>
            <a:chOff x="0" y="0"/>
            <a:chExt cx="21717000" cy="400050"/>
          </a:xfrm>
        </p:grpSpPr>
        <p:sp>
          <p:nvSpPr>
            <p:cNvPr id="43" name="Freeform 43"/>
            <p:cNvSpPr/>
            <p:nvPr/>
          </p:nvSpPr>
          <p:spPr>
            <a:xfrm>
              <a:off x="0" y="0"/>
              <a:ext cx="21717000" cy="400050"/>
            </a:xfrm>
            <a:custGeom>
              <a:avLst/>
              <a:gdLst/>
              <a:ahLst/>
              <a:cxnLst/>
              <a:rect l="l" t="t" r="r" b="b"/>
              <a:pathLst>
                <a:path w="21717000" h="400050">
                  <a:moveTo>
                    <a:pt x="0" y="0"/>
                  </a:moveTo>
                  <a:lnTo>
                    <a:pt x="21717000" y="0"/>
                  </a:lnTo>
                  <a:lnTo>
                    <a:pt x="21717000" y="400050"/>
                  </a:lnTo>
                  <a:lnTo>
                    <a:pt x="0" y="400050"/>
                  </a:lnTo>
                  <a:close/>
                </a:path>
              </a:pathLst>
            </a:custGeom>
            <a:blipFill>
              <a:blip r:embed="rId18">
                <a:alphaModFix amt="0"/>
              </a:blip>
              <a:stretch>
                <a:fillRect t="-1007759" b="-1007759"/>
              </a:stretch>
            </a:blipFill>
          </p:spPr>
        </p:sp>
        <p:sp>
          <p:nvSpPr>
            <p:cNvPr id="44" name="TextBox 44"/>
            <p:cNvSpPr txBox="1"/>
            <p:nvPr/>
          </p:nvSpPr>
          <p:spPr>
            <a:xfrm>
              <a:off x="0" y="-66675"/>
              <a:ext cx="217170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Thực thi truy vấn HiveQL &amp; Trực quan hóa kết quả</a:t>
              </a:r>
            </a:p>
          </p:txBody>
        </p:sp>
      </p:grpSp>
      <p:grpSp>
        <p:nvGrpSpPr>
          <p:cNvPr id="45" name="Group 45"/>
          <p:cNvGrpSpPr/>
          <p:nvPr/>
        </p:nvGrpSpPr>
        <p:grpSpPr>
          <a:xfrm>
            <a:off x="1185862" y="2836069"/>
            <a:ext cx="8229600" cy="257175"/>
            <a:chOff x="0" y="0"/>
            <a:chExt cx="10972800" cy="342900"/>
          </a:xfrm>
        </p:grpSpPr>
        <p:sp>
          <p:nvSpPr>
            <p:cNvPr id="46" name="Freeform 46"/>
            <p:cNvSpPr/>
            <p:nvPr/>
          </p:nvSpPr>
          <p:spPr>
            <a:xfrm>
              <a:off x="0" y="0"/>
              <a:ext cx="10972800" cy="342900"/>
            </a:xfrm>
            <a:custGeom>
              <a:avLst/>
              <a:gdLst/>
              <a:ahLst/>
              <a:cxnLst/>
              <a:rect l="l" t="t" r="r" b="b"/>
              <a:pathLst>
                <a:path w="10972800" h="342900">
                  <a:moveTo>
                    <a:pt x="0" y="0"/>
                  </a:moveTo>
                  <a:lnTo>
                    <a:pt x="10972800" y="0"/>
                  </a:lnTo>
                  <a:lnTo>
                    <a:pt x="10972800" y="342900"/>
                  </a:lnTo>
                  <a:lnTo>
                    <a:pt x="0" y="342900"/>
                  </a:lnTo>
                  <a:close/>
                </a:path>
              </a:pathLst>
            </a:custGeom>
            <a:blipFill>
              <a:blip r:embed="rId18">
                <a:alphaModFix amt="0"/>
              </a:blip>
              <a:stretch>
                <a:fillRect t="-573521" b="-573521"/>
              </a:stretch>
            </a:blipFill>
          </p:spPr>
        </p:sp>
        <p:sp>
          <p:nvSpPr>
            <p:cNvPr id="47" name="TextBox 47"/>
            <p:cNvSpPr txBox="1"/>
            <p:nvPr/>
          </p:nvSpPr>
          <p:spPr>
            <a:xfrm>
              <a:off x="0" y="-66675"/>
              <a:ext cx="10972800" cy="409575"/>
            </a:xfrm>
            <a:prstGeom prst="rect">
              <a:avLst/>
            </a:prstGeom>
          </p:spPr>
          <p:txBody>
            <a:bodyPr lIns="0" tIns="0" rIns="0" bIns="0" rtlCol="0" anchor="ctr"/>
            <a:lstStyle/>
            <a:p>
              <a:pPr algn="l">
                <a:lnSpc>
                  <a:spcPts val="2025"/>
                </a:lnSpc>
              </a:pPr>
              <a:r>
                <a:rPr lang="en-US" sz="1350">
                  <a:solidFill>
                    <a:srgbClr val="858585"/>
                  </a:solidFill>
                  <a:latin typeface="Calibri (MS)"/>
                  <a:ea typeface="Calibri (MS)"/>
                  <a:cs typeface="Calibri (MS)"/>
                  <a:sym typeface="Calibri (MS)"/>
                </a:rPr>
                <a:t>HiveQL Query - Customer Loyalty Analysis</a:t>
              </a:r>
            </a:p>
          </p:txBody>
        </p:sp>
      </p:grpSp>
      <p:grpSp>
        <p:nvGrpSpPr>
          <p:cNvPr id="48" name="Group 48"/>
          <p:cNvGrpSpPr/>
          <p:nvPr/>
        </p:nvGrpSpPr>
        <p:grpSpPr>
          <a:xfrm>
            <a:off x="857250" y="3236119"/>
            <a:ext cx="7786688" cy="2400300"/>
            <a:chOff x="0" y="0"/>
            <a:chExt cx="10382250" cy="3200400"/>
          </a:xfrm>
        </p:grpSpPr>
        <p:sp>
          <p:nvSpPr>
            <p:cNvPr id="49" name="Freeform 49"/>
            <p:cNvSpPr/>
            <p:nvPr/>
          </p:nvSpPr>
          <p:spPr>
            <a:xfrm>
              <a:off x="0" y="0"/>
              <a:ext cx="10382250" cy="3200400"/>
            </a:xfrm>
            <a:custGeom>
              <a:avLst/>
              <a:gdLst/>
              <a:ahLst/>
              <a:cxnLst/>
              <a:rect l="l" t="t" r="r" b="b"/>
              <a:pathLst>
                <a:path w="10382250" h="3200400">
                  <a:moveTo>
                    <a:pt x="0" y="0"/>
                  </a:moveTo>
                  <a:lnTo>
                    <a:pt x="10382250" y="0"/>
                  </a:lnTo>
                  <a:lnTo>
                    <a:pt x="10382250" y="3200400"/>
                  </a:lnTo>
                  <a:lnTo>
                    <a:pt x="0" y="3200400"/>
                  </a:lnTo>
                  <a:close/>
                </a:path>
              </a:pathLst>
            </a:custGeom>
            <a:blipFill>
              <a:blip r:embed="rId18">
                <a:alphaModFix amt="0"/>
              </a:blip>
              <a:stretch>
                <a:fillRect t="-13210" b="-13210"/>
              </a:stretch>
            </a:blipFill>
          </p:spPr>
        </p:sp>
        <p:sp>
          <p:nvSpPr>
            <p:cNvPr id="50" name="TextBox 50"/>
            <p:cNvSpPr txBox="1"/>
            <p:nvPr/>
          </p:nvSpPr>
          <p:spPr>
            <a:xfrm>
              <a:off x="0" y="-95250"/>
              <a:ext cx="10382250" cy="3295650"/>
            </a:xfrm>
            <a:prstGeom prst="rect">
              <a:avLst/>
            </a:prstGeom>
          </p:spPr>
          <p:txBody>
            <a:bodyPr lIns="0" tIns="0" rIns="0" bIns="0" rtlCol="0" anchor="ctr"/>
            <a:lstStyle/>
            <a:p>
              <a:pPr algn="l">
                <a:lnSpc>
                  <a:spcPts val="2700"/>
                </a:lnSpc>
              </a:pPr>
              <a:r>
                <a:rPr lang="en-US" sz="1800">
                  <a:solidFill>
                    <a:srgbClr val="569CD6"/>
                  </a:solidFill>
                  <a:latin typeface="Calibri (MS)"/>
                  <a:ea typeface="Calibri (MS)"/>
                  <a:cs typeface="Calibri (MS)"/>
                  <a:sym typeface="Calibri (MS)"/>
                </a:rPr>
                <a:t>SELECT</a:t>
              </a:r>
              <a:r>
                <a:rPr lang="en-US" sz="1800">
                  <a:solidFill>
                    <a:srgbClr val="D4D4D4"/>
                  </a:solidFill>
                  <a:latin typeface="Calibri (MS)"/>
                  <a:ea typeface="Calibri (MS)"/>
                  <a:cs typeface="Calibri (MS)"/>
                  <a:sym typeface="Calibri (MS)"/>
                </a:rPr>
                <a:t> ma_khach_hang, </a:t>
              </a:r>
            </a:p>
            <a:p>
              <a:pPr algn="l">
                <a:lnSpc>
                  <a:spcPts val="2700"/>
                </a:lnSpc>
              </a:pPr>
              <a:r>
                <a:rPr lang="en-US" sz="1800">
                  <a:solidFill>
                    <a:srgbClr val="D4D4D4"/>
                  </a:solidFill>
                  <a:latin typeface="Calibri (MS)"/>
                  <a:ea typeface="Calibri (MS)"/>
                  <a:cs typeface="Calibri (MS)"/>
                  <a:sym typeface="Calibri (MS)"/>
                </a:rPr>
                <a:t>       </a:t>
              </a:r>
            </a:p>
            <a:p>
              <a:pPr algn="l">
                <a:lnSpc>
                  <a:spcPts val="2700"/>
                </a:lnSpc>
              </a:pPr>
              <a:r>
                <a:rPr lang="en-US" sz="1800">
                  <a:solidFill>
                    <a:srgbClr val="DCDCAA"/>
                  </a:solidFill>
                  <a:latin typeface="Calibri (MS)"/>
                  <a:ea typeface="Calibri (MS)"/>
                  <a:cs typeface="Calibri (MS)"/>
                  <a:sym typeface="Calibri (MS)"/>
                </a:rPr>
                <a:t>SUM</a:t>
              </a:r>
              <a:r>
                <a:rPr lang="en-US" sz="1800">
                  <a:solidFill>
                    <a:srgbClr val="D4D4D4"/>
                  </a:solidFill>
                  <a:latin typeface="Calibri (MS)"/>
                  <a:ea typeface="Calibri (MS)"/>
                  <a:cs typeface="Calibri (MS)"/>
                  <a:sym typeface="Calibri (MS)"/>
                </a:rPr>
                <a:t>(thanh_tien) </a:t>
              </a:r>
              <a:r>
                <a:rPr lang="en-US" sz="1800">
                  <a:solidFill>
                    <a:srgbClr val="569CD6"/>
                  </a:solidFill>
                  <a:latin typeface="Calibri (MS)"/>
                  <a:ea typeface="Calibri (MS)"/>
                  <a:cs typeface="Calibri (MS)"/>
                  <a:sym typeface="Calibri (MS)"/>
                </a:rPr>
                <a:t>AS</a:t>
              </a:r>
              <a:r>
                <a:rPr lang="en-US" sz="1800">
                  <a:solidFill>
                    <a:srgbClr val="D4D4D4"/>
                  </a:solidFill>
                  <a:latin typeface="Calibri (MS)"/>
                  <a:ea typeface="Calibri (MS)"/>
                  <a:cs typeface="Calibri (MS)"/>
                  <a:sym typeface="Calibri (MS)"/>
                </a:rPr>
                <a:t> tong_chi_tieu </a:t>
              </a:r>
            </a:p>
            <a:p>
              <a:pPr algn="l">
                <a:lnSpc>
                  <a:spcPts val="2700"/>
                </a:lnSpc>
              </a:pPr>
              <a:r>
                <a:rPr lang="en-US" sz="1800">
                  <a:solidFill>
                    <a:srgbClr val="569CD6"/>
                  </a:solidFill>
                  <a:latin typeface="Calibri (MS)"/>
                  <a:ea typeface="Calibri (MS)"/>
                  <a:cs typeface="Calibri (MS)"/>
                  <a:sym typeface="Calibri (MS)"/>
                </a:rPr>
                <a:t>FROM</a:t>
              </a:r>
              <a:r>
                <a:rPr lang="en-US" sz="1800">
                  <a:solidFill>
                    <a:srgbClr val="D4D4D4"/>
                  </a:solidFill>
                  <a:latin typeface="Calibri (MS)"/>
                  <a:ea typeface="Calibri (MS)"/>
                  <a:cs typeface="Calibri (MS)"/>
                  <a:sym typeface="Calibri (MS)"/>
                </a:rPr>
                <a:t> ban_hang_dien_may </a:t>
              </a:r>
            </a:p>
            <a:p>
              <a:pPr algn="l">
                <a:lnSpc>
                  <a:spcPts val="2700"/>
                </a:lnSpc>
              </a:pPr>
              <a:r>
                <a:rPr lang="en-US" sz="1800">
                  <a:solidFill>
                    <a:srgbClr val="C586C0"/>
                  </a:solidFill>
                  <a:latin typeface="Calibri (MS)"/>
                  <a:ea typeface="Calibri (MS)"/>
                  <a:cs typeface="Calibri (MS)"/>
                  <a:sym typeface="Calibri (MS)"/>
                </a:rPr>
                <a:t>GROUP BY</a:t>
              </a:r>
              <a:r>
                <a:rPr lang="en-US" sz="1800">
                  <a:solidFill>
                    <a:srgbClr val="D4D4D4"/>
                  </a:solidFill>
                  <a:latin typeface="Calibri (MS)"/>
                  <a:ea typeface="Calibri (MS)"/>
                  <a:cs typeface="Calibri (MS)"/>
                  <a:sym typeface="Calibri (MS)"/>
                </a:rPr>
                <a:t> ma_khach_hang </a:t>
              </a:r>
            </a:p>
            <a:p>
              <a:pPr algn="l">
                <a:lnSpc>
                  <a:spcPts val="2700"/>
                </a:lnSpc>
              </a:pPr>
              <a:r>
                <a:rPr lang="en-US" sz="1800">
                  <a:solidFill>
                    <a:srgbClr val="C586C0"/>
                  </a:solidFill>
                  <a:latin typeface="Calibri (MS)"/>
                  <a:ea typeface="Calibri (MS)"/>
                  <a:cs typeface="Calibri (MS)"/>
                  <a:sym typeface="Calibri (MS)"/>
                </a:rPr>
                <a:t>ORDER BY</a:t>
              </a:r>
              <a:r>
                <a:rPr lang="en-US" sz="1800">
                  <a:solidFill>
                    <a:srgbClr val="D4D4D4"/>
                  </a:solidFill>
                  <a:latin typeface="Calibri (MS)"/>
                  <a:ea typeface="Calibri (MS)"/>
                  <a:cs typeface="Calibri (MS)"/>
                  <a:sym typeface="Calibri (MS)"/>
                </a:rPr>
                <a:t> tong_chi_tieu </a:t>
              </a:r>
              <a:r>
                <a:rPr lang="en-US" sz="1800">
                  <a:solidFill>
                    <a:srgbClr val="569CD6"/>
                  </a:solidFill>
                  <a:latin typeface="Calibri (MS)"/>
                  <a:ea typeface="Calibri (MS)"/>
                  <a:cs typeface="Calibri (MS)"/>
                  <a:sym typeface="Calibri (MS)"/>
                </a:rPr>
                <a:t>DESCLIMIT</a:t>
              </a:r>
              <a:r>
                <a:rPr lang="en-US" sz="1800">
                  <a:solidFill>
                    <a:srgbClr val="D4D4D4"/>
                  </a:solidFill>
                  <a:latin typeface="Calibri (MS)"/>
                  <a:ea typeface="Calibri (MS)"/>
                  <a:cs typeface="Calibri (MS)"/>
                  <a:sym typeface="Calibri (MS)"/>
                </a:rPr>
                <a:t> </a:t>
              </a:r>
              <a:r>
                <a:rPr lang="en-US" sz="1800">
                  <a:solidFill>
                    <a:srgbClr val="CE9178"/>
                  </a:solidFill>
                  <a:latin typeface="Calibri (MS)"/>
                  <a:ea typeface="Calibri (MS)"/>
                  <a:cs typeface="Calibri (MS)"/>
                  <a:sym typeface="Calibri (MS)"/>
                </a:rPr>
                <a:t>20</a:t>
              </a:r>
              <a:r>
                <a:rPr lang="en-US" sz="1800">
                  <a:solidFill>
                    <a:srgbClr val="D4D4D4"/>
                  </a:solidFill>
                  <a:latin typeface="Calibri (MS)"/>
                  <a:ea typeface="Calibri (MS)"/>
                  <a:cs typeface="Calibri (MS)"/>
                  <a:sym typeface="Calibri (MS)"/>
                </a:rPr>
                <a:t>;</a:t>
              </a:r>
            </a:p>
          </p:txBody>
        </p:sp>
      </p:grpSp>
      <p:grpSp>
        <p:nvGrpSpPr>
          <p:cNvPr id="51" name="Group 51"/>
          <p:cNvGrpSpPr/>
          <p:nvPr/>
        </p:nvGrpSpPr>
        <p:grpSpPr>
          <a:xfrm>
            <a:off x="1407319" y="6550819"/>
            <a:ext cx="5554980" cy="385762"/>
            <a:chOff x="0" y="0"/>
            <a:chExt cx="7406640" cy="514350"/>
          </a:xfrm>
        </p:grpSpPr>
        <p:sp>
          <p:nvSpPr>
            <p:cNvPr id="52" name="Freeform 52"/>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18">
                <a:alphaModFix amt="0"/>
              </a:blip>
              <a:stretch>
                <a:fillRect t="-230584" b="-230584"/>
              </a:stretch>
            </a:blipFill>
          </p:spPr>
        </p:sp>
        <p:sp>
          <p:nvSpPr>
            <p:cNvPr id="53" name="TextBox 53"/>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Mục đích phân tích</a:t>
              </a:r>
            </a:p>
          </p:txBody>
        </p:sp>
      </p:grpSp>
      <p:grpSp>
        <p:nvGrpSpPr>
          <p:cNvPr id="54" name="Group 54"/>
          <p:cNvGrpSpPr/>
          <p:nvPr/>
        </p:nvGrpSpPr>
        <p:grpSpPr>
          <a:xfrm>
            <a:off x="1325166" y="7108031"/>
            <a:ext cx="7261622" cy="685800"/>
            <a:chOff x="0" y="0"/>
            <a:chExt cx="9682162" cy="914400"/>
          </a:xfrm>
        </p:grpSpPr>
        <p:sp>
          <p:nvSpPr>
            <p:cNvPr id="55" name="Freeform 55"/>
            <p:cNvSpPr/>
            <p:nvPr/>
          </p:nvSpPr>
          <p:spPr>
            <a:xfrm>
              <a:off x="0" y="0"/>
              <a:ext cx="9682162" cy="914400"/>
            </a:xfrm>
            <a:custGeom>
              <a:avLst/>
              <a:gdLst/>
              <a:ahLst/>
              <a:cxnLst/>
              <a:rect l="l" t="t" r="r" b="b"/>
              <a:pathLst>
                <a:path w="9682162" h="914400">
                  <a:moveTo>
                    <a:pt x="0" y="0"/>
                  </a:moveTo>
                  <a:lnTo>
                    <a:pt x="9682162" y="0"/>
                  </a:lnTo>
                  <a:lnTo>
                    <a:pt x="9682162" y="914400"/>
                  </a:lnTo>
                  <a:lnTo>
                    <a:pt x="0" y="914400"/>
                  </a:lnTo>
                  <a:close/>
                </a:path>
              </a:pathLst>
            </a:custGeom>
            <a:blipFill>
              <a:blip r:embed="rId18">
                <a:alphaModFix amt="0"/>
              </a:blip>
              <a:stretch>
                <a:fillRect t="-156318" b="-156318"/>
              </a:stretch>
            </a:blipFill>
          </p:spPr>
        </p:sp>
        <p:sp>
          <p:nvSpPr>
            <p:cNvPr id="56" name="TextBox 56"/>
            <p:cNvSpPr txBox="1"/>
            <p:nvPr/>
          </p:nvSpPr>
          <p:spPr>
            <a:xfrm>
              <a:off x="0" y="-104775"/>
              <a:ext cx="9682162"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Xác định </a:t>
              </a:r>
              <a:r>
                <a:rPr lang="en-US" sz="1687" b="1">
                  <a:solidFill>
                    <a:srgbClr val="007ACC"/>
                  </a:solidFill>
                  <a:latin typeface="Calibri (MS) Bold"/>
                  <a:ea typeface="Calibri (MS) Bold"/>
                  <a:cs typeface="Calibri (MS) Bold"/>
                  <a:sym typeface="Calibri (MS) Bold"/>
                </a:rPr>
                <a:t>nhóm khách hàng trung thành</a:t>
              </a:r>
              <a:r>
                <a:rPr lang="en-US" sz="1687">
                  <a:solidFill>
                    <a:srgbClr val="4A5568"/>
                  </a:solidFill>
                  <a:latin typeface="Calibri (MS)"/>
                  <a:ea typeface="Calibri (MS)"/>
                  <a:cs typeface="Calibri (MS)"/>
                  <a:sym typeface="Calibri (MS)"/>
                </a:rPr>
                <a:t> mang lại giá trị cao nhất cho hệ thống siêu thị.</a:t>
              </a:r>
            </a:p>
          </p:txBody>
        </p:sp>
      </p:grpSp>
      <p:grpSp>
        <p:nvGrpSpPr>
          <p:cNvPr id="57" name="Group 57"/>
          <p:cNvGrpSpPr/>
          <p:nvPr/>
        </p:nvGrpSpPr>
        <p:grpSpPr>
          <a:xfrm>
            <a:off x="1325166" y="7908131"/>
            <a:ext cx="7261622" cy="685800"/>
            <a:chOff x="0" y="0"/>
            <a:chExt cx="9682162" cy="914400"/>
          </a:xfrm>
        </p:grpSpPr>
        <p:sp>
          <p:nvSpPr>
            <p:cNvPr id="58" name="Freeform 58"/>
            <p:cNvSpPr/>
            <p:nvPr/>
          </p:nvSpPr>
          <p:spPr>
            <a:xfrm>
              <a:off x="0" y="0"/>
              <a:ext cx="9682162" cy="914400"/>
            </a:xfrm>
            <a:custGeom>
              <a:avLst/>
              <a:gdLst/>
              <a:ahLst/>
              <a:cxnLst/>
              <a:rect l="l" t="t" r="r" b="b"/>
              <a:pathLst>
                <a:path w="9682162" h="914400">
                  <a:moveTo>
                    <a:pt x="0" y="0"/>
                  </a:moveTo>
                  <a:lnTo>
                    <a:pt x="9682162" y="0"/>
                  </a:lnTo>
                  <a:lnTo>
                    <a:pt x="9682162" y="914400"/>
                  </a:lnTo>
                  <a:lnTo>
                    <a:pt x="0" y="914400"/>
                  </a:lnTo>
                  <a:close/>
                </a:path>
              </a:pathLst>
            </a:custGeom>
            <a:blipFill>
              <a:blip r:embed="rId18">
                <a:alphaModFix amt="0"/>
              </a:blip>
              <a:stretch>
                <a:fillRect t="-156318" b="-156318"/>
              </a:stretch>
            </a:blipFill>
          </p:spPr>
        </p:sp>
        <p:sp>
          <p:nvSpPr>
            <p:cNvPr id="59" name="TextBox 59"/>
            <p:cNvSpPr txBox="1"/>
            <p:nvPr/>
          </p:nvSpPr>
          <p:spPr>
            <a:xfrm>
              <a:off x="0" y="-104775"/>
              <a:ext cx="9682162"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Sử dụng hàm tổng hợp </a:t>
              </a:r>
              <a:r>
                <a:rPr lang="en-US" sz="1687" b="1">
                  <a:solidFill>
                    <a:srgbClr val="007ACC"/>
                  </a:solidFill>
                  <a:latin typeface="Calibri (MS) Bold"/>
                  <a:ea typeface="Calibri (MS) Bold"/>
                  <a:cs typeface="Calibri (MS) Bold"/>
                  <a:sym typeface="Calibri (MS) Bold"/>
                </a:rPr>
                <a:t>SUM()</a:t>
              </a:r>
              <a:r>
                <a:rPr lang="en-US" sz="1687">
                  <a:solidFill>
                    <a:srgbClr val="4A5568"/>
                  </a:solidFill>
                  <a:latin typeface="Calibri (MS)"/>
                  <a:ea typeface="Calibri (MS)"/>
                  <a:cs typeface="Calibri (MS)"/>
                  <a:sym typeface="Calibri (MS)"/>
                </a:rPr>
                <a:t> kết hợp </a:t>
              </a:r>
              <a:r>
                <a:rPr lang="en-US" sz="1687" b="1">
                  <a:solidFill>
                    <a:srgbClr val="007ACC"/>
                  </a:solidFill>
                  <a:latin typeface="Calibri (MS) Bold"/>
                  <a:ea typeface="Calibri (MS) Bold"/>
                  <a:cs typeface="Calibri (MS) Bold"/>
                  <a:sym typeface="Calibri (MS) Bold"/>
                </a:rPr>
                <a:t>GROUP BY</a:t>
              </a:r>
              <a:r>
                <a:rPr lang="en-US" sz="1687">
                  <a:solidFill>
                    <a:srgbClr val="4A5568"/>
                  </a:solidFill>
                  <a:latin typeface="Calibri (MS)"/>
                  <a:ea typeface="Calibri (MS)"/>
                  <a:cs typeface="Calibri (MS)"/>
                  <a:sym typeface="Calibri (MS)"/>
                </a:rPr>
                <a:t> để tính lũy kế chi tiêu theo từng mã khách hàng.</a:t>
              </a:r>
            </a:p>
          </p:txBody>
        </p:sp>
      </p:grpSp>
      <p:grpSp>
        <p:nvGrpSpPr>
          <p:cNvPr id="60" name="Group 60"/>
          <p:cNvGrpSpPr/>
          <p:nvPr/>
        </p:nvGrpSpPr>
        <p:grpSpPr>
          <a:xfrm>
            <a:off x="10194131" y="2757488"/>
            <a:ext cx="7612380" cy="385762"/>
            <a:chOff x="0" y="0"/>
            <a:chExt cx="10149840" cy="514350"/>
          </a:xfrm>
        </p:grpSpPr>
        <p:sp>
          <p:nvSpPr>
            <p:cNvPr id="61" name="Freeform 61"/>
            <p:cNvSpPr/>
            <p:nvPr/>
          </p:nvSpPr>
          <p:spPr>
            <a:xfrm>
              <a:off x="0" y="0"/>
              <a:ext cx="10149840" cy="514350"/>
            </a:xfrm>
            <a:custGeom>
              <a:avLst/>
              <a:gdLst/>
              <a:ahLst/>
              <a:cxnLst/>
              <a:rect l="l" t="t" r="r" b="b"/>
              <a:pathLst>
                <a:path w="10149840" h="514350">
                  <a:moveTo>
                    <a:pt x="0" y="0"/>
                  </a:moveTo>
                  <a:lnTo>
                    <a:pt x="10149840" y="0"/>
                  </a:lnTo>
                  <a:lnTo>
                    <a:pt x="10149840" y="514350"/>
                  </a:lnTo>
                  <a:lnTo>
                    <a:pt x="0" y="514350"/>
                  </a:lnTo>
                  <a:close/>
                </a:path>
              </a:pathLst>
            </a:custGeom>
            <a:blipFill>
              <a:blip r:embed="rId18">
                <a:alphaModFix amt="0"/>
              </a:blip>
              <a:stretch>
                <a:fillRect t="-334504" b="-334504"/>
              </a:stretch>
            </a:blipFill>
          </p:spPr>
        </p:sp>
        <p:sp>
          <p:nvSpPr>
            <p:cNvPr id="62" name="TextBox 62"/>
            <p:cNvSpPr txBox="1"/>
            <p:nvPr/>
          </p:nvSpPr>
          <p:spPr>
            <a:xfrm>
              <a:off x="0" y="-95250"/>
              <a:ext cx="1014984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Nguyên lý Pareto 80/20</a:t>
              </a:r>
            </a:p>
          </p:txBody>
        </p:sp>
      </p:grpSp>
      <p:grpSp>
        <p:nvGrpSpPr>
          <p:cNvPr id="63" name="Group 63"/>
          <p:cNvGrpSpPr/>
          <p:nvPr/>
        </p:nvGrpSpPr>
        <p:grpSpPr>
          <a:xfrm>
            <a:off x="10111978" y="3314700"/>
            <a:ext cx="7261622" cy="685800"/>
            <a:chOff x="0" y="0"/>
            <a:chExt cx="9682162" cy="914400"/>
          </a:xfrm>
        </p:grpSpPr>
        <p:sp>
          <p:nvSpPr>
            <p:cNvPr id="64" name="Freeform 64"/>
            <p:cNvSpPr/>
            <p:nvPr/>
          </p:nvSpPr>
          <p:spPr>
            <a:xfrm>
              <a:off x="0" y="0"/>
              <a:ext cx="9682162" cy="914400"/>
            </a:xfrm>
            <a:custGeom>
              <a:avLst/>
              <a:gdLst/>
              <a:ahLst/>
              <a:cxnLst/>
              <a:rect l="l" t="t" r="r" b="b"/>
              <a:pathLst>
                <a:path w="9682162" h="914400">
                  <a:moveTo>
                    <a:pt x="0" y="0"/>
                  </a:moveTo>
                  <a:lnTo>
                    <a:pt x="9682162" y="0"/>
                  </a:lnTo>
                  <a:lnTo>
                    <a:pt x="9682162" y="914400"/>
                  </a:lnTo>
                  <a:lnTo>
                    <a:pt x="0" y="914400"/>
                  </a:lnTo>
                  <a:close/>
                </a:path>
              </a:pathLst>
            </a:custGeom>
            <a:blipFill>
              <a:blip r:embed="rId18">
                <a:alphaModFix amt="0"/>
              </a:blip>
              <a:stretch>
                <a:fillRect t="-156318" b="-156318"/>
              </a:stretch>
            </a:blipFill>
          </p:spPr>
        </p:sp>
        <p:sp>
          <p:nvSpPr>
            <p:cNvPr id="65" name="TextBox 65"/>
            <p:cNvSpPr txBox="1"/>
            <p:nvPr/>
          </p:nvSpPr>
          <p:spPr>
            <a:xfrm>
              <a:off x="0" y="-104775"/>
              <a:ext cx="9682162"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Nhóm 20% khách hàng dẫn đầu thường đóng góp tới </a:t>
              </a:r>
              <a:r>
                <a:rPr lang="en-US" sz="1687" b="1">
                  <a:solidFill>
                    <a:srgbClr val="E67E22"/>
                  </a:solidFill>
                  <a:latin typeface="Calibri (MS) Bold"/>
                  <a:ea typeface="Calibri (MS) Bold"/>
                  <a:cs typeface="Calibri (MS) Bold"/>
                  <a:sym typeface="Calibri (MS) Bold"/>
                </a:rPr>
                <a:t>80% tổng doanh thu</a:t>
              </a:r>
              <a:r>
                <a:rPr lang="en-US" sz="1687">
                  <a:solidFill>
                    <a:srgbClr val="4A5568"/>
                  </a:solidFill>
                  <a:latin typeface="Calibri (MS)"/>
                  <a:ea typeface="Calibri (MS)"/>
                  <a:cs typeface="Calibri (MS)"/>
                  <a:sym typeface="Calibri (MS)"/>
                </a:rPr>
                <a:t> của chuỗi điện máy.</a:t>
              </a:r>
            </a:p>
          </p:txBody>
        </p:sp>
      </p:grpSp>
      <p:grpSp>
        <p:nvGrpSpPr>
          <p:cNvPr id="66" name="Group 66"/>
          <p:cNvGrpSpPr/>
          <p:nvPr/>
        </p:nvGrpSpPr>
        <p:grpSpPr>
          <a:xfrm>
            <a:off x="10111978" y="4114800"/>
            <a:ext cx="7261622" cy="685800"/>
            <a:chOff x="0" y="0"/>
            <a:chExt cx="9682162" cy="914400"/>
          </a:xfrm>
        </p:grpSpPr>
        <p:sp>
          <p:nvSpPr>
            <p:cNvPr id="67" name="Freeform 67"/>
            <p:cNvSpPr/>
            <p:nvPr/>
          </p:nvSpPr>
          <p:spPr>
            <a:xfrm>
              <a:off x="0" y="0"/>
              <a:ext cx="9682162" cy="914400"/>
            </a:xfrm>
            <a:custGeom>
              <a:avLst/>
              <a:gdLst/>
              <a:ahLst/>
              <a:cxnLst/>
              <a:rect l="l" t="t" r="r" b="b"/>
              <a:pathLst>
                <a:path w="9682162" h="914400">
                  <a:moveTo>
                    <a:pt x="0" y="0"/>
                  </a:moveTo>
                  <a:lnTo>
                    <a:pt x="9682162" y="0"/>
                  </a:lnTo>
                  <a:lnTo>
                    <a:pt x="9682162" y="914400"/>
                  </a:lnTo>
                  <a:lnTo>
                    <a:pt x="0" y="914400"/>
                  </a:lnTo>
                  <a:close/>
                </a:path>
              </a:pathLst>
            </a:custGeom>
            <a:blipFill>
              <a:blip r:embed="rId18">
                <a:alphaModFix amt="0"/>
              </a:blip>
              <a:stretch>
                <a:fillRect t="-156318" b="-156318"/>
              </a:stretch>
            </a:blipFill>
          </p:spPr>
        </p:sp>
        <p:sp>
          <p:nvSpPr>
            <p:cNvPr id="68" name="TextBox 68"/>
            <p:cNvSpPr txBox="1"/>
            <p:nvPr/>
          </p:nvSpPr>
          <p:spPr>
            <a:xfrm>
              <a:off x="0" y="-104775"/>
              <a:ext cx="9682162"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Việc giữ chân một khách hàng VIP cũ có chi phí thấp hơn nhiều so với việc tìm kiếm một khách hàng mới.</a:t>
              </a:r>
            </a:p>
          </p:txBody>
        </p:sp>
      </p:grpSp>
      <p:grpSp>
        <p:nvGrpSpPr>
          <p:cNvPr id="69" name="Group 69"/>
          <p:cNvGrpSpPr/>
          <p:nvPr/>
        </p:nvGrpSpPr>
        <p:grpSpPr>
          <a:xfrm>
            <a:off x="10194131" y="5886450"/>
            <a:ext cx="7098030" cy="385762"/>
            <a:chOff x="0" y="0"/>
            <a:chExt cx="9464040" cy="514350"/>
          </a:xfrm>
        </p:grpSpPr>
        <p:sp>
          <p:nvSpPr>
            <p:cNvPr id="70" name="Freeform 70"/>
            <p:cNvSpPr/>
            <p:nvPr/>
          </p:nvSpPr>
          <p:spPr>
            <a:xfrm>
              <a:off x="0" y="0"/>
              <a:ext cx="9464040" cy="514350"/>
            </a:xfrm>
            <a:custGeom>
              <a:avLst/>
              <a:gdLst/>
              <a:ahLst/>
              <a:cxnLst/>
              <a:rect l="l" t="t" r="r" b="b"/>
              <a:pathLst>
                <a:path w="9464040" h="514350">
                  <a:moveTo>
                    <a:pt x="0" y="0"/>
                  </a:moveTo>
                  <a:lnTo>
                    <a:pt x="9464040" y="0"/>
                  </a:lnTo>
                  <a:lnTo>
                    <a:pt x="9464040" y="514350"/>
                  </a:lnTo>
                  <a:lnTo>
                    <a:pt x="0" y="514350"/>
                  </a:lnTo>
                  <a:close/>
                </a:path>
              </a:pathLst>
            </a:custGeom>
            <a:blipFill>
              <a:blip r:embed="rId18">
                <a:alphaModFix amt="0"/>
              </a:blip>
              <a:stretch>
                <a:fillRect t="-308524" b="-308524"/>
              </a:stretch>
            </a:blipFill>
          </p:spPr>
        </p:sp>
        <p:sp>
          <p:nvSpPr>
            <p:cNvPr id="71" name="TextBox 71"/>
            <p:cNvSpPr txBox="1"/>
            <p:nvPr/>
          </p:nvSpPr>
          <p:spPr>
            <a:xfrm>
              <a:off x="0" y="-95250"/>
              <a:ext cx="9464040" cy="609600"/>
            </a:xfrm>
            <a:prstGeom prst="rect">
              <a:avLst/>
            </a:prstGeom>
          </p:spPr>
          <p:txBody>
            <a:bodyPr lIns="0" tIns="0" rIns="0" bIns="0" rtlCol="0" anchor="ctr"/>
            <a:lstStyle/>
            <a:p>
              <a:pPr algn="l">
                <a:lnSpc>
                  <a:spcPts val="3037"/>
                </a:lnSpc>
              </a:pPr>
              <a:r>
                <a:rPr lang="en-US" sz="2025" b="1">
                  <a:solidFill>
                    <a:srgbClr val="2C3E50"/>
                  </a:solidFill>
                  <a:latin typeface="Calibri (MS) Bold"/>
                  <a:ea typeface="Calibri (MS) Bold"/>
                  <a:cs typeface="Calibri (MS) Bold"/>
                  <a:sym typeface="Calibri (MS) Bold"/>
                </a:rPr>
                <a:t>Đề xuất chiến lược CSKH</a:t>
              </a:r>
            </a:p>
          </p:txBody>
        </p:sp>
      </p:grpSp>
      <p:grpSp>
        <p:nvGrpSpPr>
          <p:cNvPr id="72" name="Group 72"/>
          <p:cNvGrpSpPr/>
          <p:nvPr/>
        </p:nvGrpSpPr>
        <p:grpSpPr>
          <a:xfrm>
            <a:off x="10111978" y="6443662"/>
            <a:ext cx="7261622" cy="685800"/>
            <a:chOff x="0" y="0"/>
            <a:chExt cx="9682162" cy="914400"/>
          </a:xfrm>
        </p:grpSpPr>
        <p:sp>
          <p:nvSpPr>
            <p:cNvPr id="73" name="Freeform 73"/>
            <p:cNvSpPr/>
            <p:nvPr/>
          </p:nvSpPr>
          <p:spPr>
            <a:xfrm>
              <a:off x="0" y="0"/>
              <a:ext cx="9682162" cy="914400"/>
            </a:xfrm>
            <a:custGeom>
              <a:avLst/>
              <a:gdLst/>
              <a:ahLst/>
              <a:cxnLst/>
              <a:rect l="l" t="t" r="r" b="b"/>
              <a:pathLst>
                <a:path w="9682162" h="914400">
                  <a:moveTo>
                    <a:pt x="0" y="0"/>
                  </a:moveTo>
                  <a:lnTo>
                    <a:pt x="9682162" y="0"/>
                  </a:lnTo>
                  <a:lnTo>
                    <a:pt x="9682162" y="914400"/>
                  </a:lnTo>
                  <a:lnTo>
                    <a:pt x="0" y="914400"/>
                  </a:lnTo>
                  <a:close/>
                </a:path>
              </a:pathLst>
            </a:custGeom>
            <a:blipFill>
              <a:blip r:embed="rId18">
                <a:alphaModFix amt="0"/>
              </a:blip>
              <a:stretch>
                <a:fillRect t="-156318" b="-156318"/>
              </a:stretch>
            </a:blipFill>
          </p:spPr>
        </p:sp>
        <p:sp>
          <p:nvSpPr>
            <p:cNvPr id="74" name="TextBox 74"/>
            <p:cNvSpPr txBox="1"/>
            <p:nvPr/>
          </p:nvSpPr>
          <p:spPr>
            <a:xfrm>
              <a:off x="0" y="-104775"/>
              <a:ext cx="9682162"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Xây dựng </a:t>
              </a:r>
              <a:r>
                <a:rPr lang="en-US" sz="1687" b="1">
                  <a:solidFill>
                    <a:srgbClr val="007ACC"/>
                  </a:solidFill>
                  <a:latin typeface="Calibri (MS) Bold"/>
                  <a:ea typeface="Calibri (MS) Bold"/>
                  <a:cs typeface="Calibri (MS) Bold"/>
                  <a:sym typeface="Calibri (MS) Bold"/>
                </a:rPr>
                <a:t>Loyalty Programs</a:t>
              </a:r>
              <a:r>
                <a:rPr lang="en-US" sz="1687">
                  <a:solidFill>
                    <a:srgbClr val="4A5568"/>
                  </a:solidFill>
                  <a:latin typeface="Calibri (MS)"/>
                  <a:ea typeface="Calibri (MS)"/>
                  <a:cs typeface="Calibri (MS)"/>
                  <a:sym typeface="Calibri (MS)"/>
                </a:rPr>
                <a:t>: Phát hành thẻ VIP, tích điểm ưu đãi nhân đôi cho nhóm này.</a:t>
              </a:r>
            </a:p>
          </p:txBody>
        </p:sp>
      </p:grpSp>
      <p:grpSp>
        <p:nvGrpSpPr>
          <p:cNvPr id="75" name="Group 75"/>
          <p:cNvGrpSpPr/>
          <p:nvPr/>
        </p:nvGrpSpPr>
        <p:grpSpPr>
          <a:xfrm>
            <a:off x="10111978" y="7243762"/>
            <a:ext cx="7261622" cy="685800"/>
            <a:chOff x="0" y="0"/>
            <a:chExt cx="9682162" cy="914400"/>
          </a:xfrm>
        </p:grpSpPr>
        <p:sp>
          <p:nvSpPr>
            <p:cNvPr id="76" name="Freeform 76"/>
            <p:cNvSpPr/>
            <p:nvPr/>
          </p:nvSpPr>
          <p:spPr>
            <a:xfrm>
              <a:off x="0" y="0"/>
              <a:ext cx="9682162" cy="914400"/>
            </a:xfrm>
            <a:custGeom>
              <a:avLst/>
              <a:gdLst/>
              <a:ahLst/>
              <a:cxnLst/>
              <a:rect l="l" t="t" r="r" b="b"/>
              <a:pathLst>
                <a:path w="9682162" h="914400">
                  <a:moveTo>
                    <a:pt x="0" y="0"/>
                  </a:moveTo>
                  <a:lnTo>
                    <a:pt x="9682162" y="0"/>
                  </a:lnTo>
                  <a:lnTo>
                    <a:pt x="9682162" y="914400"/>
                  </a:lnTo>
                  <a:lnTo>
                    <a:pt x="0" y="914400"/>
                  </a:lnTo>
                  <a:close/>
                </a:path>
              </a:pathLst>
            </a:custGeom>
            <a:blipFill>
              <a:blip r:embed="rId18">
                <a:alphaModFix amt="0"/>
              </a:blip>
              <a:stretch>
                <a:fillRect t="-156318" b="-156318"/>
              </a:stretch>
            </a:blipFill>
          </p:spPr>
        </p:sp>
        <p:sp>
          <p:nvSpPr>
            <p:cNvPr id="77" name="TextBox 77"/>
            <p:cNvSpPr txBox="1"/>
            <p:nvPr/>
          </p:nvSpPr>
          <p:spPr>
            <a:xfrm>
              <a:off x="0" y="-104775"/>
              <a:ext cx="9682162"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Dịch vụ đặc quyền: Ưu tiên giao hàng hỏa tốc, hỗ trợ kỹ thuật tận nhà miễn phí và quà tặng tri ân các dịp lễ.</a:t>
              </a:r>
            </a:p>
          </p:txBody>
        </p:sp>
      </p:grpSp>
      <p:grpSp>
        <p:nvGrpSpPr>
          <p:cNvPr id="78" name="Group 78"/>
          <p:cNvGrpSpPr/>
          <p:nvPr/>
        </p:nvGrpSpPr>
        <p:grpSpPr>
          <a:xfrm>
            <a:off x="10111978" y="8043862"/>
            <a:ext cx="7261622" cy="685800"/>
            <a:chOff x="0" y="0"/>
            <a:chExt cx="9682162" cy="914400"/>
          </a:xfrm>
        </p:grpSpPr>
        <p:sp>
          <p:nvSpPr>
            <p:cNvPr id="79" name="Freeform 79"/>
            <p:cNvSpPr/>
            <p:nvPr/>
          </p:nvSpPr>
          <p:spPr>
            <a:xfrm>
              <a:off x="0" y="0"/>
              <a:ext cx="9682162" cy="914400"/>
            </a:xfrm>
            <a:custGeom>
              <a:avLst/>
              <a:gdLst/>
              <a:ahLst/>
              <a:cxnLst/>
              <a:rect l="l" t="t" r="r" b="b"/>
              <a:pathLst>
                <a:path w="9682162" h="914400">
                  <a:moveTo>
                    <a:pt x="0" y="0"/>
                  </a:moveTo>
                  <a:lnTo>
                    <a:pt x="9682162" y="0"/>
                  </a:lnTo>
                  <a:lnTo>
                    <a:pt x="9682162" y="914400"/>
                  </a:lnTo>
                  <a:lnTo>
                    <a:pt x="0" y="914400"/>
                  </a:lnTo>
                  <a:close/>
                </a:path>
              </a:pathLst>
            </a:custGeom>
            <a:blipFill>
              <a:blip r:embed="rId18">
                <a:alphaModFix amt="0"/>
              </a:blip>
              <a:stretch>
                <a:fillRect t="-156318" b="-156318"/>
              </a:stretch>
            </a:blipFill>
          </p:spPr>
        </p:sp>
        <p:sp>
          <p:nvSpPr>
            <p:cNvPr id="80" name="TextBox 80"/>
            <p:cNvSpPr txBox="1"/>
            <p:nvPr/>
          </p:nvSpPr>
          <p:spPr>
            <a:xfrm>
              <a:off x="0" y="-104775"/>
              <a:ext cx="9682162"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Gửi thông báo sớm về các sản phẩm công nghệ mới (iPhone, Laptop flagship) trước khi mở bán rộng rãi.</a:t>
              </a:r>
            </a:p>
          </p:txBody>
        </p:sp>
      </p:gr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0"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7" name="Group 7"/>
          <p:cNvGrpSpPr/>
          <p:nvPr/>
        </p:nvGrpSpPr>
        <p:grpSpPr>
          <a:xfrm>
            <a:off x="571500" y="285750"/>
            <a:ext cx="17145000" cy="1314450"/>
            <a:chOff x="0" y="0"/>
            <a:chExt cx="22860000" cy="1752600"/>
          </a:xfrm>
        </p:grpSpPr>
        <p:sp>
          <p:nvSpPr>
            <p:cNvPr id="8" name="Freeform 8"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4"/>
              <a:stretch>
                <a:fillRect/>
              </a:stretch>
            </a:blipFill>
          </p:spPr>
        </p:sp>
      </p:grpSp>
      <p:grpSp>
        <p:nvGrpSpPr>
          <p:cNvPr id="9" name="Group 9"/>
          <p:cNvGrpSpPr/>
          <p:nvPr/>
        </p:nvGrpSpPr>
        <p:grpSpPr>
          <a:xfrm>
            <a:off x="571500" y="1885950"/>
            <a:ext cx="8358188" cy="3371850"/>
            <a:chOff x="0" y="0"/>
            <a:chExt cx="11144250" cy="4495800"/>
          </a:xfrm>
        </p:grpSpPr>
        <p:sp>
          <p:nvSpPr>
            <p:cNvPr id="10" name="Freeform 10" descr="preencoded.png"/>
            <p:cNvSpPr/>
            <p:nvPr/>
          </p:nvSpPr>
          <p:spPr>
            <a:xfrm>
              <a:off x="0" y="0"/>
              <a:ext cx="11144250" cy="4495800"/>
            </a:xfrm>
            <a:custGeom>
              <a:avLst/>
              <a:gdLst/>
              <a:ahLst/>
              <a:cxnLst/>
              <a:rect l="l" t="t" r="r" b="b"/>
              <a:pathLst>
                <a:path w="11144250" h="4495800">
                  <a:moveTo>
                    <a:pt x="0" y="0"/>
                  </a:moveTo>
                  <a:lnTo>
                    <a:pt x="11144250" y="0"/>
                  </a:lnTo>
                  <a:lnTo>
                    <a:pt x="11144250" y="4495800"/>
                  </a:lnTo>
                  <a:lnTo>
                    <a:pt x="0" y="4495800"/>
                  </a:lnTo>
                  <a:lnTo>
                    <a:pt x="0" y="0"/>
                  </a:lnTo>
                  <a:close/>
                </a:path>
              </a:pathLst>
            </a:custGeom>
            <a:blipFill>
              <a:blip r:embed="rId5"/>
              <a:stretch>
                <a:fillRect/>
              </a:stretch>
            </a:blipFill>
          </p:spPr>
        </p:sp>
      </p:grpSp>
      <p:grpSp>
        <p:nvGrpSpPr>
          <p:cNvPr id="11" name="Group 11"/>
          <p:cNvGrpSpPr/>
          <p:nvPr/>
        </p:nvGrpSpPr>
        <p:grpSpPr>
          <a:xfrm>
            <a:off x="928688" y="2304526"/>
            <a:ext cx="321469" cy="262976"/>
            <a:chOff x="0" y="0"/>
            <a:chExt cx="428625" cy="350634"/>
          </a:xfrm>
        </p:grpSpPr>
        <p:sp>
          <p:nvSpPr>
            <p:cNvPr id="12" name="Freeform 12"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6"/>
              <a:stretch>
                <a:fillRect t="-7" b="-7"/>
              </a:stretch>
            </a:blipFill>
          </p:spPr>
        </p:sp>
      </p:grpSp>
      <p:grpSp>
        <p:nvGrpSpPr>
          <p:cNvPr id="13" name="Group 13"/>
          <p:cNvGrpSpPr/>
          <p:nvPr/>
        </p:nvGrpSpPr>
        <p:grpSpPr>
          <a:xfrm>
            <a:off x="571500" y="5543550"/>
            <a:ext cx="8358188" cy="4314825"/>
            <a:chOff x="0" y="0"/>
            <a:chExt cx="11144250" cy="5753100"/>
          </a:xfrm>
        </p:grpSpPr>
        <p:sp>
          <p:nvSpPr>
            <p:cNvPr id="14" name="Freeform 14" descr="preencoded.png"/>
            <p:cNvSpPr/>
            <p:nvPr/>
          </p:nvSpPr>
          <p:spPr>
            <a:xfrm>
              <a:off x="0" y="0"/>
              <a:ext cx="11144250" cy="5753100"/>
            </a:xfrm>
            <a:custGeom>
              <a:avLst/>
              <a:gdLst/>
              <a:ahLst/>
              <a:cxnLst/>
              <a:rect l="l" t="t" r="r" b="b"/>
              <a:pathLst>
                <a:path w="11144250" h="5753100">
                  <a:moveTo>
                    <a:pt x="0" y="0"/>
                  </a:moveTo>
                  <a:lnTo>
                    <a:pt x="11144250" y="0"/>
                  </a:lnTo>
                  <a:lnTo>
                    <a:pt x="11144250" y="5753100"/>
                  </a:lnTo>
                  <a:lnTo>
                    <a:pt x="0" y="5753100"/>
                  </a:lnTo>
                  <a:lnTo>
                    <a:pt x="0" y="0"/>
                  </a:lnTo>
                  <a:close/>
                </a:path>
              </a:pathLst>
            </a:custGeom>
            <a:blipFill>
              <a:blip r:embed="rId7"/>
              <a:stretch>
                <a:fillRect/>
              </a:stretch>
            </a:blipFill>
          </p:spPr>
        </p:sp>
      </p:grpSp>
      <p:grpSp>
        <p:nvGrpSpPr>
          <p:cNvPr id="15" name="Group 15"/>
          <p:cNvGrpSpPr/>
          <p:nvPr/>
        </p:nvGrpSpPr>
        <p:grpSpPr>
          <a:xfrm>
            <a:off x="9358312" y="1885950"/>
            <a:ext cx="8358188" cy="3157538"/>
            <a:chOff x="0" y="0"/>
            <a:chExt cx="11144250" cy="4210050"/>
          </a:xfrm>
        </p:grpSpPr>
        <p:sp>
          <p:nvSpPr>
            <p:cNvPr id="16" name="Freeform 16" descr="preencoded.png"/>
            <p:cNvSpPr/>
            <p:nvPr/>
          </p:nvSpPr>
          <p:spPr>
            <a:xfrm>
              <a:off x="0" y="0"/>
              <a:ext cx="11144250" cy="4210050"/>
            </a:xfrm>
            <a:custGeom>
              <a:avLst/>
              <a:gdLst/>
              <a:ahLst/>
              <a:cxnLst/>
              <a:rect l="l" t="t" r="r" b="b"/>
              <a:pathLst>
                <a:path w="11144250" h="4210050">
                  <a:moveTo>
                    <a:pt x="0" y="0"/>
                  </a:moveTo>
                  <a:lnTo>
                    <a:pt x="11144250" y="0"/>
                  </a:lnTo>
                  <a:lnTo>
                    <a:pt x="11144250" y="4210050"/>
                  </a:lnTo>
                  <a:lnTo>
                    <a:pt x="0" y="4210050"/>
                  </a:lnTo>
                  <a:lnTo>
                    <a:pt x="0" y="0"/>
                  </a:lnTo>
                  <a:close/>
                </a:path>
              </a:pathLst>
            </a:custGeom>
            <a:blipFill>
              <a:blip r:embed="rId8"/>
              <a:stretch>
                <a:fillRect l="-1395" r="-1395"/>
              </a:stretch>
            </a:blipFill>
          </p:spPr>
        </p:sp>
      </p:grpSp>
      <p:grpSp>
        <p:nvGrpSpPr>
          <p:cNvPr id="17" name="Group 17"/>
          <p:cNvGrpSpPr/>
          <p:nvPr/>
        </p:nvGrpSpPr>
        <p:grpSpPr>
          <a:xfrm>
            <a:off x="9715500" y="2304526"/>
            <a:ext cx="321469" cy="262976"/>
            <a:chOff x="0" y="0"/>
            <a:chExt cx="428625" cy="350634"/>
          </a:xfrm>
        </p:grpSpPr>
        <p:sp>
          <p:nvSpPr>
            <p:cNvPr id="18" name="Freeform 18"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9"/>
              <a:stretch>
                <a:fillRect t="-7" b="-7"/>
              </a:stretch>
            </a:blipFill>
          </p:spPr>
        </p:sp>
      </p:grpSp>
      <p:grpSp>
        <p:nvGrpSpPr>
          <p:cNvPr id="19" name="Group 19"/>
          <p:cNvGrpSpPr/>
          <p:nvPr/>
        </p:nvGrpSpPr>
        <p:grpSpPr>
          <a:xfrm>
            <a:off x="9358312" y="5329238"/>
            <a:ext cx="8358188" cy="4529138"/>
            <a:chOff x="0" y="0"/>
            <a:chExt cx="11144250" cy="6038850"/>
          </a:xfrm>
        </p:grpSpPr>
        <p:sp>
          <p:nvSpPr>
            <p:cNvPr id="20" name="Freeform 20" descr="preencoded.png"/>
            <p:cNvSpPr/>
            <p:nvPr/>
          </p:nvSpPr>
          <p:spPr>
            <a:xfrm>
              <a:off x="0" y="0"/>
              <a:ext cx="11144250" cy="6038850"/>
            </a:xfrm>
            <a:custGeom>
              <a:avLst/>
              <a:gdLst/>
              <a:ahLst/>
              <a:cxnLst/>
              <a:rect l="l" t="t" r="r" b="b"/>
              <a:pathLst>
                <a:path w="11144250" h="6038850">
                  <a:moveTo>
                    <a:pt x="0" y="0"/>
                  </a:moveTo>
                  <a:lnTo>
                    <a:pt x="11144250" y="0"/>
                  </a:lnTo>
                  <a:lnTo>
                    <a:pt x="11144250" y="6038850"/>
                  </a:lnTo>
                  <a:lnTo>
                    <a:pt x="0" y="6038850"/>
                  </a:lnTo>
                  <a:lnTo>
                    <a:pt x="0" y="0"/>
                  </a:lnTo>
                  <a:close/>
                </a:path>
              </a:pathLst>
            </a:custGeom>
            <a:blipFill>
              <a:blip r:embed="rId10"/>
              <a:stretch>
                <a:fillRect t="-946" b="-946"/>
              </a:stretch>
            </a:blipFill>
          </p:spPr>
        </p:sp>
      </p:grpSp>
      <p:grpSp>
        <p:nvGrpSpPr>
          <p:cNvPr id="21" name="Group 21"/>
          <p:cNvGrpSpPr/>
          <p:nvPr/>
        </p:nvGrpSpPr>
        <p:grpSpPr>
          <a:xfrm>
            <a:off x="9715500" y="5747814"/>
            <a:ext cx="321469" cy="262976"/>
            <a:chOff x="0" y="0"/>
            <a:chExt cx="428625" cy="350634"/>
          </a:xfrm>
        </p:grpSpPr>
        <p:sp>
          <p:nvSpPr>
            <p:cNvPr id="22" name="Freeform 22"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1"/>
              <a:stretch>
                <a:fillRect t="-7" b="-7"/>
              </a:stretch>
            </a:blipFill>
          </p:spPr>
        </p:sp>
      </p:grpSp>
      <p:grpSp>
        <p:nvGrpSpPr>
          <p:cNvPr id="23" name="Group 23"/>
          <p:cNvGrpSpPr/>
          <p:nvPr/>
        </p:nvGrpSpPr>
        <p:grpSpPr>
          <a:xfrm>
            <a:off x="9715500" y="6286500"/>
            <a:ext cx="1771202" cy="642938"/>
            <a:chOff x="0" y="0"/>
            <a:chExt cx="2361603" cy="857250"/>
          </a:xfrm>
        </p:grpSpPr>
        <p:sp>
          <p:nvSpPr>
            <p:cNvPr id="24" name="Freeform 24" descr="preencoded.png"/>
            <p:cNvSpPr/>
            <p:nvPr/>
          </p:nvSpPr>
          <p:spPr>
            <a:xfrm>
              <a:off x="0" y="0"/>
              <a:ext cx="2361565" cy="857250"/>
            </a:xfrm>
            <a:custGeom>
              <a:avLst/>
              <a:gdLst/>
              <a:ahLst/>
              <a:cxnLst/>
              <a:rect l="l" t="t" r="r" b="b"/>
              <a:pathLst>
                <a:path w="2361565" h="857250">
                  <a:moveTo>
                    <a:pt x="0" y="0"/>
                  </a:moveTo>
                  <a:lnTo>
                    <a:pt x="2361565" y="0"/>
                  </a:lnTo>
                  <a:lnTo>
                    <a:pt x="2361565" y="857250"/>
                  </a:lnTo>
                  <a:lnTo>
                    <a:pt x="0" y="857250"/>
                  </a:lnTo>
                  <a:lnTo>
                    <a:pt x="0" y="0"/>
                  </a:lnTo>
                  <a:close/>
                </a:path>
              </a:pathLst>
            </a:custGeom>
            <a:blipFill>
              <a:blip r:embed="rId12"/>
              <a:stretch>
                <a:fillRect t="-1514" r="-1" b="-1512"/>
              </a:stretch>
            </a:blipFill>
          </p:spPr>
        </p:sp>
      </p:grpSp>
      <p:grpSp>
        <p:nvGrpSpPr>
          <p:cNvPr id="25" name="Group 25"/>
          <p:cNvGrpSpPr/>
          <p:nvPr/>
        </p:nvGrpSpPr>
        <p:grpSpPr>
          <a:xfrm>
            <a:off x="11486702" y="6286500"/>
            <a:ext cx="4188914" cy="642938"/>
            <a:chOff x="0" y="0"/>
            <a:chExt cx="5585219" cy="857250"/>
          </a:xfrm>
        </p:grpSpPr>
        <p:sp>
          <p:nvSpPr>
            <p:cNvPr id="26" name="Freeform 26" descr="preencoded.png"/>
            <p:cNvSpPr/>
            <p:nvPr/>
          </p:nvSpPr>
          <p:spPr>
            <a:xfrm>
              <a:off x="0" y="0"/>
              <a:ext cx="5585206" cy="857250"/>
            </a:xfrm>
            <a:custGeom>
              <a:avLst/>
              <a:gdLst/>
              <a:ahLst/>
              <a:cxnLst/>
              <a:rect l="l" t="t" r="r" b="b"/>
              <a:pathLst>
                <a:path w="5585206" h="857250">
                  <a:moveTo>
                    <a:pt x="0" y="0"/>
                  </a:moveTo>
                  <a:lnTo>
                    <a:pt x="5585206" y="0"/>
                  </a:lnTo>
                  <a:lnTo>
                    <a:pt x="5585206" y="857250"/>
                  </a:lnTo>
                  <a:lnTo>
                    <a:pt x="0" y="857250"/>
                  </a:lnTo>
                  <a:lnTo>
                    <a:pt x="0" y="0"/>
                  </a:lnTo>
                  <a:close/>
                </a:path>
              </a:pathLst>
            </a:custGeom>
            <a:blipFill>
              <a:blip r:embed="rId13"/>
              <a:stretch>
                <a:fillRect t="-1143" b="-1143"/>
              </a:stretch>
            </a:blipFill>
          </p:spPr>
        </p:sp>
      </p:grpSp>
      <p:grpSp>
        <p:nvGrpSpPr>
          <p:cNvPr id="27" name="Group 27"/>
          <p:cNvGrpSpPr/>
          <p:nvPr/>
        </p:nvGrpSpPr>
        <p:grpSpPr>
          <a:xfrm>
            <a:off x="15675616" y="6286500"/>
            <a:ext cx="1683696" cy="642938"/>
            <a:chOff x="0" y="0"/>
            <a:chExt cx="2244928" cy="857250"/>
          </a:xfrm>
        </p:grpSpPr>
        <p:sp>
          <p:nvSpPr>
            <p:cNvPr id="28" name="Freeform 28" descr="preencoded.png"/>
            <p:cNvSpPr/>
            <p:nvPr/>
          </p:nvSpPr>
          <p:spPr>
            <a:xfrm>
              <a:off x="0" y="0"/>
              <a:ext cx="2244979" cy="857250"/>
            </a:xfrm>
            <a:custGeom>
              <a:avLst/>
              <a:gdLst/>
              <a:ahLst/>
              <a:cxnLst/>
              <a:rect l="l" t="t" r="r" b="b"/>
              <a:pathLst>
                <a:path w="2244979" h="857250">
                  <a:moveTo>
                    <a:pt x="0" y="0"/>
                  </a:moveTo>
                  <a:lnTo>
                    <a:pt x="2244979" y="0"/>
                  </a:lnTo>
                  <a:lnTo>
                    <a:pt x="2244979" y="857250"/>
                  </a:lnTo>
                  <a:lnTo>
                    <a:pt x="0" y="857250"/>
                  </a:lnTo>
                  <a:lnTo>
                    <a:pt x="0" y="0"/>
                  </a:lnTo>
                  <a:close/>
                </a:path>
              </a:pathLst>
            </a:custGeom>
            <a:blipFill>
              <a:blip r:embed="rId14"/>
              <a:stretch>
                <a:fillRect t="-1480" r="2" b="-1480"/>
              </a:stretch>
            </a:blipFill>
          </p:spPr>
        </p:sp>
      </p:grpSp>
      <p:grpSp>
        <p:nvGrpSpPr>
          <p:cNvPr id="29" name="Group 29"/>
          <p:cNvGrpSpPr/>
          <p:nvPr/>
        </p:nvGrpSpPr>
        <p:grpSpPr>
          <a:xfrm>
            <a:off x="9715500" y="6929438"/>
            <a:ext cx="1771202" cy="642938"/>
            <a:chOff x="0" y="0"/>
            <a:chExt cx="2361603" cy="857250"/>
          </a:xfrm>
        </p:grpSpPr>
        <p:sp>
          <p:nvSpPr>
            <p:cNvPr id="30" name="Freeform 30" descr="preencoded.png"/>
            <p:cNvSpPr/>
            <p:nvPr/>
          </p:nvSpPr>
          <p:spPr>
            <a:xfrm>
              <a:off x="0" y="0"/>
              <a:ext cx="2361565" cy="857250"/>
            </a:xfrm>
            <a:custGeom>
              <a:avLst/>
              <a:gdLst/>
              <a:ahLst/>
              <a:cxnLst/>
              <a:rect l="l" t="t" r="r" b="b"/>
              <a:pathLst>
                <a:path w="2361565" h="857250">
                  <a:moveTo>
                    <a:pt x="0" y="0"/>
                  </a:moveTo>
                  <a:lnTo>
                    <a:pt x="2361565" y="0"/>
                  </a:lnTo>
                  <a:lnTo>
                    <a:pt x="2361565" y="857250"/>
                  </a:lnTo>
                  <a:lnTo>
                    <a:pt x="0" y="857250"/>
                  </a:lnTo>
                  <a:lnTo>
                    <a:pt x="0" y="0"/>
                  </a:lnTo>
                  <a:close/>
                </a:path>
              </a:pathLst>
            </a:custGeom>
            <a:blipFill>
              <a:blip r:embed="rId15"/>
              <a:stretch>
                <a:fillRect t="-394" r="-1" b="-394"/>
              </a:stretch>
            </a:blipFill>
          </p:spPr>
        </p:sp>
      </p:grpSp>
      <p:grpSp>
        <p:nvGrpSpPr>
          <p:cNvPr id="31" name="Group 31"/>
          <p:cNvGrpSpPr/>
          <p:nvPr/>
        </p:nvGrpSpPr>
        <p:grpSpPr>
          <a:xfrm>
            <a:off x="11486702" y="6929438"/>
            <a:ext cx="4188914" cy="642938"/>
            <a:chOff x="0" y="0"/>
            <a:chExt cx="5585219" cy="857250"/>
          </a:xfrm>
        </p:grpSpPr>
        <p:sp>
          <p:nvSpPr>
            <p:cNvPr id="32" name="Freeform 32" descr="preencoded.png"/>
            <p:cNvSpPr/>
            <p:nvPr/>
          </p:nvSpPr>
          <p:spPr>
            <a:xfrm>
              <a:off x="0" y="0"/>
              <a:ext cx="5585206" cy="857250"/>
            </a:xfrm>
            <a:custGeom>
              <a:avLst/>
              <a:gdLst/>
              <a:ahLst/>
              <a:cxnLst/>
              <a:rect l="l" t="t" r="r" b="b"/>
              <a:pathLst>
                <a:path w="5585206" h="857250">
                  <a:moveTo>
                    <a:pt x="0" y="0"/>
                  </a:moveTo>
                  <a:lnTo>
                    <a:pt x="5585206" y="0"/>
                  </a:lnTo>
                  <a:lnTo>
                    <a:pt x="5585206" y="857250"/>
                  </a:lnTo>
                  <a:lnTo>
                    <a:pt x="0" y="857250"/>
                  </a:lnTo>
                  <a:lnTo>
                    <a:pt x="0" y="0"/>
                  </a:lnTo>
                  <a:close/>
                </a:path>
              </a:pathLst>
            </a:custGeom>
            <a:blipFill>
              <a:blip r:embed="rId16"/>
              <a:stretch>
                <a:fillRect t="-32" b="-31"/>
              </a:stretch>
            </a:blipFill>
          </p:spPr>
        </p:sp>
      </p:grpSp>
      <p:grpSp>
        <p:nvGrpSpPr>
          <p:cNvPr id="33" name="Group 33"/>
          <p:cNvGrpSpPr/>
          <p:nvPr/>
        </p:nvGrpSpPr>
        <p:grpSpPr>
          <a:xfrm>
            <a:off x="15675616" y="6929438"/>
            <a:ext cx="1683696" cy="642938"/>
            <a:chOff x="0" y="0"/>
            <a:chExt cx="2244928" cy="857250"/>
          </a:xfrm>
        </p:grpSpPr>
        <p:sp>
          <p:nvSpPr>
            <p:cNvPr id="34" name="Freeform 34" descr="preencoded.png"/>
            <p:cNvSpPr/>
            <p:nvPr/>
          </p:nvSpPr>
          <p:spPr>
            <a:xfrm>
              <a:off x="0" y="0"/>
              <a:ext cx="2244979" cy="857250"/>
            </a:xfrm>
            <a:custGeom>
              <a:avLst/>
              <a:gdLst/>
              <a:ahLst/>
              <a:cxnLst/>
              <a:rect l="l" t="t" r="r" b="b"/>
              <a:pathLst>
                <a:path w="2244979" h="857250">
                  <a:moveTo>
                    <a:pt x="0" y="0"/>
                  </a:moveTo>
                  <a:lnTo>
                    <a:pt x="2244979" y="0"/>
                  </a:lnTo>
                  <a:lnTo>
                    <a:pt x="2244979" y="857250"/>
                  </a:lnTo>
                  <a:lnTo>
                    <a:pt x="0" y="857250"/>
                  </a:lnTo>
                  <a:lnTo>
                    <a:pt x="0" y="0"/>
                  </a:lnTo>
                  <a:close/>
                </a:path>
              </a:pathLst>
            </a:custGeom>
            <a:blipFill>
              <a:blip r:embed="rId17"/>
              <a:stretch>
                <a:fillRect t="-360" r="2" b="-361"/>
              </a:stretch>
            </a:blipFill>
          </p:spPr>
        </p:sp>
      </p:grpSp>
      <p:grpSp>
        <p:nvGrpSpPr>
          <p:cNvPr id="35" name="Group 35"/>
          <p:cNvGrpSpPr/>
          <p:nvPr/>
        </p:nvGrpSpPr>
        <p:grpSpPr>
          <a:xfrm>
            <a:off x="9715500" y="7572375"/>
            <a:ext cx="1771202" cy="642938"/>
            <a:chOff x="0" y="0"/>
            <a:chExt cx="2361603" cy="857250"/>
          </a:xfrm>
        </p:grpSpPr>
        <p:sp>
          <p:nvSpPr>
            <p:cNvPr id="36" name="Freeform 36" descr="preencoded.png"/>
            <p:cNvSpPr/>
            <p:nvPr/>
          </p:nvSpPr>
          <p:spPr>
            <a:xfrm>
              <a:off x="0" y="0"/>
              <a:ext cx="2361565" cy="857250"/>
            </a:xfrm>
            <a:custGeom>
              <a:avLst/>
              <a:gdLst/>
              <a:ahLst/>
              <a:cxnLst/>
              <a:rect l="l" t="t" r="r" b="b"/>
              <a:pathLst>
                <a:path w="2361565" h="857250">
                  <a:moveTo>
                    <a:pt x="0" y="0"/>
                  </a:moveTo>
                  <a:lnTo>
                    <a:pt x="2361565" y="0"/>
                  </a:lnTo>
                  <a:lnTo>
                    <a:pt x="2361565" y="857250"/>
                  </a:lnTo>
                  <a:lnTo>
                    <a:pt x="0" y="857250"/>
                  </a:lnTo>
                  <a:lnTo>
                    <a:pt x="0" y="0"/>
                  </a:lnTo>
                  <a:close/>
                </a:path>
              </a:pathLst>
            </a:custGeom>
            <a:blipFill>
              <a:blip r:embed="rId15"/>
              <a:stretch>
                <a:fillRect t="-394" r="-1" b="-394"/>
              </a:stretch>
            </a:blipFill>
          </p:spPr>
        </p:sp>
      </p:grpSp>
      <p:grpSp>
        <p:nvGrpSpPr>
          <p:cNvPr id="37" name="Group 37"/>
          <p:cNvGrpSpPr/>
          <p:nvPr/>
        </p:nvGrpSpPr>
        <p:grpSpPr>
          <a:xfrm>
            <a:off x="11486702" y="7572375"/>
            <a:ext cx="4188914" cy="642938"/>
            <a:chOff x="0" y="0"/>
            <a:chExt cx="5585219" cy="857250"/>
          </a:xfrm>
        </p:grpSpPr>
        <p:sp>
          <p:nvSpPr>
            <p:cNvPr id="38" name="Freeform 38" descr="preencoded.png"/>
            <p:cNvSpPr/>
            <p:nvPr/>
          </p:nvSpPr>
          <p:spPr>
            <a:xfrm>
              <a:off x="0" y="0"/>
              <a:ext cx="5585206" cy="857250"/>
            </a:xfrm>
            <a:custGeom>
              <a:avLst/>
              <a:gdLst/>
              <a:ahLst/>
              <a:cxnLst/>
              <a:rect l="l" t="t" r="r" b="b"/>
              <a:pathLst>
                <a:path w="5585206" h="857250">
                  <a:moveTo>
                    <a:pt x="0" y="0"/>
                  </a:moveTo>
                  <a:lnTo>
                    <a:pt x="5585206" y="0"/>
                  </a:lnTo>
                  <a:lnTo>
                    <a:pt x="5585206" y="857250"/>
                  </a:lnTo>
                  <a:lnTo>
                    <a:pt x="0" y="857250"/>
                  </a:lnTo>
                  <a:lnTo>
                    <a:pt x="0" y="0"/>
                  </a:lnTo>
                  <a:close/>
                </a:path>
              </a:pathLst>
            </a:custGeom>
            <a:blipFill>
              <a:blip r:embed="rId16"/>
              <a:stretch>
                <a:fillRect t="-32" b="-31"/>
              </a:stretch>
            </a:blipFill>
          </p:spPr>
        </p:sp>
      </p:grpSp>
      <p:grpSp>
        <p:nvGrpSpPr>
          <p:cNvPr id="39" name="Group 39"/>
          <p:cNvGrpSpPr/>
          <p:nvPr/>
        </p:nvGrpSpPr>
        <p:grpSpPr>
          <a:xfrm>
            <a:off x="15675616" y="7572375"/>
            <a:ext cx="1683696" cy="642938"/>
            <a:chOff x="0" y="0"/>
            <a:chExt cx="2244928" cy="857250"/>
          </a:xfrm>
        </p:grpSpPr>
        <p:sp>
          <p:nvSpPr>
            <p:cNvPr id="40" name="Freeform 40" descr="preencoded.png"/>
            <p:cNvSpPr/>
            <p:nvPr/>
          </p:nvSpPr>
          <p:spPr>
            <a:xfrm>
              <a:off x="0" y="0"/>
              <a:ext cx="2244979" cy="857250"/>
            </a:xfrm>
            <a:custGeom>
              <a:avLst/>
              <a:gdLst/>
              <a:ahLst/>
              <a:cxnLst/>
              <a:rect l="l" t="t" r="r" b="b"/>
              <a:pathLst>
                <a:path w="2244979" h="857250">
                  <a:moveTo>
                    <a:pt x="0" y="0"/>
                  </a:moveTo>
                  <a:lnTo>
                    <a:pt x="2244979" y="0"/>
                  </a:lnTo>
                  <a:lnTo>
                    <a:pt x="2244979" y="857250"/>
                  </a:lnTo>
                  <a:lnTo>
                    <a:pt x="0" y="857250"/>
                  </a:lnTo>
                  <a:lnTo>
                    <a:pt x="0" y="0"/>
                  </a:lnTo>
                  <a:close/>
                </a:path>
              </a:pathLst>
            </a:custGeom>
            <a:blipFill>
              <a:blip r:embed="rId17"/>
              <a:stretch>
                <a:fillRect t="-360" r="2" b="-361"/>
              </a:stretch>
            </a:blipFill>
          </p:spPr>
        </p:sp>
      </p:grpSp>
      <p:grpSp>
        <p:nvGrpSpPr>
          <p:cNvPr id="41" name="Group 41"/>
          <p:cNvGrpSpPr/>
          <p:nvPr/>
        </p:nvGrpSpPr>
        <p:grpSpPr>
          <a:xfrm>
            <a:off x="9715500" y="8215312"/>
            <a:ext cx="1771202" cy="642938"/>
            <a:chOff x="0" y="0"/>
            <a:chExt cx="2361603" cy="857250"/>
          </a:xfrm>
        </p:grpSpPr>
        <p:sp>
          <p:nvSpPr>
            <p:cNvPr id="42" name="Freeform 42" descr="preencoded.png"/>
            <p:cNvSpPr/>
            <p:nvPr/>
          </p:nvSpPr>
          <p:spPr>
            <a:xfrm>
              <a:off x="0" y="0"/>
              <a:ext cx="2361565" cy="857250"/>
            </a:xfrm>
            <a:custGeom>
              <a:avLst/>
              <a:gdLst/>
              <a:ahLst/>
              <a:cxnLst/>
              <a:rect l="l" t="t" r="r" b="b"/>
              <a:pathLst>
                <a:path w="2361565" h="857250">
                  <a:moveTo>
                    <a:pt x="0" y="0"/>
                  </a:moveTo>
                  <a:lnTo>
                    <a:pt x="2361565" y="0"/>
                  </a:lnTo>
                  <a:lnTo>
                    <a:pt x="2361565" y="857250"/>
                  </a:lnTo>
                  <a:lnTo>
                    <a:pt x="0" y="857250"/>
                  </a:lnTo>
                  <a:lnTo>
                    <a:pt x="0" y="0"/>
                  </a:lnTo>
                  <a:close/>
                </a:path>
              </a:pathLst>
            </a:custGeom>
            <a:blipFill>
              <a:blip r:embed="rId15"/>
              <a:stretch>
                <a:fillRect t="-394" r="-1" b="-394"/>
              </a:stretch>
            </a:blipFill>
          </p:spPr>
        </p:sp>
      </p:grpSp>
      <p:grpSp>
        <p:nvGrpSpPr>
          <p:cNvPr id="43" name="Group 43"/>
          <p:cNvGrpSpPr/>
          <p:nvPr/>
        </p:nvGrpSpPr>
        <p:grpSpPr>
          <a:xfrm>
            <a:off x="11486702" y="8215312"/>
            <a:ext cx="4188914" cy="642938"/>
            <a:chOff x="0" y="0"/>
            <a:chExt cx="5585219" cy="857250"/>
          </a:xfrm>
        </p:grpSpPr>
        <p:sp>
          <p:nvSpPr>
            <p:cNvPr id="44" name="Freeform 44" descr="preencoded.png"/>
            <p:cNvSpPr/>
            <p:nvPr/>
          </p:nvSpPr>
          <p:spPr>
            <a:xfrm>
              <a:off x="0" y="0"/>
              <a:ext cx="5585206" cy="857250"/>
            </a:xfrm>
            <a:custGeom>
              <a:avLst/>
              <a:gdLst/>
              <a:ahLst/>
              <a:cxnLst/>
              <a:rect l="l" t="t" r="r" b="b"/>
              <a:pathLst>
                <a:path w="5585206" h="857250">
                  <a:moveTo>
                    <a:pt x="0" y="0"/>
                  </a:moveTo>
                  <a:lnTo>
                    <a:pt x="5585206" y="0"/>
                  </a:lnTo>
                  <a:lnTo>
                    <a:pt x="5585206" y="857250"/>
                  </a:lnTo>
                  <a:lnTo>
                    <a:pt x="0" y="857250"/>
                  </a:lnTo>
                  <a:lnTo>
                    <a:pt x="0" y="0"/>
                  </a:lnTo>
                  <a:close/>
                </a:path>
              </a:pathLst>
            </a:custGeom>
            <a:blipFill>
              <a:blip r:embed="rId16"/>
              <a:stretch>
                <a:fillRect t="-32" b="-31"/>
              </a:stretch>
            </a:blipFill>
          </p:spPr>
        </p:sp>
      </p:grpSp>
      <p:grpSp>
        <p:nvGrpSpPr>
          <p:cNvPr id="45" name="Group 45"/>
          <p:cNvGrpSpPr/>
          <p:nvPr/>
        </p:nvGrpSpPr>
        <p:grpSpPr>
          <a:xfrm>
            <a:off x="15675616" y="8215312"/>
            <a:ext cx="1683696" cy="642938"/>
            <a:chOff x="0" y="0"/>
            <a:chExt cx="2244928" cy="857250"/>
          </a:xfrm>
        </p:grpSpPr>
        <p:sp>
          <p:nvSpPr>
            <p:cNvPr id="46" name="Freeform 46" descr="preencoded.png"/>
            <p:cNvSpPr/>
            <p:nvPr/>
          </p:nvSpPr>
          <p:spPr>
            <a:xfrm>
              <a:off x="0" y="0"/>
              <a:ext cx="2244979" cy="857250"/>
            </a:xfrm>
            <a:custGeom>
              <a:avLst/>
              <a:gdLst/>
              <a:ahLst/>
              <a:cxnLst/>
              <a:rect l="l" t="t" r="r" b="b"/>
              <a:pathLst>
                <a:path w="2244979" h="857250">
                  <a:moveTo>
                    <a:pt x="0" y="0"/>
                  </a:moveTo>
                  <a:lnTo>
                    <a:pt x="2244979" y="0"/>
                  </a:lnTo>
                  <a:lnTo>
                    <a:pt x="2244979" y="857250"/>
                  </a:lnTo>
                  <a:lnTo>
                    <a:pt x="0" y="857250"/>
                  </a:lnTo>
                  <a:lnTo>
                    <a:pt x="0" y="0"/>
                  </a:lnTo>
                  <a:close/>
                </a:path>
              </a:pathLst>
            </a:custGeom>
            <a:blipFill>
              <a:blip r:embed="rId17"/>
              <a:stretch>
                <a:fillRect t="-360" r="2" b="-361"/>
              </a:stretch>
            </a:blipFill>
          </p:spPr>
        </p:sp>
      </p:grpSp>
      <p:grpSp>
        <p:nvGrpSpPr>
          <p:cNvPr id="47" name="Group 47"/>
          <p:cNvGrpSpPr/>
          <p:nvPr/>
        </p:nvGrpSpPr>
        <p:grpSpPr>
          <a:xfrm>
            <a:off x="9715500" y="8858250"/>
            <a:ext cx="1771202" cy="642938"/>
            <a:chOff x="0" y="0"/>
            <a:chExt cx="2361603" cy="857250"/>
          </a:xfrm>
        </p:grpSpPr>
        <p:sp>
          <p:nvSpPr>
            <p:cNvPr id="48" name="Freeform 48" descr="preencoded.png"/>
            <p:cNvSpPr/>
            <p:nvPr/>
          </p:nvSpPr>
          <p:spPr>
            <a:xfrm>
              <a:off x="0" y="0"/>
              <a:ext cx="2361565" cy="857250"/>
            </a:xfrm>
            <a:custGeom>
              <a:avLst/>
              <a:gdLst/>
              <a:ahLst/>
              <a:cxnLst/>
              <a:rect l="l" t="t" r="r" b="b"/>
              <a:pathLst>
                <a:path w="2361565" h="857250">
                  <a:moveTo>
                    <a:pt x="0" y="0"/>
                  </a:moveTo>
                  <a:lnTo>
                    <a:pt x="2361565" y="0"/>
                  </a:lnTo>
                  <a:lnTo>
                    <a:pt x="2361565" y="857250"/>
                  </a:lnTo>
                  <a:lnTo>
                    <a:pt x="0" y="857250"/>
                  </a:lnTo>
                  <a:lnTo>
                    <a:pt x="0" y="0"/>
                  </a:lnTo>
                  <a:close/>
                </a:path>
              </a:pathLst>
            </a:custGeom>
            <a:blipFill>
              <a:blip r:embed="rId15"/>
              <a:stretch>
                <a:fillRect t="-394" r="-1" b="-394"/>
              </a:stretch>
            </a:blipFill>
          </p:spPr>
        </p:sp>
      </p:grpSp>
      <p:grpSp>
        <p:nvGrpSpPr>
          <p:cNvPr id="49" name="Group 49"/>
          <p:cNvGrpSpPr/>
          <p:nvPr/>
        </p:nvGrpSpPr>
        <p:grpSpPr>
          <a:xfrm>
            <a:off x="11486702" y="8858250"/>
            <a:ext cx="4188914" cy="642938"/>
            <a:chOff x="0" y="0"/>
            <a:chExt cx="5585219" cy="857250"/>
          </a:xfrm>
        </p:grpSpPr>
        <p:sp>
          <p:nvSpPr>
            <p:cNvPr id="50" name="Freeform 50" descr="preencoded.png"/>
            <p:cNvSpPr/>
            <p:nvPr/>
          </p:nvSpPr>
          <p:spPr>
            <a:xfrm>
              <a:off x="0" y="0"/>
              <a:ext cx="5585206" cy="857250"/>
            </a:xfrm>
            <a:custGeom>
              <a:avLst/>
              <a:gdLst/>
              <a:ahLst/>
              <a:cxnLst/>
              <a:rect l="l" t="t" r="r" b="b"/>
              <a:pathLst>
                <a:path w="5585206" h="857250">
                  <a:moveTo>
                    <a:pt x="0" y="0"/>
                  </a:moveTo>
                  <a:lnTo>
                    <a:pt x="5585206" y="0"/>
                  </a:lnTo>
                  <a:lnTo>
                    <a:pt x="5585206" y="857250"/>
                  </a:lnTo>
                  <a:lnTo>
                    <a:pt x="0" y="857250"/>
                  </a:lnTo>
                  <a:lnTo>
                    <a:pt x="0" y="0"/>
                  </a:lnTo>
                  <a:close/>
                </a:path>
              </a:pathLst>
            </a:custGeom>
            <a:blipFill>
              <a:blip r:embed="rId16"/>
              <a:stretch>
                <a:fillRect t="-32" b="-31"/>
              </a:stretch>
            </a:blipFill>
          </p:spPr>
        </p:sp>
      </p:grpSp>
      <p:grpSp>
        <p:nvGrpSpPr>
          <p:cNvPr id="51" name="Group 51"/>
          <p:cNvGrpSpPr/>
          <p:nvPr/>
        </p:nvGrpSpPr>
        <p:grpSpPr>
          <a:xfrm>
            <a:off x="15675616" y="8858250"/>
            <a:ext cx="1683696" cy="642938"/>
            <a:chOff x="0" y="0"/>
            <a:chExt cx="2244928" cy="857250"/>
          </a:xfrm>
        </p:grpSpPr>
        <p:sp>
          <p:nvSpPr>
            <p:cNvPr id="52" name="Freeform 52" descr="preencoded.png"/>
            <p:cNvSpPr/>
            <p:nvPr/>
          </p:nvSpPr>
          <p:spPr>
            <a:xfrm>
              <a:off x="0" y="0"/>
              <a:ext cx="2244979" cy="857250"/>
            </a:xfrm>
            <a:custGeom>
              <a:avLst/>
              <a:gdLst/>
              <a:ahLst/>
              <a:cxnLst/>
              <a:rect l="l" t="t" r="r" b="b"/>
              <a:pathLst>
                <a:path w="2244979" h="857250">
                  <a:moveTo>
                    <a:pt x="0" y="0"/>
                  </a:moveTo>
                  <a:lnTo>
                    <a:pt x="2244979" y="0"/>
                  </a:lnTo>
                  <a:lnTo>
                    <a:pt x="2244979" y="857250"/>
                  </a:lnTo>
                  <a:lnTo>
                    <a:pt x="0" y="857250"/>
                  </a:lnTo>
                  <a:lnTo>
                    <a:pt x="0" y="0"/>
                  </a:lnTo>
                  <a:close/>
                </a:path>
              </a:pathLst>
            </a:custGeom>
            <a:blipFill>
              <a:blip r:embed="rId18"/>
              <a:stretch>
                <a:fillRect t="-360" r="2" b="-361"/>
              </a:stretch>
            </a:blipFill>
          </p:spPr>
        </p:sp>
      </p:grpSp>
      <p:grpSp>
        <p:nvGrpSpPr>
          <p:cNvPr id="53" name="Group 53"/>
          <p:cNvGrpSpPr/>
          <p:nvPr/>
        </p:nvGrpSpPr>
        <p:grpSpPr>
          <a:xfrm>
            <a:off x="1000125" y="500062"/>
            <a:ext cx="17287875" cy="514350"/>
            <a:chOff x="0" y="0"/>
            <a:chExt cx="23050500" cy="685800"/>
          </a:xfrm>
        </p:grpSpPr>
        <p:sp>
          <p:nvSpPr>
            <p:cNvPr id="54" name="Freeform 54"/>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19">
                <a:alphaModFix amt="0"/>
              </a:blip>
              <a:stretch>
                <a:fillRect t="-604913" b="-604913"/>
              </a:stretch>
            </a:blipFill>
          </p:spPr>
        </p:sp>
        <p:sp>
          <p:nvSpPr>
            <p:cNvPr id="55" name="TextBox 55"/>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9: XẾP HẠNG DOANH THU TRONG TỪNG DANH MỤC</a:t>
              </a:r>
            </a:p>
          </p:txBody>
        </p:sp>
      </p:grpSp>
      <p:grpSp>
        <p:nvGrpSpPr>
          <p:cNvPr id="56" name="Group 56"/>
          <p:cNvGrpSpPr/>
          <p:nvPr/>
        </p:nvGrpSpPr>
        <p:grpSpPr>
          <a:xfrm>
            <a:off x="1000125" y="1085850"/>
            <a:ext cx="16287750" cy="300038"/>
            <a:chOff x="0" y="0"/>
            <a:chExt cx="21717000" cy="400050"/>
          </a:xfrm>
        </p:grpSpPr>
        <p:sp>
          <p:nvSpPr>
            <p:cNvPr id="57" name="Freeform 57"/>
            <p:cNvSpPr/>
            <p:nvPr/>
          </p:nvSpPr>
          <p:spPr>
            <a:xfrm>
              <a:off x="0" y="0"/>
              <a:ext cx="21717000" cy="400050"/>
            </a:xfrm>
            <a:custGeom>
              <a:avLst/>
              <a:gdLst/>
              <a:ahLst/>
              <a:cxnLst/>
              <a:rect l="l" t="t" r="r" b="b"/>
              <a:pathLst>
                <a:path w="21717000" h="400050">
                  <a:moveTo>
                    <a:pt x="0" y="0"/>
                  </a:moveTo>
                  <a:lnTo>
                    <a:pt x="21717000" y="0"/>
                  </a:lnTo>
                  <a:lnTo>
                    <a:pt x="21717000" y="400050"/>
                  </a:lnTo>
                  <a:lnTo>
                    <a:pt x="0" y="400050"/>
                  </a:lnTo>
                  <a:close/>
                </a:path>
              </a:pathLst>
            </a:custGeom>
            <a:blipFill>
              <a:blip r:embed="rId19">
                <a:alphaModFix amt="0"/>
              </a:blip>
              <a:stretch>
                <a:fillRect t="-1007759" b="-1007759"/>
              </a:stretch>
            </a:blipFill>
          </p:spPr>
        </p:sp>
        <p:sp>
          <p:nvSpPr>
            <p:cNvPr id="58" name="TextBox 58"/>
            <p:cNvSpPr txBox="1"/>
            <p:nvPr/>
          </p:nvSpPr>
          <p:spPr>
            <a:xfrm>
              <a:off x="0" y="-66675"/>
              <a:ext cx="217170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Thực thi truy vấn HiveQL nâng cao &amp; Xác định sản phẩm dẫn đầu</a:t>
              </a:r>
            </a:p>
          </p:txBody>
        </p:sp>
      </p:grpSp>
      <p:grpSp>
        <p:nvGrpSpPr>
          <p:cNvPr id="59" name="Group 59"/>
          <p:cNvGrpSpPr/>
          <p:nvPr/>
        </p:nvGrpSpPr>
        <p:grpSpPr>
          <a:xfrm>
            <a:off x="1421606" y="2243138"/>
            <a:ext cx="5863590" cy="385762"/>
            <a:chOff x="0" y="0"/>
            <a:chExt cx="7818120" cy="514350"/>
          </a:xfrm>
        </p:grpSpPr>
        <p:sp>
          <p:nvSpPr>
            <p:cNvPr id="60" name="Freeform 60"/>
            <p:cNvSpPr/>
            <p:nvPr/>
          </p:nvSpPr>
          <p:spPr>
            <a:xfrm>
              <a:off x="0" y="0"/>
              <a:ext cx="7818120" cy="514350"/>
            </a:xfrm>
            <a:custGeom>
              <a:avLst/>
              <a:gdLst/>
              <a:ahLst/>
              <a:cxnLst/>
              <a:rect l="l" t="t" r="r" b="b"/>
              <a:pathLst>
                <a:path w="7818120" h="514350">
                  <a:moveTo>
                    <a:pt x="0" y="0"/>
                  </a:moveTo>
                  <a:lnTo>
                    <a:pt x="7818120" y="0"/>
                  </a:lnTo>
                  <a:lnTo>
                    <a:pt x="7818120" y="514350"/>
                  </a:lnTo>
                  <a:lnTo>
                    <a:pt x="0" y="514350"/>
                  </a:lnTo>
                  <a:close/>
                </a:path>
              </a:pathLst>
            </a:custGeom>
            <a:blipFill>
              <a:blip r:embed="rId19">
                <a:alphaModFix amt="0"/>
              </a:blip>
              <a:stretch>
                <a:fillRect t="-246172" b="-246172"/>
              </a:stretch>
            </a:blipFill>
          </p:spPr>
        </p:sp>
        <p:sp>
          <p:nvSpPr>
            <p:cNvPr id="61" name="TextBox 61"/>
            <p:cNvSpPr txBox="1"/>
            <p:nvPr/>
          </p:nvSpPr>
          <p:spPr>
            <a:xfrm>
              <a:off x="0" y="-95250"/>
              <a:ext cx="7818120" cy="609600"/>
            </a:xfrm>
            <a:prstGeom prst="rect">
              <a:avLst/>
            </a:prstGeom>
          </p:spPr>
          <p:txBody>
            <a:bodyPr lIns="0" tIns="0" rIns="0" bIns="0" rtlCol="0" anchor="ctr"/>
            <a:lstStyle/>
            <a:p>
              <a:pPr algn="l">
                <a:lnSpc>
                  <a:spcPts val="3037"/>
                </a:lnSpc>
              </a:pPr>
              <a:r>
                <a:rPr lang="en-US" sz="2025" b="1">
                  <a:solidFill>
                    <a:srgbClr val="007ACC"/>
                  </a:solidFill>
                  <a:latin typeface="Calibri (MS) Bold"/>
                  <a:ea typeface="Calibri (MS) Bold"/>
                  <a:cs typeface="Calibri (MS) Bold"/>
                  <a:sym typeface="Calibri (MS) Bold"/>
                </a:rPr>
                <a:t>Mục đích &amp; Kỹ thuật</a:t>
              </a:r>
            </a:p>
          </p:txBody>
        </p:sp>
      </p:grpSp>
      <p:grpSp>
        <p:nvGrpSpPr>
          <p:cNvPr id="62" name="Group 62"/>
          <p:cNvGrpSpPr/>
          <p:nvPr/>
        </p:nvGrpSpPr>
        <p:grpSpPr>
          <a:xfrm>
            <a:off x="928688" y="2843212"/>
            <a:ext cx="7643812" cy="1462688"/>
            <a:chOff x="0" y="0"/>
            <a:chExt cx="10191750" cy="1950250"/>
          </a:xfrm>
        </p:grpSpPr>
        <p:sp>
          <p:nvSpPr>
            <p:cNvPr id="63" name="Freeform 63"/>
            <p:cNvSpPr/>
            <p:nvPr/>
          </p:nvSpPr>
          <p:spPr>
            <a:xfrm>
              <a:off x="0" y="0"/>
              <a:ext cx="10191750" cy="1950244"/>
            </a:xfrm>
            <a:custGeom>
              <a:avLst/>
              <a:gdLst/>
              <a:ahLst/>
              <a:cxnLst/>
              <a:rect l="l" t="t" r="r" b="b"/>
              <a:pathLst>
                <a:path w="10191750" h="1950244">
                  <a:moveTo>
                    <a:pt x="0" y="0"/>
                  </a:moveTo>
                  <a:lnTo>
                    <a:pt x="10191750" y="0"/>
                  </a:lnTo>
                  <a:lnTo>
                    <a:pt x="10191750" y="1950244"/>
                  </a:lnTo>
                  <a:lnTo>
                    <a:pt x="0" y="1950244"/>
                  </a:lnTo>
                  <a:close/>
                </a:path>
              </a:pathLst>
            </a:custGeom>
            <a:blipFill>
              <a:blip r:embed="rId19">
                <a:alphaModFix amt="0"/>
              </a:blip>
              <a:stretch>
                <a:fillRect t="-51826" b="-51826"/>
              </a:stretch>
            </a:blipFill>
          </p:spPr>
        </p:sp>
        <p:sp>
          <p:nvSpPr>
            <p:cNvPr id="64" name="TextBox 64"/>
            <p:cNvSpPr txBox="1"/>
            <p:nvPr/>
          </p:nvSpPr>
          <p:spPr>
            <a:xfrm>
              <a:off x="0" y="-104775"/>
              <a:ext cx="10191750" cy="2055025"/>
            </a:xfrm>
            <a:prstGeom prst="rect">
              <a:avLst/>
            </a:prstGeom>
          </p:spPr>
          <p:txBody>
            <a:bodyPr lIns="0" tIns="0" rIns="0" bIns="0" rtlCol="0" anchor="ctr"/>
            <a:lstStyle/>
            <a:p>
              <a:pPr algn="l">
                <a:lnSpc>
                  <a:spcPts val="2880"/>
                </a:lnSpc>
              </a:pPr>
              <a:r>
                <a:rPr lang="en-US" sz="1800">
                  <a:solidFill>
                    <a:srgbClr val="2C3E50"/>
                  </a:solidFill>
                  <a:latin typeface="Calibri (MS)"/>
                  <a:ea typeface="Calibri (MS)"/>
                  <a:cs typeface="Calibri (MS)"/>
                  <a:sym typeface="Calibri (MS)"/>
                </a:rPr>
                <a:t>Sử dụng hàm cửa sổ </a:t>
              </a:r>
              <a:r>
                <a:rPr lang="en-US" sz="1800" b="1">
                  <a:solidFill>
                    <a:srgbClr val="2C3E50"/>
                  </a:solidFill>
                  <a:latin typeface="Calibri (MS) Bold"/>
                  <a:ea typeface="Calibri (MS) Bold"/>
                  <a:cs typeface="Calibri (MS) Bold"/>
                  <a:sym typeface="Calibri (MS) Bold"/>
                </a:rPr>
                <a:t>RANK() OVER (PARTITION BY...)</a:t>
              </a:r>
              <a:r>
                <a:rPr lang="en-US" sz="1800">
                  <a:solidFill>
                    <a:srgbClr val="2C3E50"/>
                  </a:solidFill>
                  <a:latin typeface="Calibri (MS)"/>
                  <a:ea typeface="Calibri (MS)"/>
                  <a:cs typeface="Calibri (MS)"/>
                  <a:sym typeface="Calibri (MS)"/>
                </a:rPr>
                <a:t> để phân nhóm dữ liệu theo từng danh mục và xếp hạng sản phẩm dựa trên tổng doanh thu. Điều này giúp tìm ra "ngôi vương" của mỗi ngành hàng một cách chính xác nhất.</a:t>
              </a:r>
            </a:p>
          </p:txBody>
        </p:sp>
      </p:grpSp>
      <p:grpSp>
        <p:nvGrpSpPr>
          <p:cNvPr id="65" name="Group 65"/>
          <p:cNvGrpSpPr/>
          <p:nvPr/>
        </p:nvGrpSpPr>
        <p:grpSpPr>
          <a:xfrm>
            <a:off x="857250" y="5829300"/>
            <a:ext cx="7786688" cy="300038"/>
            <a:chOff x="0" y="0"/>
            <a:chExt cx="10382250" cy="400050"/>
          </a:xfrm>
        </p:grpSpPr>
        <p:sp>
          <p:nvSpPr>
            <p:cNvPr id="66" name="Freeform 66"/>
            <p:cNvSpPr/>
            <p:nvPr/>
          </p:nvSpPr>
          <p:spPr>
            <a:xfrm>
              <a:off x="0" y="0"/>
              <a:ext cx="10382250" cy="400050"/>
            </a:xfrm>
            <a:custGeom>
              <a:avLst/>
              <a:gdLst/>
              <a:ahLst/>
              <a:cxnLst/>
              <a:rect l="l" t="t" r="r" b="b"/>
              <a:pathLst>
                <a:path w="10382250" h="400050">
                  <a:moveTo>
                    <a:pt x="0" y="0"/>
                  </a:moveTo>
                  <a:lnTo>
                    <a:pt x="10382250" y="0"/>
                  </a:lnTo>
                  <a:lnTo>
                    <a:pt x="10382250" y="400050"/>
                  </a:lnTo>
                  <a:lnTo>
                    <a:pt x="0" y="400050"/>
                  </a:lnTo>
                  <a:close/>
                </a:path>
              </a:pathLst>
            </a:custGeom>
            <a:blipFill>
              <a:blip r:embed="rId19">
                <a:alphaModFix amt="0"/>
              </a:blip>
              <a:stretch>
                <a:fillRect t="-455683" b="-455683"/>
              </a:stretch>
            </a:blipFill>
          </p:spPr>
        </p:sp>
        <p:sp>
          <p:nvSpPr>
            <p:cNvPr id="67" name="TextBox 67"/>
            <p:cNvSpPr txBox="1"/>
            <p:nvPr/>
          </p:nvSpPr>
          <p:spPr>
            <a:xfrm>
              <a:off x="0" y="-66675"/>
              <a:ext cx="10382250" cy="466725"/>
            </a:xfrm>
            <a:prstGeom prst="rect">
              <a:avLst/>
            </a:prstGeom>
          </p:spPr>
          <p:txBody>
            <a:bodyPr lIns="0" tIns="0" rIns="0" bIns="0" rtlCol="0" anchor="ctr"/>
            <a:lstStyle/>
            <a:p>
              <a:pPr algn="l">
                <a:lnSpc>
                  <a:spcPts val="2362"/>
                </a:lnSpc>
              </a:pPr>
              <a:r>
                <a:rPr lang="en-US" sz="1575">
                  <a:solidFill>
                    <a:srgbClr val="75715E"/>
                  </a:solidFill>
                  <a:latin typeface="Calibri (MS)"/>
                  <a:ea typeface="Calibri (MS)"/>
                  <a:cs typeface="Calibri (MS)"/>
                  <a:sym typeface="Calibri (MS)"/>
                </a:rPr>
                <a:t>-- Truy vấn HiveQL nâng cao</a:t>
              </a:r>
            </a:p>
          </p:txBody>
        </p:sp>
      </p:grpSp>
      <p:grpSp>
        <p:nvGrpSpPr>
          <p:cNvPr id="68" name="Group 68"/>
          <p:cNvGrpSpPr/>
          <p:nvPr/>
        </p:nvGrpSpPr>
        <p:grpSpPr>
          <a:xfrm>
            <a:off x="857250" y="6272212"/>
            <a:ext cx="9841230" cy="300038"/>
            <a:chOff x="0" y="0"/>
            <a:chExt cx="13121640" cy="400050"/>
          </a:xfrm>
        </p:grpSpPr>
        <p:sp>
          <p:nvSpPr>
            <p:cNvPr id="69" name="Freeform 69"/>
            <p:cNvSpPr/>
            <p:nvPr/>
          </p:nvSpPr>
          <p:spPr>
            <a:xfrm>
              <a:off x="0" y="0"/>
              <a:ext cx="13121639" cy="400050"/>
            </a:xfrm>
            <a:custGeom>
              <a:avLst/>
              <a:gdLst/>
              <a:ahLst/>
              <a:cxnLst/>
              <a:rect l="l" t="t" r="r" b="b"/>
              <a:pathLst>
                <a:path w="13121639" h="400050">
                  <a:moveTo>
                    <a:pt x="0" y="0"/>
                  </a:moveTo>
                  <a:lnTo>
                    <a:pt x="13121639" y="0"/>
                  </a:lnTo>
                  <a:lnTo>
                    <a:pt x="13121639" y="400050"/>
                  </a:lnTo>
                  <a:lnTo>
                    <a:pt x="0" y="400050"/>
                  </a:lnTo>
                  <a:close/>
                </a:path>
              </a:pathLst>
            </a:custGeom>
            <a:blipFill>
              <a:blip r:embed="rId19">
                <a:alphaModFix amt="0"/>
              </a:blip>
              <a:stretch>
                <a:fillRect t="-589109" b="-589109"/>
              </a:stretch>
            </a:blipFill>
          </p:spPr>
        </p:sp>
        <p:sp>
          <p:nvSpPr>
            <p:cNvPr id="70" name="TextBox 70"/>
            <p:cNvSpPr txBox="1"/>
            <p:nvPr/>
          </p:nvSpPr>
          <p:spPr>
            <a:xfrm>
              <a:off x="0" y="-66675"/>
              <a:ext cx="13121640" cy="466725"/>
            </a:xfrm>
            <a:prstGeom prst="rect">
              <a:avLst/>
            </a:prstGeom>
          </p:spPr>
          <p:txBody>
            <a:bodyPr lIns="0" tIns="0" rIns="0" bIns="0" rtlCol="0" anchor="ctr"/>
            <a:lstStyle/>
            <a:p>
              <a:pPr algn="l">
                <a:lnSpc>
                  <a:spcPts val="2362"/>
                </a:lnSpc>
              </a:pPr>
              <a:r>
                <a:rPr lang="en-US" sz="1575">
                  <a:solidFill>
                    <a:srgbClr val="66D9EF"/>
                  </a:solidFill>
                  <a:latin typeface="Calibri (MS)"/>
                  <a:ea typeface="Calibri (MS)"/>
                  <a:cs typeface="Calibri (MS)"/>
                  <a:sym typeface="Calibri (MS)"/>
                </a:rPr>
                <a:t>SELECT</a:t>
              </a:r>
              <a:r>
                <a:rPr lang="en-US" sz="1575">
                  <a:solidFill>
                    <a:srgbClr val="F8F8F2"/>
                  </a:solidFill>
                  <a:latin typeface="Calibri (MS)"/>
                  <a:ea typeface="Calibri (MS)"/>
                  <a:cs typeface="Calibri (MS)"/>
                  <a:sym typeface="Calibri (MS)"/>
                </a:rPr>
                <a:t> danh_muc, ten_san_pham, total_rev,</a:t>
              </a:r>
            </a:p>
          </p:txBody>
        </p:sp>
      </p:grpSp>
      <p:grpSp>
        <p:nvGrpSpPr>
          <p:cNvPr id="71" name="Group 71"/>
          <p:cNvGrpSpPr/>
          <p:nvPr/>
        </p:nvGrpSpPr>
        <p:grpSpPr>
          <a:xfrm>
            <a:off x="1143000" y="6572250"/>
            <a:ext cx="7500938" cy="300038"/>
            <a:chOff x="0" y="0"/>
            <a:chExt cx="10001250" cy="400050"/>
          </a:xfrm>
        </p:grpSpPr>
        <p:sp>
          <p:nvSpPr>
            <p:cNvPr id="72" name="Freeform 72"/>
            <p:cNvSpPr/>
            <p:nvPr/>
          </p:nvSpPr>
          <p:spPr>
            <a:xfrm>
              <a:off x="0" y="0"/>
              <a:ext cx="10001250" cy="400050"/>
            </a:xfrm>
            <a:custGeom>
              <a:avLst/>
              <a:gdLst/>
              <a:ahLst/>
              <a:cxnLst/>
              <a:rect l="l" t="t" r="r" b="b"/>
              <a:pathLst>
                <a:path w="10001250" h="400050">
                  <a:moveTo>
                    <a:pt x="0" y="0"/>
                  </a:moveTo>
                  <a:lnTo>
                    <a:pt x="10001250" y="0"/>
                  </a:lnTo>
                  <a:lnTo>
                    <a:pt x="10001250" y="400050"/>
                  </a:lnTo>
                  <a:lnTo>
                    <a:pt x="0" y="400050"/>
                  </a:lnTo>
                  <a:close/>
                </a:path>
              </a:pathLst>
            </a:custGeom>
            <a:blipFill>
              <a:blip r:embed="rId19">
                <a:alphaModFix amt="0"/>
              </a:blip>
              <a:stretch>
                <a:fillRect t="-437125" b="-437125"/>
              </a:stretch>
            </a:blipFill>
          </p:spPr>
        </p:sp>
        <p:sp>
          <p:nvSpPr>
            <p:cNvPr id="73" name="TextBox 73"/>
            <p:cNvSpPr txBox="1"/>
            <p:nvPr/>
          </p:nvSpPr>
          <p:spPr>
            <a:xfrm>
              <a:off x="0" y="-66675"/>
              <a:ext cx="10001250" cy="466725"/>
            </a:xfrm>
            <a:prstGeom prst="rect">
              <a:avLst/>
            </a:prstGeom>
          </p:spPr>
          <p:txBody>
            <a:bodyPr lIns="0" tIns="0" rIns="0" bIns="0" rtlCol="0" anchor="ctr"/>
            <a:lstStyle/>
            <a:p>
              <a:pPr algn="l">
                <a:lnSpc>
                  <a:spcPts val="2362"/>
                </a:lnSpc>
              </a:pPr>
              <a:r>
                <a:rPr lang="en-US" sz="1575">
                  <a:solidFill>
                    <a:srgbClr val="A6E22E"/>
                  </a:solidFill>
                  <a:latin typeface="Calibri (MS)"/>
                  <a:ea typeface="Calibri (MS)"/>
                  <a:cs typeface="Calibri (MS)"/>
                  <a:sym typeface="Calibri (MS)"/>
                </a:rPr>
                <a:t>RANK() OVER</a:t>
              </a:r>
              <a:r>
                <a:rPr lang="en-US" sz="1575">
                  <a:solidFill>
                    <a:srgbClr val="F8F8F2"/>
                  </a:solidFill>
                  <a:latin typeface="Calibri (MS)"/>
                  <a:ea typeface="Calibri (MS)"/>
                  <a:cs typeface="Calibri (MS)"/>
                  <a:sym typeface="Calibri (MS)"/>
                </a:rPr>
                <a:t> (</a:t>
              </a:r>
            </a:p>
          </p:txBody>
        </p:sp>
      </p:grpSp>
      <p:grpSp>
        <p:nvGrpSpPr>
          <p:cNvPr id="74" name="Group 74"/>
          <p:cNvGrpSpPr/>
          <p:nvPr/>
        </p:nvGrpSpPr>
        <p:grpSpPr>
          <a:xfrm>
            <a:off x="1428750" y="6872288"/>
            <a:ext cx="7215188" cy="300038"/>
            <a:chOff x="0" y="0"/>
            <a:chExt cx="9620250" cy="400050"/>
          </a:xfrm>
        </p:grpSpPr>
        <p:sp>
          <p:nvSpPr>
            <p:cNvPr id="75" name="Freeform 75"/>
            <p:cNvSpPr/>
            <p:nvPr/>
          </p:nvSpPr>
          <p:spPr>
            <a:xfrm>
              <a:off x="0" y="0"/>
              <a:ext cx="9620250" cy="400050"/>
            </a:xfrm>
            <a:custGeom>
              <a:avLst/>
              <a:gdLst/>
              <a:ahLst/>
              <a:cxnLst/>
              <a:rect l="l" t="t" r="r" b="b"/>
              <a:pathLst>
                <a:path w="9620250" h="400050">
                  <a:moveTo>
                    <a:pt x="0" y="0"/>
                  </a:moveTo>
                  <a:lnTo>
                    <a:pt x="9620250" y="0"/>
                  </a:lnTo>
                  <a:lnTo>
                    <a:pt x="9620250" y="400050"/>
                  </a:lnTo>
                  <a:lnTo>
                    <a:pt x="0" y="400050"/>
                  </a:lnTo>
                  <a:close/>
                </a:path>
              </a:pathLst>
            </a:custGeom>
            <a:blipFill>
              <a:blip r:embed="rId19">
                <a:alphaModFix amt="0"/>
              </a:blip>
              <a:stretch>
                <a:fillRect t="-418568" b="-418568"/>
              </a:stretch>
            </a:blipFill>
          </p:spPr>
        </p:sp>
        <p:sp>
          <p:nvSpPr>
            <p:cNvPr id="76" name="TextBox 76"/>
            <p:cNvSpPr txBox="1"/>
            <p:nvPr/>
          </p:nvSpPr>
          <p:spPr>
            <a:xfrm>
              <a:off x="0" y="-66675"/>
              <a:ext cx="9620250" cy="466725"/>
            </a:xfrm>
            <a:prstGeom prst="rect">
              <a:avLst/>
            </a:prstGeom>
          </p:spPr>
          <p:txBody>
            <a:bodyPr lIns="0" tIns="0" rIns="0" bIns="0" rtlCol="0" anchor="ctr"/>
            <a:lstStyle/>
            <a:p>
              <a:pPr algn="l">
                <a:lnSpc>
                  <a:spcPts val="2362"/>
                </a:lnSpc>
              </a:pPr>
              <a:r>
                <a:rPr lang="en-US" sz="1575">
                  <a:solidFill>
                    <a:srgbClr val="66D9EF"/>
                  </a:solidFill>
                  <a:latin typeface="Calibri (MS)"/>
                  <a:ea typeface="Calibri (MS)"/>
                  <a:cs typeface="Calibri (MS)"/>
                  <a:sym typeface="Calibri (MS)"/>
                </a:rPr>
                <a:t>PARTITION BY</a:t>
              </a:r>
              <a:r>
                <a:rPr lang="en-US" sz="1575">
                  <a:solidFill>
                    <a:srgbClr val="F8F8F2"/>
                  </a:solidFill>
                  <a:latin typeface="Calibri (MS)"/>
                  <a:ea typeface="Calibri (MS)"/>
                  <a:cs typeface="Calibri (MS)"/>
                  <a:sym typeface="Calibri (MS)"/>
                </a:rPr>
                <a:t> danh_muc</a:t>
              </a:r>
            </a:p>
          </p:txBody>
        </p:sp>
      </p:grpSp>
      <p:grpSp>
        <p:nvGrpSpPr>
          <p:cNvPr id="77" name="Group 77"/>
          <p:cNvGrpSpPr/>
          <p:nvPr/>
        </p:nvGrpSpPr>
        <p:grpSpPr>
          <a:xfrm>
            <a:off x="1428750" y="7172325"/>
            <a:ext cx="7215188" cy="300038"/>
            <a:chOff x="0" y="0"/>
            <a:chExt cx="9620250" cy="400050"/>
          </a:xfrm>
        </p:grpSpPr>
        <p:sp>
          <p:nvSpPr>
            <p:cNvPr id="78" name="Freeform 78"/>
            <p:cNvSpPr/>
            <p:nvPr/>
          </p:nvSpPr>
          <p:spPr>
            <a:xfrm>
              <a:off x="0" y="0"/>
              <a:ext cx="9620250" cy="400050"/>
            </a:xfrm>
            <a:custGeom>
              <a:avLst/>
              <a:gdLst/>
              <a:ahLst/>
              <a:cxnLst/>
              <a:rect l="l" t="t" r="r" b="b"/>
              <a:pathLst>
                <a:path w="9620250" h="400050">
                  <a:moveTo>
                    <a:pt x="0" y="0"/>
                  </a:moveTo>
                  <a:lnTo>
                    <a:pt x="9620250" y="0"/>
                  </a:lnTo>
                  <a:lnTo>
                    <a:pt x="9620250" y="400050"/>
                  </a:lnTo>
                  <a:lnTo>
                    <a:pt x="0" y="400050"/>
                  </a:lnTo>
                  <a:close/>
                </a:path>
              </a:pathLst>
            </a:custGeom>
            <a:blipFill>
              <a:blip r:embed="rId19">
                <a:alphaModFix amt="0"/>
              </a:blip>
              <a:stretch>
                <a:fillRect t="-418568" b="-418568"/>
              </a:stretch>
            </a:blipFill>
          </p:spPr>
        </p:sp>
        <p:sp>
          <p:nvSpPr>
            <p:cNvPr id="79" name="TextBox 79"/>
            <p:cNvSpPr txBox="1"/>
            <p:nvPr/>
          </p:nvSpPr>
          <p:spPr>
            <a:xfrm>
              <a:off x="0" y="-66675"/>
              <a:ext cx="9620250" cy="466725"/>
            </a:xfrm>
            <a:prstGeom prst="rect">
              <a:avLst/>
            </a:prstGeom>
          </p:spPr>
          <p:txBody>
            <a:bodyPr lIns="0" tIns="0" rIns="0" bIns="0" rtlCol="0" anchor="ctr"/>
            <a:lstStyle/>
            <a:p>
              <a:pPr algn="l">
                <a:lnSpc>
                  <a:spcPts val="2362"/>
                </a:lnSpc>
              </a:pPr>
              <a:r>
                <a:rPr lang="en-US" sz="1575">
                  <a:solidFill>
                    <a:srgbClr val="66D9EF"/>
                  </a:solidFill>
                  <a:latin typeface="Calibri (MS)"/>
                  <a:ea typeface="Calibri (MS)"/>
                  <a:cs typeface="Calibri (MS)"/>
                  <a:sym typeface="Calibri (MS)"/>
                </a:rPr>
                <a:t>ORDER BY</a:t>
              </a:r>
              <a:r>
                <a:rPr lang="en-US" sz="1575">
                  <a:solidFill>
                    <a:srgbClr val="F8F8F2"/>
                  </a:solidFill>
                  <a:latin typeface="Calibri (MS)"/>
                  <a:ea typeface="Calibri (MS)"/>
                  <a:cs typeface="Calibri (MS)"/>
                  <a:sym typeface="Calibri (MS)"/>
                </a:rPr>
                <a:t> total_rev </a:t>
              </a:r>
              <a:r>
                <a:rPr lang="en-US" sz="1575">
                  <a:solidFill>
                    <a:srgbClr val="66D9EF"/>
                  </a:solidFill>
                  <a:latin typeface="Calibri (MS)"/>
                  <a:ea typeface="Calibri (MS)"/>
                  <a:cs typeface="Calibri (MS)"/>
                  <a:sym typeface="Calibri (MS)"/>
                </a:rPr>
                <a:t>DESC</a:t>
              </a:r>
            </a:p>
          </p:txBody>
        </p:sp>
      </p:grpSp>
      <p:grpSp>
        <p:nvGrpSpPr>
          <p:cNvPr id="80" name="Group 80"/>
          <p:cNvGrpSpPr/>
          <p:nvPr/>
        </p:nvGrpSpPr>
        <p:grpSpPr>
          <a:xfrm>
            <a:off x="1143000" y="7472362"/>
            <a:ext cx="7500938" cy="300038"/>
            <a:chOff x="0" y="0"/>
            <a:chExt cx="10001250" cy="400050"/>
          </a:xfrm>
        </p:grpSpPr>
        <p:sp>
          <p:nvSpPr>
            <p:cNvPr id="81" name="Freeform 81"/>
            <p:cNvSpPr/>
            <p:nvPr/>
          </p:nvSpPr>
          <p:spPr>
            <a:xfrm>
              <a:off x="0" y="0"/>
              <a:ext cx="10001250" cy="400050"/>
            </a:xfrm>
            <a:custGeom>
              <a:avLst/>
              <a:gdLst/>
              <a:ahLst/>
              <a:cxnLst/>
              <a:rect l="l" t="t" r="r" b="b"/>
              <a:pathLst>
                <a:path w="10001250" h="400050">
                  <a:moveTo>
                    <a:pt x="0" y="0"/>
                  </a:moveTo>
                  <a:lnTo>
                    <a:pt x="10001250" y="0"/>
                  </a:lnTo>
                  <a:lnTo>
                    <a:pt x="10001250" y="400050"/>
                  </a:lnTo>
                  <a:lnTo>
                    <a:pt x="0" y="400050"/>
                  </a:lnTo>
                  <a:close/>
                </a:path>
              </a:pathLst>
            </a:custGeom>
            <a:blipFill>
              <a:blip r:embed="rId19">
                <a:alphaModFix amt="0"/>
              </a:blip>
              <a:stretch>
                <a:fillRect t="-437125" b="-437125"/>
              </a:stretch>
            </a:blipFill>
          </p:spPr>
        </p:sp>
        <p:sp>
          <p:nvSpPr>
            <p:cNvPr id="82" name="TextBox 82"/>
            <p:cNvSpPr txBox="1"/>
            <p:nvPr/>
          </p:nvSpPr>
          <p:spPr>
            <a:xfrm>
              <a:off x="0" y="-66675"/>
              <a:ext cx="10001250" cy="466725"/>
            </a:xfrm>
            <a:prstGeom prst="rect">
              <a:avLst/>
            </a:prstGeom>
          </p:spPr>
          <p:txBody>
            <a:bodyPr lIns="0" tIns="0" rIns="0" bIns="0" rtlCol="0" anchor="ctr"/>
            <a:lstStyle/>
            <a:p>
              <a:pPr algn="l">
                <a:lnSpc>
                  <a:spcPts val="2362"/>
                </a:lnSpc>
              </a:pPr>
              <a:r>
                <a:rPr lang="en-US" sz="1575">
                  <a:solidFill>
                    <a:srgbClr val="F8F8F2"/>
                  </a:solidFill>
                  <a:latin typeface="Calibri (MS)"/>
                  <a:ea typeface="Calibri (MS)"/>
                  <a:cs typeface="Calibri (MS)"/>
                  <a:sym typeface="Calibri (MS)"/>
                </a:rPr>
                <a:t>) </a:t>
              </a:r>
              <a:r>
                <a:rPr lang="en-US" sz="1575">
                  <a:solidFill>
                    <a:srgbClr val="66D9EF"/>
                  </a:solidFill>
                  <a:latin typeface="Calibri (MS)"/>
                  <a:ea typeface="Calibri (MS)"/>
                  <a:cs typeface="Calibri (MS)"/>
                  <a:sym typeface="Calibri (MS)"/>
                </a:rPr>
                <a:t>as</a:t>
              </a:r>
              <a:r>
                <a:rPr lang="en-US" sz="1575">
                  <a:solidFill>
                    <a:srgbClr val="F8F8F2"/>
                  </a:solidFill>
                  <a:latin typeface="Calibri (MS)"/>
                  <a:ea typeface="Calibri (MS)"/>
                  <a:cs typeface="Calibri (MS)"/>
                  <a:sym typeface="Calibri (MS)"/>
                </a:rPr>
                <a:t> xep_hang</a:t>
              </a:r>
            </a:p>
          </p:txBody>
        </p:sp>
      </p:grpSp>
      <p:grpSp>
        <p:nvGrpSpPr>
          <p:cNvPr id="83" name="Group 83"/>
          <p:cNvGrpSpPr/>
          <p:nvPr/>
        </p:nvGrpSpPr>
        <p:grpSpPr>
          <a:xfrm>
            <a:off x="857250" y="7772400"/>
            <a:ext cx="7786688" cy="300038"/>
            <a:chOff x="0" y="0"/>
            <a:chExt cx="10382250" cy="400050"/>
          </a:xfrm>
        </p:grpSpPr>
        <p:sp>
          <p:nvSpPr>
            <p:cNvPr id="84" name="Freeform 84"/>
            <p:cNvSpPr/>
            <p:nvPr/>
          </p:nvSpPr>
          <p:spPr>
            <a:xfrm>
              <a:off x="0" y="0"/>
              <a:ext cx="10382250" cy="400050"/>
            </a:xfrm>
            <a:custGeom>
              <a:avLst/>
              <a:gdLst/>
              <a:ahLst/>
              <a:cxnLst/>
              <a:rect l="l" t="t" r="r" b="b"/>
              <a:pathLst>
                <a:path w="10382250" h="400050">
                  <a:moveTo>
                    <a:pt x="0" y="0"/>
                  </a:moveTo>
                  <a:lnTo>
                    <a:pt x="10382250" y="0"/>
                  </a:lnTo>
                  <a:lnTo>
                    <a:pt x="10382250" y="400050"/>
                  </a:lnTo>
                  <a:lnTo>
                    <a:pt x="0" y="400050"/>
                  </a:lnTo>
                  <a:close/>
                </a:path>
              </a:pathLst>
            </a:custGeom>
            <a:blipFill>
              <a:blip r:embed="rId19">
                <a:alphaModFix amt="0"/>
              </a:blip>
              <a:stretch>
                <a:fillRect t="-455683" b="-455683"/>
              </a:stretch>
            </a:blipFill>
          </p:spPr>
        </p:sp>
        <p:sp>
          <p:nvSpPr>
            <p:cNvPr id="85" name="TextBox 85"/>
            <p:cNvSpPr txBox="1"/>
            <p:nvPr/>
          </p:nvSpPr>
          <p:spPr>
            <a:xfrm>
              <a:off x="0" y="-66675"/>
              <a:ext cx="10382250" cy="466725"/>
            </a:xfrm>
            <a:prstGeom prst="rect">
              <a:avLst/>
            </a:prstGeom>
          </p:spPr>
          <p:txBody>
            <a:bodyPr lIns="0" tIns="0" rIns="0" bIns="0" rtlCol="0" anchor="ctr"/>
            <a:lstStyle/>
            <a:p>
              <a:pPr algn="l">
                <a:lnSpc>
                  <a:spcPts val="2362"/>
                </a:lnSpc>
              </a:pPr>
              <a:r>
                <a:rPr lang="en-US" sz="1575">
                  <a:solidFill>
                    <a:srgbClr val="66D9EF"/>
                  </a:solidFill>
                  <a:latin typeface="Calibri (MS)"/>
                  <a:ea typeface="Calibri (MS)"/>
                  <a:cs typeface="Calibri (MS)"/>
                  <a:sym typeface="Calibri (MS)"/>
                </a:rPr>
                <a:t>FROM</a:t>
              </a:r>
              <a:r>
                <a:rPr lang="en-US" sz="1575">
                  <a:solidFill>
                    <a:srgbClr val="F8F8F2"/>
                  </a:solidFill>
                  <a:latin typeface="Calibri (MS)"/>
                  <a:ea typeface="Calibri (MS)"/>
                  <a:cs typeface="Calibri (MS)"/>
                  <a:sym typeface="Calibri (MS)"/>
                </a:rPr>
                <a:t> (</a:t>
              </a:r>
            </a:p>
          </p:txBody>
        </p:sp>
      </p:grpSp>
      <p:grpSp>
        <p:nvGrpSpPr>
          <p:cNvPr id="86" name="Group 86"/>
          <p:cNvGrpSpPr/>
          <p:nvPr/>
        </p:nvGrpSpPr>
        <p:grpSpPr>
          <a:xfrm>
            <a:off x="1143000" y="8072438"/>
            <a:ext cx="7500938" cy="300038"/>
            <a:chOff x="0" y="0"/>
            <a:chExt cx="10001250" cy="400050"/>
          </a:xfrm>
        </p:grpSpPr>
        <p:sp>
          <p:nvSpPr>
            <p:cNvPr id="87" name="Freeform 87"/>
            <p:cNvSpPr/>
            <p:nvPr/>
          </p:nvSpPr>
          <p:spPr>
            <a:xfrm>
              <a:off x="0" y="0"/>
              <a:ext cx="10001250" cy="400050"/>
            </a:xfrm>
            <a:custGeom>
              <a:avLst/>
              <a:gdLst/>
              <a:ahLst/>
              <a:cxnLst/>
              <a:rect l="l" t="t" r="r" b="b"/>
              <a:pathLst>
                <a:path w="10001250" h="400050">
                  <a:moveTo>
                    <a:pt x="0" y="0"/>
                  </a:moveTo>
                  <a:lnTo>
                    <a:pt x="10001250" y="0"/>
                  </a:lnTo>
                  <a:lnTo>
                    <a:pt x="10001250" y="400050"/>
                  </a:lnTo>
                  <a:lnTo>
                    <a:pt x="0" y="400050"/>
                  </a:lnTo>
                  <a:close/>
                </a:path>
              </a:pathLst>
            </a:custGeom>
            <a:blipFill>
              <a:blip r:embed="rId19">
                <a:alphaModFix amt="0"/>
              </a:blip>
              <a:stretch>
                <a:fillRect t="-437125" b="-437125"/>
              </a:stretch>
            </a:blipFill>
          </p:spPr>
        </p:sp>
        <p:sp>
          <p:nvSpPr>
            <p:cNvPr id="88" name="TextBox 88"/>
            <p:cNvSpPr txBox="1"/>
            <p:nvPr/>
          </p:nvSpPr>
          <p:spPr>
            <a:xfrm>
              <a:off x="0" y="-66675"/>
              <a:ext cx="10001250" cy="466725"/>
            </a:xfrm>
            <a:prstGeom prst="rect">
              <a:avLst/>
            </a:prstGeom>
          </p:spPr>
          <p:txBody>
            <a:bodyPr lIns="0" tIns="0" rIns="0" bIns="0" rtlCol="0" anchor="ctr"/>
            <a:lstStyle/>
            <a:p>
              <a:pPr algn="l">
                <a:lnSpc>
                  <a:spcPts val="2362"/>
                </a:lnSpc>
              </a:pPr>
              <a:r>
                <a:rPr lang="en-US" sz="1575">
                  <a:solidFill>
                    <a:srgbClr val="66D9EF"/>
                  </a:solidFill>
                  <a:latin typeface="Calibri (MS)"/>
                  <a:ea typeface="Calibri (MS)"/>
                  <a:cs typeface="Calibri (MS)"/>
                  <a:sym typeface="Calibri (MS)"/>
                </a:rPr>
                <a:t>SELECT</a:t>
              </a:r>
              <a:r>
                <a:rPr lang="en-US" sz="1575">
                  <a:solidFill>
                    <a:srgbClr val="F8F8F2"/>
                  </a:solidFill>
                  <a:latin typeface="Calibri (MS)"/>
                  <a:ea typeface="Calibri (MS)"/>
                  <a:cs typeface="Calibri (MS)"/>
                  <a:sym typeface="Calibri (MS)"/>
                </a:rPr>
                <a:t> danh_muc, ten_san_pham,</a:t>
              </a:r>
            </a:p>
          </p:txBody>
        </p:sp>
      </p:grpSp>
      <p:grpSp>
        <p:nvGrpSpPr>
          <p:cNvPr id="89" name="Group 89"/>
          <p:cNvGrpSpPr/>
          <p:nvPr/>
        </p:nvGrpSpPr>
        <p:grpSpPr>
          <a:xfrm>
            <a:off x="1143000" y="8372475"/>
            <a:ext cx="7500938" cy="300038"/>
            <a:chOff x="0" y="0"/>
            <a:chExt cx="10001250" cy="400050"/>
          </a:xfrm>
        </p:grpSpPr>
        <p:sp>
          <p:nvSpPr>
            <p:cNvPr id="90" name="Freeform 90"/>
            <p:cNvSpPr/>
            <p:nvPr/>
          </p:nvSpPr>
          <p:spPr>
            <a:xfrm>
              <a:off x="0" y="0"/>
              <a:ext cx="10001250" cy="400050"/>
            </a:xfrm>
            <a:custGeom>
              <a:avLst/>
              <a:gdLst/>
              <a:ahLst/>
              <a:cxnLst/>
              <a:rect l="l" t="t" r="r" b="b"/>
              <a:pathLst>
                <a:path w="10001250" h="400050">
                  <a:moveTo>
                    <a:pt x="0" y="0"/>
                  </a:moveTo>
                  <a:lnTo>
                    <a:pt x="10001250" y="0"/>
                  </a:lnTo>
                  <a:lnTo>
                    <a:pt x="10001250" y="400050"/>
                  </a:lnTo>
                  <a:lnTo>
                    <a:pt x="0" y="400050"/>
                  </a:lnTo>
                  <a:close/>
                </a:path>
              </a:pathLst>
            </a:custGeom>
            <a:blipFill>
              <a:blip r:embed="rId19">
                <a:alphaModFix amt="0"/>
              </a:blip>
              <a:stretch>
                <a:fillRect t="-437125" b="-437125"/>
              </a:stretch>
            </a:blipFill>
          </p:spPr>
        </p:sp>
        <p:sp>
          <p:nvSpPr>
            <p:cNvPr id="91" name="TextBox 91"/>
            <p:cNvSpPr txBox="1"/>
            <p:nvPr/>
          </p:nvSpPr>
          <p:spPr>
            <a:xfrm>
              <a:off x="0" y="-66675"/>
              <a:ext cx="10001250" cy="466725"/>
            </a:xfrm>
            <a:prstGeom prst="rect">
              <a:avLst/>
            </a:prstGeom>
          </p:spPr>
          <p:txBody>
            <a:bodyPr lIns="0" tIns="0" rIns="0" bIns="0" rtlCol="0" anchor="ctr"/>
            <a:lstStyle/>
            <a:p>
              <a:pPr algn="l">
                <a:lnSpc>
                  <a:spcPts val="2362"/>
                </a:lnSpc>
              </a:pPr>
              <a:r>
                <a:rPr lang="en-US" sz="1575">
                  <a:solidFill>
                    <a:srgbClr val="A6E22E"/>
                  </a:solidFill>
                  <a:latin typeface="Calibri (MS)"/>
                  <a:ea typeface="Calibri (MS)"/>
                  <a:cs typeface="Calibri (MS)"/>
                  <a:sym typeface="Calibri (MS)"/>
                </a:rPr>
                <a:t>SUM</a:t>
              </a:r>
              <a:r>
                <a:rPr lang="en-US" sz="1575">
                  <a:solidFill>
                    <a:srgbClr val="F8F8F2"/>
                  </a:solidFill>
                  <a:latin typeface="Calibri (MS)"/>
                  <a:ea typeface="Calibri (MS)"/>
                  <a:cs typeface="Calibri (MS)"/>
                  <a:sym typeface="Calibri (MS)"/>
                </a:rPr>
                <a:t>(thanh_tien) </a:t>
              </a:r>
              <a:r>
                <a:rPr lang="en-US" sz="1575">
                  <a:solidFill>
                    <a:srgbClr val="66D9EF"/>
                  </a:solidFill>
                  <a:latin typeface="Calibri (MS)"/>
                  <a:ea typeface="Calibri (MS)"/>
                  <a:cs typeface="Calibri (MS)"/>
                  <a:sym typeface="Calibri (MS)"/>
                </a:rPr>
                <a:t>as</a:t>
              </a:r>
              <a:r>
                <a:rPr lang="en-US" sz="1575">
                  <a:solidFill>
                    <a:srgbClr val="F8F8F2"/>
                  </a:solidFill>
                  <a:latin typeface="Calibri (MS)"/>
                  <a:ea typeface="Calibri (MS)"/>
                  <a:cs typeface="Calibri (MS)"/>
                  <a:sym typeface="Calibri (MS)"/>
                </a:rPr>
                <a:t> total_rev</a:t>
              </a:r>
            </a:p>
          </p:txBody>
        </p:sp>
      </p:grpSp>
      <p:grpSp>
        <p:nvGrpSpPr>
          <p:cNvPr id="92" name="Group 92"/>
          <p:cNvGrpSpPr/>
          <p:nvPr/>
        </p:nvGrpSpPr>
        <p:grpSpPr>
          <a:xfrm>
            <a:off x="1143000" y="8672512"/>
            <a:ext cx="7500938" cy="300038"/>
            <a:chOff x="0" y="0"/>
            <a:chExt cx="10001250" cy="400050"/>
          </a:xfrm>
        </p:grpSpPr>
        <p:sp>
          <p:nvSpPr>
            <p:cNvPr id="93" name="Freeform 93"/>
            <p:cNvSpPr/>
            <p:nvPr/>
          </p:nvSpPr>
          <p:spPr>
            <a:xfrm>
              <a:off x="0" y="0"/>
              <a:ext cx="10001250" cy="400050"/>
            </a:xfrm>
            <a:custGeom>
              <a:avLst/>
              <a:gdLst/>
              <a:ahLst/>
              <a:cxnLst/>
              <a:rect l="l" t="t" r="r" b="b"/>
              <a:pathLst>
                <a:path w="10001250" h="400050">
                  <a:moveTo>
                    <a:pt x="0" y="0"/>
                  </a:moveTo>
                  <a:lnTo>
                    <a:pt x="10001250" y="0"/>
                  </a:lnTo>
                  <a:lnTo>
                    <a:pt x="10001250" y="400050"/>
                  </a:lnTo>
                  <a:lnTo>
                    <a:pt x="0" y="400050"/>
                  </a:lnTo>
                  <a:close/>
                </a:path>
              </a:pathLst>
            </a:custGeom>
            <a:blipFill>
              <a:blip r:embed="rId19">
                <a:alphaModFix amt="0"/>
              </a:blip>
              <a:stretch>
                <a:fillRect t="-437125" b="-437125"/>
              </a:stretch>
            </a:blipFill>
          </p:spPr>
        </p:sp>
        <p:sp>
          <p:nvSpPr>
            <p:cNvPr id="94" name="TextBox 94"/>
            <p:cNvSpPr txBox="1"/>
            <p:nvPr/>
          </p:nvSpPr>
          <p:spPr>
            <a:xfrm>
              <a:off x="0" y="-66675"/>
              <a:ext cx="10001250" cy="466725"/>
            </a:xfrm>
            <a:prstGeom prst="rect">
              <a:avLst/>
            </a:prstGeom>
          </p:spPr>
          <p:txBody>
            <a:bodyPr lIns="0" tIns="0" rIns="0" bIns="0" rtlCol="0" anchor="ctr"/>
            <a:lstStyle/>
            <a:p>
              <a:pPr algn="l">
                <a:lnSpc>
                  <a:spcPts val="2362"/>
                </a:lnSpc>
              </a:pPr>
              <a:r>
                <a:rPr lang="en-US" sz="1575">
                  <a:solidFill>
                    <a:srgbClr val="66D9EF"/>
                  </a:solidFill>
                  <a:latin typeface="Calibri (MS)"/>
                  <a:ea typeface="Calibri (MS)"/>
                  <a:cs typeface="Calibri (MS)"/>
                  <a:sym typeface="Calibri (MS)"/>
                </a:rPr>
                <a:t>FROM</a:t>
              </a:r>
              <a:r>
                <a:rPr lang="en-US" sz="1575">
                  <a:solidFill>
                    <a:srgbClr val="F8F8F2"/>
                  </a:solidFill>
                  <a:latin typeface="Calibri (MS)"/>
                  <a:ea typeface="Calibri (MS)"/>
                  <a:cs typeface="Calibri (MS)"/>
                  <a:sym typeface="Calibri (MS)"/>
                </a:rPr>
                <a:t> ban_hang_dien_may</a:t>
              </a:r>
            </a:p>
          </p:txBody>
        </p:sp>
      </p:grpSp>
      <p:grpSp>
        <p:nvGrpSpPr>
          <p:cNvPr id="95" name="Group 95"/>
          <p:cNvGrpSpPr/>
          <p:nvPr/>
        </p:nvGrpSpPr>
        <p:grpSpPr>
          <a:xfrm>
            <a:off x="1143000" y="8972550"/>
            <a:ext cx="7500938" cy="300038"/>
            <a:chOff x="0" y="0"/>
            <a:chExt cx="10001250" cy="400050"/>
          </a:xfrm>
        </p:grpSpPr>
        <p:sp>
          <p:nvSpPr>
            <p:cNvPr id="96" name="Freeform 96"/>
            <p:cNvSpPr/>
            <p:nvPr/>
          </p:nvSpPr>
          <p:spPr>
            <a:xfrm>
              <a:off x="0" y="0"/>
              <a:ext cx="10001250" cy="400050"/>
            </a:xfrm>
            <a:custGeom>
              <a:avLst/>
              <a:gdLst/>
              <a:ahLst/>
              <a:cxnLst/>
              <a:rect l="l" t="t" r="r" b="b"/>
              <a:pathLst>
                <a:path w="10001250" h="400050">
                  <a:moveTo>
                    <a:pt x="0" y="0"/>
                  </a:moveTo>
                  <a:lnTo>
                    <a:pt x="10001250" y="0"/>
                  </a:lnTo>
                  <a:lnTo>
                    <a:pt x="10001250" y="400050"/>
                  </a:lnTo>
                  <a:lnTo>
                    <a:pt x="0" y="400050"/>
                  </a:lnTo>
                  <a:close/>
                </a:path>
              </a:pathLst>
            </a:custGeom>
            <a:blipFill>
              <a:blip r:embed="rId19">
                <a:alphaModFix amt="0"/>
              </a:blip>
              <a:stretch>
                <a:fillRect t="-437125" b="-437125"/>
              </a:stretch>
            </a:blipFill>
          </p:spPr>
        </p:sp>
        <p:sp>
          <p:nvSpPr>
            <p:cNvPr id="97" name="TextBox 97"/>
            <p:cNvSpPr txBox="1"/>
            <p:nvPr/>
          </p:nvSpPr>
          <p:spPr>
            <a:xfrm>
              <a:off x="0" y="-66675"/>
              <a:ext cx="10001250" cy="466725"/>
            </a:xfrm>
            <a:prstGeom prst="rect">
              <a:avLst/>
            </a:prstGeom>
          </p:spPr>
          <p:txBody>
            <a:bodyPr lIns="0" tIns="0" rIns="0" bIns="0" rtlCol="0" anchor="ctr"/>
            <a:lstStyle/>
            <a:p>
              <a:pPr algn="l">
                <a:lnSpc>
                  <a:spcPts val="2362"/>
                </a:lnSpc>
              </a:pPr>
              <a:r>
                <a:rPr lang="en-US" sz="1575">
                  <a:solidFill>
                    <a:srgbClr val="66D9EF"/>
                  </a:solidFill>
                  <a:latin typeface="Calibri (MS)"/>
                  <a:ea typeface="Calibri (MS)"/>
                  <a:cs typeface="Calibri (MS)"/>
                  <a:sym typeface="Calibri (MS)"/>
                </a:rPr>
                <a:t>GROUP BY</a:t>
              </a:r>
              <a:r>
                <a:rPr lang="en-US" sz="1575">
                  <a:solidFill>
                    <a:srgbClr val="F8F8F2"/>
                  </a:solidFill>
                  <a:latin typeface="Calibri (MS)"/>
                  <a:ea typeface="Calibri (MS)"/>
                  <a:cs typeface="Calibri (MS)"/>
                  <a:sym typeface="Calibri (MS)"/>
                </a:rPr>
                <a:t> danh_muc, ten_san_pham</a:t>
              </a:r>
            </a:p>
          </p:txBody>
        </p:sp>
      </p:grpSp>
      <p:grpSp>
        <p:nvGrpSpPr>
          <p:cNvPr id="98" name="Group 98"/>
          <p:cNvGrpSpPr/>
          <p:nvPr/>
        </p:nvGrpSpPr>
        <p:grpSpPr>
          <a:xfrm>
            <a:off x="857250" y="9272588"/>
            <a:ext cx="7786688" cy="300038"/>
            <a:chOff x="0" y="0"/>
            <a:chExt cx="10382250" cy="400050"/>
          </a:xfrm>
        </p:grpSpPr>
        <p:sp>
          <p:nvSpPr>
            <p:cNvPr id="99" name="Freeform 99"/>
            <p:cNvSpPr/>
            <p:nvPr/>
          </p:nvSpPr>
          <p:spPr>
            <a:xfrm>
              <a:off x="0" y="0"/>
              <a:ext cx="10382250" cy="400050"/>
            </a:xfrm>
            <a:custGeom>
              <a:avLst/>
              <a:gdLst/>
              <a:ahLst/>
              <a:cxnLst/>
              <a:rect l="l" t="t" r="r" b="b"/>
              <a:pathLst>
                <a:path w="10382250" h="400050">
                  <a:moveTo>
                    <a:pt x="0" y="0"/>
                  </a:moveTo>
                  <a:lnTo>
                    <a:pt x="10382250" y="0"/>
                  </a:lnTo>
                  <a:lnTo>
                    <a:pt x="10382250" y="400050"/>
                  </a:lnTo>
                  <a:lnTo>
                    <a:pt x="0" y="400050"/>
                  </a:lnTo>
                  <a:close/>
                </a:path>
              </a:pathLst>
            </a:custGeom>
            <a:blipFill>
              <a:blip r:embed="rId19">
                <a:alphaModFix amt="0"/>
              </a:blip>
              <a:stretch>
                <a:fillRect t="-455683" b="-455683"/>
              </a:stretch>
            </a:blipFill>
          </p:spPr>
        </p:sp>
        <p:sp>
          <p:nvSpPr>
            <p:cNvPr id="100" name="TextBox 100"/>
            <p:cNvSpPr txBox="1"/>
            <p:nvPr/>
          </p:nvSpPr>
          <p:spPr>
            <a:xfrm>
              <a:off x="0" y="-66675"/>
              <a:ext cx="10382250" cy="466725"/>
            </a:xfrm>
            <a:prstGeom prst="rect">
              <a:avLst/>
            </a:prstGeom>
          </p:spPr>
          <p:txBody>
            <a:bodyPr lIns="0" tIns="0" rIns="0" bIns="0" rtlCol="0" anchor="ctr"/>
            <a:lstStyle/>
            <a:p>
              <a:pPr algn="l">
                <a:lnSpc>
                  <a:spcPts val="2362"/>
                </a:lnSpc>
              </a:pPr>
              <a:r>
                <a:rPr lang="en-US" sz="1575">
                  <a:solidFill>
                    <a:srgbClr val="F8F8F2"/>
                  </a:solidFill>
                  <a:latin typeface="Calibri (MS)"/>
                  <a:ea typeface="Calibri (MS)"/>
                  <a:cs typeface="Calibri (MS)"/>
                  <a:sym typeface="Calibri (MS)"/>
                </a:rPr>
                <a:t>) t;</a:t>
              </a:r>
            </a:p>
          </p:txBody>
        </p:sp>
      </p:grpSp>
      <p:grpSp>
        <p:nvGrpSpPr>
          <p:cNvPr id="101" name="Group 101"/>
          <p:cNvGrpSpPr/>
          <p:nvPr/>
        </p:nvGrpSpPr>
        <p:grpSpPr>
          <a:xfrm>
            <a:off x="10208419" y="2243138"/>
            <a:ext cx="5554980" cy="385762"/>
            <a:chOff x="0" y="0"/>
            <a:chExt cx="7406640" cy="514350"/>
          </a:xfrm>
        </p:grpSpPr>
        <p:sp>
          <p:nvSpPr>
            <p:cNvPr id="102" name="Freeform 102"/>
            <p:cNvSpPr/>
            <p:nvPr/>
          </p:nvSpPr>
          <p:spPr>
            <a:xfrm>
              <a:off x="0" y="0"/>
              <a:ext cx="7406640" cy="514350"/>
            </a:xfrm>
            <a:custGeom>
              <a:avLst/>
              <a:gdLst/>
              <a:ahLst/>
              <a:cxnLst/>
              <a:rect l="l" t="t" r="r" b="b"/>
              <a:pathLst>
                <a:path w="7406640" h="514350">
                  <a:moveTo>
                    <a:pt x="0" y="0"/>
                  </a:moveTo>
                  <a:lnTo>
                    <a:pt x="7406640" y="0"/>
                  </a:lnTo>
                  <a:lnTo>
                    <a:pt x="7406640" y="514350"/>
                  </a:lnTo>
                  <a:lnTo>
                    <a:pt x="0" y="514350"/>
                  </a:lnTo>
                  <a:close/>
                </a:path>
              </a:pathLst>
            </a:custGeom>
            <a:blipFill>
              <a:blip r:embed="rId19">
                <a:alphaModFix amt="0"/>
              </a:blip>
              <a:stretch>
                <a:fillRect t="-230584" b="-230584"/>
              </a:stretch>
            </a:blipFill>
          </p:spPr>
        </p:sp>
        <p:sp>
          <p:nvSpPr>
            <p:cNvPr id="103" name="TextBox 103"/>
            <p:cNvSpPr txBox="1"/>
            <p:nvPr/>
          </p:nvSpPr>
          <p:spPr>
            <a:xfrm>
              <a:off x="0" y="-95250"/>
              <a:ext cx="7406640" cy="609600"/>
            </a:xfrm>
            <a:prstGeom prst="rect">
              <a:avLst/>
            </a:prstGeom>
          </p:spPr>
          <p:txBody>
            <a:bodyPr lIns="0" tIns="0" rIns="0" bIns="0" rtlCol="0" anchor="ctr"/>
            <a:lstStyle/>
            <a:p>
              <a:pPr algn="l">
                <a:lnSpc>
                  <a:spcPts val="3037"/>
                </a:lnSpc>
              </a:pPr>
              <a:r>
                <a:rPr lang="en-US" sz="2025" b="1">
                  <a:solidFill>
                    <a:srgbClr val="007ACC"/>
                  </a:solidFill>
                  <a:latin typeface="Calibri (MS) Bold"/>
                  <a:ea typeface="Calibri (MS) Bold"/>
                  <a:cs typeface="Calibri (MS) Bold"/>
                  <a:sym typeface="Calibri (MS) Bold"/>
                </a:rPr>
                <a:t>Ý nghĩa chiến lược</a:t>
              </a:r>
            </a:p>
          </p:txBody>
        </p:sp>
      </p:grpSp>
      <p:grpSp>
        <p:nvGrpSpPr>
          <p:cNvPr id="104" name="Group 104"/>
          <p:cNvGrpSpPr/>
          <p:nvPr/>
        </p:nvGrpSpPr>
        <p:grpSpPr>
          <a:xfrm>
            <a:off x="9715500" y="2843212"/>
            <a:ext cx="7643812" cy="1097013"/>
            <a:chOff x="0" y="0"/>
            <a:chExt cx="10191750" cy="1462684"/>
          </a:xfrm>
        </p:grpSpPr>
        <p:sp>
          <p:nvSpPr>
            <p:cNvPr id="105" name="Freeform 105"/>
            <p:cNvSpPr/>
            <p:nvPr/>
          </p:nvSpPr>
          <p:spPr>
            <a:xfrm>
              <a:off x="0" y="0"/>
              <a:ext cx="10191750" cy="1462682"/>
            </a:xfrm>
            <a:custGeom>
              <a:avLst/>
              <a:gdLst/>
              <a:ahLst/>
              <a:cxnLst/>
              <a:rect l="l" t="t" r="r" b="b"/>
              <a:pathLst>
                <a:path w="10191750" h="1462682">
                  <a:moveTo>
                    <a:pt x="0" y="0"/>
                  </a:moveTo>
                  <a:lnTo>
                    <a:pt x="10191750" y="0"/>
                  </a:lnTo>
                  <a:lnTo>
                    <a:pt x="10191750" y="1462682"/>
                  </a:lnTo>
                  <a:lnTo>
                    <a:pt x="0" y="1462682"/>
                  </a:lnTo>
                  <a:close/>
                </a:path>
              </a:pathLst>
            </a:custGeom>
            <a:blipFill>
              <a:blip r:embed="rId19">
                <a:alphaModFix amt="0"/>
              </a:blip>
              <a:stretch>
                <a:fillRect t="-85768" b="-85768"/>
              </a:stretch>
            </a:blipFill>
          </p:spPr>
        </p:sp>
        <p:sp>
          <p:nvSpPr>
            <p:cNvPr id="106" name="TextBox 106"/>
            <p:cNvSpPr txBox="1"/>
            <p:nvPr/>
          </p:nvSpPr>
          <p:spPr>
            <a:xfrm>
              <a:off x="0" y="-104775"/>
              <a:ext cx="10191750" cy="1567459"/>
            </a:xfrm>
            <a:prstGeom prst="rect">
              <a:avLst/>
            </a:prstGeom>
          </p:spPr>
          <p:txBody>
            <a:bodyPr lIns="0" tIns="0" rIns="0" bIns="0" rtlCol="0" anchor="ctr"/>
            <a:lstStyle/>
            <a:p>
              <a:pPr algn="l">
                <a:lnSpc>
                  <a:spcPts val="2880"/>
                </a:lnSpc>
              </a:pPr>
              <a:r>
                <a:rPr lang="en-US" sz="1800">
                  <a:solidFill>
                    <a:srgbClr val="2C3E50"/>
                  </a:solidFill>
                  <a:latin typeface="Calibri (MS)"/>
                  <a:ea typeface="Calibri (MS)"/>
                  <a:cs typeface="Calibri (MS)"/>
                  <a:sym typeface="Calibri (MS)"/>
                </a:rPr>
                <a:t>Giúp ban quản trị xác định </a:t>
              </a:r>
              <a:r>
                <a:rPr lang="en-US" sz="1800" b="1">
                  <a:solidFill>
                    <a:srgbClr val="2C3E50"/>
                  </a:solidFill>
                  <a:latin typeface="Calibri (MS) Bold"/>
                  <a:ea typeface="Calibri (MS) Bold"/>
                  <a:cs typeface="Calibri (MS) Bold"/>
                  <a:sym typeface="Calibri (MS) Bold"/>
                </a:rPr>
                <a:t>"Sản phẩm số 1"</a:t>
              </a:r>
              <a:r>
                <a:rPr lang="en-US" sz="1800">
                  <a:solidFill>
                    <a:srgbClr val="2C3E50"/>
                  </a:solidFill>
                  <a:latin typeface="Calibri (MS)"/>
                  <a:ea typeface="Calibri (MS)"/>
                  <a:cs typeface="Calibri (MS)"/>
                  <a:sym typeface="Calibri (MS)"/>
                </a:rPr>
                <a:t> trong từng nhánh danh mục riêng biệt. Từ đó, tối ưu hóa vị trí trưng bày tại siêu thị (Eye-level) và phân bổ ngân sách quảng cáo tập trung vào các mặt hàng chủ lực này.</a:t>
              </a:r>
            </a:p>
          </p:txBody>
        </p:sp>
      </p:grpSp>
      <p:grpSp>
        <p:nvGrpSpPr>
          <p:cNvPr id="107" name="Group 107"/>
          <p:cNvGrpSpPr/>
          <p:nvPr/>
        </p:nvGrpSpPr>
        <p:grpSpPr>
          <a:xfrm>
            <a:off x="10208419" y="5686425"/>
            <a:ext cx="6995160" cy="385762"/>
            <a:chOff x="0" y="0"/>
            <a:chExt cx="9326880" cy="514350"/>
          </a:xfrm>
        </p:grpSpPr>
        <p:sp>
          <p:nvSpPr>
            <p:cNvPr id="108" name="Freeform 108"/>
            <p:cNvSpPr/>
            <p:nvPr/>
          </p:nvSpPr>
          <p:spPr>
            <a:xfrm>
              <a:off x="0" y="0"/>
              <a:ext cx="9326880" cy="514350"/>
            </a:xfrm>
            <a:custGeom>
              <a:avLst/>
              <a:gdLst/>
              <a:ahLst/>
              <a:cxnLst/>
              <a:rect l="l" t="t" r="r" b="b"/>
              <a:pathLst>
                <a:path w="9326880" h="514350">
                  <a:moveTo>
                    <a:pt x="0" y="0"/>
                  </a:moveTo>
                  <a:lnTo>
                    <a:pt x="9326880" y="0"/>
                  </a:lnTo>
                  <a:lnTo>
                    <a:pt x="9326880" y="514350"/>
                  </a:lnTo>
                  <a:lnTo>
                    <a:pt x="0" y="514350"/>
                  </a:lnTo>
                  <a:close/>
                </a:path>
              </a:pathLst>
            </a:custGeom>
            <a:blipFill>
              <a:blip r:embed="rId19">
                <a:alphaModFix amt="0"/>
              </a:blip>
              <a:stretch>
                <a:fillRect t="-303328" b="-303328"/>
              </a:stretch>
            </a:blipFill>
          </p:spPr>
        </p:sp>
        <p:sp>
          <p:nvSpPr>
            <p:cNvPr id="109" name="TextBox 109"/>
            <p:cNvSpPr txBox="1"/>
            <p:nvPr/>
          </p:nvSpPr>
          <p:spPr>
            <a:xfrm>
              <a:off x="0" y="-95250"/>
              <a:ext cx="9326880" cy="609600"/>
            </a:xfrm>
            <a:prstGeom prst="rect">
              <a:avLst/>
            </a:prstGeom>
          </p:spPr>
          <p:txBody>
            <a:bodyPr lIns="0" tIns="0" rIns="0" bIns="0" rtlCol="0" anchor="ctr"/>
            <a:lstStyle/>
            <a:p>
              <a:pPr algn="l">
                <a:lnSpc>
                  <a:spcPts val="3037"/>
                </a:lnSpc>
              </a:pPr>
              <a:r>
                <a:rPr lang="en-US" sz="2025" b="1">
                  <a:solidFill>
                    <a:srgbClr val="007ACC"/>
                  </a:solidFill>
                  <a:latin typeface="Calibri (MS) Bold"/>
                  <a:ea typeface="Calibri (MS) Bold"/>
                  <a:cs typeface="Calibri (MS) Bold"/>
                  <a:sym typeface="Calibri (MS) Bold"/>
                </a:rPr>
                <a:t>Mô phỏng kết quả Top 1</a:t>
              </a:r>
            </a:p>
          </p:txBody>
        </p:sp>
      </p:grpSp>
      <p:grpSp>
        <p:nvGrpSpPr>
          <p:cNvPr id="110" name="Group 110"/>
          <p:cNvGrpSpPr/>
          <p:nvPr/>
        </p:nvGrpSpPr>
        <p:grpSpPr>
          <a:xfrm>
            <a:off x="9886950" y="6286500"/>
            <a:ext cx="1548489" cy="642938"/>
            <a:chOff x="0" y="0"/>
            <a:chExt cx="2064652" cy="857250"/>
          </a:xfrm>
        </p:grpSpPr>
        <p:sp>
          <p:nvSpPr>
            <p:cNvPr id="111" name="Freeform 111"/>
            <p:cNvSpPr/>
            <p:nvPr/>
          </p:nvSpPr>
          <p:spPr>
            <a:xfrm>
              <a:off x="0" y="0"/>
              <a:ext cx="2064650" cy="857250"/>
            </a:xfrm>
            <a:custGeom>
              <a:avLst/>
              <a:gdLst/>
              <a:ahLst/>
              <a:cxnLst/>
              <a:rect l="l" t="t" r="r" b="b"/>
              <a:pathLst>
                <a:path w="2064650" h="857250">
                  <a:moveTo>
                    <a:pt x="0" y="0"/>
                  </a:moveTo>
                  <a:lnTo>
                    <a:pt x="2064650" y="0"/>
                  </a:lnTo>
                  <a:lnTo>
                    <a:pt x="2064650" y="857250"/>
                  </a:lnTo>
                  <a:lnTo>
                    <a:pt x="0" y="857250"/>
                  </a:lnTo>
                  <a:close/>
                </a:path>
              </a:pathLst>
            </a:custGeom>
            <a:blipFill>
              <a:blip r:embed="rId19">
                <a:alphaModFix amt="0"/>
              </a:blip>
              <a:stretch>
                <a:fillRect l="-3272" r="-3272"/>
              </a:stretch>
            </a:blipFill>
          </p:spPr>
        </p:sp>
        <p:sp>
          <p:nvSpPr>
            <p:cNvPr id="112" name="TextBox 112"/>
            <p:cNvSpPr txBox="1"/>
            <p:nvPr/>
          </p:nvSpPr>
          <p:spPr>
            <a:xfrm>
              <a:off x="0" y="-66675"/>
              <a:ext cx="2064652" cy="923925"/>
            </a:xfrm>
            <a:prstGeom prst="rect">
              <a:avLst/>
            </a:prstGeom>
          </p:spPr>
          <p:txBody>
            <a:bodyPr lIns="0" tIns="0" rIns="0" bIns="0" rtlCol="0" anchor="ctr"/>
            <a:lstStyle/>
            <a:p>
              <a:pPr algn="l">
                <a:lnSpc>
                  <a:spcPts val="2362"/>
                </a:lnSpc>
              </a:pPr>
              <a:r>
                <a:rPr lang="en-US" sz="1575" b="1">
                  <a:solidFill>
                    <a:srgbClr val="007ACC"/>
                  </a:solidFill>
                  <a:latin typeface="Calibri (MS) Bold"/>
                  <a:ea typeface="Calibri (MS) Bold"/>
                  <a:cs typeface="Calibri (MS) Bold"/>
                  <a:sym typeface="Calibri (MS) Bold"/>
                </a:rPr>
                <a:t>Danh mục</a:t>
              </a:r>
            </a:p>
          </p:txBody>
        </p:sp>
      </p:grpSp>
      <p:grpSp>
        <p:nvGrpSpPr>
          <p:cNvPr id="113" name="Group 113"/>
          <p:cNvGrpSpPr/>
          <p:nvPr/>
        </p:nvGrpSpPr>
        <p:grpSpPr>
          <a:xfrm>
            <a:off x="11658152" y="6286500"/>
            <a:ext cx="3846014" cy="642938"/>
            <a:chOff x="0" y="0"/>
            <a:chExt cx="5128019" cy="857250"/>
          </a:xfrm>
        </p:grpSpPr>
        <p:sp>
          <p:nvSpPr>
            <p:cNvPr id="114" name="Freeform 114"/>
            <p:cNvSpPr/>
            <p:nvPr/>
          </p:nvSpPr>
          <p:spPr>
            <a:xfrm>
              <a:off x="0" y="0"/>
              <a:ext cx="5128022" cy="857250"/>
            </a:xfrm>
            <a:custGeom>
              <a:avLst/>
              <a:gdLst/>
              <a:ahLst/>
              <a:cxnLst/>
              <a:rect l="l" t="t" r="r" b="b"/>
              <a:pathLst>
                <a:path w="5128022" h="857250">
                  <a:moveTo>
                    <a:pt x="0" y="0"/>
                  </a:moveTo>
                  <a:lnTo>
                    <a:pt x="5128022" y="0"/>
                  </a:lnTo>
                  <a:lnTo>
                    <a:pt x="5128022" y="857250"/>
                  </a:lnTo>
                  <a:lnTo>
                    <a:pt x="0" y="857250"/>
                  </a:lnTo>
                  <a:close/>
                </a:path>
              </a:pathLst>
            </a:custGeom>
            <a:blipFill>
              <a:blip r:embed="rId19">
                <a:alphaModFix amt="0"/>
              </a:blip>
              <a:stretch>
                <a:fillRect t="-66558" b="-66558"/>
              </a:stretch>
            </a:blipFill>
          </p:spPr>
        </p:sp>
        <p:sp>
          <p:nvSpPr>
            <p:cNvPr id="115" name="TextBox 115"/>
            <p:cNvSpPr txBox="1"/>
            <p:nvPr/>
          </p:nvSpPr>
          <p:spPr>
            <a:xfrm>
              <a:off x="0" y="-66675"/>
              <a:ext cx="5128019" cy="923925"/>
            </a:xfrm>
            <a:prstGeom prst="rect">
              <a:avLst/>
            </a:prstGeom>
          </p:spPr>
          <p:txBody>
            <a:bodyPr lIns="0" tIns="0" rIns="0" bIns="0" rtlCol="0" anchor="ctr"/>
            <a:lstStyle/>
            <a:p>
              <a:pPr algn="l">
                <a:lnSpc>
                  <a:spcPts val="2362"/>
                </a:lnSpc>
              </a:pPr>
              <a:r>
                <a:rPr lang="en-US" sz="1575" b="1">
                  <a:solidFill>
                    <a:srgbClr val="007ACC"/>
                  </a:solidFill>
                  <a:latin typeface="Calibri (MS) Bold"/>
                  <a:ea typeface="Calibri (MS) Bold"/>
                  <a:cs typeface="Calibri (MS) Bold"/>
                  <a:sym typeface="Calibri (MS) Bold"/>
                </a:rPr>
                <a:t>Sản phẩm dẫn đầu</a:t>
              </a:r>
            </a:p>
          </p:txBody>
        </p:sp>
      </p:grpSp>
      <p:grpSp>
        <p:nvGrpSpPr>
          <p:cNvPr id="116" name="Group 116"/>
          <p:cNvGrpSpPr/>
          <p:nvPr/>
        </p:nvGrpSpPr>
        <p:grpSpPr>
          <a:xfrm>
            <a:off x="15847066" y="6286500"/>
            <a:ext cx="1529163" cy="642938"/>
            <a:chOff x="0" y="0"/>
            <a:chExt cx="2038883" cy="857250"/>
          </a:xfrm>
        </p:grpSpPr>
        <p:sp>
          <p:nvSpPr>
            <p:cNvPr id="117" name="Freeform 117"/>
            <p:cNvSpPr/>
            <p:nvPr/>
          </p:nvSpPr>
          <p:spPr>
            <a:xfrm>
              <a:off x="0" y="0"/>
              <a:ext cx="2038886" cy="857250"/>
            </a:xfrm>
            <a:custGeom>
              <a:avLst/>
              <a:gdLst/>
              <a:ahLst/>
              <a:cxnLst/>
              <a:rect l="l" t="t" r="r" b="b"/>
              <a:pathLst>
                <a:path w="2038886" h="857250">
                  <a:moveTo>
                    <a:pt x="0" y="0"/>
                  </a:moveTo>
                  <a:lnTo>
                    <a:pt x="2038886" y="0"/>
                  </a:lnTo>
                  <a:lnTo>
                    <a:pt x="2038886" y="857250"/>
                  </a:lnTo>
                  <a:lnTo>
                    <a:pt x="0" y="857250"/>
                  </a:lnTo>
                  <a:close/>
                </a:path>
              </a:pathLst>
            </a:custGeom>
            <a:blipFill>
              <a:blip r:embed="rId19">
                <a:alphaModFix amt="0"/>
              </a:blip>
              <a:stretch>
                <a:fillRect l="-3945" r="-3945"/>
              </a:stretch>
            </a:blipFill>
          </p:spPr>
        </p:sp>
        <p:sp>
          <p:nvSpPr>
            <p:cNvPr id="118" name="TextBox 118"/>
            <p:cNvSpPr txBox="1"/>
            <p:nvPr/>
          </p:nvSpPr>
          <p:spPr>
            <a:xfrm>
              <a:off x="0" y="-66675"/>
              <a:ext cx="2038883" cy="923925"/>
            </a:xfrm>
            <a:prstGeom prst="rect">
              <a:avLst/>
            </a:prstGeom>
          </p:spPr>
          <p:txBody>
            <a:bodyPr lIns="0" tIns="0" rIns="0" bIns="0" rtlCol="0" anchor="ctr"/>
            <a:lstStyle/>
            <a:p>
              <a:pPr algn="l">
                <a:lnSpc>
                  <a:spcPts val="2362"/>
                </a:lnSpc>
              </a:pPr>
              <a:r>
                <a:rPr lang="en-US" sz="1575" b="1">
                  <a:solidFill>
                    <a:srgbClr val="007ACC"/>
                  </a:solidFill>
                  <a:latin typeface="Calibri (MS) Bold"/>
                  <a:ea typeface="Calibri (MS) Bold"/>
                  <a:cs typeface="Calibri (MS) Bold"/>
                  <a:sym typeface="Calibri (MS) Bold"/>
                </a:rPr>
                <a:t>Xếp hạng</a:t>
              </a:r>
            </a:p>
          </p:txBody>
        </p:sp>
      </p:grpSp>
      <p:grpSp>
        <p:nvGrpSpPr>
          <p:cNvPr id="119" name="Group 119"/>
          <p:cNvGrpSpPr/>
          <p:nvPr/>
        </p:nvGrpSpPr>
        <p:grpSpPr>
          <a:xfrm>
            <a:off x="9886950" y="6929438"/>
            <a:ext cx="1935613" cy="642938"/>
            <a:chOff x="0" y="0"/>
            <a:chExt cx="2580818" cy="857250"/>
          </a:xfrm>
        </p:grpSpPr>
        <p:sp>
          <p:nvSpPr>
            <p:cNvPr id="120" name="Freeform 120"/>
            <p:cNvSpPr/>
            <p:nvPr/>
          </p:nvSpPr>
          <p:spPr>
            <a:xfrm>
              <a:off x="0" y="0"/>
              <a:ext cx="2580812" cy="857250"/>
            </a:xfrm>
            <a:custGeom>
              <a:avLst/>
              <a:gdLst/>
              <a:ahLst/>
              <a:cxnLst/>
              <a:rect l="l" t="t" r="r" b="b"/>
              <a:pathLst>
                <a:path w="2580812" h="857250">
                  <a:moveTo>
                    <a:pt x="0" y="0"/>
                  </a:moveTo>
                  <a:lnTo>
                    <a:pt x="2580812" y="0"/>
                  </a:lnTo>
                  <a:lnTo>
                    <a:pt x="2580812" y="857250"/>
                  </a:lnTo>
                  <a:lnTo>
                    <a:pt x="0" y="857250"/>
                  </a:lnTo>
                  <a:close/>
                </a:path>
              </a:pathLst>
            </a:custGeom>
            <a:blipFill>
              <a:blip r:embed="rId19">
                <a:alphaModFix amt="0"/>
              </a:blip>
              <a:stretch>
                <a:fillRect t="-8661" b="-8661"/>
              </a:stretch>
            </a:blipFill>
          </p:spPr>
        </p:sp>
        <p:sp>
          <p:nvSpPr>
            <p:cNvPr id="121" name="TextBox 121"/>
            <p:cNvSpPr txBox="1"/>
            <p:nvPr/>
          </p:nvSpPr>
          <p:spPr>
            <a:xfrm>
              <a:off x="0" y="-66675"/>
              <a:ext cx="2580818" cy="923925"/>
            </a:xfrm>
            <a:prstGeom prst="rect">
              <a:avLst/>
            </a:prstGeom>
          </p:spPr>
          <p:txBody>
            <a:bodyPr lIns="0" tIns="0" rIns="0" bIns="0" rtlCol="0" anchor="ctr"/>
            <a:lstStyle/>
            <a:p>
              <a:pPr algn="l">
                <a:lnSpc>
                  <a:spcPts val="2362"/>
                </a:lnSpc>
              </a:pPr>
              <a:r>
                <a:rPr lang="en-US" sz="1575" b="1">
                  <a:solidFill>
                    <a:srgbClr val="2C3E50"/>
                  </a:solidFill>
                  <a:latin typeface="Calibri (MS) Bold"/>
                  <a:ea typeface="Calibri (MS) Bold"/>
                  <a:cs typeface="Calibri (MS) Bold"/>
                  <a:sym typeface="Calibri (MS) Bold"/>
                </a:rPr>
                <a:t>Điện thoại</a:t>
              </a:r>
            </a:p>
          </p:txBody>
        </p:sp>
      </p:grpSp>
      <p:grpSp>
        <p:nvGrpSpPr>
          <p:cNvPr id="122" name="Group 122"/>
          <p:cNvGrpSpPr/>
          <p:nvPr/>
        </p:nvGrpSpPr>
        <p:grpSpPr>
          <a:xfrm>
            <a:off x="11658152" y="6929438"/>
            <a:ext cx="5803373" cy="642938"/>
            <a:chOff x="0" y="0"/>
            <a:chExt cx="7737831" cy="857250"/>
          </a:xfrm>
        </p:grpSpPr>
        <p:sp>
          <p:nvSpPr>
            <p:cNvPr id="123" name="Freeform 123"/>
            <p:cNvSpPr/>
            <p:nvPr/>
          </p:nvSpPr>
          <p:spPr>
            <a:xfrm>
              <a:off x="0" y="0"/>
              <a:ext cx="7737836" cy="857250"/>
            </a:xfrm>
            <a:custGeom>
              <a:avLst/>
              <a:gdLst/>
              <a:ahLst/>
              <a:cxnLst/>
              <a:rect l="l" t="t" r="r" b="b"/>
              <a:pathLst>
                <a:path w="7737836" h="857250">
                  <a:moveTo>
                    <a:pt x="0" y="0"/>
                  </a:moveTo>
                  <a:lnTo>
                    <a:pt x="7737836" y="0"/>
                  </a:lnTo>
                  <a:lnTo>
                    <a:pt x="7737836" y="857250"/>
                  </a:lnTo>
                  <a:lnTo>
                    <a:pt x="0" y="857250"/>
                  </a:lnTo>
                  <a:close/>
                </a:path>
              </a:pathLst>
            </a:custGeom>
            <a:blipFill>
              <a:blip r:embed="rId19">
                <a:alphaModFix amt="0"/>
              </a:blip>
              <a:stretch>
                <a:fillRect t="-125878" b="-125878"/>
              </a:stretch>
            </a:blipFill>
          </p:spPr>
        </p:sp>
        <p:sp>
          <p:nvSpPr>
            <p:cNvPr id="124" name="TextBox 124"/>
            <p:cNvSpPr txBox="1"/>
            <p:nvPr/>
          </p:nvSpPr>
          <p:spPr>
            <a:xfrm>
              <a:off x="0" y="-66675"/>
              <a:ext cx="7737831" cy="923925"/>
            </a:xfrm>
            <a:prstGeom prst="rect">
              <a:avLst/>
            </a:prstGeom>
          </p:spPr>
          <p:txBody>
            <a:bodyPr lIns="0" tIns="0" rIns="0" bIns="0" rtlCol="0" anchor="ctr"/>
            <a:lstStyle/>
            <a:p>
              <a:pPr algn="l">
                <a:lnSpc>
                  <a:spcPts val="2362"/>
                </a:lnSpc>
              </a:pPr>
              <a:r>
                <a:rPr lang="en-US" sz="1575">
                  <a:solidFill>
                    <a:srgbClr val="2C3E50"/>
                  </a:solidFill>
                  <a:latin typeface="Calibri (MS)"/>
                  <a:ea typeface="Calibri (MS)"/>
                  <a:cs typeface="Calibri (MS)"/>
                  <a:sym typeface="Calibri (MS)"/>
                </a:rPr>
                <a:t>iPhone 15 Pro Max 256GB</a:t>
              </a:r>
            </a:p>
          </p:txBody>
        </p:sp>
      </p:grpSp>
      <p:grpSp>
        <p:nvGrpSpPr>
          <p:cNvPr id="125" name="Group 125"/>
          <p:cNvGrpSpPr/>
          <p:nvPr/>
        </p:nvGrpSpPr>
        <p:grpSpPr>
          <a:xfrm>
            <a:off x="15837541" y="7119938"/>
            <a:ext cx="692125" cy="276225"/>
            <a:chOff x="0" y="0"/>
            <a:chExt cx="922833" cy="368300"/>
          </a:xfrm>
        </p:grpSpPr>
        <p:sp>
          <p:nvSpPr>
            <p:cNvPr id="126" name="Freeform 126"/>
            <p:cNvSpPr/>
            <p:nvPr/>
          </p:nvSpPr>
          <p:spPr>
            <a:xfrm>
              <a:off x="12700" y="12700"/>
              <a:ext cx="897509" cy="342900"/>
            </a:xfrm>
            <a:custGeom>
              <a:avLst/>
              <a:gdLst/>
              <a:ahLst/>
              <a:cxnLst/>
              <a:rect l="l" t="t" r="r" b="b"/>
              <a:pathLst>
                <a:path w="897509" h="342900">
                  <a:moveTo>
                    <a:pt x="0" y="76200"/>
                  </a:moveTo>
                  <a:cubicBezTo>
                    <a:pt x="0" y="34163"/>
                    <a:pt x="35687" y="0"/>
                    <a:pt x="79629" y="0"/>
                  </a:cubicBezTo>
                  <a:lnTo>
                    <a:pt x="817880" y="0"/>
                  </a:lnTo>
                  <a:cubicBezTo>
                    <a:pt x="861822" y="0"/>
                    <a:pt x="897509" y="34163"/>
                    <a:pt x="897509" y="76200"/>
                  </a:cubicBezTo>
                  <a:lnTo>
                    <a:pt x="897509" y="266700"/>
                  </a:lnTo>
                  <a:cubicBezTo>
                    <a:pt x="897509" y="308737"/>
                    <a:pt x="861822" y="342900"/>
                    <a:pt x="817880" y="342900"/>
                  </a:cubicBezTo>
                  <a:lnTo>
                    <a:pt x="79629" y="342900"/>
                  </a:lnTo>
                  <a:cubicBezTo>
                    <a:pt x="35687" y="342900"/>
                    <a:pt x="0" y="308737"/>
                    <a:pt x="0" y="266700"/>
                  </a:cubicBezTo>
                  <a:close/>
                </a:path>
              </a:pathLst>
            </a:custGeom>
            <a:solidFill>
              <a:srgbClr val="E67E22"/>
            </a:solidFill>
          </p:spPr>
        </p:sp>
      </p:grpSp>
      <p:grpSp>
        <p:nvGrpSpPr>
          <p:cNvPr id="127" name="Group 127"/>
          <p:cNvGrpSpPr/>
          <p:nvPr/>
        </p:nvGrpSpPr>
        <p:grpSpPr>
          <a:xfrm>
            <a:off x="15961366" y="7129462"/>
            <a:ext cx="769896" cy="257175"/>
            <a:chOff x="0" y="0"/>
            <a:chExt cx="1026528" cy="342900"/>
          </a:xfrm>
        </p:grpSpPr>
        <p:sp>
          <p:nvSpPr>
            <p:cNvPr id="128" name="Freeform 128"/>
            <p:cNvSpPr/>
            <p:nvPr/>
          </p:nvSpPr>
          <p:spPr>
            <a:xfrm>
              <a:off x="0" y="0"/>
              <a:ext cx="1026524" cy="342900"/>
            </a:xfrm>
            <a:custGeom>
              <a:avLst/>
              <a:gdLst/>
              <a:ahLst/>
              <a:cxnLst/>
              <a:rect l="l" t="t" r="r" b="b"/>
              <a:pathLst>
                <a:path w="1026524" h="342900">
                  <a:moveTo>
                    <a:pt x="0" y="0"/>
                  </a:moveTo>
                  <a:lnTo>
                    <a:pt x="1026524" y="0"/>
                  </a:lnTo>
                  <a:lnTo>
                    <a:pt x="1026524" y="342900"/>
                  </a:lnTo>
                  <a:lnTo>
                    <a:pt x="0" y="342900"/>
                  </a:lnTo>
                  <a:close/>
                </a:path>
              </a:pathLst>
            </a:custGeom>
            <a:blipFill>
              <a:blip r:embed="rId19">
                <a:alphaModFix amt="0"/>
              </a:blip>
              <a:stretch>
                <a:fillRect t="-8331" b="-8331"/>
              </a:stretch>
            </a:blipFill>
          </p:spPr>
        </p:sp>
        <p:sp>
          <p:nvSpPr>
            <p:cNvPr id="129" name="TextBox 129"/>
            <p:cNvSpPr txBox="1"/>
            <p:nvPr/>
          </p:nvSpPr>
          <p:spPr>
            <a:xfrm>
              <a:off x="0" y="-66675"/>
              <a:ext cx="1026528" cy="409575"/>
            </a:xfrm>
            <a:prstGeom prst="rect">
              <a:avLst/>
            </a:prstGeom>
          </p:spPr>
          <p:txBody>
            <a:bodyPr lIns="0" tIns="0" rIns="0" bIns="0" rtlCol="0" anchor="ctr"/>
            <a:lstStyle/>
            <a:p>
              <a:pPr algn="l">
                <a:lnSpc>
                  <a:spcPts val="2025"/>
                </a:lnSpc>
              </a:pPr>
              <a:r>
                <a:rPr lang="en-US" sz="1350" b="1">
                  <a:solidFill>
                    <a:srgbClr val="FFFFFF"/>
                  </a:solidFill>
                  <a:latin typeface="Calibri (MS) Bold"/>
                  <a:ea typeface="Calibri (MS) Bold"/>
                  <a:cs typeface="Calibri (MS) Bold"/>
                  <a:sym typeface="Calibri (MS) Bold"/>
                </a:rPr>
                <a:t>Top 1</a:t>
              </a:r>
            </a:p>
          </p:txBody>
        </p:sp>
      </p:grpSp>
      <p:grpSp>
        <p:nvGrpSpPr>
          <p:cNvPr id="130" name="Group 130"/>
          <p:cNvGrpSpPr/>
          <p:nvPr/>
        </p:nvGrpSpPr>
        <p:grpSpPr>
          <a:xfrm>
            <a:off x="9886950" y="7572375"/>
            <a:ext cx="1428302" cy="642938"/>
            <a:chOff x="0" y="0"/>
            <a:chExt cx="1904403" cy="857250"/>
          </a:xfrm>
        </p:grpSpPr>
        <p:sp>
          <p:nvSpPr>
            <p:cNvPr id="131" name="Freeform 131"/>
            <p:cNvSpPr/>
            <p:nvPr/>
          </p:nvSpPr>
          <p:spPr>
            <a:xfrm>
              <a:off x="0" y="0"/>
              <a:ext cx="1904404" cy="857250"/>
            </a:xfrm>
            <a:custGeom>
              <a:avLst/>
              <a:gdLst/>
              <a:ahLst/>
              <a:cxnLst/>
              <a:rect l="l" t="t" r="r" b="b"/>
              <a:pathLst>
                <a:path w="1904404" h="857250">
                  <a:moveTo>
                    <a:pt x="0" y="0"/>
                  </a:moveTo>
                  <a:lnTo>
                    <a:pt x="1904404" y="0"/>
                  </a:lnTo>
                  <a:lnTo>
                    <a:pt x="1904404" y="857250"/>
                  </a:lnTo>
                  <a:lnTo>
                    <a:pt x="0" y="857250"/>
                  </a:lnTo>
                  <a:close/>
                </a:path>
              </a:pathLst>
            </a:custGeom>
            <a:blipFill>
              <a:blip r:embed="rId19">
                <a:alphaModFix amt="0"/>
              </a:blip>
              <a:stretch>
                <a:fillRect l="-7754" r="-7754"/>
              </a:stretch>
            </a:blipFill>
          </p:spPr>
        </p:sp>
        <p:sp>
          <p:nvSpPr>
            <p:cNvPr id="132" name="TextBox 132"/>
            <p:cNvSpPr txBox="1"/>
            <p:nvPr/>
          </p:nvSpPr>
          <p:spPr>
            <a:xfrm>
              <a:off x="0" y="-66675"/>
              <a:ext cx="1904403" cy="923925"/>
            </a:xfrm>
            <a:prstGeom prst="rect">
              <a:avLst/>
            </a:prstGeom>
          </p:spPr>
          <p:txBody>
            <a:bodyPr lIns="0" tIns="0" rIns="0" bIns="0" rtlCol="0" anchor="ctr"/>
            <a:lstStyle/>
            <a:p>
              <a:pPr algn="l">
                <a:lnSpc>
                  <a:spcPts val="2362"/>
                </a:lnSpc>
              </a:pPr>
              <a:r>
                <a:rPr lang="en-US" sz="1575" b="1">
                  <a:solidFill>
                    <a:srgbClr val="2C3E50"/>
                  </a:solidFill>
                  <a:latin typeface="Calibri (MS) Bold"/>
                  <a:ea typeface="Calibri (MS) Bold"/>
                  <a:cs typeface="Calibri (MS) Bold"/>
                  <a:sym typeface="Calibri (MS) Bold"/>
                </a:rPr>
                <a:t>Laptop</a:t>
              </a:r>
            </a:p>
          </p:txBody>
        </p:sp>
      </p:grpSp>
      <p:grpSp>
        <p:nvGrpSpPr>
          <p:cNvPr id="133" name="Group 133"/>
          <p:cNvGrpSpPr/>
          <p:nvPr/>
        </p:nvGrpSpPr>
        <p:grpSpPr>
          <a:xfrm>
            <a:off x="11658152" y="7572375"/>
            <a:ext cx="5289156" cy="642938"/>
            <a:chOff x="0" y="0"/>
            <a:chExt cx="7052208" cy="857250"/>
          </a:xfrm>
        </p:grpSpPr>
        <p:sp>
          <p:nvSpPr>
            <p:cNvPr id="134" name="Freeform 134"/>
            <p:cNvSpPr/>
            <p:nvPr/>
          </p:nvSpPr>
          <p:spPr>
            <a:xfrm>
              <a:off x="0" y="0"/>
              <a:ext cx="7052206" cy="857250"/>
            </a:xfrm>
            <a:custGeom>
              <a:avLst/>
              <a:gdLst/>
              <a:ahLst/>
              <a:cxnLst/>
              <a:rect l="l" t="t" r="r" b="b"/>
              <a:pathLst>
                <a:path w="7052206" h="857250">
                  <a:moveTo>
                    <a:pt x="0" y="0"/>
                  </a:moveTo>
                  <a:lnTo>
                    <a:pt x="7052206" y="0"/>
                  </a:lnTo>
                  <a:lnTo>
                    <a:pt x="7052206" y="857250"/>
                  </a:lnTo>
                  <a:lnTo>
                    <a:pt x="0" y="857250"/>
                  </a:lnTo>
                  <a:close/>
                </a:path>
              </a:pathLst>
            </a:custGeom>
            <a:blipFill>
              <a:blip r:embed="rId19">
                <a:alphaModFix amt="0"/>
              </a:blip>
              <a:stretch>
                <a:fillRect t="-110294" b="-110294"/>
              </a:stretch>
            </a:blipFill>
          </p:spPr>
        </p:sp>
        <p:sp>
          <p:nvSpPr>
            <p:cNvPr id="135" name="TextBox 135"/>
            <p:cNvSpPr txBox="1"/>
            <p:nvPr/>
          </p:nvSpPr>
          <p:spPr>
            <a:xfrm>
              <a:off x="0" y="-66675"/>
              <a:ext cx="7052208" cy="923925"/>
            </a:xfrm>
            <a:prstGeom prst="rect">
              <a:avLst/>
            </a:prstGeom>
          </p:spPr>
          <p:txBody>
            <a:bodyPr lIns="0" tIns="0" rIns="0" bIns="0" rtlCol="0" anchor="ctr"/>
            <a:lstStyle/>
            <a:p>
              <a:pPr algn="l">
                <a:lnSpc>
                  <a:spcPts val="2362"/>
                </a:lnSpc>
              </a:pPr>
              <a:r>
                <a:rPr lang="en-US" sz="1575">
                  <a:solidFill>
                    <a:srgbClr val="2C3E50"/>
                  </a:solidFill>
                  <a:latin typeface="Calibri (MS)"/>
                  <a:ea typeface="Calibri (MS)"/>
                  <a:cs typeface="Calibri (MS)"/>
                  <a:sym typeface="Calibri (MS)"/>
                </a:rPr>
                <a:t>MacBook Air M2 13-inch</a:t>
              </a:r>
            </a:p>
          </p:txBody>
        </p:sp>
      </p:grpSp>
      <p:grpSp>
        <p:nvGrpSpPr>
          <p:cNvPr id="136" name="Group 136"/>
          <p:cNvGrpSpPr/>
          <p:nvPr/>
        </p:nvGrpSpPr>
        <p:grpSpPr>
          <a:xfrm>
            <a:off x="15837541" y="7762875"/>
            <a:ext cx="692125" cy="276225"/>
            <a:chOff x="0" y="0"/>
            <a:chExt cx="922833" cy="368300"/>
          </a:xfrm>
        </p:grpSpPr>
        <p:sp>
          <p:nvSpPr>
            <p:cNvPr id="137" name="Freeform 137"/>
            <p:cNvSpPr/>
            <p:nvPr/>
          </p:nvSpPr>
          <p:spPr>
            <a:xfrm>
              <a:off x="12700" y="12700"/>
              <a:ext cx="897509" cy="342900"/>
            </a:xfrm>
            <a:custGeom>
              <a:avLst/>
              <a:gdLst/>
              <a:ahLst/>
              <a:cxnLst/>
              <a:rect l="l" t="t" r="r" b="b"/>
              <a:pathLst>
                <a:path w="897509" h="342900">
                  <a:moveTo>
                    <a:pt x="0" y="76200"/>
                  </a:moveTo>
                  <a:cubicBezTo>
                    <a:pt x="0" y="34163"/>
                    <a:pt x="35687" y="0"/>
                    <a:pt x="79629" y="0"/>
                  </a:cubicBezTo>
                  <a:lnTo>
                    <a:pt x="817880" y="0"/>
                  </a:lnTo>
                  <a:cubicBezTo>
                    <a:pt x="861822" y="0"/>
                    <a:pt x="897509" y="34163"/>
                    <a:pt x="897509" y="76200"/>
                  </a:cubicBezTo>
                  <a:lnTo>
                    <a:pt x="897509" y="266700"/>
                  </a:lnTo>
                  <a:cubicBezTo>
                    <a:pt x="897509" y="308737"/>
                    <a:pt x="861822" y="342900"/>
                    <a:pt x="817880" y="342900"/>
                  </a:cubicBezTo>
                  <a:lnTo>
                    <a:pt x="79629" y="342900"/>
                  </a:lnTo>
                  <a:cubicBezTo>
                    <a:pt x="35687" y="342900"/>
                    <a:pt x="0" y="308737"/>
                    <a:pt x="0" y="266700"/>
                  </a:cubicBezTo>
                  <a:close/>
                </a:path>
              </a:pathLst>
            </a:custGeom>
            <a:solidFill>
              <a:srgbClr val="E67E22"/>
            </a:solidFill>
          </p:spPr>
        </p:sp>
      </p:grpSp>
      <p:grpSp>
        <p:nvGrpSpPr>
          <p:cNvPr id="138" name="Group 138"/>
          <p:cNvGrpSpPr/>
          <p:nvPr/>
        </p:nvGrpSpPr>
        <p:grpSpPr>
          <a:xfrm>
            <a:off x="15961366" y="7772400"/>
            <a:ext cx="769896" cy="257175"/>
            <a:chOff x="0" y="0"/>
            <a:chExt cx="1026528" cy="342900"/>
          </a:xfrm>
        </p:grpSpPr>
        <p:sp>
          <p:nvSpPr>
            <p:cNvPr id="139" name="Freeform 139"/>
            <p:cNvSpPr/>
            <p:nvPr/>
          </p:nvSpPr>
          <p:spPr>
            <a:xfrm>
              <a:off x="0" y="0"/>
              <a:ext cx="1026524" cy="342900"/>
            </a:xfrm>
            <a:custGeom>
              <a:avLst/>
              <a:gdLst/>
              <a:ahLst/>
              <a:cxnLst/>
              <a:rect l="l" t="t" r="r" b="b"/>
              <a:pathLst>
                <a:path w="1026524" h="342900">
                  <a:moveTo>
                    <a:pt x="0" y="0"/>
                  </a:moveTo>
                  <a:lnTo>
                    <a:pt x="1026524" y="0"/>
                  </a:lnTo>
                  <a:lnTo>
                    <a:pt x="1026524" y="342900"/>
                  </a:lnTo>
                  <a:lnTo>
                    <a:pt x="0" y="342900"/>
                  </a:lnTo>
                  <a:close/>
                </a:path>
              </a:pathLst>
            </a:custGeom>
            <a:blipFill>
              <a:blip r:embed="rId19">
                <a:alphaModFix amt="0"/>
              </a:blip>
              <a:stretch>
                <a:fillRect t="-8331" b="-8331"/>
              </a:stretch>
            </a:blipFill>
          </p:spPr>
        </p:sp>
        <p:sp>
          <p:nvSpPr>
            <p:cNvPr id="140" name="TextBox 140"/>
            <p:cNvSpPr txBox="1"/>
            <p:nvPr/>
          </p:nvSpPr>
          <p:spPr>
            <a:xfrm>
              <a:off x="0" y="-66675"/>
              <a:ext cx="1026528" cy="409575"/>
            </a:xfrm>
            <a:prstGeom prst="rect">
              <a:avLst/>
            </a:prstGeom>
          </p:spPr>
          <p:txBody>
            <a:bodyPr lIns="0" tIns="0" rIns="0" bIns="0" rtlCol="0" anchor="ctr"/>
            <a:lstStyle/>
            <a:p>
              <a:pPr algn="l">
                <a:lnSpc>
                  <a:spcPts val="2025"/>
                </a:lnSpc>
              </a:pPr>
              <a:r>
                <a:rPr lang="en-US" sz="1350" b="1">
                  <a:solidFill>
                    <a:srgbClr val="FFFFFF"/>
                  </a:solidFill>
                  <a:latin typeface="Calibri (MS) Bold"/>
                  <a:ea typeface="Calibri (MS) Bold"/>
                  <a:cs typeface="Calibri (MS) Bold"/>
                  <a:sym typeface="Calibri (MS) Bold"/>
                </a:rPr>
                <a:t>Top 1</a:t>
              </a:r>
            </a:p>
          </p:txBody>
        </p:sp>
      </p:grpSp>
      <p:grpSp>
        <p:nvGrpSpPr>
          <p:cNvPr id="141" name="Group 141"/>
          <p:cNvGrpSpPr/>
          <p:nvPr/>
        </p:nvGrpSpPr>
        <p:grpSpPr>
          <a:xfrm>
            <a:off x="9886950" y="8215312"/>
            <a:ext cx="1742046" cy="642938"/>
            <a:chOff x="0" y="0"/>
            <a:chExt cx="2322728" cy="857250"/>
          </a:xfrm>
        </p:grpSpPr>
        <p:sp>
          <p:nvSpPr>
            <p:cNvPr id="142" name="Freeform 142"/>
            <p:cNvSpPr/>
            <p:nvPr/>
          </p:nvSpPr>
          <p:spPr>
            <a:xfrm>
              <a:off x="0" y="0"/>
              <a:ext cx="2322730" cy="857250"/>
            </a:xfrm>
            <a:custGeom>
              <a:avLst/>
              <a:gdLst/>
              <a:ahLst/>
              <a:cxnLst/>
              <a:rect l="l" t="t" r="r" b="b"/>
              <a:pathLst>
                <a:path w="2322730" h="857250">
                  <a:moveTo>
                    <a:pt x="0" y="0"/>
                  </a:moveTo>
                  <a:lnTo>
                    <a:pt x="2322730" y="0"/>
                  </a:lnTo>
                  <a:lnTo>
                    <a:pt x="2322730" y="857250"/>
                  </a:lnTo>
                  <a:lnTo>
                    <a:pt x="0" y="857250"/>
                  </a:lnTo>
                  <a:close/>
                </a:path>
              </a:pathLst>
            </a:custGeom>
            <a:blipFill>
              <a:blip r:embed="rId19">
                <a:alphaModFix amt="0"/>
              </a:blip>
              <a:stretch>
                <a:fillRect t="-2794" b="-2794"/>
              </a:stretch>
            </a:blipFill>
          </p:spPr>
        </p:sp>
        <p:sp>
          <p:nvSpPr>
            <p:cNvPr id="143" name="TextBox 143"/>
            <p:cNvSpPr txBox="1"/>
            <p:nvPr/>
          </p:nvSpPr>
          <p:spPr>
            <a:xfrm>
              <a:off x="0" y="-66675"/>
              <a:ext cx="2322728" cy="923925"/>
            </a:xfrm>
            <a:prstGeom prst="rect">
              <a:avLst/>
            </a:prstGeom>
          </p:spPr>
          <p:txBody>
            <a:bodyPr lIns="0" tIns="0" rIns="0" bIns="0" rtlCol="0" anchor="ctr"/>
            <a:lstStyle/>
            <a:p>
              <a:pPr algn="l">
                <a:lnSpc>
                  <a:spcPts val="2362"/>
                </a:lnSpc>
              </a:pPr>
              <a:r>
                <a:rPr lang="en-US" sz="1575" b="1">
                  <a:solidFill>
                    <a:srgbClr val="2C3E50"/>
                  </a:solidFill>
                  <a:latin typeface="Calibri (MS) Bold"/>
                  <a:ea typeface="Calibri (MS) Bold"/>
                  <a:cs typeface="Calibri (MS) Bold"/>
                  <a:sym typeface="Calibri (MS) Bold"/>
                </a:rPr>
                <a:t>Điện lạnh</a:t>
              </a:r>
            </a:p>
          </p:txBody>
        </p:sp>
      </p:grpSp>
      <p:grpSp>
        <p:nvGrpSpPr>
          <p:cNvPr id="144" name="Group 144"/>
          <p:cNvGrpSpPr/>
          <p:nvPr/>
        </p:nvGrpSpPr>
        <p:grpSpPr>
          <a:xfrm>
            <a:off x="11658152" y="8215312"/>
            <a:ext cx="6629848" cy="642938"/>
            <a:chOff x="0" y="0"/>
            <a:chExt cx="8839797" cy="857250"/>
          </a:xfrm>
        </p:grpSpPr>
        <p:sp>
          <p:nvSpPr>
            <p:cNvPr id="145" name="Freeform 145"/>
            <p:cNvSpPr/>
            <p:nvPr/>
          </p:nvSpPr>
          <p:spPr>
            <a:xfrm>
              <a:off x="0" y="0"/>
              <a:ext cx="8839796" cy="857250"/>
            </a:xfrm>
            <a:custGeom>
              <a:avLst/>
              <a:gdLst/>
              <a:ahLst/>
              <a:cxnLst/>
              <a:rect l="l" t="t" r="r" b="b"/>
              <a:pathLst>
                <a:path w="8839796" h="857250">
                  <a:moveTo>
                    <a:pt x="0" y="0"/>
                  </a:moveTo>
                  <a:lnTo>
                    <a:pt x="8839796" y="0"/>
                  </a:lnTo>
                  <a:lnTo>
                    <a:pt x="8839796" y="857250"/>
                  </a:lnTo>
                  <a:lnTo>
                    <a:pt x="0" y="857250"/>
                  </a:lnTo>
                  <a:close/>
                </a:path>
              </a:pathLst>
            </a:custGeom>
            <a:blipFill>
              <a:blip r:embed="rId19">
                <a:alphaModFix amt="0"/>
              </a:blip>
              <a:stretch>
                <a:fillRect t="-150925" b="-150925"/>
              </a:stretch>
            </a:blipFill>
          </p:spPr>
        </p:sp>
        <p:sp>
          <p:nvSpPr>
            <p:cNvPr id="146" name="TextBox 146"/>
            <p:cNvSpPr txBox="1"/>
            <p:nvPr/>
          </p:nvSpPr>
          <p:spPr>
            <a:xfrm>
              <a:off x="0" y="-66675"/>
              <a:ext cx="8839797" cy="923925"/>
            </a:xfrm>
            <a:prstGeom prst="rect">
              <a:avLst/>
            </a:prstGeom>
          </p:spPr>
          <p:txBody>
            <a:bodyPr lIns="0" tIns="0" rIns="0" bIns="0" rtlCol="0" anchor="ctr"/>
            <a:lstStyle/>
            <a:p>
              <a:pPr algn="l">
                <a:lnSpc>
                  <a:spcPts val="2362"/>
                </a:lnSpc>
              </a:pPr>
              <a:r>
                <a:rPr lang="en-US" sz="1575">
                  <a:solidFill>
                    <a:srgbClr val="2C3E50"/>
                  </a:solidFill>
                  <a:latin typeface="Calibri (MS)"/>
                  <a:ea typeface="Calibri (MS)"/>
                  <a:cs typeface="Calibri (MS)"/>
                  <a:sym typeface="Calibri (MS)"/>
                </a:rPr>
                <a:t>Tủ lạnh Samsung Inverter 400L</a:t>
              </a:r>
            </a:p>
          </p:txBody>
        </p:sp>
      </p:grpSp>
      <p:grpSp>
        <p:nvGrpSpPr>
          <p:cNvPr id="147" name="Group 147"/>
          <p:cNvGrpSpPr/>
          <p:nvPr/>
        </p:nvGrpSpPr>
        <p:grpSpPr>
          <a:xfrm>
            <a:off x="15837541" y="8405812"/>
            <a:ext cx="692125" cy="276225"/>
            <a:chOff x="0" y="0"/>
            <a:chExt cx="922833" cy="368300"/>
          </a:xfrm>
        </p:grpSpPr>
        <p:sp>
          <p:nvSpPr>
            <p:cNvPr id="148" name="Freeform 148"/>
            <p:cNvSpPr/>
            <p:nvPr/>
          </p:nvSpPr>
          <p:spPr>
            <a:xfrm>
              <a:off x="12700" y="12700"/>
              <a:ext cx="897509" cy="342900"/>
            </a:xfrm>
            <a:custGeom>
              <a:avLst/>
              <a:gdLst/>
              <a:ahLst/>
              <a:cxnLst/>
              <a:rect l="l" t="t" r="r" b="b"/>
              <a:pathLst>
                <a:path w="897509" h="342900">
                  <a:moveTo>
                    <a:pt x="0" y="76200"/>
                  </a:moveTo>
                  <a:cubicBezTo>
                    <a:pt x="0" y="34163"/>
                    <a:pt x="35687" y="0"/>
                    <a:pt x="79629" y="0"/>
                  </a:cubicBezTo>
                  <a:lnTo>
                    <a:pt x="817880" y="0"/>
                  </a:lnTo>
                  <a:cubicBezTo>
                    <a:pt x="861822" y="0"/>
                    <a:pt x="897509" y="34163"/>
                    <a:pt x="897509" y="76200"/>
                  </a:cubicBezTo>
                  <a:lnTo>
                    <a:pt x="897509" y="266700"/>
                  </a:lnTo>
                  <a:cubicBezTo>
                    <a:pt x="897509" y="308737"/>
                    <a:pt x="861822" y="342900"/>
                    <a:pt x="817880" y="342900"/>
                  </a:cubicBezTo>
                  <a:lnTo>
                    <a:pt x="79629" y="342900"/>
                  </a:lnTo>
                  <a:cubicBezTo>
                    <a:pt x="35687" y="342900"/>
                    <a:pt x="0" y="308737"/>
                    <a:pt x="0" y="266700"/>
                  </a:cubicBezTo>
                  <a:close/>
                </a:path>
              </a:pathLst>
            </a:custGeom>
            <a:solidFill>
              <a:srgbClr val="E67E22"/>
            </a:solidFill>
          </p:spPr>
        </p:sp>
      </p:grpSp>
      <p:grpSp>
        <p:nvGrpSpPr>
          <p:cNvPr id="149" name="Group 149"/>
          <p:cNvGrpSpPr/>
          <p:nvPr/>
        </p:nvGrpSpPr>
        <p:grpSpPr>
          <a:xfrm>
            <a:off x="15961366" y="8415338"/>
            <a:ext cx="769896" cy="257175"/>
            <a:chOff x="0" y="0"/>
            <a:chExt cx="1026528" cy="342900"/>
          </a:xfrm>
        </p:grpSpPr>
        <p:sp>
          <p:nvSpPr>
            <p:cNvPr id="150" name="Freeform 150"/>
            <p:cNvSpPr/>
            <p:nvPr/>
          </p:nvSpPr>
          <p:spPr>
            <a:xfrm>
              <a:off x="0" y="0"/>
              <a:ext cx="1026524" cy="342900"/>
            </a:xfrm>
            <a:custGeom>
              <a:avLst/>
              <a:gdLst/>
              <a:ahLst/>
              <a:cxnLst/>
              <a:rect l="l" t="t" r="r" b="b"/>
              <a:pathLst>
                <a:path w="1026524" h="342900">
                  <a:moveTo>
                    <a:pt x="0" y="0"/>
                  </a:moveTo>
                  <a:lnTo>
                    <a:pt x="1026524" y="0"/>
                  </a:lnTo>
                  <a:lnTo>
                    <a:pt x="1026524" y="342900"/>
                  </a:lnTo>
                  <a:lnTo>
                    <a:pt x="0" y="342900"/>
                  </a:lnTo>
                  <a:close/>
                </a:path>
              </a:pathLst>
            </a:custGeom>
            <a:blipFill>
              <a:blip r:embed="rId19">
                <a:alphaModFix amt="0"/>
              </a:blip>
              <a:stretch>
                <a:fillRect t="-8331" b="-8331"/>
              </a:stretch>
            </a:blipFill>
          </p:spPr>
        </p:sp>
        <p:sp>
          <p:nvSpPr>
            <p:cNvPr id="151" name="TextBox 151"/>
            <p:cNvSpPr txBox="1"/>
            <p:nvPr/>
          </p:nvSpPr>
          <p:spPr>
            <a:xfrm>
              <a:off x="0" y="-66675"/>
              <a:ext cx="1026528" cy="409575"/>
            </a:xfrm>
            <a:prstGeom prst="rect">
              <a:avLst/>
            </a:prstGeom>
          </p:spPr>
          <p:txBody>
            <a:bodyPr lIns="0" tIns="0" rIns="0" bIns="0" rtlCol="0" anchor="ctr"/>
            <a:lstStyle/>
            <a:p>
              <a:pPr algn="l">
                <a:lnSpc>
                  <a:spcPts val="2025"/>
                </a:lnSpc>
              </a:pPr>
              <a:r>
                <a:rPr lang="en-US" sz="1350" b="1">
                  <a:solidFill>
                    <a:srgbClr val="FFFFFF"/>
                  </a:solidFill>
                  <a:latin typeface="Calibri (MS) Bold"/>
                  <a:ea typeface="Calibri (MS) Bold"/>
                  <a:cs typeface="Calibri (MS) Bold"/>
                  <a:sym typeface="Calibri (MS) Bold"/>
                </a:rPr>
                <a:t>Top 1</a:t>
              </a:r>
            </a:p>
          </p:txBody>
        </p:sp>
      </p:grpSp>
      <p:grpSp>
        <p:nvGrpSpPr>
          <p:cNvPr id="152" name="Group 152"/>
          <p:cNvGrpSpPr/>
          <p:nvPr/>
        </p:nvGrpSpPr>
        <p:grpSpPr>
          <a:xfrm>
            <a:off x="9886950" y="8858250"/>
            <a:ext cx="1548489" cy="642938"/>
            <a:chOff x="0" y="0"/>
            <a:chExt cx="2064652" cy="857250"/>
          </a:xfrm>
        </p:grpSpPr>
        <p:sp>
          <p:nvSpPr>
            <p:cNvPr id="153" name="Freeform 153"/>
            <p:cNvSpPr/>
            <p:nvPr/>
          </p:nvSpPr>
          <p:spPr>
            <a:xfrm>
              <a:off x="0" y="0"/>
              <a:ext cx="2064650" cy="857250"/>
            </a:xfrm>
            <a:custGeom>
              <a:avLst/>
              <a:gdLst/>
              <a:ahLst/>
              <a:cxnLst/>
              <a:rect l="l" t="t" r="r" b="b"/>
              <a:pathLst>
                <a:path w="2064650" h="857250">
                  <a:moveTo>
                    <a:pt x="0" y="0"/>
                  </a:moveTo>
                  <a:lnTo>
                    <a:pt x="2064650" y="0"/>
                  </a:lnTo>
                  <a:lnTo>
                    <a:pt x="2064650" y="857250"/>
                  </a:lnTo>
                  <a:lnTo>
                    <a:pt x="0" y="857250"/>
                  </a:lnTo>
                  <a:close/>
                </a:path>
              </a:pathLst>
            </a:custGeom>
            <a:blipFill>
              <a:blip r:embed="rId19">
                <a:alphaModFix amt="0"/>
              </a:blip>
              <a:stretch>
                <a:fillRect l="-3272" r="-3272"/>
              </a:stretch>
            </a:blipFill>
          </p:spPr>
        </p:sp>
        <p:sp>
          <p:nvSpPr>
            <p:cNvPr id="154" name="TextBox 154"/>
            <p:cNvSpPr txBox="1"/>
            <p:nvPr/>
          </p:nvSpPr>
          <p:spPr>
            <a:xfrm>
              <a:off x="0" y="-66675"/>
              <a:ext cx="2064652" cy="923925"/>
            </a:xfrm>
            <a:prstGeom prst="rect">
              <a:avLst/>
            </a:prstGeom>
          </p:spPr>
          <p:txBody>
            <a:bodyPr lIns="0" tIns="0" rIns="0" bIns="0" rtlCol="0" anchor="ctr"/>
            <a:lstStyle/>
            <a:p>
              <a:pPr algn="l">
                <a:lnSpc>
                  <a:spcPts val="2362"/>
                </a:lnSpc>
              </a:pPr>
              <a:r>
                <a:rPr lang="en-US" sz="1575" b="1">
                  <a:solidFill>
                    <a:srgbClr val="2C3E50"/>
                  </a:solidFill>
                  <a:latin typeface="Calibri (MS) Bold"/>
                  <a:ea typeface="Calibri (MS) Bold"/>
                  <a:cs typeface="Calibri (MS) Bold"/>
                  <a:sym typeface="Calibri (MS) Bold"/>
                </a:rPr>
                <a:t>Gia dụng</a:t>
              </a:r>
            </a:p>
          </p:txBody>
        </p:sp>
      </p:grpSp>
      <p:grpSp>
        <p:nvGrpSpPr>
          <p:cNvPr id="155" name="Group 155"/>
          <p:cNvGrpSpPr/>
          <p:nvPr/>
        </p:nvGrpSpPr>
        <p:grpSpPr>
          <a:xfrm>
            <a:off x="11658152" y="8858250"/>
            <a:ext cx="5950296" cy="642938"/>
            <a:chOff x="0" y="0"/>
            <a:chExt cx="7933728" cy="857250"/>
          </a:xfrm>
        </p:grpSpPr>
        <p:sp>
          <p:nvSpPr>
            <p:cNvPr id="156" name="Freeform 156"/>
            <p:cNvSpPr/>
            <p:nvPr/>
          </p:nvSpPr>
          <p:spPr>
            <a:xfrm>
              <a:off x="0" y="0"/>
              <a:ext cx="7933730" cy="857250"/>
            </a:xfrm>
            <a:custGeom>
              <a:avLst/>
              <a:gdLst/>
              <a:ahLst/>
              <a:cxnLst/>
              <a:rect l="l" t="t" r="r" b="b"/>
              <a:pathLst>
                <a:path w="7933730" h="857250">
                  <a:moveTo>
                    <a:pt x="0" y="0"/>
                  </a:moveTo>
                  <a:lnTo>
                    <a:pt x="7933730" y="0"/>
                  </a:lnTo>
                  <a:lnTo>
                    <a:pt x="7933730" y="857250"/>
                  </a:lnTo>
                  <a:lnTo>
                    <a:pt x="0" y="857250"/>
                  </a:lnTo>
                  <a:close/>
                </a:path>
              </a:pathLst>
            </a:custGeom>
            <a:blipFill>
              <a:blip r:embed="rId19">
                <a:alphaModFix amt="0"/>
              </a:blip>
              <a:stretch>
                <a:fillRect t="-130331" b="-130331"/>
              </a:stretch>
            </a:blipFill>
          </p:spPr>
        </p:sp>
        <p:sp>
          <p:nvSpPr>
            <p:cNvPr id="157" name="TextBox 157"/>
            <p:cNvSpPr txBox="1"/>
            <p:nvPr/>
          </p:nvSpPr>
          <p:spPr>
            <a:xfrm>
              <a:off x="0" y="-66675"/>
              <a:ext cx="7933728" cy="923925"/>
            </a:xfrm>
            <a:prstGeom prst="rect">
              <a:avLst/>
            </a:prstGeom>
          </p:spPr>
          <p:txBody>
            <a:bodyPr lIns="0" tIns="0" rIns="0" bIns="0" rtlCol="0" anchor="ctr"/>
            <a:lstStyle/>
            <a:p>
              <a:pPr algn="l">
                <a:lnSpc>
                  <a:spcPts val="2362"/>
                </a:lnSpc>
              </a:pPr>
              <a:r>
                <a:rPr lang="en-US" sz="1575">
                  <a:solidFill>
                    <a:srgbClr val="2C3E50"/>
                  </a:solidFill>
                  <a:latin typeface="Calibri (MS)"/>
                  <a:ea typeface="Calibri (MS)"/>
                  <a:cs typeface="Calibri (MS)"/>
                  <a:sym typeface="Calibri (MS)"/>
                </a:rPr>
                <a:t>Nồi chiên không dầu Philips</a:t>
              </a:r>
            </a:p>
          </p:txBody>
        </p:sp>
      </p:grpSp>
      <p:grpSp>
        <p:nvGrpSpPr>
          <p:cNvPr id="158" name="Group 158"/>
          <p:cNvGrpSpPr/>
          <p:nvPr/>
        </p:nvGrpSpPr>
        <p:grpSpPr>
          <a:xfrm>
            <a:off x="15837541" y="9048750"/>
            <a:ext cx="692125" cy="276225"/>
            <a:chOff x="0" y="0"/>
            <a:chExt cx="922833" cy="368300"/>
          </a:xfrm>
        </p:grpSpPr>
        <p:sp>
          <p:nvSpPr>
            <p:cNvPr id="159" name="Freeform 159"/>
            <p:cNvSpPr/>
            <p:nvPr/>
          </p:nvSpPr>
          <p:spPr>
            <a:xfrm>
              <a:off x="12700" y="12700"/>
              <a:ext cx="897509" cy="342900"/>
            </a:xfrm>
            <a:custGeom>
              <a:avLst/>
              <a:gdLst/>
              <a:ahLst/>
              <a:cxnLst/>
              <a:rect l="l" t="t" r="r" b="b"/>
              <a:pathLst>
                <a:path w="897509" h="342900">
                  <a:moveTo>
                    <a:pt x="0" y="76200"/>
                  </a:moveTo>
                  <a:cubicBezTo>
                    <a:pt x="0" y="34163"/>
                    <a:pt x="35687" y="0"/>
                    <a:pt x="79629" y="0"/>
                  </a:cubicBezTo>
                  <a:lnTo>
                    <a:pt x="817880" y="0"/>
                  </a:lnTo>
                  <a:cubicBezTo>
                    <a:pt x="861822" y="0"/>
                    <a:pt x="897509" y="34163"/>
                    <a:pt x="897509" y="76200"/>
                  </a:cubicBezTo>
                  <a:lnTo>
                    <a:pt x="897509" y="266700"/>
                  </a:lnTo>
                  <a:cubicBezTo>
                    <a:pt x="897509" y="308737"/>
                    <a:pt x="861822" y="342900"/>
                    <a:pt x="817880" y="342900"/>
                  </a:cubicBezTo>
                  <a:lnTo>
                    <a:pt x="79629" y="342900"/>
                  </a:lnTo>
                  <a:cubicBezTo>
                    <a:pt x="35687" y="342900"/>
                    <a:pt x="0" y="308737"/>
                    <a:pt x="0" y="266700"/>
                  </a:cubicBezTo>
                  <a:close/>
                </a:path>
              </a:pathLst>
            </a:custGeom>
            <a:solidFill>
              <a:srgbClr val="E67E22"/>
            </a:solidFill>
          </p:spPr>
        </p:sp>
      </p:grpSp>
      <p:grpSp>
        <p:nvGrpSpPr>
          <p:cNvPr id="160" name="Group 160"/>
          <p:cNvGrpSpPr/>
          <p:nvPr/>
        </p:nvGrpSpPr>
        <p:grpSpPr>
          <a:xfrm>
            <a:off x="15961366" y="9058275"/>
            <a:ext cx="769896" cy="257175"/>
            <a:chOff x="0" y="0"/>
            <a:chExt cx="1026528" cy="342900"/>
          </a:xfrm>
        </p:grpSpPr>
        <p:sp>
          <p:nvSpPr>
            <p:cNvPr id="161" name="Freeform 161"/>
            <p:cNvSpPr/>
            <p:nvPr/>
          </p:nvSpPr>
          <p:spPr>
            <a:xfrm>
              <a:off x="0" y="0"/>
              <a:ext cx="1026524" cy="342900"/>
            </a:xfrm>
            <a:custGeom>
              <a:avLst/>
              <a:gdLst/>
              <a:ahLst/>
              <a:cxnLst/>
              <a:rect l="l" t="t" r="r" b="b"/>
              <a:pathLst>
                <a:path w="1026524" h="342900">
                  <a:moveTo>
                    <a:pt x="0" y="0"/>
                  </a:moveTo>
                  <a:lnTo>
                    <a:pt x="1026524" y="0"/>
                  </a:lnTo>
                  <a:lnTo>
                    <a:pt x="1026524" y="342900"/>
                  </a:lnTo>
                  <a:lnTo>
                    <a:pt x="0" y="342900"/>
                  </a:lnTo>
                  <a:close/>
                </a:path>
              </a:pathLst>
            </a:custGeom>
            <a:blipFill>
              <a:blip r:embed="rId19">
                <a:alphaModFix amt="0"/>
              </a:blip>
              <a:stretch>
                <a:fillRect t="-8331" b="-8331"/>
              </a:stretch>
            </a:blipFill>
          </p:spPr>
        </p:sp>
        <p:sp>
          <p:nvSpPr>
            <p:cNvPr id="162" name="TextBox 162"/>
            <p:cNvSpPr txBox="1"/>
            <p:nvPr/>
          </p:nvSpPr>
          <p:spPr>
            <a:xfrm>
              <a:off x="0" y="-66675"/>
              <a:ext cx="1026528" cy="409575"/>
            </a:xfrm>
            <a:prstGeom prst="rect">
              <a:avLst/>
            </a:prstGeom>
          </p:spPr>
          <p:txBody>
            <a:bodyPr lIns="0" tIns="0" rIns="0" bIns="0" rtlCol="0" anchor="ctr"/>
            <a:lstStyle/>
            <a:p>
              <a:pPr algn="l">
                <a:lnSpc>
                  <a:spcPts val="2025"/>
                </a:lnSpc>
              </a:pPr>
              <a:r>
                <a:rPr lang="en-US" sz="1350" b="1">
                  <a:solidFill>
                    <a:srgbClr val="FFFFFF"/>
                  </a:solidFill>
                  <a:latin typeface="Calibri (MS) Bold"/>
                  <a:ea typeface="Calibri (MS) Bold"/>
                  <a:cs typeface="Calibri (MS) Bold"/>
                  <a:sym typeface="Calibri (MS) Bold"/>
                </a:rPr>
                <a:t>Top 1</a:t>
              </a:r>
            </a:p>
          </p:txBody>
        </p:sp>
      </p:gr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28575"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4"/>
              <a:stretch>
                <a:fillRect/>
              </a:stretch>
            </a:blipFill>
          </p:spPr>
        </p:sp>
      </p:grpSp>
      <p:grpSp>
        <p:nvGrpSpPr>
          <p:cNvPr id="7" name="Group 7"/>
          <p:cNvGrpSpPr/>
          <p:nvPr/>
        </p:nvGrpSpPr>
        <p:grpSpPr>
          <a:xfrm>
            <a:off x="571500" y="200025"/>
            <a:ext cx="17145000" cy="1314450"/>
            <a:chOff x="0" y="0"/>
            <a:chExt cx="22860000" cy="1752600"/>
          </a:xfrm>
        </p:grpSpPr>
        <p:sp>
          <p:nvSpPr>
            <p:cNvPr id="8" name="Freeform 8"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5"/>
              <a:stretch>
                <a:fillRect/>
              </a:stretch>
            </a:blipFill>
          </p:spPr>
        </p:sp>
      </p:grpSp>
      <p:grpSp>
        <p:nvGrpSpPr>
          <p:cNvPr id="9" name="Group 9"/>
          <p:cNvGrpSpPr/>
          <p:nvPr/>
        </p:nvGrpSpPr>
        <p:grpSpPr>
          <a:xfrm>
            <a:off x="571500" y="1657350"/>
            <a:ext cx="6515100" cy="6834111"/>
            <a:chOff x="0" y="0"/>
            <a:chExt cx="8686800" cy="9112148"/>
          </a:xfrm>
        </p:grpSpPr>
        <p:sp>
          <p:nvSpPr>
            <p:cNvPr id="10" name="Freeform 10" descr="preencoded.png"/>
            <p:cNvSpPr/>
            <p:nvPr/>
          </p:nvSpPr>
          <p:spPr>
            <a:xfrm>
              <a:off x="0" y="0"/>
              <a:ext cx="8686800" cy="9112123"/>
            </a:xfrm>
            <a:custGeom>
              <a:avLst/>
              <a:gdLst/>
              <a:ahLst/>
              <a:cxnLst/>
              <a:rect l="l" t="t" r="r" b="b"/>
              <a:pathLst>
                <a:path w="8686800" h="9112123">
                  <a:moveTo>
                    <a:pt x="0" y="0"/>
                  </a:moveTo>
                  <a:lnTo>
                    <a:pt x="8686800" y="0"/>
                  </a:lnTo>
                  <a:lnTo>
                    <a:pt x="8686800" y="9112123"/>
                  </a:lnTo>
                  <a:lnTo>
                    <a:pt x="0" y="9112123"/>
                  </a:lnTo>
                  <a:lnTo>
                    <a:pt x="0" y="0"/>
                  </a:lnTo>
                  <a:close/>
                </a:path>
              </a:pathLst>
            </a:custGeom>
            <a:blipFill>
              <a:blip r:embed="rId6"/>
              <a:stretch>
                <a:fillRect l="-34" r="-34"/>
              </a:stretch>
            </a:blipFill>
          </p:spPr>
        </p:sp>
      </p:grpSp>
      <p:grpSp>
        <p:nvGrpSpPr>
          <p:cNvPr id="11" name="Group 11"/>
          <p:cNvGrpSpPr/>
          <p:nvPr/>
        </p:nvGrpSpPr>
        <p:grpSpPr>
          <a:xfrm>
            <a:off x="800100" y="1857375"/>
            <a:ext cx="6057900" cy="350044"/>
            <a:chOff x="0" y="0"/>
            <a:chExt cx="8077200" cy="466725"/>
          </a:xfrm>
        </p:grpSpPr>
        <p:sp>
          <p:nvSpPr>
            <p:cNvPr id="12" name="Freeform 12" descr="preencoded.png"/>
            <p:cNvSpPr/>
            <p:nvPr/>
          </p:nvSpPr>
          <p:spPr>
            <a:xfrm>
              <a:off x="0" y="0"/>
              <a:ext cx="8077200" cy="466725"/>
            </a:xfrm>
            <a:custGeom>
              <a:avLst/>
              <a:gdLst/>
              <a:ahLst/>
              <a:cxnLst/>
              <a:rect l="l" t="t" r="r" b="b"/>
              <a:pathLst>
                <a:path w="8077200" h="466725">
                  <a:moveTo>
                    <a:pt x="0" y="0"/>
                  </a:moveTo>
                  <a:lnTo>
                    <a:pt x="8077200" y="0"/>
                  </a:lnTo>
                  <a:lnTo>
                    <a:pt x="8077200" y="466725"/>
                  </a:lnTo>
                  <a:lnTo>
                    <a:pt x="0" y="466725"/>
                  </a:lnTo>
                  <a:lnTo>
                    <a:pt x="0" y="0"/>
                  </a:lnTo>
                  <a:close/>
                </a:path>
              </a:pathLst>
            </a:custGeom>
            <a:blipFill>
              <a:blip r:embed="rId7"/>
              <a:stretch>
                <a:fillRect t="-1020" b="-1020"/>
              </a:stretch>
            </a:blipFill>
          </p:spPr>
        </p:sp>
      </p:grpSp>
      <p:grpSp>
        <p:nvGrpSpPr>
          <p:cNvPr id="13" name="Group 13"/>
          <p:cNvGrpSpPr/>
          <p:nvPr/>
        </p:nvGrpSpPr>
        <p:grpSpPr>
          <a:xfrm>
            <a:off x="800100" y="1918097"/>
            <a:ext cx="114300" cy="114300"/>
            <a:chOff x="0" y="0"/>
            <a:chExt cx="152400" cy="152400"/>
          </a:xfrm>
        </p:grpSpPr>
        <p:sp>
          <p:nvSpPr>
            <p:cNvPr id="14" name="Freeform 14" descr="preencoded.png"/>
            <p:cNvSpPr/>
            <p:nvPr/>
          </p:nvSpPr>
          <p:spPr>
            <a:xfrm>
              <a:off x="0" y="0"/>
              <a:ext cx="152400" cy="152400"/>
            </a:xfrm>
            <a:custGeom>
              <a:avLst/>
              <a:gdLst/>
              <a:ahLst/>
              <a:cxnLst/>
              <a:rect l="l" t="t" r="r" b="b"/>
              <a:pathLst>
                <a:path w="152400" h="152400">
                  <a:moveTo>
                    <a:pt x="0" y="0"/>
                  </a:moveTo>
                  <a:lnTo>
                    <a:pt x="152400" y="0"/>
                  </a:lnTo>
                  <a:lnTo>
                    <a:pt x="152400" y="152400"/>
                  </a:lnTo>
                  <a:lnTo>
                    <a:pt x="0" y="152400"/>
                  </a:lnTo>
                  <a:lnTo>
                    <a:pt x="0" y="0"/>
                  </a:lnTo>
                  <a:close/>
                </a:path>
              </a:pathLst>
            </a:custGeom>
            <a:blipFill>
              <a:blip r:embed="rId8"/>
              <a:stretch>
                <a:fillRect/>
              </a:stretch>
            </a:blipFill>
          </p:spPr>
        </p:sp>
      </p:grpSp>
      <p:grpSp>
        <p:nvGrpSpPr>
          <p:cNvPr id="15" name="Group 15"/>
          <p:cNvGrpSpPr/>
          <p:nvPr/>
        </p:nvGrpSpPr>
        <p:grpSpPr>
          <a:xfrm>
            <a:off x="571500" y="8634336"/>
            <a:ext cx="6515100" cy="1452639"/>
            <a:chOff x="0" y="0"/>
            <a:chExt cx="8686800" cy="1936852"/>
          </a:xfrm>
        </p:grpSpPr>
        <p:sp>
          <p:nvSpPr>
            <p:cNvPr id="16" name="Freeform 16" descr="preencoded.png"/>
            <p:cNvSpPr/>
            <p:nvPr/>
          </p:nvSpPr>
          <p:spPr>
            <a:xfrm>
              <a:off x="0" y="0"/>
              <a:ext cx="8686800" cy="1936877"/>
            </a:xfrm>
            <a:custGeom>
              <a:avLst/>
              <a:gdLst/>
              <a:ahLst/>
              <a:cxnLst/>
              <a:rect l="l" t="t" r="r" b="b"/>
              <a:pathLst>
                <a:path w="8686800" h="1936877">
                  <a:moveTo>
                    <a:pt x="0" y="0"/>
                  </a:moveTo>
                  <a:lnTo>
                    <a:pt x="8686800" y="0"/>
                  </a:lnTo>
                  <a:lnTo>
                    <a:pt x="8686800" y="1936877"/>
                  </a:lnTo>
                  <a:lnTo>
                    <a:pt x="0" y="1936877"/>
                  </a:lnTo>
                  <a:lnTo>
                    <a:pt x="0" y="0"/>
                  </a:lnTo>
                  <a:close/>
                </a:path>
              </a:pathLst>
            </a:custGeom>
            <a:blipFill>
              <a:blip r:embed="rId9"/>
              <a:stretch>
                <a:fillRect l="-332" r="-332" b="1"/>
              </a:stretch>
            </a:blipFill>
          </p:spPr>
        </p:sp>
      </p:grpSp>
      <p:grpSp>
        <p:nvGrpSpPr>
          <p:cNvPr id="17" name="Group 17"/>
          <p:cNvGrpSpPr/>
          <p:nvPr/>
        </p:nvGrpSpPr>
        <p:grpSpPr>
          <a:xfrm>
            <a:off x="771525" y="8840619"/>
            <a:ext cx="196453" cy="166087"/>
            <a:chOff x="0" y="0"/>
            <a:chExt cx="261938" cy="221450"/>
          </a:xfrm>
        </p:grpSpPr>
        <p:sp>
          <p:nvSpPr>
            <p:cNvPr id="18" name="Freeform 18" descr="preencoded.png"/>
            <p:cNvSpPr/>
            <p:nvPr/>
          </p:nvSpPr>
          <p:spPr>
            <a:xfrm>
              <a:off x="0" y="0"/>
              <a:ext cx="262001" cy="221488"/>
            </a:xfrm>
            <a:custGeom>
              <a:avLst/>
              <a:gdLst/>
              <a:ahLst/>
              <a:cxnLst/>
              <a:rect l="l" t="t" r="r" b="b"/>
              <a:pathLst>
                <a:path w="262001" h="221488">
                  <a:moveTo>
                    <a:pt x="0" y="0"/>
                  </a:moveTo>
                  <a:lnTo>
                    <a:pt x="262001" y="0"/>
                  </a:lnTo>
                  <a:lnTo>
                    <a:pt x="262001" y="221488"/>
                  </a:lnTo>
                  <a:lnTo>
                    <a:pt x="0" y="221488"/>
                  </a:lnTo>
                  <a:lnTo>
                    <a:pt x="0" y="0"/>
                  </a:lnTo>
                  <a:close/>
                </a:path>
              </a:pathLst>
            </a:custGeom>
            <a:blipFill>
              <a:blip r:embed="rId10"/>
              <a:stretch>
                <a:fillRect t="-40" r="24" b="-28"/>
              </a:stretch>
            </a:blipFill>
          </p:spPr>
        </p:sp>
      </p:grpSp>
      <p:grpSp>
        <p:nvGrpSpPr>
          <p:cNvPr id="19" name="Group 19"/>
          <p:cNvGrpSpPr/>
          <p:nvPr/>
        </p:nvGrpSpPr>
        <p:grpSpPr>
          <a:xfrm>
            <a:off x="7315200" y="1657350"/>
            <a:ext cx="3371850" cy="2057400"/>
            <a:chOff x="0" y="0"/>
            <a:chExt cx="4495800" cy="2743200"/>
          </a:xfrm>
        </p:grpSpPr>
        <p:sp>
          <p:nvSpPr>
            <p:cNvPr id="20" name="Freeform 20" descr="preencoded.png"/>
            <p:cNvSpPr/>
            <p:nvPr/>
          </p:nvSpPr>
          <p:spPr>
            <a:xfrm>
              <a:off x="0" y="0"/>
              <a:ext cx="4495800" cy="2743200"/>
            </a:xfrm>
            <a:custGeom>
              <a:avLst/>
              <a:gdLst/>
              <a:ahLst/>
              <a:cxnLst/>
              <a:rect l="l" t="t" r="r" b="b"/>
              <a:pathLst>
                <a:path w="4495800" h="2743200">
                  <a:moveTo>
                    <a:pt x="0" y="0"/>
                  </a:moveTo>
                  <a:lnTo>
                    <a:pt x="4495800" y="0"/>
                  </a:lnTo>
                  <a:lnTo>
                    <a:pt x="4495800" y="2743200"/>
                  </a:lnTo>
                  <a:lnTo>
                    <a:pt x="0" y="2743200"/>
                  </a:lnTo>
                  <a:lnTo>
                    <a:pt x="0" y="0"/>
                  </a:lnTo>
                  <a:close/>
                </a:path>
              </a:pathLst>
            </a:custGeom>
            <a:blipFill>
              <a:blip r:embed="rId11"/>
              <a:stretch>
                <a:fillRect t="-1388" b="-1388"/>
              </a:stretch>
            </a:blipFill>
          </p:spPr>
        </p:sp>
      </p:grpSp>
      <p:grpSp>
        <p:nvGrpSpPr>
          <p:cNvPr id="21" name="Group 21"/>
          <p:cNvGrpSpPr/>
          <p:nvPr/>
        </p:nvGrpSpPr>
        <p:grpSpPr>
          <a:xfrm>
            <a:off x="7515225" y="1836610"/>
            <a:ext cx="321469" cy="262976"/>
            <a:chOff x="0" y="0"/>
            <a:chExt cx="428625" cy="350634"/>
          </a:xfrm>
        </p:grpSpPr>
        <p:sp>
          <p:nvSpPr>
            <p:cNvPr id="22" name="Freeform 22"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2"/>
              <a:stretch>
                <a:fillRect t="-7" b="-7"/>
              </a:stretch>
            </a:blipFill>
          </p:spPr>
        </p:sp>
      </p:grpSp>
      <p:grpSp>
        <p:nvGrpSpPr>
          <p:cNvPr id="23" name="Group 23"/>
          <p:cNvGrpSpPr/>
          <p:nvPr/>
        </p:nvGrpSpPr>
        <p:grpSpPr>
          <a:xfrm>
            <a:off x="7515225" y="2193131"/>
            <a:ext cx="2971800" cy="321469"/>
            <a:chOff x="0" y="0"/>
            <a:chExt cx="3962400" cy="428625"/>
          </a:xfrm>
        </p:grpSpPr>
        <p:sp>
          <p:nvSpPr>
            <p:cNvPr id="24" name="Freeform 24" descr="preencoded.png"/>
            <p:cNvSpPr/>
            <p:nvPr/>
          </p:nvSpPr>
          <p:spPr>
            <a:xfrm>
              <a:off x="0" y="0"/>
              <a:ext cx="3962400" cy="428625"/>
            </a:xfrm>
            <a:custGeom>
              <a:avLst/>
              <a:gdLst/>
              <a:ahLst/>
              <a:cxnLst/>
              <a:rect l="l" t="t" r="r" b="b"/>
              <a:pathLst>
                <a:path w="3962400" h="428625">
                  <a:moveTo>
                    <a:pt x="0" y="0"/>
                  </a:moveTo>
                  <a:lnTo>
                    <a:pt x="3962400" y="0"/>
                  </a:lnTo>
                  <a:lnTo>
                    <a:pt x="3962400" y="428625"/>
                  </a:lnTo>
                  <a:lnTo>
                    <a:pt x="0" y="428625"/>
                  </a:lnTo>
                  <a:lnTo>
                    <a:pt x="0" y="0"/>
                  </a:lnTo>
                  <a:close/>
                </a:path>
              </a:pathLst>
            </a:custGeom>
            <a:blipFill>
              <a:blip r:embed="rId13"/>
              <a:stretch>
                <a:fillRect l="-1136" r="-1136"/>
              </a:stretch>
            </a:blipFill>
          </p:spPr>
        </p:sp>
      </p:grpSp>
      <p:grpSp>
        <p:nvGrpSpPr>
          <p:cNvPr id="25" name="Group 25"/>
          <p:cNvGrpSpPr/>
          <p:nvPr/>
        </p:nvGrpSpPr>
        <p:grpSpPr>
          <a:xfrm>
            <a:off x="10829925" y="1657350"/>
            <a:ext cx="3371850" cy="2057400"/>
            <a:chOff x="0" y="0"/>
            <a:chExt cx="4495800" cy="2743200"/>
          </a:xfrm>
        </p:grpSpPr>
        <p:sp>
          <p:nvSpPr>
            <p:cNvPr id="26" name="Freeform 26" descr="preencoded.png"/>
            <p:cNvSpPr/>
            <p:nvPr/>
          </p:nvSpPr>
          <p:spPr>
            <a:xfrm>
              <a:off x="0" y="0"/>
              <a:ext cx="4495800" cy="2743200"/>
            </a:xfrm>
            <a:custGeom>
              <a:avLst/>
              <a:gdLst/>
              <a:ahLst/>
              <a:cxnLst/>
              <a:rect l="l" t="t" r="r" b="b"/>
              <a:pathLst>
                <a:path w="4495800" h="2743200">
                  <a:moveTo>
                    <a:pt x="0" y="0"/>
                  </a:moveTo>
                  <a:lnTo>
                    <a:pt x="4495800" y="0"/>
                  </a:lnTo>
                  <a:lnTo>
                    <a:pt x="4495800" y="2743200"/>
                  </a:lnTo>
                  <a:lnTo>
                    <a:pt x="0" y="2743200"/>
                  </a:lnTo>
                  <a:lnTo>
                    <a:pt x="0" y="0"/>
                  </a:lnTo>
                  <a:close/>
                </a:path>
              </a:pathLst>
            </a:custGeom>
            <a:blipFill>
              <a:blip r:embed="rId14"/>
              <a:stretch>
                <a:fillRect t="-1388" b="-1388"/>
              </a:stretch>
            </a:blipFill>
          </p:spPr>
        </p:sp>
      </p:grpSp>
      <p:grpSp>
        <p:nvGrpSpPr>
          <p:cNvPr id="27" name="Group 27"/>
          <p:cNvGrpSpPr/>
          <p:nvPr/>
        </p:nvGrpSpPr>
        <p:grpSpPr>
          <a:xfrm>
            <a:off x="11029950" y="1836610"/>
            <a:ext cx="321469" cy="262976"/>
            <a:chOff x="0" y="0"/>
            <a:chExt cx="428625" cy="350634"/>
          </a:xfrm>
        </p:grpSpPr>
        <p:sp>
          <p:nvSpPr>
            <p:cNvPr id="28" name="Freeform 28"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5"/>
              <a:stretch>
                <a:fillRect t="-7" b="-7"/>
              </a:stretch>
            </a:blipFill>
          </p:spPr>
        </p:sp>
      </p:grpSp>
      <p:grpSp>
        <p:nvGrpSpPr>
          <p:cNvPr id="29" name="Group 29"/>
          <p:cNvGrpSpPr/>
          <p:nvPr/>
        </p:nvGrpSpPr>
        <p:grpSpPr>
          <a:xfrm>
            <a:off x="11029950" y="2193131"/>
            <a:ext cx="2971800" cy="321469"/>
            <a:chOff x="0" y="0"/>
            <a:chExt cx="3962400" cy="428625"/>
          </a:xfrm>
        </p:grpSpPr>
        <p:sp>
          <p:nvSpPr>
            <p:cNvPr id="30" name="Freeform 30" descr="preencoded.png"/>
            <p:cNvSpPr/>
            <p:nvPr/>
          </p:nvSpPr>
          <p:spPr>
            <a:xfrm>
              <a:off x="0" y="0"/>
              <a:ext cx="3962400" cy="428625"/>
            </a:xfrm>
            <a:custGeom>
              <a:avLst/>
              <a:gdLst/>
              <a:ahLst/>
              <a:cxnLst/>
              <a:rect l="l" t="t" r="r" b="b"/>
              <a:pathLst>
                <a:path w="3962400" h="428625">
                  <a:moveTo>
                    <a:pt x="0" y="0"/>
                  </a:moveTo>
                  <a:lnTo>
                    <a:pt x="3962400" y="0"/>
                  </a:lnTo>
                  <a:lnTo>
                    <a:pt x="3962400" y="428625"/>
                  </a:lnTo>
                  <a:lnTo>
                    <a:pt x="0" y="428625"/>
                  </a:lnTo>
                  <a:lnTo>
                    <a:pt x="0" y="0"/>
                  </a:lnTo>
                  <a:close/>
                </a:path>
              </a:pathLst>
            </a:custGeom>
            <a:blipFill>
              <a:blip r:embed="rId13"/>
              <a:stretch>
                <a:fillRect l="-1136" r="-1136"/>
              </a:stretch>
            </a:blipFill>
          </p:spPr>
        </p:sp>
      </p:grpSp>
      <p:grpSp>
        <p:nvGrpSpPr>
          <p:cNvPr id="31" name="Group 31"/>
          <p:cNvGrpSpPr/>
          <p:nvPr/>
        </p:nvGrpSpPr>
        <p:grpSpPr>
          <a:xfrm>
            <a:off x="14344650" y="1657350"/>
            <a:ext cx="3371850" cy="2057400"/>
            <a:chOff x="0" y="0"/>
            <a:chExt cx="4495800" cy="2743200"/>
          </a:xfrm>
        </p:grpSpPr>
        <p:sp>
          <p:nvSpPr>
            <p:cNvPr id="32" name="Freeform 32" descr="preencoded.png"/>
            <p:cNvSpPr/>
            <p:nvPr/>
          </p:nvSpPr>
          <p:spPr>
            <a:xfrm>
              <a:off x="0" y="0"/>
              <a:ext cx="4495800" cy="2743200"/>
            </a:xfrm>
            <a:custGeom>
              <a:avLst/>
              <a:gdLst/>
              <a:ahLst/>
              <a:cxnLst/>
              <a:rect l="l" t="t" r="r" b="b"/>
              <a:pathLst>
                <a:path w="4495800" h="2743200">
                  <a:moveTo>
                    <a:pt x="0" y="0"/>
                  </a:moveTo>
                  <a:lnTo>
                    <a:pt x="4495800" y="0"/>
                  </a:lnTo>
                  <a:lnTo>
                    <a:pt x="4495800" y="2743200"/>
                  </a:lnTo>
                  <a:lnTo>
                    <a:pt x="0" y="2743200"/>
                  </a:lnTo>
                  <a:lnTo>
                    <a:pt x="0" y="0"/>
                  </a:lnTo>
                  <a:close/>
                </a:path>
              </a:pathLst>
            </a:custGeom>
            <a:blipFill>
              <a:blip r:embed="rId16"/>
              <a:stretch>
                <a:fillRect t="-1388" b="-1388"/>
              </a:stretch>
            </a:blipFill>
          </p:spPr>
        </p:sp>
      </p:grpSp>
      <p:grpSp>
        <p:nvGrpSpPr>
          <p:cNvPr id="33" name="Group 33"/>
          <p:cNvGrpSpPr/>
          <p:nvPr/>
        </p:nvGrpSpPr>
        <p:grpSpPr>
          <a:xfrm>
            <a:off x="14544675" y="1836610"/>
            <a:ext cx="321469" cy="262976"/>
            <a:chOff x="0" y="0"/>
            <a:chExt cx="428625" cy="350634"/>
          </a:xfrm>
        </p:grpSpPr>
        <p:sp>
          <p:nvSpPr>
            <p:cNvPr id="34" name="Freeform 34"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7"/>
              <a:stretch>
                <a:fillRect t="-7" b="-7"/>
              </a:stretch>
            </a:blipFill>
          </p:spPr>
        </p:sp>
      </p:grpSp>
      <p:grpSp>
        <p:nvGrpSpPr>
          <p:cNvPr id="35" name="Group 35"/>
          <p:cNvGrpSpPr/>
          <p:nvPr/>
        </p:nvGrpSpPr>
        <p:grpSpPr>
          <a:xfrm>
            <a:off x="14544675" y="2193131"/>
            <a:ext cx="2971800" cy="321469"/>
            <a:chOff x="0" y="0"/>
            <a:chExt cx="3962400" cy="428625"/>
          </a:xfrm>
        </p:grpSpPr>
        <p:sp>
          <p:nvSpPr>
            <p:cNvPr id="36" name="Freeform 36" descr="preencoded.png"/>
            <p:cNvSpPr/>
            <p:nvPr/>
          </p:nvSpPr>
          <p:spPr>
            <a:xfrm>
              <a:off x="0" y="0"/>
              <a:ext cx="3962400" cy="428625"/>
            </a:xfrm>
            <a:custGeom>
              <a:avLst/>
              <a:gdLst/>
              <a:ahLst/>
              <a:cxnLst/>
              <a:rect l="l" t="t" r="r" b="b"/>
              <a:pathLst>
                <a:path w="3962400" h="428625">
                  <a:moveTo>
                    <a:pt x="0" y="0"/>
                  </a:moveTo>
                  <a:lnTo>
                    <a:pt x="3962400" y="0"/>
                  </a:lnTo>
                  <a:lnTo>
                    <a:pt x="3962400" y="428625"/>
                  </a:lnTo>
                  <a:lnTo>
                    <a:pt x="0" y="428625"/>
                  </a:lnTo>
                  <a:lnTo>
                    <a:pt x="0" y="0"/>
                  </a:lnTo>
                  <a:close/>
                </a:path>
              </a:pathLst>
            </a:custGeom>
            <a:blipFill>
              <a:blip r:embed="rId13"/>
              <a:stretch>
                <a:fillRect l="-1136" r="-1136"/>
              </a:stretch>
            </a:blipFill>
          </p:spPr>
        </p:sp>
      </p:grpSp>
      <p:grpSp>
        <p:nvGrpSpPr>
          <p:cNvPr id="37" name="Group 37"/>
          <p:cNvGrpSpPr/>
          <p:nvPr/>
        </p:nvGrpSpPr>
        <p:grpSpPr>
          <a:xfrm>
            <a:off x="7315200" y="3857625"/>
            <a:ext cx="10401300" cy="6229350"/>
            <a:chOff x="0" y="0"/>
            <a:chExt cx="13868400" cy="8305800"/>
          </a:xfrm>
        </p:grpSpPr>
        <p:sp>
          <p:nvSpPr>
            <p:cNvPr id="38" name="Freeform 38" descr="preencoded.png"/>
            <p:cNvSpPr/>
            <p:nvPr/>
          </p:nvSpPr>
          <p:spPr>
            <a:xfrm>
              <a:off x="0" y="0"/>
              <a:ext cx="13868400" cy="8305800"/>
            </a:xfrm>
            <a:custGeom>
              <a:avLst/>
              <a:gdLst/>
              <a:ahLst/>
              <a:cxnLst/>
              <a:rect l="l" t="t" r="r" b="b"/>
              <a:pathLst>
                <a:path w="13868400" h="8305800">
                  <a:moveTo>
                    <a:pt x="0" y="0"/>
                  </a:moveTo>
                  <a:lnTo>
                    <a:pt x="13868400" y="0"/>
                  </a:lnTo>
                  <a:lnTo>
                    <a:pt x="13868400" y="8305800"/>
                  </a:lnTo>
                  <a:lnTo>
                    <a:pt x="0" y="8305800"/>
                  </a:lnTo>
                  <a:lnTo>
                    <a:pt x="0" y="0"/>
                  </a:lnTo>
                  <a:close/>
                </a:path>
              </a:pathLst>
            </a:custGeom>
            <a:blipFill>
              <a:blip r:embed="rId18"/>
              <a:stretch>
                <a:fillRect/>
              </a:stretch>
            </a:blipFill>
          </p:spPr>
        </p:sp>
      </p:grpSp>
      <p:grpSp>
        <p:nvGrpSpPr>
          <p:cNvPr id="39" name="Group 39"/>
          <p:cNvGrpSpPr/>
          <p:nvPr/>
        </p:nvGrpSpPr>
        <p:grpSpPr>
          <a:xfrm>
            <a:off x="7486650" y="4032647"/>
            <a:ext cx="214312" cy="171450"/>
            <a:chOff x="0" y="0"/>
            <a:chExt cx="285750" cy="228600"/>
          </a:xfrm>
        </p:grpSpPr>
        <p:sp>
          <p:nvSpPr>
            <p:cNvPr id="40" name="Freeform 40" descr="preencoded.png"/>
            <p:cNvSpPr/>
            <p:nvPr/>
          </p:nvSpPr>
          <p:spPr>
            <a:xfrm>
              <a:off x="0" y="0"/>
              <a:ext cx="285750" cy="228600"/>
            </a:xfrm>
            <a:custGeom>
              <a:avLst/>
              <a:gdLst/>
              <a:ahLst/>
              <a:cxnLst/>
              <a:rect l="l" t="t" r="r" b="b"/>
              <a:pathLst>
                <a:path w="285750" h="228600">
                  <a:moveTo>
                    <a:pt x="0" y="0"/>
                  </a:moveTo>
                  <a:lnTo>
                    <a:pt x="285750" y="0"/>
                  </a:lnTo>
                  <a:lnTo>
                    <a:pt x="285750" y="228600"/>
                  </a:lnTo>
                  <a:lnTo>
                    <a:pt x="0" y="228600"/>
                  </a:lnTo>
                  <a:lnTo>
                    <a:pt x="0" y="0"/>
                  </a:lnTo>
                  <a:close/>
                </a:path>
              </a:pathLst>
            </a:custGeom>
            <a:blipFill>
              <a:blip r:embed="rId19"/>
              <a:stretch>
                <a:fillRect/>
              </a:stretch>
            </a:blipFill>
          </p:spPr>
        </p:sp>
      </p:grpSp>
      <p:grpSp>
        <p:nvGrpSpPr>
          <p:cNvPr id="41" name="Group 41"/>
          <p:cNvGrpSpPr/>
          <p:nvPr/>
        </p:nvGrpSpPr>
        <p:grpSpPr>
          <a:xfrm>
            <a:off x="7486650" y="4293394"/>
            <a:ext cx="10058400" cy="2571750"/>
            <a:chOff x="0" y="0"/>
            <a:chExt cx="13411200" cy="3429000"/>
          </a:xfrm>
        </p:grpSpPr>
        <p:sp>
          <p:nvSpPr>
            <p:cNvPr id="42" name="Freeform 42" descr="preencoded.png"/>
            <p:cNvSpPr/>
            <p:nvPr/>
          </p:nvSpPr>
          <p:spPr>
            <a:xfrm>
              <a:off x="0" y="0"/>
              <a:ext cx="13411200" cy="3429000"/>
            </a:xfrm>
            <a:custGeom>
              <a:avLst/>
              <a:gdLst/>
              <a:ahLst/>
              <a:cxnLst/>
              <a:rect l="l" t="t" r="r" b="b"/>
              <a:pathLst>
                <a:path w="13411200" h="3429000">
                  <a:moveTo>
                    <a:pt x="0" y="0"/>
                  </a:moveTo>
                  <a:lnTo>
                    <a:pt x="13411200" y="0"/>
                  </a:lnTo>
                  <a:lnTo>
                    <a:pt x="13411200" y="3429000"/>
                  </a:lnTo>
                  <a:lnTo>
                    <a:pt x="0" y="3429000"/>
                  </a:lnTo>
                  <a:lnTo>
                    <a:pt x="0" y="0"/>
                  </a:lnTo>
                  <a:close/>
                </a:path>
              </a:pathLst>
            </a:custGeom>
            <a:blipFill>
              <a:blip r:embed="rId20"/>
              <a:stretch>
                <a:fillRect/>
              </a:stretch>
            </a:blipFill>
          </p:spPr>
        </p:sp>
      </p:grpSp>
      <p:grpSp>
        <p:nvGrpSpPr>
          <p:cNvPr id="43" name="Group 43"/>
          <p:cNvGrpSpPr/>
          <p:nvPr/>
        </p:nvGrpSpPr>
        <p:grpSpPr>
          <a:xfrm>
            <a:off x="1000125" y="414338"/>
            <a:ext cx="17287875" cy="514350"/>
            <a:chOff x="0" y="0"/>
            <a:chExt cx="23050500" cy="685800"/>
          </a:xfrm>
        </p:grpSpPr>
        <p:sp>
          <p:nvSpPr>
            <p:cNvPr id="44" name="Freeform 44"/>
            <p:cNvSpPr/>
            <p:nvPr/>
          </p:nvSpPr>
          <p:spPr>
            <a:xfrm>
              <a:off x="0" y="0"/>
              <a:ext cx="23050500" cy="685800"/>
            </a:xfrm>
            <a:custGeom>
              <a:avLst/>
              <a:gdLst/>
              <a:ahLst/>
              <a:cxnLst/>
              <a:rect l="l" t="t" r="r" b="b"/>
              <a:pathLst>
                <a:path w="23050500" h="685800">
                  <a:moveTo>
                    <a:pt x="0" y="0"/>
                  </a:moveTo>
                  <a:lnTo>
                    <a:pt x="23050500" y="0"/>
                  </a:lnTo>
                  <a:lnTo>
                    <a:pt x="23050500" y="685800"/>
                  </a:lnTo>
                  <a:lnTo>
                    <a:pt x="0" y="685800"/>
                  </a:lnTo>
                  <a:close/>
                </a:path>
              </a:pathLst>
            </a:custGeom>
            <a:blipFill>
              <a:blip r:embed="rId21">
                <a:alphaModFix amt="0"/>
              </a:blip>
              <a:stretch>
                <a:fillRect t="-604913" b="-604913"/>
              </a:stretch>
            </a:blipFill>
          </p:spPr>
        </p:sp>
        <p:sp>
          <p:nvSpPr>
            <p:cNvPr id="45" name="TextBox 45"/>
            <p:cNvSpPr txBox="1"/>
            <p:nvPr/>
          </p:nvSpPr>
          <p:spPr>
            <a:xfrm>
              <a:off x="0" y="-133350"/>
              <a:ext cx="230505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PHÂN TÍCH 10: PHÂN LOẠI ĐƠN HÀNG THEO QUY MÔ GIÁ TRỊ</a:t>
              </a:r>
            </a:p>
          </p:txBody>
        </p:sp>
      </p:grpSp>
      <p:grpSp>
        <p:nvGrpSpPr>
          <p:cNvPr id="46" name="Group 46"/>
          <p:cNvGrpSpPr/>
          <p:nvPr/>
        </p:nvGrpSpPr>
        <p:grpSpPr>
          <a:xfrm>
            <a:off x="1000125" y="1000125"/>
            <a:ext cx="17287875" cy="300038"/>
            <a:chOff x="0" y="0"/>
            <a:chExt cx="23050500" cy="400050"/>
          </a:xfrm>
        </p:grpSpPr>
        <p:sp>
          <p:nvSpPr>
            <p:cNvPr id="47" name="Freeform 47"/>
            <p:cNvSpPr/>
            <p:nvPr/>
          </p:nvSpPr>
          <p:spPr>
            <a:xfrm>
              <a:off x="0" y="0"/>
              <a:ext cx="23050500" cy="400050"/>
            </a:xfrm>
            <a:custGeom>
              <a:avLst/>
              <a:gdLst/>
              <a:ahLst/>
              <a:cxnLst/>
              <a:rect l="l" t="t" r="r" b="b"/>
              <a:pathLst>
                <a:path w="23050500" h="400050">
                  <a:moveTo>
                    <a:pt x="0" y="0"/>
                  </a:moveTo>
                  <a:lnTo>
                    <a:pt x="23050500" y="0"/>
                  </a:lnTo>
                  <a:lnTo>
                    <a:pt x="23050500" y="400050"/>
                  </a:lnTo>
                  <a:lnTo>
                    <a:pt x="0" y="400050"/>
                  </a:lnTo>
                  <a:close/>
                </a:path>
              </a:pathLst>
            </a:custGeom>
            <a:blipFill>
              <a:blip r:embed="rId21">
                <a:alphaModFix amt="0"/>
              </a:blip>
              <a:stretch>
                <a:fillRect t="-1072709" b="-1072709"/>
              </a:stretch>
            </a:blipFill>
          </p:spPr>
        </p:sp>
        <p:sp>
          <p:nvSpPr>
            <p:cNvPr id="48" name="TextBox 48"/>
            <p:cNvSpPr txBox="1"/>
            <p:nvPr/>
          </p:nvSpPr>
          <p:spPr>
            <a:xfrm>
              <a:off x="0" y="-66675"/>
              <a:ext cx="230505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Phân khúc thị trường giao dịch · Áp dụng CASE WHEN trong HiveQL · Định hướng thông điệp quảng cáo</a:t>
              </a:r>
            </a:p>
          </p:txBody>
        </p:sp>
      </p:grpSp>
      <p:grpSp>
        <p:nvGrpSpPr>
          <p:cNvPr id="49" name="Group 49"/>
          <p:cNvGrpSpPr/>
          <p:nvPr/>
        </p:nvGrpSpPr>
        <p:grpSpPr>
          <a:xfrm>
            <a:off x="1028700" y="1857375"/>
            <a:ext cx="5280660" cy="235744"/>
            <a:chOff x="0" y="0"/>
            <a:chExt cx="7040880" cy="314325"/>
          </a:xfrm>
        </p:grpSpPr>
        <p:sp>
          <p:nvSpPr>
            <p:cNvPr id="50" name="Freeform 50"/>
            <p:cNvSpPr/>
            <p:nvPr/>
          </p:nvSpPr>
          <p:spPr>
            <a:xfrm>
              <a:off x="0" y="0"/>
              <a:ext cx="7040880" cy="314326"/>
            </a:xfrm>
            <a:custGeom>
              <a:avLst/>
              <a:gdLst/>
              <a:ahLst/>
              <a:cxnLst/>
              <a:rect l="l" t="t" r="r" b="b"/>
              <a:pathLst>
                <a:path w="7040880" h="314326">
                  <a:moveTo>
                    <a:pt x="0" y="0"/>
                  </a:moveTo>
                  <a:lnTo>
                    <a:pt x="7040880" y="0"/>
                  </a:lnTo>
                  <a:lnTo>
                    <a:pt x="7040880" y="314326"/>
                  </a:lnTo>
                  <a:lnTo>
                    <a:pt x="0" y="314326"/>
                  </a:lnTo>
                  <a:close/>
                </a:path>
              </a:pathLst>
            </a:custGeom>
            <a:blipFill>
              <a:blip r:embed="rId21">
                <a:alphaModFix amt="0"/>
              </a:blip>
              <a:stretch>
                <a:fillRect t="-386463" b="-386463"/>
              </a:stretch>
            </a:blipFill>
          </p:spPr>
        </p:sp>
        <p:sp>
          <p:nvSpPr>
            <p:cNvPr id="51" name="TextBox 51"/>
            <p:cNvSpPr txBox="1"/>
            <p:nvPr/>
          </p:nvSpPr>
          <p:spPr>
            <a:xfrm>
              <a:off x="0" y="-38100"/>
              <a:ext cx="7040880" cy="352425"/>
            </a:xfrm>
            <a:prstGeom prst="rect">
              <a:avLst/>
            </a:prstGeom>
          </p:spPr>
          <p:txBody>
            <a:bodyPr lIns="0" tIns="0" rIns="0" bIns="0" rtlCol="0" anchor="ctr"/>
            <a:lstStyle/>
            <a:p>
              <a:pPr algn="l">
                <a:lnSpc>
                  <a:spcPts val="1857"/>
                </a:lnSpc>
              </a:pPr>
              <a:r>
                <a:rPr lang="en-US" sz="1237" b="1" spc="72">
                  <a:solidFill>
                    <a:srgbClr val="007ACC"/>
                  </a:solidFill>
                  <a:latin typeface="Roboto Bold"/>
                  <a:ea typeface="Roboto Bold"/>
                  <a:cs typeface="Roboto Bold"/>
                  <a:sym typeface="Roboto Bold"/>
                </a:rPr>
                <a:t>HIVEQL — PHÂN LOẠI PHÂN KHÚC</a:t>
              </a:r>
            </a:p>
          </p:txBody>
        </p:sp>
      </p:grpSp>
      <p:grpSp>
        <p:nvGrpSpPr>
          <p:cNvPr id="52" name="Group 52"/>
          <p:cNvGrpSpPr/>
          <p:nvPr/>
        </p:nvGrpSpPr>
        <p:grpSpPr>
          <a:xfrm>
            <a:off x="800100" y="2350294"/>
            <a:ext cx="6057900" cy="5606948"/>
            <a:chOff x="0" y="0"/>
            <a:chExt cx="8077200" cy="7475931"/>
          </a:xfrm>
        </p:grpSpPr>
        <p:sp>
          <p:nvSpPr>
            <p:cNvPr id="53" name="Freeform 53"/>
            <p:cNvSpPr/>
            <p:nvPr/>
          </p:nvSpPr>
          <p:spPr>
            <a:xfrm>
              <a:off x="0" y="0"/>
              <a:ext cx="8077200" cy="7475934"/>
            </a:xfrm>
            <a:custGeom>
              <a:avLst/>
              <a:gdLst/>
              <a:ahLst/>
              <a:cxnLst/>
              <a:rect l="l" t="t" r="r" b="b"/>
              <a:pathLst>
                <a:path w="8077200" h="7475934">
                  <a:moveTo>
                    <a:pt x="0" y="0"/>
                  </a:moveTo>
                  <a:lnTo>
                    <a:pt x="8077200" y="0"/>
                  </a:lnTo>
                  <a:lnTo>
                    <a:pt x="8077200" y="7475934"/>
                  </a:lnTo>
                  <a:lnTo>
                    <a:pt x="0" y="7475934"/>
                  </a:lnTo>
                  <a:close/>
                </a:path>
              </a:pathLst>
            </a:custGeom>
            <a:blipFill>
              <a:blip r:embed="rId21">
                <a:alphaModFix amt="0"/>
              </a:blip>
              <a:stretch>
                <a:fillRect l="-68752" r="-68752"/>
              </a:stretch>
            </a:blipFill>
          </p:spPr>
        </p:sp>
        <p:sp>
          <p:nvSpPr>
            <p:cNvPr id="54" name="TextBox 54"/>
            <p:cNvSpPr txBox="1"/>
            <p:nvPr/>
          </p:nvSpPr>
          <p:spPr>
            <a:xfrm>
              <a:off x="0" y="-85725"/>
              <a:ext cx="8077200" cy="7561656"/>
            </a:xfrm>
            <a:prstGeom prst="rect">
              <a:avLst/>
            </a:prstGeom>
          </p:spPr>
          <p:txBody>
            <a:bodyPr lIns="0" tIns="0" rIns="0" bIns="0" rtlCol="0" anchor="ctr"/>
            <a:lstStyle/>
            <a:p>
              <a:pPr algn="l">
                <a:lnSpc>
                  <a:spcPts val="2103"/>
                </a:lnSpc>
              </a:pPr>
              <a:r>
                <a:rPr lang="en-US" sz="1237" i="1">
                  <a:solidFill>
                    <a:srgbClr val="6A9955"/>
                  </a:solidFill>
                  <a:latin typeface="Calibri (MS) Italics"/>
                  <a:ea typeface="Calibri (MS) Italics"/>
                  <a:cs typeface="Calibri (MS) Italics"/>
                  <a:sym typeface="Calibri (MS) Italics"/>
                </a:rPr>
                <a:t>-- Phân loại đơn hàng theo quy mô</a:t>
              </a:r>
              <a:r>
                <a:rPr lang="en-US" sz="1237" b="1">
                  <a:solidFill>
                    <a:srgbClr val="569CD6"/>
                  </a:solidFill>
                  <a:latin typeface="Calibri (MS) Bold"/>
                  <a:ea typeface="Calibri (MS) Bold"/>
                  <a:cs typeface="Calibri (MS) Bold"/>
                  <a:sym typeface="Calibri (MS) Bold"/>
                </a:rPr>
                <a:t>SELECT</a:t>
              </a:r>
            </a:p>
            <a:p>
              <a:pPr algn="l">
                <a:lnSpc>
                  <a:spcPts val="2103"/>
                </a:lnSpc>
              </a:pPr>
              <a:r>
                <a:rPr lang="en-US" sz="1237">
                  <a:solidFill>
                    <a:srgbClr val="A8D8EA"/>
                  </a:solidFill>
                  <a:latin typeface="Calibri (MS)"/>
                  <a:ea typeface="Calibri (MS)"/>
                  <a:cs typeface="Calibri (MS)"/>
                  <a:sym typeface="Calibri (MS)"/>
                </a:rPr>
                <a:t>  phan_khuc,</a:t>
              </a:r>
            </a:p>
            <a:p>
              <a:pPr algn="l">
                <a:lnSpc>
                  <a:spcPts val="2103"/>
                </a:lnSpc>
              </a:pPr>
              <a:r>
                <a:rPr lang="en-US" sz="1237">
                  <a:solidFill>
                    <a:srgbClr val="A8D8EA"/>
                  </a:solidFill>
                  <a:latin typeface="Calibri (MS)"/>
                  <a:ea typeface="Calibri (MS)"/>
                  <a:cs typeface="Calibri (MS)"/>
                  <a:sym typeface="Calibri (MS)"/>
                </a:rPr>
                <a:t>  </a:t>
              </a:r>
            </a:p>
            <a:p>
              <a:pPr algn="l">
                <a:lnSpc>
                  <a:spcPts val="2103"/>
                </a:lnSpc>
              </a:pPr>
              <a:r>
                <a:rPr lang="en-US" sz="1237">
                  <a:solidFill>
                    <a:srgbClr val="DCDCAA"/>
                  </a:solidFill>
                  <a:latin typeface="Calibri (MS)"/>
                  <a:ea typeface="Calibri (MS)"/>
                  <a:cs typeface="Calibri (MS)"/>
                  <a:sym typeface="Calibri (MS)"/>
                </a:rPr>
                <a:t>COUNT</a:t>
              </a:r>
              <a:r>
                <a:rPr lang="en-US" sz="1237">
                  <a:solidFill>
                    <a:srgbClr val="A8D8EA"/>
                  </a:solidFill>
                  <a:latin typeface="Calibri (MS)"/>
                  <a:ea typeface="Calibri (MS)"/>
                  <a:cs typeface="Calibri (MS)"/>
                  <a:sym typeface="Calibri (MS)"/>
                </a:rPr>
                <a:t>(*) </a:t>
              </a:r>
              <a:r>
                <a:rPr lang="en-US" sz="1237" b="1">
                  <a:solidFill>
                    <a:srgbClr val="569CD6"/>
                  </a:solidFill>
                  <a:latin typeface="Calibri (MS) Bold"/>
                  <a:ea typeface="Calibri (MS) Bold"/>
                  <a:cs typeface="Calibri (MS) Bold"/>
                  <a:sym typeface="Calibri (MS) Bold"/>
                </a:rPr>
                <a:t>AS</a:t>
              </a:r>
              <a:r>
                <a:rPr lang="en-US" sz="1237">
                  <a:solidFill>
                    <a:srgbClr val="A8D8EA"/>
                  </a:solidFill>
                  <a:latin typeface="Calibri (MS)"/>
                  <a:ea typeface="Calibri (MS)"/>
                  <a:cs typeface="Calibri (MS)"/>
                  <a:sym typeface="Calibri (MS)"/>
                </a:rPr>
                <a:t> so_don_hang,</a:t>
              </a:r>
            </a:p>
            <a:p>
              <a:pPr algn="l">
                <a:lnSpc>
                  <a:spcPts val="2103"/>
                </a:lnSpc>
              </a:pPr>
              <a:r>
                <a:rPr lang="en-US" sz="1237">
                  <a:solidFill>
                    <a:srgbClr val="A8D8EA"/>
                  </a:solidFill>
                  <a:latin typeface="Calibri (MS)"/>
                  <a:ea typeface="Calibri (MS)"/>
                  <a:cs typeface="Calibri (MS)"/>
                  <a:sym typeface="Calibri (MS)"/>
                </a:rPr>
                <a:t>  </a:t>
              </a:r>
            </a:p>
            <a:p>
              <a:pPr algn="l">
                <a:lnSpc>
                  <a:spcPts val="2103"/>
                </a:lnSpc>
              </a:pPr>
              <a:r>
                <a:rPr lang="en-US" sz="1237">
                  <a:solidFill>
                    <a:srgbClr val="DCDCAA"/>
                  </a:solidFill>
                  <a:latin typeface="Calibri (MS)"/>
                  <a:ea typeface="Calibri (MS)"/>
                  <a:cs typeface="Calibri (MS)"/>
                  <a:sym typeface="Calibri (MS)"/>
                </a:rPr>
                <a:t>ROUND</a:t>
              </a:r>
              <a:r>
                <a:rPr lang="en-US" sz="1237">
                  <a:solidFill>
                    <a:srgbClr val="A8D8EA"/>
                  </a:solidFill>
                  <a:latin typeface="Calibri (MS)"/>
                  <a:ea typeface="Calibri (MS)"/>
                  <a:cs typeface="Calibri (MS)"/>
                  <a:sym typeface="Calibri (MS)"/>
                </a:rPr>
                <a:t>(</a:t>
              </a:r>
              <a:r>
                <a:rPr lang="en-US" sz="1237">
                  <a:solidFill>
                    <a:srgbClr val="DCDCAA"/>
                  </a:solidFill>
                  <a:latin typeface="Calibri (MS)"/>
                  <a:ea typeface="Calibri (MS)"/>
                  <a:cs typeface="Calibri (MS)"/>
                  <a:sym typeface="Calibri (MS)"/>
                </a:rPr>
                <a:t>SUM</a:t>
              </a:r>
              <a:r>
                <a:rPr lang="en-US" sz="1237">
                  <a:solidFill>
                    <a:srgbClr val="A8D8EA"/>
                  </a:solidFill>
                  <a:latin typeface="Calibri (MS)"/>
                  <a:ea typeface="Calibri (MS)"/>
                  <a:cs typeface="Calibri (MS)"/>
                  <a:sym typeface="Calibri (MS)"/>
                </a:rPr>
                <a:t>(thanh_tien),</a:t>
              </a:r>
              <a:r>
                <a:rPr lang="en-US" sz="1237">
                  <a:solidFill>
                    <a:srgbClr val="B5CEA8"/>
                  </a:solidFill>
                  <a:latin typeface="Calibri (MS)"/>
                  <a:ea typeface="Calibri (MS)"/>
                  <a:cs typeface="Calibri (MS)"/>
                  <a:sym typeface="Calibri (MS)"/>
                </a:rPr>
                <a:t>0</a:t>
              </a:r>
              <a:r>
                <a:rPr lang="en-US" sz="1237">
                  <a:solidFill>
                    <a:srgbClr val="A8D8EA"/>
                  </a:solidFill>
                  <a:latin typeface="Calibri (MS)"/>
                  <a:ea typeface="Calibri (MS)"/>
                  <a:cs typeface="Calibri (MS)"/>
                  <a:sym typeface="Calibri (MS)"/>
                </a:rPr>
                <a:t>)</a:t>
              </a:r>
            </a:p>
            <a:p>
              <a:pPr algn="l">
                <a:lnSpc>
                  <a:spcPts val="2103"/>
                </a:lnSpc>
              </a:pPr>
              <a:r>
                <a:rPr lang="en-US" sz="1237">
                  <a:solidFill>
                    <a:srgbClr val="A8D8EA"/>
                  </a:solidFill>
                  <a:latin typeface="Calibri (MS)"/>
                  <a:ea typeface="Calibri (MS)"/>
                  <a:cs typeface="Calibri (MS)"/>
                  <a:sym typeface="Calibri (MS)"/>
                </a:rPr>
                <a:t>    </a:t>
              </a:r>
            </a:p>
            <a:p>
              <a:pPr algn="l">
                <a:lnSpc>
                  <a:spcPts val="2103"/>
                </a:lnSpc>
              </a:pPr>
              <a:r>
                <a:rPr lang="en-US" sz="1237" b="1">
                  <a:solidFill>
                    <a:srgbClr val="569CD6"/>
                  </a:solidFill>
                  <a:latin typeface="Calibri (MS) Bold"/>
                  <a:ea typeface="Calibri (MS) Bold"/>
                  <a:cs typeface="Calibri (MS) Bold"/>
                  <a:sym typeface="Calibri (MS) Bold"/>
                </a:rPr>
                <a:t>AS</a:t>
              </a:r>
              <a:r>
                <a:rPr lang="en-US" sz="1237">
                  <a:solidFill>
                    <a:srgbClr val="A8D8EA"/>
                  </a:solidFill>
                  <a:latin typeface="Calibri (MS)"/>
                  <a:ea typeface="Calibri (MS)"/>
                  <a:cs typeface="Calibri (MS)"/>
                  <a:sym typeface="Calibri (MS)"/>
                </a:rPr>
                <a:t> tong_doanh_thu,</a:t>
              </a:r>
            </a:p>
            <a:p>
              <a:pPr algn="l">
                <a:lnSpc>
                  <a:spcPts val="2103"/>
                </a:lnSpc>
              </a:pPr>
              <a:r>
                <a:rPr lang="en-US" sz="1237">
                  <a:solidFill>
                    <a:srgbClr val="A8D8EA"/>
                  </a:solidFill>
                  <a:latin typeface="Calibri (MS)"/>
                  <a:ea typeface="Calibri (MS)"/>
                  <a:cs typeface="Calibri (MS)"/>
                  <a:sym typeface="Calibri (MS)"/>
                </a:rPr>
                <a:t>  </a:t>
              </a:r>
            </a:p>
            <a:p>
              <a:pPr algn="l">
                <a:lnSpc>
                  <a:spcPts val="2103"/>
                </a:lnSpc>
              </a:pPr>
              <a:r>
                <a:rPr lang="en-US" sz="1237">
                  <a:solidFill>
                    <a:srgbClr val="DCDCAA"/>
                  </a:solidFill>
                  <a:latin typeface="Calibri (MS)"/>
                  <a:ea typeface="Calibri (MS)"/>
                  <a:cs typeface="Calibri (MS)"/>
                  <a:sym typeface="Calibri (MS)"/>
                </a:rPr>
                <a:t>ROUND</a:t>
              </a:r>
              <a:r>
                <a:rPr lang="en-US" sz="1237">
                  <a:solidFill>
                    <a:srgbClr val="A8D8EA"/>
                  </a:solidFill>
                  <a:latin typeface="Calibri (MS)"/>
                  <a:ea typeface="Calibri (MS)"/>
                  <a:cs typeface="Calibri (MS)"/>
                  <a:sym typeface="Calibri (MS)"/>
                </a:rPr>
                <a:t>(</a:t>
              </a:r>
              <a:r>
                <a:rPr lang="en-US" sz="1237">
                  <a:solidFill>
                    <a:srgbClr val="DCDCAA"/>
                  </a:solidFill>
                  <a:latin typeface="Calibri (MS)"/>
                  <a:ea typeface="Calibri (MS)"/>
                  <a:cs typeface="Calibri (MS)"/>
                  <a:sym typeface="Calibri (MS)"/>
                </a:rPr>
                <a:t>AVG</a:t>
              </a:r>
              <a:r>
                <a:rPr lang="en-US" sz="1237">
                  <a:solidFill>
                    <a:srgbClr val="A8D8EA"/>
                  </a:solidFill>
                  <a:latin typeface="Calibri (MS)"/>
                  <a:ea typeface="Calibri (MS)"/>
                  <a:cs typeface="Calibri (MS)"/>
                  <a:sym typeface="Calibri (MS)"/>
                </a:rPr>
                <a:t>(thanh_tien),</a:t>
              </a:r>
              <a:r>
                <a:rPr lang="en-US" sz="1237">
                  <a:solidFill>
                    <a:srgbClr val="B5CEA8"/>
                  </a:solidFill>
                  <a:latin typeface="Calibri (MS)"/>
                  <a:ea typeface="Calibri (MS)"/>
                  <a:cs typeface="Calibri (MS)"/>
                  <a:sym typeface="Calibri (MS)"/>
                </a:rPr>
                <a:t>0</a:t>
              </a:r>
              <a:r>
                <a:rPr lang="en-US" sz="1237">
                  <a:solidFill>
                    <a:srgbClr val="A8D8EA"/>
                  </a:solidFill>
                  <a:latin typeface="Calibri (MS)"/>
                  <a:ea typeface="Calibri (MS)"/>
                  <a:cs typeface="Calibri (MS)"/>
                  <a:sym typeface="Calibri (MS)"/>
                </a:rPr>
                <a:t>)</a:t>
              </a:r>
            </a:p>
            <a:p>
              <a:pPr algn="l">
                <a:lnSpc>
                  <a:spcPts val="2103"/>
                </a:lnSpc>
              </a:pPr>
              <a:r>
                <a:rPr lang="en-US" sz="1237">
                  <a:solidFill>
                    <a:srgbClr val="A8D8EA"/>
                  </a:solidFill>
                  <a:latin typeface="Calibri (MS)"/>
                  <a:ea typeface="Calibri (MS)"/>
                  <a:cs typeface="Calibri (MS)"/>
                  <a:sym typeface="Calibri (MS)"/>
                </a:rPr>
                <a:t>    </a:t>
              </a:r>
            </a:p>
            <a:p>
              <a:pPr algn="l">
                <a:lnSpc>
                  <a:spcPts val="2103"/>
                </a:lnSpc>
              </a:pPr>
              <a:r>
                <a:rPr lang="en-US" sz="1237" b="1">
                  <a:solidFill>
                    <a:srgbClr val="569CD6"/>
                  </a:solidFill>
                  <a:latin typeface="Calibri (MS) Bold"/>
                  <a:ea typeface="Calibri (MS) Bold"/>
                  <a:cs typeface="Calibri (MS) Bold"/>
                  <a:sym typeface="Calibri (MS) Bold"/>
                </a:rPr>
                <a:t>AS</a:t>
              </a:r>
              <a:r>
                <a:rPr lang="en-US" sz="1237">
                  <a:solidFill>
                    <a:srgbClr val="A8D8EA"/>
                  </a:solidFill>
                  <a:latin typeface="Calibri (MS)"/>
                  <a:ea typeface="Calibri (MS)"/>
                  <a:cs typeface="Calibri (MS)"/>
                  <a:sym typeface="Calibri (MS)"/>
                </a:rPr>
                <a:t> gia_tri_tb</a:t>
              </a:r>
            </a:p>
            <a:p>
              <a:pPr algn="l">
                <a:lnSpc>
                  <a:spcPts val="2103"/>
                </a:lnSpc>
              </a:pPr>
              <a:r>
                <a:rPr lang="en-US" sz="1237" b="1">
                  <a:solidFill>
                    <a:srgbClr val="569CD6"/>
                  </a:solidFill>
                  <a:latin typeface="Calibri (MS) Bold"/>
                  <a:ea typeface="Calibri (MS) Bold"/>
                  <a:cs typeface="Calibri (MS) Bold"/>
                  <a:sym typeface="Calibri (MS) Bold"/>
                </a:rPr>
                <a:t>FROM</a:t>
              </a:r>
              <a:r>
                <a:rPr lang="en-US" sz="1237">
                  <a:solidFill>
                    <a:srgbClr val="A8D8EA"/>
                  </a:solidFill>
                  <a:latin typeface="Calibri (MS)"/>
                  <a:ea typeface="Calibri (MS)"/>
                  <a:cs typeface="Calibri (MS)"/>
                  <a:sym typeface="Calibri (MS)"/>
                </a:rPr>
                <a:t> (</a:t>
              </a:r>
            </a:p>
            <a:p>
              <a:pPr algn="l">
                <a:lnSpc>
                  <a:spcPts val="2103"/>
                </a:lnSpc>
              </a:pPr>
              <a:r>
                <a:rPr lang="en-US" sz="1237">
                  <a:solidFill>
                    <a:srgbClr val="A8D8EA"/>
                  </a:solidFill>
                  <a:latin typeface="Calibri (MS)"/>
                  <a:ea typeface="Calibri (MS)"/>
                  <a:cs typeface="Calibri (MS)"/>
                  <a:sym typeface="Calibri (MS)"/>
                </a:rPr>
                <a:t>  </a:t>
              </a:r>
            </a:p>
            <a:p>
              <a:pPr algn="l">
                <a:lnSpc>
                  <a:spcPts val="2103"/>
                </a:lnSpc>
              </a:pPr>
              <a:r>
                <a:rPr lang="en-US" sz="1237" b="1">
                  <a:solidFill>
                    <a:srgbClr val="569CD6"/>
                  </a:solidFill>
                  <a:latin typeface="Calibri (MS) Bold"/>
                  <a:ea typeface="Calibri (MS) Bold"/>
                  <a:cs typeface="Calibri (MS) Bold"/>
                  <a:sym typeface="Calibri (MS) Bold"/>
                </a:rPr>
                <a:t>SELECT</a:t>
              </a:r>
              <a:r>
                <a:rPr lang="en-US" sz="1237">
                  <a:solidFill>
                    <a:srgbClr val="A8D8EA"/>
                  </a:solidFill>
                  <a:latin typeface="Calibri (MS)"/>
                  <a:ea typeface="Calibri (MS)"/>
                  <a:cs typeface="Calibri (MS)"/>
                  <a:sym typeface="Calibri (MS)"/>
                </a:rPr>
                <a:t> thanh_tien,</a:t>
              </a:r>
            </a:p>
            <a:p>
              <a:pPr algn="l">
                <a:lnSpc>
                  <a:spcPts val="2103"/>
                </a:lnSpc>
              </a:pPr>
              <a:r>
                <a:rPr lang="en-US" sz="1237">
                  <a:solidFill>
                    <a:srgbClr val="A8D8EA"/>
                  </a:solidFill>
                  <a:latin typeface="Calibri (MS)"/>
                  <a:ea typeface="Calibri (MS)"/>
                  <a:cs typeface="Calibri (MS)"/>
                  <a:sym typeface="Calibri (MS)"/>
                </a:rPr>
                <a:t>    </a:t>
              </a:r>
            </a:p>
            <a:p>
              <a:pPr algn="l">
                <a:lnSpc>
                  <a:spcPts val="2103"/>
                </a:lnSpc>
              </a:pPr>
              <a:r>
                <a:rPr lang="en-US" sz="1237" b="1">
                  <a:solidFill>
                    <a:srgbClr val="569CD6"/>
                  </a:solidFill>
                  <a:latin typeface="Calibri (MS) Bold"/>
                  <a:ea typeface="Calibri (MS) Bold"/>
                  <a:cs typeface="Calibri (MS) Bold"/>
                  <a:sym typeface="Calibri (MS) Bold"/>
                </a:rPr>
                <a:t>CASEWHEN</a:t>
              </a:r>
              <a:r>
                <a:rPr lang="en-US" sz="1237">
                  <a:solidFill>
                    <a:srgbClr val="A8D8EA"/>
                  </a:solidFill>
                  <a:latin typeface="Calibri (MS)"/>
                  <a:ea typeface="Calibri (MS)"/>
                  <a:cs typeface="Calibri (MS)"/>
                  <a:sym typeface="Calibri (MS)"/>
                </a:rPr>
                <a:t> thanh_tien &lt; </a:t>
              </a:r>
              <a:r>
                <a:rPr lang="en-US" sz="1237">
                  <a:solidFill>
                    <a:srgbClr val="B5CEA8"/>
                  </a:solidFill>
                  <a:latin typeface="Calibri (MS)"/>
                  <a:ea typeface="Calibri (MS)"/>
                  <a:cs typeface="Calibri (MS)"/>
                  <a:sym typeface="Calibri (MS)"/>
                </a:rPr>
                <a:t>5000000</a:t>
              </a:r>
              <a:r>
                <a:rPr lang="en-US" sz="1237" b="1">
                  <a:solidFill>
                    <a:srgbClr val="569CD6"/>
                  </a:solidFill>
                  <a:latin typeface="Calibri (MS) Bold"/>
                  <a:ea typeface="Calibri (MS) Bold"/>
                  <a:cs typeface="Calibri (MS) Bold"/>
                  <a:sym typeface="Calibri (MS) Bold"/>
                </a:rPr>
                <a:t>THEN</a:t>
              </a:r>
              <a:r>
                <a:rPr lang="en-US" sz="1237">
                  <a:solidFill>
                    <a:srgbClr val="A8D8EA"/>
                  </a:solidFill>
                  <a:latin typeface="Calibri (MS)"/>
                  <a:ea typeface="Calibri (MS)"/>
                  <a:cs typeface="Calibri (MS)"/>
                  <a:sym typeface="Calibri (MS)"/>
                </a:rPr>
                <a:t> </a:t>
              </a:r>
              <a:r>
                <a:rPr lang="en-US" sz="1237">
                  <a:solidFill>
                    <a:srgbClr val="CE9178"/>
                  </a:solidFill>
                  <a:latin typeface="Calibri (MS)"/>
                  <a:ea typeface="Calibri (MS)"/>
                  <a:cs typeface="Calibri (MS)"/>
                  <a:sym typeface="Calibri (MS)"/>
                </a:rPr>
                <a:t>'Bình dân'</a:t>
              </a:r>
              <a:r>
                <a:rPr lang="en-US" sz="1237" b="1">
                  <a:solidFill>
                    <a:srgbClr val="569CD6"/>
                  </a:solidFill>
                  <a:latin typeface="Calibri (MS) Bold"/>
                  <a:ea typeface="Calibri (MS) Bold"/>
                  <a:cs typeface="Calibri (MS) Bold"/>
                  <a:sym typeface="Calibri (MS) Bold"/>
                </a:rPr>
                <a:t>WHEN</a:t>
              </a:r>
              <a:r>
                <a:rPr lang="en-US" sz="1237">
                  <a:solidFill>
                    <a:srgbClr val="A8D8EA"/>
                  </a:solidFill>
                  <a:latin typeface="Calibri (MS)"/>
                  <a:ea typeface="Calibri (MS)"/>
                  <a:cs typeface="Calibri (MS)"/>
                  <a:sym typeface="Calibri (MS)"/>
                </a:rPr>
                <a:t> thanh_tien &lt; </a:t>
              </a:r>
              <a:r>
                <a:rPr lang="en-US" sz="1237">
                  <a:solidFill>
                    <a:srgbClr val="B5CEA8"/>
                  </a:solidFill>
                  <a:latin typeface="Calibri (MS)"/>
                  <a:ea typeface="Calibri (MS)"/>
                  <a:cs typeface="Calibri (MS)"/>
                  <a:sym typeface="Calibri (MS)"/>
                </a:rPr>
                <a:t>20000000</a:t>
              </a:r>
              <a:r>
                <a:rPr lang="en-US" sz="1237" b="1">
                  <a:solidFill>
                    <a:srgbClr val="569CD6"/>
                  </a:solidFill>
                  <a:latin typeface="Calibri (MS) Bold"/>
                  <a:ea typeface="Calibri (MS) Bold"/>
                  <a:cs typeface="Calibri (MS) Bold"/>
                  <a:sym typeface="Calibri (MS) Bold"/>
                </a:rPr>
                <a:t>THEN</a:t>
              </a:r>
              <a:r>
                <a:rPr lang="en-US" sz="1237">
                  <a:solidFill>
                    <a:srgbClr val="A8D8EA"/>
                  </a:solidFill>
                  <a:latin typeface="Calibri (MS)"/>
                  <a:ea typeface="Calibri (MS)"/>
                  <a:cs typeface="Calibri (MS)"/>
                  <a:sym typeface="Calibri (MS)"/>
                </a:rPr>
                <a:t> </a:t>
              </a:r>
              <a:r>
                <a:rPr lang="en-US" sz="1237">
                  <a:solidFill>
                    <a:srgbClr val="CE9178"/>
                  </a:solidFill>
                  <a:latin typeface="Calibri (MS)"/>
                  <a:ea typeface="Calibri (MS)"/>
                  <a:cs typeface="Calibri (MS)"/>
                  <a:sym typeface="Calibri (MS)"/>
                </a:rPr>
                <a:t>'Cận cao cấp'</a:t>
              </a:r>
              <a:r>
                <a:rPr lang="en-US" sz="1237" b="1">
                  <a:solidFill>
                    <a:srgbClr val="569CD6"/>
                  </a:solidFill>
                  <a:latin typeface="Calibri (MS) Bold"/>
                  <a:ea typeface="Calibri (MS) Bold"/>
                  <a:cs typeface="Calibri (MS) Bold"/>
                  <a:sym typeface="Calibri (MS) Bold"/>
                </a:rPr>
                <a:t>ELSE</a:t>
              </a:r>
              <a:r>
                <a:rPr lang="en-US" sz="1237">
                  <a:solidFill>
                    <a:srgbClr val="A8D8EA"/>
                  </a:solidFill>
                  <a:latin typeface="Calibri (MS)"/>
                  <a:ea typeface="Calibri (MS)"/>
                  <a:cs typeface="Calibri (MS)"/>
                  <a:sym typeface="Calibri (MS)"/>
                </a:rPr>
                <a:t> </a:t>
              </a:r>
              <a:r>
                <a:rPr lang="en-US" sz="1237">
                  <a:solidFill>
                    <a:srgbClr val="CE9178"/>
                  </a:solidFill>
                  <a:latin typeface="Calibri (MS)"/>
                  <a:ea typeface="Calibri (MS)"/>
                  <a:cs typeface="Calibri (MS)"/>
                  <a:sym typeface="Calibri (MS)"/>
                </a:rPr>
                <a:t>'Cao cấp'</a:t>
              </a:r>
              <a:r>
                <a:rPr lang="en-US" sz="1237" b="1">
                  <a:solidFill>
                    <a:srgbClr val="569CD6"/>
                  </a:solidFill>
                  <a:latin typeface="Calibri (MS) Bold"/>
                  <a:ea typeface="Calibri (MS) Bold"/>
                  <a:cs typeface="Calibri (MS) Bold"/>
                  <a:sym typeface="Calibri (MS) Bold"/>
                </a:rPr>
                <a:t>END</a:t>
              </a:r>
              <a:r>
                <a:rPr lang="en-US" sz="1237">
                  <a:solidFill>
                    <a:srgbClr val="A8D8EA"/>
                  </a:solidFill>
                  <a:latin typeface="Calibri (MS)"/>
                  <a:ea typeface="Calibri (MS)"/>
                  <a:cs typeface="Calibri (MS)"/>
                  <a:sym typeface="Calibri (MS)"/>
                </a:rPr>
                <a:t> </a:t>
              </a:r>
              <a:r>
                <a:rPr lang="en-US" sz="1237" b="1">
                  <a:solidFill>
                    <a:srgbClr val="569CD6"/>
                  </a:solidFill>
                  <a:latin typeface="Calibri (MS) Bold"/>
                  <a:ea typeface="Calibri (MS) Bold"/>
                  <a:cs typeface="Calibri (MS) Bold"/>
                  <a:sym typeface="Calibri (MS) Bold"/>
                </a:rPr>
                <a:t>AS</a:t>
              </a:r>
              <a:r>
                <a:rPr lang="en-US" sz="1237">
                  <a:solidFill>
                    <a:srgbClr val="A8D8EA"/>
                  </a:solidFill>
                  <a:latin typeface="Calibri (MS)"/>
                  <a:ea typeface="Calibri (MS)"/>
                  <a:cs typeface="Calibri (MS)"/>
                  <a:sym typeface="Calibri (MS)"/>
                </a:rPr>
                <a:t> phan_khuc</a:t>
              </a:r>
            </a:p>
            <a:p>
              <a:pPr algn="l">
                <a:lnSpc>
                  <a:spcPts val="2103"/>
                </a:lnSpc>
              </a:pPr>
              <a:r>
                <a:rPr lang="en-US" sz="1237">
                  <a:solidFill>
                    <a:srgbClr val="A8D8EA"/>
                  </a:solidFill>
                  <a:latin typeface="Calibri (MS)"/>
                  <a:ea typeface="Calibri (MS)"/>
                  <a:cs typeface="Calibri (MS)"/>
                  <a:sym typeface="Calibri (MS)"/>
                </a:rPr>
                <a:t>  </a:t>
              </a:r>
            </a:p>
            <a:p>
              <a:pPr algn="l">
                <a:lnSpc>
                  <a:spcPts val="2103"/>
                </a:lnSpc>
              </a:pPr>
              <a:r>
                <a:rPr lang="en-US" sz="1237" b="1">
                  <a:solidFill>
                    <a:srgbClr val="569CD6"/>
                  </a:solidFill>
                  <a:latin typeface="Calibri (MS) Bold"/>
                  <a:ea typeface="Calibri (MS) Bold"/>
                  <a:cs typeface="Calibri (MS) Bold"/>
                  <a:sym typeface="Calibri (MS) Bold"/>
                </a:rPr>
                <a:t>FROM</a:t>
              </a:r>
              <a:r>
                <a:rPr lang="en-US" sz="1237">
                  <a:solidFill>
                    <a:srgbClr val="A8D8EA"/>
                  </a:solidFill>
                  <a:latin typeface="Calibri (MS)"/>
                  <a:ea typeface="Calibri (MS)"/>
                  <a:cs typeface="Calibri (MS)"/>
                  <a:sym typeface="Calibri (MS)"/>
                </a:rPr>
                <a:t> ban_hang_dien_may</a:t>
              </a:r>
            </a:p>
            <a:p>
              <a:pPr algn="l">
                <a:lnSpc>
                  <a:spcPts val="2103"/>
                </a:lnSpc>
              </a:pPr>
              <a:r>
                <a:rPr lang="en-US" sz="1237">
                  <a:solidFill>
                    <a:srgbClr val="A8D8EA"/>
                  </a:solidFill>
                  <a:latin typeface="Calibri (MS)"/>
                  <a:ea typeface="Calibri (MS)"/>
                  <a:cs typeface="Calibri (MS)"/>
                  <a:sym typeface="Calibri (MS)"/>
                </a:rPr>
                <a:t>) t</a:t>
              </a:r>
            </a:p>
            <a:p>
              <a:pPr algn="l">
                <a:lnSpc>
                  <a:spcPts val="2103"/>
                </a:lnSpc>
              </a:pPr>
              <a:r>
                <a:rPr lang="en-US" sz="1237" b="1">
                  <a:solidFill>
                    <a:srgbClr val="569CD6"/>
                  </a:solidFill>
                  <a:latin typeface="Calibri (MS) Bold"/>
                  <a:ea typeface="Calibri (MS) Bold"/>
                  <a:cs typeface="Calibri (MS) Bold"/>
                  <a:sym typeface="Calibri (MS) Bold"/>
                </a:rPr>
                <a:t>GROUP BY</a:t>
              </a:r>
              <a:r>
                <a:rPr lang="en-US" sz="1237">
                  <a:solidFill>
                    <a:srgbClr val="A8D8EA"/>
                  </a:solidFill>
                  <a:latin typeface="Calibri (MS)"/>
                  <a:ea typeface="Calibri (MS)"/>
                  <a:cs typeface="Calibri (MS)"/>
                  <a:sym typeface="Calibri (MS)"/>
                </a:rPr>
                <a:t> phan_khuc</a:t>
              </a:r>
            </a:p>
            <a:p>
              <a:pPr algn="l">
                <a:lnSpc>
                  <a:spcPts val="2103"/>
                </a:lnSpc>
              </a:pPr>
              <a:r>
                <a:rPr lang="en-US" sz="1237" b="1">
                  <a:solidFill>
                    <a:srgbClr val="569CD6"/>
                  </a:solidFill>
                  <a:latin typeface="Calibri (MS) Bold"/>
                  <a:ea typeface="Calibri (MS) Bold"/>
                  <a:cs typeface="Calibri (MS) Bold"/>
                  <a:sym typeface="Calibri (MS) Bold"/>
                </a:rPr>
                <a:t>ORDER BY</a:t>
              </a:r>
              <a:r>
                <a:rPr lang="en-US" sz="1237">
                  <a:solidFill>
                    <a:srgbClr val="A8D8EA"/>
                  </a:solidFill>
                  <a:latin typeface="Calibri (MS)"/>
                  <a:ea typeface="Calibri (MS)"/>
                  <a:cs typeface="Calibri (MS)"/>
                  <a:sym typeface="Calibri (MS)"/>
                </a:rPr>
                <a:t> tong_doanh_thu </a:t>
              </a:r>
              <a:r>
                <a:rPr lang="en-US" sz="1237" b="1">
                  <a:solidFill>
                    <a:srgbClr val="569CD6"/>
                  </a:solidFill>
                  <a:latin typeface="Calibri (MS) Bold"/>
                  <a:ea typeface="Calibri (MS) Bold"/>
                  <a:cs typeface="Calibri (MS) Bold"/>
                  <a:sym typeface="Calibri (MS) Bold"/>
                </a:rPr>
                <a:t>DESC</a:t>
              </a:r>
              <a:r>
                <a:rPr lang="en-US" sz="1237">
                  <a:solidFill>
                    <a:srgbClr val="A8D8EA"/>
                  </a:solidFill>
                  <a:latin typeface="Calibri (MS)"/>
                  <a:ea typeface="Calibri (MS)"/>
                  <a:cs typeface="Calibri (MS)"/>
                  <a:sym typeface="Calibri (MS)"/>
                </a:rPr>
                <a:t>;</a:t>
              </a:r>
            </a:p>
          </p:txBody>
        </p:sp>
      </p:grpSp>
      <p:grpSp>
        <p:nvGrpSpPr>
          <p:cNvPr id="55" name="Group 55"/>
          <p:cNvGrpSpPr/>
          <p:nvPr/>
        </p:nvGrpSpPr>
        <p:grpSpPr>
          <a:xfrm>
            <a:off x="1053703" y="8805786"/>
            <a:ext cx="6115050" cy="235744"/>
            <a:chOff x="0" y="0"/>
            <a:chExt cx="8153400" cy="314325"/>
          </a:xfrm>
        </p:grpSpPr>
        <p:sp>
          <p:nvSpPr>
            <p:cNvPr id="56" name="Freeform 56"/>
            <p:cNvSpPr/>
            <p:nvPr/>
          </p:nvSpPr>
          <p:spPr>
            <a:xfrm>
              <a:off x="0" y="0"/>
              <a:ext cx="8153400" cy="314326"/>
            </a:xfrm>
            <a:custGeom>
              <a:avLst/>
              <a:gdLst/>
              <a:ahLst/>
              <a:cxnLst/>
              <a:rect l="l" t="t" r="r" b="b"/>
              <a:pathLst>
                <a:path w="8153400" h="314326">
                  <a:moveTo>
                    <a:pt x="0" y="0"/>
                  </a:moveTo>
                  <a:lnTo>
                    <a:pt x="8153400" y="0"/>
                  </a:lnTo>
                  <a:lnTo>
                    <a:pt x="8153400" y="314326"/>
                  </a:lnTo>
                  <a:lnTo>
                    <a:pt x="0" y="314326"/>
                  </a:lnTo>
                  <a:close/>
                </a:path>
              </a:pathLst>
            </a:custGeom>
            <a:blipFill>
              <a:blip r:embed="rId21">
                <a:alphaModFix amt="0"/>
              </a:blip>
              <a:stretch>
                <a:fillRect t="-455428" b="-455428"/>
              </a:stretch>
            </a:blipFill>
          </p:spPr>
        </p:sp>
        <p:sp>
          <p:nvSpPr>
            <p:cNvPr id="57" name="TextBox 57"/>
            <p:cNvSpPr txBox="1"/>
            <p:nvPr/>
          </p:nvSpPr>
          <p:spPr>
            <a:xfrm>
              <a:off x="0" y="-38100"/>
              <a:ext cx="8153400" cy="352425"/>
            </a:xfrm>
            <a:prstGeom prst="rect">
              <a:avLst/>
            </a:prstGeom>
          </p:spPr>
          <p:txBody>
            <a:bodyPr lIns="0" tIns="0" rIns="0" bIns="0" rtlCol="0" anchor="ctr"/>
            <a:lstStyle/>
            <a:p>
              <a:pPr algn="l">
                <a:lnSpc>
                  <a:spcPts val="1857"/>
                </a:lnSpc>
              </a:pPr>
              <a:r>
                <a:rPr lang="en-US" sz="1237" b="1" spc="54">
                  <a:solidFill>
                    <a:srgbClr val="E67E22"/>
                  </a:solidFill>
                  <a:latin typeface="Roboto Bold"/>
                  <a:ea typeface="Roboto Bold"/>
                  <a:cs typeface="Roboto Bold"/>
                  <a:sym typeface="Roboto Bold"/>
                </a:rPr>
                <a:t>Ý NGHĨA CHIẾN LƯỢC</a:t>
              </a:r>
            </a:p>
          </p:txBody>
        </p:sp>
      </p:grpSp>
      <p:grpSp>
        <p:nvGrpSpPr>
          <p:cNvPr id="58" name="Group 58"/>
          <p:cNvGrpSpPr/>
          <p:nvPr/>
        </p:nvGrpSpPr>
        <p:grpSpPr>
          <a:xfrm>
            <a:off x="771525" y="9127255"/>
            <a:ext cx="6227697" cy="802791"/>
            <a:chOff x="0" y="0"/>
            <a:chExt cx="8153400" cy="1051027"/>
          </a:xfrm>
        </p:grpSpPr>
        <p:sp>
          <p:nvSpPr>
            <p:cNvPr id="59" name="Freeform 59"/>
            <p:cNvSpPr/>
            <p:nvPr/>
          </p:nvSpPr>
          <p:spPr>
            <a:xfrm>
              <a:off x="0" y="0"/>
              <a:ext cx="8153400" cy="1051024"/>
            </a:xfrm>
            <a:custGeom>
              <a:avLst/>
              <a:gdLst/>
              <a:ahLst/>
              <a:cxnLst/>
              <a:rect l="l" t="t" r="r" b="b"/>
              <a:pathLst>
                <a:path w="8153400" h="1051024">
                  <a:moveTo>
                    <a:pt x="0" y="0"/>
                  </a:moveTo>
                  <a:lnTo>
                    <a:pt x="8153400" y="0"/>
                  </a:lnTo>
                  <a:lnTo>
                    <a:pt x="8153400" y="1051024"/>
                  </a:lnTo>
                  <a:lnTo>
                    <a:pt x="0" y="1051024"/>
                  </a:lnTo>
                  <a:close/>
                </a:path>
              </a:pathLst>
            </a:custGeom>
            <a:blipFill>
              <a:blip r:embed="rId21">
                <a:alphaModFix amt="0"/>
              </a:blip>
              <a:stretch>
                <a:fillRect t="-101156" b="-101156"/>
              </a:stretch>
            </a:blipFill>
          </p:spPr>
        </p:sp>
        <p:sp>
          <p:nvSpPr>
            <p:cNvPr id="60" name="TextBox 60"/>
            <p:cNvSpPr txBox="1"/>
            <p:nvPr/>
          </p:nvSpPr>
          <p:spPr>
            <a:xfrm>
              <a:off x="0" y="-47625"/>
              <a:ext cx="8153400" cy="1098652"/>
            </a:xfrm>
            <a:prstGeom prst="rect">
              <a:avLst/>
            </a:prstGeom>
          </p:spPr>
          <p:txBody>
            <a:bodyPr lIns="0" tIns="0" rIns="0" bIns="0" rtlCol="0" anchor="ctr"/>
            <a:lstStyle/>
            <a:p>
              <a:pPr algn="l">
                <a:lnSpc>
                  <a:spcPts val="2070"/>
                </a:lnSpc>
              </a:pPr>
              <a:r>
                <a:rPr lang="en-US" sz="1294">
                  <a:solidFill>
                    <a:srgbClr val="2C3E50"/>
                  </a:solidFill>
                  <a:latin typeface="Roboto"/>
                  <a:ea typeface="Roboto"/>
                  <a:cs typeface="Roboto"/>
                  <a:sym typeface="Roboto"/>
                </a:rPr>
                <a:t>Phân tích cơ cấu tệp khách hàng theo phân khúc giúp áp dụng đúng thông điệp quảng cáo: khuyến mãi giá rẻ cho phân khúc bình dân, ưu đãi trả góp 0% cho cận cao cấp và dịch vụ VIP cao cấp cho nhóm chi tiêu lớn.</a:t>
              </a:r>
            </a:p>
          </p:txBody>
        </p:sp>
      </p:grpSp>
      <p:grpSp>
        <p:nvGrpSpPr>
          <p:cNvPr id="61" name="Group 61"/>
          <p:cNvGrpSpPr/>
          <p:nvPr/>
        </p:nvGrpSpPr>
        <p:grpSpPr>
          <a:xfrm>
            <a:off x="7950994" y="1828800"/>
            <a:ext cx="1783080" cy="278606"/>
            <a:chOff x="0" y="0"/>
            <a:chExt cx="2377440" cy="371475"/>
          </a:xfrm>
        </p:grpSpPr>
        <p:sp>
          <p:nvSpPr>
            <p:cNvPr id="62" name="Freeform 62"/>
            <p:cNvSpPr/>
            <p:nvPr/>
          </p:nvSpPr>
          <p:spPr>
            <a:xfrm>
              <a:off x="0" y="0"/>
              <a:ext cx="2377440" cy="371476"/>
            </a:xfrm>
            <a:custGeom>
              <a:avLst/>
              <a:gdLst/>
              <a:ahLst/>
              <a:cxnLst/>
              <a:rect l="l" t="t" r="r" b="b"/>
              <a:pathLst>
                <a:path w="2377440" h="371476">
                  <a:moveTo>
                    <a:pt x="0" y="0"/>
                  </a:moveTo>
                  <a:lnTo>
                    <a:pt x="2377440" y="0"/>
                  </a:lnTo>
                  <a:lnTo>
                    <a:pt x="2377440" y="371476"/>
                  </a:lnTo>
                  <a:lnTo>
                    <a:pt x="0" y="371476"/>
                  </a:lnTo>
                  <a:close/>
                </a:path>
              </a:pathLst>
            </a:custGeom>
            <a:blipFill>
              <a:blip r:embed="rId21">
                <a:alphaModFix amt="0"/>
              </a:blip>
              <a:stretch>
                <a:fillRect t="-74704" b="-74703"/>
              </a:stretch>
            </a:blipFill>
          </p:spPr>
        </p:sp>
        <p:sp>
          <p:nvSpPr>
            <p:cNvPr id="63" name="TextBox 63"/>
            <p:cNvSpPr txBox="1"/>
            <p:nvPr/>
          </p:nvSpPr>
          <p:spPr>
            <a:xfrm>
              <a:off x="0" y="-47625"/>
              <a:ext cx="2377440" cy="419100"/>
            </a:xfrm>
            <a:prstGeom prst="rect">
              <a:avLst/>
            </a:prstGeom>
          </p:spPr>
          <p:txBody>
            <a:bodyPr lIns="0" tIns="0" rIns="0" bIns="0" rtlCol="0" anchor="ctr"/>
            <a:lstStyle/>
            <a:p>
              <a:pPr algn="l">
                <a:lnSpc>
                  <a:spcPts val="2194"/>
                </a:lnSpc>
              </a:pPr>
              <a:r>
                <a:rPr lang="en-US" sz="1462" b="1">
                  <a:solidFill>
                    <a:srgbClr val="2C3E50"/>
                  </a:solidFill>
                  <a:latin typeface="Roboto Bold"/>
                  <a:ea typeface="Roboto Bold"/>
                  <a:cs typeface="Roboto Bold"/>
                  <a:sym typeface="Roboto Bold"/>
                </a:rPr>
                <a:t>Bình dân</a:t>
              </a:r>
            </a:p>
          </p:txBody>
        </p:sp>
      </p:grpSp>
      <p:grpSp>
        <p:nvGrpSpPr>
          <p:cNvPr id="64" name="Group 64"/>
          <p:cNvGrpSpPr/>
          <p:nvPr/>
        </p:nvGrpSpPr>
        <p:grpSpPr>
          <a:xfrm>
            <a:off x="7615238" y="2193131"/>
            <a:ext cx="3459385" cy="321469"/>
            <a:chOff x="0" y="0"/>
            <a:chExt cx="4612513" cy="428625"/>
          </a:xfrm>
        </p:grpSpPr>
        <p:sp>
          <p:nvSpPr>
            <p:cNvPr id="65" name="Freeform 65"/>
            <p:cNvSpPr/>
            <p:nvPr/>
          </p:nvSpPr>
          <p:spPr>
            <a:xfrm>
              <a:off x="0" y="0"/>
              <a:ext cx="4612518" cy="428626"/>
            </a:xfrm>
            <a:custGeom>
              <a:avLst/>
              <a:gdLst/>
              <a:ahLst/>
              <a:cxnLst/>
              <a:rect l="l" t="t" r="r" b="b"/>
              <a:pathLst>
                <a:path w="4612518" h="428626">
                  <a:moveTo>
                    <a:pt x="0" y="0"/>
                  </a:moveTo>
                  <a:lnTo>
                    <a:pt x="4612518" y="0"/>
                  </a:lnTo>
                  <a:lnTo>
                    <a:pt x="4612518" y="428626"/>
                  </a:lnTo>
                  <a:lnTo>
                    <a:pt x="0" y="428626"/>
                  </a:lnTo>
                  <a:close/>
                </a:path>
              </a:pathLst>
            </a:custGeom>
            <a:blipFill>
              <a:blip r:embed="rId21">
                <a:alphaModFix amt="0"/>
              </a:blip>
              <a:stretch>
                <a:fillRect t="-159681" b="-159681"/>
              </a:stretch>
            </a:blipFill>
          </p:spPr>
        </p:sp>
        <p:sp>
          <p:nvSpPr>
            <p:cNvPr id="66" name="TextBox 66"/>
            <p:cNvSpPr txBox="1"/>
            <p:nvPr/>
          </p:nvSpPr>
          <p:spPr>
            <a:xfrm>
              <a:off x="0" y="-57150"/>
              <a:ext cx="4612513" cy="485775"/>
            </a:xfrm>
            <a:prstGeom prst="rect">
              <a:avLst/>
            </a:prstGeom>
          </p:spPr>
          <p:txBody>
            <a:bodyPr lIns="0" tIns="0" rIns="0" bIns="0" rtlCol="0" anchor="ctr"/>
            <a:lstStyle/>
            <a:p>
              <a:pPr algn="l">
                <a:lnSpc>
                  <a:spcPts val="1857"/>
                </a:lnSpc>
              </a:pPr>
              <a:r>
                <a:rPr lang="en-US" sz="1237">
                  <a:solidFill>
                    <a:srgbClr val="007ACC"/>
                  </a:solidFill>
                  <a:latin typeface="Calibri (MS)"/>
                  <a:ea typeface="Calibri (MS)"/>
                  <a:cs typeface="Calibri (MS)"/>
                  <a:sym typeface="Calibri (MS)"/>
                </a:rPr>
                <a:t>&lt; 5,000,000 VND</a:t>
              </a:r>
            </a:p>
          </p:txBody>
        </p:sp>
      </p:grpSp>
      <p:grpSp>
        <p:nvGrpSpPr>
          <p:cNvPr id="67" name="Group 67"/>
          <p:cNvGrpSpPr/>
          <p:nvPr/>
        </p:nvGrpSpPr>
        <p:grpSpPr>
          <a:xfrm>
            <a:off x="7515225" y="2600325"/>
            <a:ext cx="2971800" cy="942975"/>
            <a:chOff x="0" y="0"/>
            <a:chExt cx="3962400" cy="1257300"/>
          </a:xfrm>
        </p:grpSpPr>
        <p:sp>
          <p:nvSpPr>
            <p:cNvPr id="68" name="Freeform 68"/>
            <p:cNvSpPr/>
            <p:nvPr/>
          </p:nvSpPr>
          <p:spPr>
            <a:xfrm>
              <a:off x="0" y="0"/>
              <a:ext cx="3962400" cy="1257300"/>
            </a:xfrm>
            <a:custGeom>
              <a:avLst/>
              <a:gdLst/>
              <a:ahLst/>
              <a:cxnLst/>
              <a:rect l="l" t="t" r="r" b="b"/>
              <a:pathLst>
                <a:path w="3962400" h="1257300">
                  <a:moveTo>
                    <a:pt x="0" y="0"/>
                  </a:moveTo>
                  <a:lnTo>
                    <a:pt x="3962400" y="0"/>
                  </a:lnTo>
                  <a:lnTo>
                    <a:pt x="3962400" y="1257300"/>
                  </a:lnTo>
                  <a:lnTo>
                    <a:pt x="0" y="1257300"/>
                  </a:lnTo>
                  <a:close/>
                </a:path>
              </a:pathLst>
            </a:custGeom>
            <a:blipFill>
              <a:blip r:embed="rId21">
                <a:alphaModFix amt="0"/>
              </a:blip>
              <a:stretch>
                <a:fillRect t="-11407" b="-11407"/>
              </a:stretch>
            </a:blipFill>
          </p:spPr>
        </p:sp>
        <p:sp>
          <p:nvSpPr>
            <p:cNvPr id="69" name="TextBox 69"/>
            <p:cNvSpPr txBox="1"/>
            <p:nvPr/>
          </p:nvSpPr>
          <p:spPr>
            <a:xfrm>
              <a:off x="0" y="-38100"/>
              <a:ext cx="3962400" cy="1295400"/>
            </a:xfrm>
            <a:prstGeom prst="rect">
              <a:avLst/>
            </a:prstGeom>
          </p:spPr>
          <p:txBody>
            <a:bodyPr lIns="0" tIns="0" rIns="0" bIns="0" rtlCol="0" anchor="ctr"/>
            <a:lstStyle/>
            <a:p>
              <a:pPr algn="l">
                <a:lnSpc>
                  <a:spcPts val="1857"/>
                </a:lnSpc>
              </a:pPr>
              <a:r>
                <a:rPr lang="en-US" sz="1237">
                  <a:solidFill>
                    <a:srgbClr val="555555"/>
                  </a:solidFill>
                  <a:latin typeface="Roboto"/>
                  <a:ea typeface="Roboto"/>
                  <a:cs typeface="Roboto"/>
                  <a:sym typeface="Roboto"/>
                </a:rPr>
                <a:t>Đơn hàng giá trị thấp, tần suất mua cao. Tập trung vào phụ kiện, đồ gia dụng nhỏ. Tiếp cận bằng khuyến mãi giá sốc &amp; flash sale.</a:t>
              </a:r>
            </a:p>
          </p:txBody>
        </p:sp>
      </p:grpSp>
      <p:grpSp>
        <p:nvGrpSpPr>
          <p:cNvPr id="70" name="Group 70"/>
          <p:cNvGrpSpPr/>
          <p:nvPr/>
        </p:nvGrpSpPr>
        <p:grpSpPr>
          <a:xfrm>
            <a:off x="11465719" y="1828800"/>
            <a:ext cx="2451735" cy="278606"/>
            <a:chOff x="0" y="0"/>
            <a:chExt cx="3268980" cy="371475"/>
          </a:xfrm>
        </p:grpSpPr>
        <p:sp>
          <p:nvSpPr>
            <p:cNvPr id="71" name="Freeform 71"/>
            <p:cNvSpPr/>
            <p:nvPr/>
          </p:nvSpPr>
          <p:spPr>
            <a:xfrm>
              <a:off x="0" y="0"/>
              <a:ext cx="3268980" cy="371476"/>
            </a:xfrm>
            <a:custGeom>
              <a:avLst/>
              <a:gdLst/>
              <a:ahLst/>
              <a:cxnLst/>
              <a:rect l="l" t="t" r="r" b="b"/>
              <a:pathLst>
                <a:path w="3268980" h="371476">
                  <a:moveTo>
                    <a:pt x="0" y="0"/>
                  </a:moveTo>
                  <a:lnTo>
                    <a:pt x="3268980" y="0"/>
                  </a:lnTo>
                  <a:lnTo>
                    <a:pt x="3268980" y="371476"/>
                  </a:lnTo>
                  <a:lnTo>
                    <a:pt x="0" y="371476"/>
                  </a:lnTo>
                  <a:close/>
                </a:path>
              </a:pathLst>
            </a:custGeom>
            <a:blipFill>
              <a:blip r:embed="rId21">
                <a:alphaModFix amt="0"/>
              </a:blip>
              <a:stretch>
                <a:fillRect t="-121468" b="-121467"/>
              </a:stretch>
            </a:blipFill>
          </p:spPr>
        </p:sp>
        <p:sp>
          <p:nvSpPr>
            <p:cNvPr id="72" name="TextBox 72"/>
            <p:cNvSpPr txBox="1"/>
            <p:nvPr/>
          </p:nvSpPr>
          <p:spPr>
            <a:xfrm>
              <a:off x="0" y="-47625"/>
              <a:ext cx="3268980" cy="419100"/>
            </a:xfrm>
            <a:prstGeom prst="rect">
              <a:avLst/>
            </a:prstGeom>
          </p:spPr>
          <p:txBody>
            <a:bodyPr lIns="0" tIns="0" rIns="0" bIns="0" rtlCol="0" anchor="ctr"/>
            <a:lstStyle/>
            <a:p>
              <a:pPr algn="l">
                <a:lnSpc>
                  <a:spcPts val="2194"/>
                </a:lnSpc>
              </a:pPr>
              <a:r>
                <a:rPr lang="en-US" sz="1462" b="1">
                  <a:solidFill>
                    <a:srgbClr val="2C3E50"/>
                  </a:solidFill>
                  <a:latin typeface="Roboto Bold"/>
                  <a:ea typeface="Roboto Bold"/>
                  <a:cs typeface="Roboto Bold"/>
                  <a:sym typeface="Roboto Bold"/>
                </a:rPr>
                <a:t>Cận cao cấp</a:t>
              </a:r>
            </a:p>
          </p:txBody>
        </p:sp>
      </p:grpSp>
      <p:grpSp>
        <p:nvGrpSpPr>
          <p:cNvPr id="73" name="Group 73"/>
          <p:cNvGrpSpPr/>
          <p:nvPr/>
        </p:nvGrpSpPr>
        <p:grpSpPr>
          <a:xfrm>
            <a:off x="11129962" y="2193131"/>
            <a:ext cx="4397531" cy="321469"/>
            <a:chOff x="0" y="0"/>
            <a:chExt cx="5863374" cy="428625"/>
          </a:xfrm>
        </p:grpSpPr>
        <p:sp>
          <p:nvSpPr>
            <p:cNvPr id="74" name="Freeform 74"/>
            <p:cNvSpPr/>
            <p:nvPr/>
          </p:nvSpPr>
          <p:spPr>
            <a:xfrm>
              <a:off x="0" y="0"/>
              <a:ext cx="5863370" cy="428626"/>
            </a:xfrm>
            <a:custGeom>
              <a:avLst/>
              <a:gdLst/>
              <a:ahLst/>
              <a:cxnLst/>
              <a:rect l="l" t="t" r="r" b="b"/>
              <a:pathLst>
                <a:path w="5863370" h="428626">
                  <a:moveTo>
                    <a:pt x="0" y="0"/>
                  </a:moveTo>
                  <a:lnTo>
                    <a:pt x="5863370" y="0"/>
                  </a:lnTo>
                  <a:lnTo>
                    <a:pt x="5863370" y="428626"/>
                  </a:lnTo>
                  <a:lnTo>
                    <a:pt x="0" y="428626"/>
                  </a:lnTo>
                  <a:close/>
                </a:path>
              </a:pathLst>
            </a:custGeom>
            <a:blipFill>
              <a:blip r:embed="rId21">
                <a:alphaModFix amt="0"/>
              </a:blip>
              <a:stretch>
                <a:fillRect t="-216544" b="-216544"/>
              </a:stretch>
            </a:blipFill>
          </p:spPr>
        </p:sp>
        <p:sp>
          <p:nvSpPr>
            <p:cNvPr id="75" name="TextBox 75"/>
            <p:cNvSpPr txBox="1"/>
            <p:nvPr/>
          </p:nvSpPr>
          <p:spPr>
            <a:xfrm>
              <a:off x="0" y="-57150"/>
              <a:ext cx="5863374" cy="485775"/>
            </a:xfrm>
            <a:prstGeom prst="rect">
              <a:avLst/>
            </a:prstGeom>
          </p:spPr>
          <p:txBody>
            <a:bodyPr lIns="0" tIns="0" rIns="0" bIns="0" rtlCol="0" anchor="ctr"/>
            <a:lstStyle/>
            <a:p>
              <a:pPr algn="l">
                <a:lnSpc>
                  <a:spcPts val="1857"/>
                </a:lnSpc>
              </a:pPr>
              <a:r>
                <a:rPr lang="en-US" sz="1237">
                  <a:solidFill>
                    <a:srgbClr val="007ACC"/>
                  </a:solidFill>
                  <a:latin typeface="Calibri (MS)"/>
                  <a:ea typeface="Calibri (MS)"/>
                  <a:cs typeface="Calibri (MS)"/>
                  <a:sym typeface="Calibri (MS)"/>
                </a:rPr>
                <a:t>5M – 20,000,000 VND</a:t>
              </a:r>
            </a:p>
          </p:txBody>
        </p:sp>
      </p:grpSp>
      <p:grpSp>
        <p:nvGrpSpPr>
          <p:cNvPr id="76" name="Group 76"/>
          <p:cNvGrpSpPr/>
          <p:nvPr/>
        </p:nvGrpSpPr>
        <p:grpSpPr>
          <a:xfrm>
            <a:off x="11029950" y="2600325"/>
            <a:ext cx="2971800" cy="942975"/>
            <a:chOff x="0" y="0"/>
            <a:chExt cx="3962400" cy="1257300"/>
          </a:xfrm>
        </p:grpSpPr>
        <p:sp>
          <p:nvSpPr>
            <p:cNvPr id="77" name="Freeform 77"/>
            <p:cNvSpPr/>
            <p:nvPr/>
          </p:nvSpPr>
          <p:spPr>
            <a:xfrm>
              <a:off x="0" y="0"/>
              <a:ext cx="3962400" cy="1257300"/>
            </a:xfrm>
            <a:custGeom>
              <a:avLst/>
              <a:gdLst/>
              <a:ahLst/>
              <a:cxnLst/>
              <a:rect l="l" t="t" r="r" b="b"/>
              <a:pathLst>
                <a:path w="3962400" h="1257300">
                  <a:moveTo>
                    <a:pt x="0" y="0"/>
                  </a:moveTo>
                  <a:lnTo>
                    <a:pt x="3962400" y="0"/>
                  </a:lnTo>
                  <a:lnTo>
                    <a:pt x="3962400" y="1257300"/>
                  </a:lnTo>
                  <a:lnTo>
                    <a:pt x="0" y="1257300"/>
                  </a:lnTo>
                  <a:close/>
                </a:path>
              </a:pathLst>
            </a:custGeom>
            <a:blipFill>
              <a:blip r:embed="rId21">
                <a:alphaModFix amt="0"/>
              </a:blip>
              <a:stretch>
                <a:fillRect t="-11407" b="-11407"/>
              </a:stretch>
            </a:blipFill>
          </p:spPr>
        </p:sp>
        <p:sp>
          <p:nvSpPr>
            <p:cNvPr id="78" name="TextBox 78"/>
            <p:cNvSpPr txBox="1"/>
            <p:nvPr/>
          </p:nvSpPr>
          <p:spPr>
            <a:xfrm>
              <a:off x="0" y="-38100"/>
              <a:ext cx="3962400" cy="1295400"/>
            </a:xfrm>
            <a:prstGeom prst="rect">
              <a:avLst/>
            </a:prstGeom>
          </p:spPr>
          <p:txBody>
            <a:bodyPr lIns="0" tIns="0" rIns="0" bIns="0" rtlCol="0" anchor="ctr"/>
            <a:lstStyle/>
            <a:p>
              <a:pPr algn="l">
                <a:lnSpc>
                  <a:spcPts val="1857"/>
                </a:lnSpc>
              </a:pPr>
              <a:r>
                <a:rPr lang="en-US" sz="1237">
                  <a:solidFill>
                    <a:srgbClr val="555555"/>
                  </a:solidFill>
                  <a:latin typeface="Roboto"/>
                  <a:ea typeface="Roboto"/>
                  <a:cs typeface="Roboto"/>
                  <a:sym typeface="Roboto"/>
                </a:rPr>
                <a:t>Phân khúc chủ lực, chiếm tỷ trọng đơn hàng lớn nhất. Điện thoại tầm trung, máy lạnh. Ưu tiên ưu đãi trả góp 0% &amp; bảo hành mở rộng.</a:t>
              </a:r>
            </a:p>
          </p:txBody>
        </p:sp>
      </p:grpSp>
      <p:grpSp>
        <p:nvGrpSpPr>
          <p:cNvPr id="79" name="Group 79"/>
          <p:cNvGrpSpPr/>
          <p:nvPr/>
        </p:nvGrpSpPr>
        <p:grpSpPr>
          <a:xfrm>
            <a:off x="14980444" y="1828800"/>
            <a:ext cx="1560195" cy="278606"/>
            <a:chOff x="0" y="0"/>
            <a:chExt cx="2080260" cy="371475"/>
          </a:xfrm>
        </p:grpSpPr>
        <p:sp>
          <p:nvSpPr>
            <p:cNvPr id="80" name="Freeform 80"/>
            <p:cNvSpPr/>
            <p:nvPr/>
          </p:nvSpPr>
          <p:spPr>
            <a:xfrm>
              <a:off x="0" y="0"/>
              <a:ext cx="2080260" cy="371476"/>
            </a:xfrm>
            <a:custGeom>
              <a:avLst/>
              <a:gdLst/>
              <a:ahLst/>
              <a:cxnLst/>
              <a:rect l="l" t="t" r="r" b="b"/>
              <a:pathLst>
                <a:path w="2080260" h="371476">
                  <a:moveTo>
                    <a:pt x="0" y="0"/>
                  </a:moveTo>
                  <a:lnTo>
                    <a:pt x="2080260" y="0"/>
                  </a:lnTo>
                  <a:lnTo>
                    <a:pt x="2080260" y="371476"/>
                  </a:lnTo>
                  <a:lnTo>
                    <a:pt x="0" y="371476"/>
                  </a:lnTo>
                  <a:close/>
                </a:path>
              </a:pathLst>
            </a:custGeom>
            <a:blipFill>
              <a:blip r:embed="rId21">
                <a:alphaModFix amt="0"/>
              </a:blip>
              <a:stretch>
                <a:fillRect t="-59116" b="-59115"/>
              </a:stretch>
            </a:blipFill>
          </p:spPr>
        </p:sp>
        <p:sp>
          <p:nvSpPr>
            <p:cNvPr id="81" name="TextBox 81"/>
            <p:cNvSpPr txBox="1"/>
            <p:nvPr/>
          </p:nvSpPr>
          <p:spPr>
            <a:xfrm>
              <a:off x="0" y="-47625"/>
              <a:ext cx="2080260" cy="419100"/>
            </a:xfrm>
            <a:prstGeom prst="rect">
              <a:avLst/>
            </a:prstGeom>
          </p:spPr>
          <p:txBody>
            <a:bodyPr lIns="0" tIns="0" rIns="0" bIns="0" rtlCol="0" anchor="ctr"/>
            <a:lstStyle/>
            <a:p>
              <a:pPr algn="l">
                <a:lnSpc>
                  <a:spcPts val="2194"/>
                </a:lnSpc>
              </a:pPr>
              <a:r>
                <a:rPr lang="en-US" sz="1462" b="1">
                  <a:solidFill>
                    <a:srgbClr val="2C3E50"/>
                  </a:solidFill>
                  <a:latin typeface="Roboto Bold"/>
                  <a:ea typeface="Roboto Bold"/>
                  <a:cs typeface="Roboto Bold"/>
                  <a:sym typeface="Roboto Bold"/>
                </a:rPr>
                <a:t>Cao cấp</a:t>
              </a:r>
            </a:p>
          </p:txBody>
        </p:sp>
      </p:grpSp>
      <p:grpSp>
        <p:nvGrpSpPr>
          <p:cNvPr id="82" name="Group 82"/>
          <p:cNvGrpSpPr/>
          <p:nvPr/>
        </p:nvGrpSpPr>
        <p:grpSpPr>
          <a:xfrm>
            <a:off x="14644688" y="2193131"/>
            <a:ext cx="3643312" cy="321469"/>
            <a:chOff x="0" y="0"/>
            <a:chExt cx="4857750" cy="428625"/>
          </a:xfrm>
        </p:grpSpPr>
        <p:sp>
          <p:nvSpPr>
            <p:cNvPr id="83" name="Freeform 83"/>
            <p:cNvSpPr/>
            <p:nvPr/>
          </p:nvSpPr>
          <p:spPr>
            <a:xfrm>
              <a:off x="0" y="0"/>
              <a:ext cx="4857750" cy="428626"/>
            </a:xfrm>
            <a:custGeom>
              <a:avLst/>
              <a:gdLst/>
              <a:ahLst/>
              <a:cxnLst/>
              <a:rect l="l" t="t" r="r" b="b"/>
              <a:pathLst>
                <a:path w="4857750" h="428626">
                  <a:moveTo>
                    <a:pt x="0" y="0"/>
                  </a:moveTo>
                  <a:lnTo>
                    <a:pt x="4857750" y="0"/>
                  </a:lnTo>
                  <a:lnTo>
                    <a:pt x="4857750" y="428626"/>
                  </a:lnTo>
                  <a:lnTo>
                    <a:pt x="0" y="428626"/>
                  </a:lnTo>
                  <a:close/>
                </a:path>
              </a:pathLst>
            </a:custGeom>
            <a:blipFill>
              <a:blip r:embed="rId21">
                <a:alphaModFix amt="0"/>
              </a:blip>
              <a:stretch>
                <a:fillRect t="-170830" b="-170829"/>
              </a:stretch>
            </a:blipFill>
          </p:spPr>
        </p:sp>
        <p:sp>
          <p:nvSpPr>
            <p:cNvPr id="84" name="TextBox 84"/>
            <p:cNvSpPr txBox="1"/>
            <p:nvPr/>
          </p:nvSpPr>
          <p:spPr>
            <a:xfrm>
              <a:off x="0" y="-57150"/>
              <a:ext cx="4857750" cy="485775"/>
            </a:xfrm>
            <a:prstGeom prst="rect">
              <a:avLst/>
            </a:prstGeom>
          </p:spPr>
          <p:txBody>
            <a:bodyPr lIns="0" tIns="0" rIns="0" bIns="0" rtlCol="0" anchor="ctr"/>
            <a:lstStyle/>
            <a:p>
              <a:pPr algn="l">
                <a:lnSpc>
                  <a:spcPts val="1857"/>
                </a:lnSpc>
              </a:pPr>
              <a:r>
                <a:rPr lang="en-US" sz="1237">
                  <a:solidFill>
                    <a:srgbClr val="007ACC"/>
                  </a:solidFill>
                  <a:latin typeface="Calibri (MS)"/>
                  <a:ea typeface="Calibri (MS)"/>
                  <a:cs typeface="Calibri (MS)"/>
                  <a:sym typeface="Calibri (MS)"/>
                </a:rPr>
                <a:t>&gt; 20,000,000 VND</a:t>
              </a:r>
            </a:p>
          </p:txBody>
        </p:sp>
      </p:grpSp>
      <p:grpSp>
        <p:nvGrpSpPr>
          <p:cNvPr id="85" name="Group 85"/>
          <p:cNvGrpSpPr/>
          <p:nvPr/>
        </p:nvGrpSpPr>
        <p:grpSpPr>
          <a:xfrm>
            <a:off x="14544675" y="2600325"/>
            <a:ext cx="2971800" cy="942975"/>
            <a:chOff x="0" y="0"/>
            <a:chExt cx="3962400" cy="1257300"/>
          </a:xfrm>
        </p:grpSpPr>
        <p:sp>
          <p:nvSpPr>
            <p:cNvPr id="86" name="Freeform 86"/>
            <p:cNvSpPr/>
            <p:nvPr/>
          </p:nvSpPr>
          <p:spPr>
            <a:xfrm>
              <a:off x="0" y="0"/>
              <a:ext cx="3962400" cy="1257300"/>
            </a:xfrm>
            <a:custGeom>
              <a:avLst/>
              <a:gdLst/>
              <a:ahLst/>
              <a:cxnLst/>
              <a:rect l="l" t="t" r="r" b="b"/>
              <a:pathLst>
                <a:path w="3962400" h="1257300">
                  <a:moveTo>
                    <a:pt x="0" y="0"/>
                  </a:moveTo>
                  <a:lnTo>
                    <a:pt x="3962400" y="0"/>
                  </a:lnTo>
                  <a:lnTo>
                    <a:pt x="3962400" y="1257300"/>
                  </a:lnTo>
                  <a:lnTo>
                    <a:pt x="0" y="1257300"/>
                  </a:lnTo>
                  <a:close/>
                </a:path>
              </a:pathLst>
            </a:custGeom>
            <a:blipFill>
              <a:blip r:embed="rId21">
                <a:alphaModFix amt="0"/>
              </a:blip>
              <a:stretch>
                <a:fillRect t="-11407" b="-11407"/>
              </a:stretch>
            </a:blipFill>
          </p:spPr>
        </p:sp>
        <p:sp>
          <p:nvSpPr>
            <p:cNvPr id="87" name="TextBox 87"/>
            <p:cNvSpPr txBox="1"/>
            <p:nvPr/>
          </p:nvSpPr>
          <p:spPr>
            <a:xfrm>
              <a:off x="0" y="-38100"/>
              <a:ext cx="3962400" cy="1295400"/>
            </a:xfrm>
            <a:prstGeom prst="rect">
              <a:avLst/>
            </a:prstGeom>
          </p:spPr>
          <p:txBody>
            <a:bodyPr lIns="0" tIns="0" rIns="0" bIns="0" rtlCol="0" anchor="ctr"/>
            <a:lstStyle/>
            <a:p>
              <a:pPr algn="l">
                <a:lnSpc>
                  <a:spcPts val="1857"/>
                </a:lnSpc>
              </a:pPr>
              <a:r>
                <a:rPr lang="en-US" sz="1237">
                  <a:solidFill>
                    <a:srgbClr val="555555"/>
                  </a:solidFill>
                  <a:latin typeface="Roboto"/>
                  <a:ea typeface="Roboto"/>
                  <a:cs typeface="Roboto"/>
                  <a:sym typeface="Roboto"/>
                </a:rPr>
                <a:t>Đơn hàng giá trị cao, tần suất thấp nhưng đóng góp doanh thu lớn. Laptop cao cấp, TV OLED. Tiếp cận bằng dịch vụ VIP &amp; tư vấn 1-1.</a:t>
              </a:r>
            </a:p>
          </p:txBody>
        </p:sp>
      </p:grpSp>
      <p:grpSp>
        <p:nvGrpSpPr>
          <p:cNvPr id="88" name="Group 88"/>
          <p:cNvGrpSpPr/>
          <p:nvPr/>
        </p:nvGrpSpPr>
        <p:grpSpPr>
          <a:xfrm>
            <a:off x="7786688" y="4000500"/>
            <a:ext cx="10184130" cy="235744"/>
            <a:chOff x="0" y="0"/>
            <a:chExt cx="13578840" cy="314325"/>
          </a:xfrm>
        </p:grpSpPr>
        <p:sp>
          <p:nvSpPr>
            <p:cNvPr id="89" name="Freeform 89"/>
            <p:cNvSpPr/>
            <p:nvPr/>
          </p:nvSpPr>
          <p:spPr>
            <a:xfrm>
              <a:off x="0" y="0"/>
              <a:ext cx="13578839" cy="314326"/>
            </a:xfrm>
            <a:custGeom>
              <a:avLst/>
              <a:gdLst/>
              <a:ahLst/>
              <a:cxnLst/>
              <a:rect l="l" t="t" r="r" b="b"/>
              <a:pathLst>
                <a:path w="13578839" h="314326">
                  <a:moveTo>
                    <a:pt x="0" y="0"/>
                  </a:moveTo>
                  <a:lnTo>
                    <a:pt x="13578839" y="0"/>
                  </a:lnTo>
                  <a:lnTo>
                    <a:pt x="13578839" y="314326"/>
                  </a:lnTo>
                  <a:lnTo>
                    <a:pt x="0" y="314326"/>
                  </a:lnTo>
                  <a:close/>
                </a:path>
              </a:pathLst>
            </a:custGeom>
            <a:blipFill>
              <a:blip r:embed="rId21">
                <a:alphaModFix amt="0"/>
              </a:blip>
              <a:stretch>
                <a:fillRect t="-791751" b="-791750"/>
              </a:stretch>
            </a:blipFill>
          </p:spPr>
        </p:sp>
        <p:sp>
          <p:nvSpPr>
            <p:cNvPr id="90" name="TextBox 90"/>
            <p:cNvSpPr txBox="1"/>
            <p:nvPr/>
          </p:nvSpPr>
          <p:spPr>
            <a:xfrm>
              <a:off x="0" y="-38100"/>
              <a:ext cx="13578840" cy="352425"/>
            </a:xfrm>
            <a:prstGeom prst="rect">
              <a:avLst/>
            </a:prstGeom>
          </p:spPr>
          <p:txBody>
            <a:bodyPr lIns="0" tIns="0" rIns="0" bIns="0" rtlCol="0" anchor="ctr"/>
            <a:lstStyle/>
            <a:p>
              <a:pPr algn="l">
                <a:lnSpc>
                  <a:spcPts val="1857"/>
                </a:lnSpc>
              </a:pPr>
              <a:r>
                <a:rPr lang="en-US" sz="1237" b="1" spc="45">
                  <a:solidFill>
                    <a:srgbClr val="2C3E50"/>
                  </a:solidFill>
                  <a:latin typeface="Roboto Bold"/>
                  <a:ea typeface="Roboto Bold"/>
                  <a:cs typeface="Roboto Bold"/>
                  <a:sym typeface="Roboto Bold"/>
                </a:rPr>
                <a:t>PHÂN BỔ ĐƠN HÀNG &amp; DOANH THU THEO PHÂN KHÚC (MINH HỌA)</a:t>
              </a:r>
            </a:p>
          </p:txBody>
        </p:sp>
      </p:gr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sp>
      <p:grpSp>
        <p:nvGrpSpPr>
          <p:cNvPr id="3" name="Group 3"/>
          <p:cNvGrpSpPr/>
          <p:nvPr/>
        </p:nvGrpSpPr>
        <p:grpSpPr>
          <a:xfrm>
            <a:off x="0" y="0"/>
            <a:ext cx="18288000" cy="10287000"/>
            <a:chOff x="0" y="0"/>
            <a:chExt cx="24384000" cy="13716000"/>
          </a:xfrm>
        </p:grpSpPr>
        <p:sp>
          <p:nvSpPr>
            <p:cNvPr id="4" name="Freeform 4"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5" name="Group 5"/>
          <p:cNvGrpSpPr/>
          <p:nvPr/>
        </p:nvGrpSpPr>
        <p:grpSpPr>
          <a:xfrm>
            <a:off x="0" y="0"/>
            <a:ext cx="18288000" cy="10287000"/>
            <a:chOff x="0" y="0"/>
            <a:chExt cx="24384000" cy="13716000"/>
          </a:xfrm>
        </p:grpSpPr>
        <p:sp>
          <p:nvSpPr>
            <p:cNvPr id="6" name="Freeform 6" descr="preencoded.png"/>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3"/>
              <a:stretch>
                <a:fillRect/>
              </a:stretch>
            </a:blipFill>
          </p:spPr>
        </p:sp>
      </p:grpSp>
      <p:grpSp>
        <p:nvGrpSpPr>
          <p:cNvPr id="7" name="Group 7"/>
          <p:cNvGrpSpPr/>
          <p:nvPr/>
        </p:nvGrpSpPr>
        <p:grpSpPr>
          <a:xfrm>
            <a:off x="571500" y="428625"/>
            <a:ext cx="17145000" cy="1314450"/>
            <a:chOff x="0" y="0"/>
            <a:chExt cx="22860000" cy="1752600"/>
          </a:xfrm>
        </p:grpSpPr>
        <p:sp>
          <p:nvSpPr>
            <p:cNvPr id="8" name="Freeform 8" descr="preencoded.png"/>
            <p:cNvSpPr/>
            <p:nvPr/>
          </p:nvSpPr>
          <p:spPr>
            <a:xfrm>
              <a:off x="0" y="0"/>
              <a:ext cx="22860000" cy="1752600"/>
            </a:xfrm>
            <a:custGeom>
              <a:avLst/>
              <a:gdLst/>
              <a:ahLst/>
              <a:cxnLst/>
              <a:rect l="l" t="t" r="r" b="b"/>
              <a:pathLst>
                <a:path w="22860000" h="1752600">
                  <a:moveTo>
                    <a:pt x="0" y="0"/>
                  </a:moveTo>
                  <a:lnTo>
                    <a:pt x="22860000" y="0"/>
                  </a:lnTo>
                  <a:lnTo>
                    <a:pt x="22860000" y="1752600"/>
                  </a:lnTo>
                  <a:lnTo>
                    <a:pt x="0" y="1752600"/>
                  </a:lnTo>
                  <a:lnTo>
                    <a:pt x="0" y="0"/>
                  </a:lnTo>
                  <a:close/>
                </a:path>
              </a:pathLst>
            </a:custGeom>
            <a:blipFill>
              <a:blip r:embed="rId4"/>
              <a:stretch>
                <a:fillRect/>
              </a:stretch>
            </a:blipFill>
          </p:spPr>
        </p:sp>
      </p:grpSp>
      <p:grpSp>
        <p:nvGrpSpPr>
          <p:cNvPr id="9" name="Group 9"/>
          <p:cNvGrpSpPr/>
          <p:nvPr/>
        </p:nvGrpSpPr>
        <p:grpSpPr>
          <a:xfrm>
            <a:off x="571500" y="2071688"/>
            <a:ext cx="428625" cy="342900"/>
            <a:chOff x="0" y="0"/>
            <a:chExt cx="571500" cy="457200"/>
          </a:xfrm>
        </p:grpSpPr>
        <p:sp>
          <p:nvSpPr>
            <p:cNvPr id="10" name="Freeform 10" descr="preencoded.png"/>
            <p:cNvSpPr/>
            <p:nvPr/>
          </p:nvSpPr>
          <p:spPr>
            <a:xfrm>
              <a:off x="0" y="0"/>
              <a:ext cx="571500" cy="457200"/>
            </a:xfrm>
            <a:custGeom>
              <a:avLst/>
              <a:gdLst/>
              <a:ahLst/>
              <a:cxnLst/>
              <a:rect l="l" t="t" r="r" b="b"/>
              <a:pathLst>
                <a:path w="571500" h="457200">
                  <a:moveTo>
                    <a:pt x="0" y="0"/>
                  </a:moveTo>
                  <a:lnTo>
                    <a:pt x="571500" y="0"/>
                  </a:lnTo>
                  <a:lnTo>
                    <a:pt x="571500" y="457200"/>
                  </a:lnTo>
                  <a:lnTo>
                    <a:pt x="0" y="457200"/>
                  </a:lnTo>
                  <a:lnTo>
                    <a:pt x="0" y="0"/>
                  </a:lnTo>
                  <a:close/>
                </a:path>
              </a:pathLst>
            </a:custGeom>
            <a:blipFill>
              <a:blip r:embed="rId5"/>
              <a:stretch>
                <a:fillRect/>
              </a:stretch>
            </a:blipFill>
          </p:spPr>
        </p:sp>
      </p:grpSp>
      <p:grpSp>
        <p:nvGrpSpPr>
          <p:cNvPr id="11" name="Group 11"/>
          <p:cNvGrpSpPr/>
          <p:nvPr/>
        </p:nvGrpSpPr>
        <p:grpSpPr>
          <a:xfrm>
            <a:off x="571500" y="2814638"/>
            <a:ext cx="8358188" cy="2109864"/>
            <a:chOff x="0" y="0"/>
            <a:chExt cx="11144250" cy="2813152"/>
          </a:xfrm>
        </p:grpSpPr>
        <p:sp>
          <p:nvSpPr>
            <p:cNvPr id="12" name="Freeform 12" descr="preencoded.png"/>
            <p:cNvSpPr/>
            <p:nvPr/>
          </p:nvSpPr>
          <p:spPr>
            <a:xfrm>
              <a:off x="0" y="0"/>
              <a:ext cx="11144250" cy="2813177"/>
            </a:xfrm>
            <a:custGeom>
              <a:avLst/>
              <a:gdLst/>
              <a:ahLst/>
              <a:cxnLst/>
              <a:rect l="l" t="t" r="r" b="b"/>
              <a:pathLst>
                <a:path w="11144250" h="2813177">
                  <a:moveTo>
                    <a:pt x="0" y="0"/>
                  </a:moveTo>
                  <a:lnTo>
                    <a:pt x="11144250" y="0"/>
                  </a:lnTo>
                  <a:lnTo>
                    <a:pt x="11144250" y="2813177"/>
                  </a:lnTo>
                  <a:lnTo>
                    <a:pt x="0" y="2813177"/>
                  </a:lnTo>
                  <a:lnTo>
                    <a:pt x="0" y="0"/>
                  </a:lnTo>
                  <a:close/>
                </a:path>
              </a:pathLst>
            </a:custGeom>
            <a:blipFill>
              <a:blip r:embed="rId6"/>
              <a:stretch>
                <a:fillRect l="-228" r="-228"/>
              </a:stretch>
            </a:blipFill>
          </p:spPr>
        </p:sp>
      </p:grpSp>
      <p:grpSp>
        <p:nvGrpSpPr>
          <p:cNvPr id="13" name="Group 13"/>
          <p:cNvGrpSpPr/>
          <p:nvPr/>
        </p:nvGrpSpPr>
        <p:grpSpPr>
          <a:xfrm>
            <a:off x="914400" y="3323625"/>
            <a:ext cx="321469" cy="262976"/>
            <a:chOff x="0" y="0"/>
            <a:chExt cx="428625" cy="350634"/>
          </a:xfrm>
        </p:grpSpPr>
        <p:sp>
          <p:nvSpPr>
            <p:cNvPr id="14" name="Freeform 14"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7"/>
              <a:stretch>
                <a:fillRect t="-7" b="-7"/>
              </a:stretch>
            </a:blipFill>
          </p:spPr>
        </p:sp>
      </p:grpSp>
      <p:grpSp>
        <p:nvGrpSpPr>
          <p:cNvPr id="15" name="Group 15"/>
          <p:cNvGrpSpPr/>
          <p:nvPr/>
        </p:nvGrpSpPr>
        <p:grpSpPr>
          <a:xfrm>
            <a:off x="571500" y="5210251"/>
            <a:ext cx="8358188" cy="2109864"/>
            <a:chOff x="0" y="0"/>
            <a:chExt cx="11144250" cy="2813152"/>
          </a:xfrm>
        </p:grpSpPr>
        <p:sp>
          <p:nvSpPr>
            <p:cNvPr id="16" name="Freeform 16" descr="preencoded.png"/>
            <p:cNvSpPr/>
            <p:nvPr/>
          </p:nvSpPr>
          <p:spPr>
            <a:xfrm>
              <a:off x="0" y="0"/>
              <a:ext cx="11144250" cy="2813177"/>
            </a:xfrm>
            <a:custGeom>
              <a:avLst/>
              <a:gdLst/>
              <a:ahLst/>
              <a:cxnLst/>
              <a:rect l="l" t="t" r="r" b="b"/>
              <a:pathLst>
                <a:path w="11144250" h="2813177">
                  <a:moveTo>
                    <a:pt x="0" y="0"/>
                  </a:moveTo>
                  <a:lnTo>
                    <a:pt x="11144250" y="0"/>
                  </a:lnTo>
                  <a:lnTo>
                    <a:pt x="11144250" y="2813177"/>
                  </a:lnTo>
                  <a:lnTo>
                    <a:pt x="0" y="2813177"/>
                  </a:lnTo>
                  <a:lnTo>
                    <a:pt x="0" y="0"/>
                  </a:lnTo>
                  <a:close/>
                </a:path>
              </a:pathLst>
            </a:custGeom>
            <a:blipFill>
              <a:blip r:embed="rId8"/>
              <a:stretch>
                <a:fillRect t="-111" b="-110"/>
              </a:stretch>
            </a:blipFill>
          </p:spPr>
        </p:sp>
      </p:grpSp>
      <p:grpSp>
        <p:nvGrpSpPr>
          <p:cNvPr id="17" name="Group 17"/>
          <p:cNvGrpSpPr/>
          <p:nvPr/>
        </p:nvGrpSpPr>
        <p:grpSpPr>
          <a:xfrm>
            <a:off x="914400" y="5719239"/>
            <a:ext cx="321469" cy="262976"/>
            <a:chOff x="0" y="0"/>
            <a:chExt cx="428625" cy="350634"/>
          </a:xfrm>
        </p:grpSpPr>
        <p:sp>
          <p:nvSpPr>
            <p:cNvPr id="18" name="Freeform 18"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9"/>
              <a:stretch>
                <a:fillRect t="-7" b="-7"/>
              </a:stretch>
            </a:blipFill>
          </p:spPr>
        </p:sp>
      </p:grpSp>
      <p:grpSp>
        <p:nvGrpSpPr>
          <p:cNvPr id="19" name="Group 19"/>
          <p:cNvGrpSpPr/>
          <p:nvPr/>
        </p:nvGrpSpPr>
        <p:grpSpPr>
          <a:xfrm>
            <a:off x="571500" y="7605865"/>
            <a:ext cx="8358188" cy="2109864"/>
            <a:chOff x="0" y="0"/>
            <a:chExt cx="11144250" cy="2813152"/>
          </a:xfrm>
        </p:grpSpPr>
        <p:sp>
          <p:nvSpPr>
            <p:cNvPr id="20" name="Freeform 20" descr="preencoded.png"/>
            <p:cNvSpPr/>
            <p:nvPr/>
          </p:nvSpPr>
          <p:spPr>
            <a:xfrm>
              <a:off x="0" y="0"/>
              <a:ext cx="11144250" cy="2813177"/>
            </a:xfrm>
            <a:custGeom>
              <a:avLst/>
              <a:gdLst/>
              <a:ahLst/>
              <a:cxnLst/>
              <a:rect l="l" t="t" r="r" b="b"/>
              <a:pathLst>
                <a:path w="11144250" h="2813177">
                  <a:moveTo>
                    <a:pt x="0" y="0"/>
                  </a:moveTo>
                  <a:lnTo>
                    <a:pt x="11144250" y="0"/>
                  </a:lnTo>
                  <a:lnTo>
                    <a:pt x="11144250" y="2813177"/>
                  </a:lnTo>
                  <a:lnTo>
                    <a:pt x="0" y="2813177"/>
                  </a:lnTo>
                  <a:lnTo>
                    <a:pt x="0" y="0"/>
                  </a:lnTo>
                  <a:close/>
                </a:path>
              </a:pathLst>
            </a:custGeom>
            <a:blipFill>
              <a:blip r:embed="rId10"/>
              <a:stretch>
                <a:fillRect t="-449" b="-448"/>
              </a:stretch>
            </a:blipFill>
          </p:spPr>
        </p:sp>
      </p:grpSp>
      <p:grpSp>
        <p:nvGrpSpPr>
          <p:cNvPr id="21" name="Group 21"/>
          <p:cNvGrpSpPr/>
          <p:nvPr/>
        </p:nvGrpSpPr>
        <p:grpSpPr>
          <a:xfrm>
            <a:off x="914400" y="8114852"/>
            <a:ext cx="321469" cy="262976"/>
            <a:chOff x="0" y="0"/>
            <a:chExt cx="428625" cy="350634"/>
          </a:xfrm>
        </p:grpSpPr>
        <p:sp>
          <p:nvSpPr>
            <p:cNvPr id="22" name="Freeform 22"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1"/>
              <a:stretch>
                <a:fillRect t="-7" b="-7"/>
              </a:stretch>
            </a:blipFill>
          </p:spPr>
        </p:sp>
      </p:grpSp>
      <p:grpSp>
        <p:nvGrpSpPr>
          <p:cNvPr id="23" name="Group 23"/>
          <p:cNvGrpSpPr/>
          <p:nvPr/>
        </p:nvGrpSpPr>
        <p:grpSpPr>
          <a:xfrm>
            <a:off x="9358312" y="2071688"/>
            <a:ext cx="428625" cy="342900"/>
            <a:chOff x="0" y="0"/>
            <a:chExt cx="571500" cy="457200"/>
          </a:xfrm>
        </p:grpSpPr>
        <p:sp>
          <p:nvSpPr>
            <p:cNvPr id="24" name="Freeform 24" descr="preencoded.png"/>
            <p:cNvSpPr/>
            <p:nvPr/>
          </p:nvSpPr>
          <p:spPr>
            <a:xfrm>
              <a:off x="0" y="0"/>
              <a:ext cx="571500" cy="457200"/>
            </a:xfrm>
            <a:custGeom>
              <a:avLst/>
              <a:gdLst/>
              <a:ahLst/>
              <a:cxnLst/>
              <a:rect l="l" t="t" r="r" b="b"/>
              <a:pathLst>
                <a:path w="571500" h="457200">
                  <a:moveTo>
                    <a:pt x="0" y="0"/>
                  </a:moveTo>
                  <a:lnTo>
                    <a:pt x="571500" y="0"/>
                  </a:lnTo>
                  <a:lnTo>
                    <a:pt x="571500" y="457200"/>
                  </a:lnTo>
                  <a:lnTo>
                    <a:pt x="0" y="457200"/>
                  </a:lnTo>
                  <a:lnTo>
                    <a:pt x="0" y="0"/>
                  </a:lnTo>
                  <a:close/>
                </a:path>
              </a:pathLst>
            </a:custGeom>
            <a:blipFill>
              <a:blip r:embed="rId12"/>
              <a:stretch>
                <a:fillRect/>
              </a:stretch>
            </a:blipFill>
          </p:spPr>
        </p:sp>
      </p:grpSp>
      <p:grpSp>
        <p:nvGrpSpPr>
          <p:cNvPr id="25" name="Group 25"/>
          <p:cNvGrpSpPr/>
          <p:nvPr/>
        </p:nvGrpSpPr>
        <p:grpSpPr>
          <a:xfrm>
            <a:off x="9358312" y="2814638"/>
            <a:ext cx="8358188" cy="2109864"/>
            <a:chOff x="0" y="0"/>
            <a:chExt cx="11144250" cy="2813152"/>
          </a:xfrm>
        </p:grpSpPr>
        <p:sp>
          <p:nvSpPr>
            <p:cNvPr id="26" name="Freeform 26" descr="preencoded.png"/>
            <p:cNvSpPr/>
            <p:nvPr/>
          </p:nvSpPr>
          <p:spPr>
            <a:xfrm>
              <a:off x="0" y="0"/>
              <a:ext cx="11144250" cy="2813177"/>
            </a:xfrm>
            <a:custGeom>
              <a:avLst/>
              <a:gdLst/>
              <a:ahLst/>
              <a:cxnLst/>
              <a:rect l="l" t="t" r="r" b="b"/>
              <a:pathLst>
                <a:path w="11144250" h="2813177">
                  <a:moveTo>
                    <a:pt x="0" y="0"/>
                  </a:moveTo>
                  <a:lnTo>
                    <a:pt x="11144250" y="0"/>
                  </a:lnTo>
                  <a:lnTo>
                    <a:pt x="11144250" y="2813177"/>
                  </a:lnTo>
                  <a:lnTo>
                    <a:pt x="0" y="2813177"/>
                  </a:lnTo>
                  <a:lnTo>
                    <a:pt x="0" y="0"/>
                  </a:lnTo>
                  <a:close/>
                </a:path>
              </a:pathLst>
            </a:custGeom>
            <a:blipFill>
              <a:blip r:embed="rId13"/>
              <a:stretch>
                <a:fillRect l="-228" r="-228"/>
              </a:stretch>
            </a:blipFill>
          </p:spPr>
        </p:sp>
      </p:grpSp>
      <p:grpSp>
        <p:nvGrpSpPr>
          <p:cNvPr id="27" name="Group 27"/>
          <p:cNvGrpSpPr/>
          <p:nvPr/>
        </p:nvGrpSpPr>
        <p:grpSpPr>
          <a:xfrm>
            <a:off x="9701212" y="3323625"/>
            <a:ext cx="321469" cy="262976"/>
            <a:chOff x="0" y="0"/>
            <a:chExt cx="428625" cy="350634"/>
          </a:xfrm>
        </p:grpSpPr>
        <p:sp>
          <p:nvSpPr>
            <p:cNvPr id="28" name="Freeform 28"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4"/>
              <a:stretch>
                <a:fillRect t="-7" b="-7"/>
              </a:stretch>
            </a:blipFill>
          </p:spPr>
        </p:sp>
      </p:grpSp>
      <p:grpSp>
        <p:nvGrpSpPr>
          <p:cNvPr id="29" name="Group 29"/>
          <p:cNvGrpSpPr/>
          <p:nvPr/>
        </p:nvGrpSpPr>
        <p:grpSpPr>
          <a:xfrm>
            <a:off x="9358312" y="5210251"/>
            <a:ext cx="8358188" cy="2109864"/>
            <a:chOff x="0" y="0"/>
            <a:chExt cx="11144250" cy="2813152"/>
          </a:xfrm>
        </p:grpSpPr>
        <p:sp>
          <p:nvSpPr>
            <p:cNvPr id="30" name="Freeform 30" descr="preencoded.png"/>
            <p:cNvSpPr/>
            <p:nvPr/>
          </p:nvSpPr>
          <p:spPr>
            <a:xfrm>
              <a:off x="0" y="0"/>
              <a:ext cx="11144250" cy="2813177"/>
            </a:xfrm>
            <a:custGeom>
              <a:avLst/>
              <a:gdLst/>
              <a:ahLst/>
              <a:cxnLst/>
              <a:rect l="l" t="t" r="r" b="b"/>
              <a:pathLst>
                <a:path w="11144250" h="2813177">
                  <a:moveTo>
                    <a:pt x="0" y="0"/>
                  </a:moveTo>
                  <a:lnTo>
                    <a:pt x="11144250" y="0"/>
                  </a:lnTo>
                  <a:lnTo>
                    <a:pt x="11144250" y="2813177"/>
                  </a:lnTo>
                  <a:lnTo>
                    <a:pt x="0" y="2813177"/>
                  </a:lnTo>
                  <a:lnTo>
                    <a:pt x="0" y="0"/>
                  </a:lnTo>
                  <a:close/>
                </a:path>
              </a:pathLst>
            </a:custGeom>
            <a:blipFill>
              <a:blip r:embed="rId15"/>
              <a:stretch>
                <a:fillRect t="-111" b="-110"/>
              </a:stretch>
            </a:blipFill>
          </p:spPr>
        </p:sp>
      </p:grpSp>
      <p:grpSp>
        <p:nvGrpSpPr>
          <p:cNvPr id="31" name="Group 31"/>
          <p:cNvGrpSpPr/>
          <p:nvPr/>
        </p:nvGrpSpPr>
        <p:grpSpPr>
          <a:xfrm>
            <a:off x="9701212" y="5719239"/>
            <a:ext cx="321469" cy="262976"/>
            <a:chOff x="0" y="0"/>
            <a:chExt cx="428625" cy="350634"/>
          </a:xfrm>
        </p:grpSpPr>
        <p:sp>
          <p:nvSpPr>
            <p:cNvPr id="32" name="Freeform 32"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6"/>
              <a:stretch>
                <a:fillRect t="-7" b="-7"/>
              </a:stretch>
            </a:blipFill>
          </p:spPr>
        </p:sp>
      </p:grpSp>
      <p:grpSp>
        <p:nvGrpSpPr>
          <p:cNvPr id="33" name="Group 33"/>
          <p:cNvGrpSpPr/>
          <p:nvPr/>
        </p:nvGrpSpPr>
        <p:grpSpPr>
          <a:xfrm>
            <a:off x="9358312" y="7605865"/>
            <a:ext cx="8358188" cy="2109864"/>
            <a:chOff x="0" y="0"/>
            <a:chExt cx="11144250" cy="2813152"/>
          </a:xfrm>
        </p:grpSpPr>
        <p:sp>
          <p:nvSpPr>
            <p:cNvPr id="34" name="Freeform 34" descr="preencoded.png"/>
            <p:cNvSpPr/>
            <p:nvPr/>
          </p:nvSpPr>
          <p:spPr>
            <a:xfrm>
              <a:off x="0" y="0"/>
              <a:ext cx="11144250" cy="2813177"/>
            </a:xfrm>
            <a:custGeom>
              <a:avLst/>
              <a:gdLst/>
              <a:ahLst/>
              <a:cxnLst/>
              <a:rect l="l" t="t" r="r" b="b"/>
              <a:pathLst>
                <a:path w="11144250" h="2813177">
                  <a:moveTo>
                    <a:pt x="0" y="0"/>
                  </a:moveTo>
                  <a:lnTo>
                    <a:pt x="11144250" y="0"/>
                  </a:lnTo>
                  <a:lnTo>
                    <a:pt x="11144250" y="2813177"/>
                  </a:lnTo>
                  <a:lnTo>
                    <a:pt x="0" y="2813177"/>
                  </a:lnTo>
                  <a:lnTo>
                    <a:pt x="0" y="0"/>
                  </a:lnTo>
                  <a:close/>
                </a:path>
              </a:pathLst>
            </a:custGeom>
            <a:blipFill>
              <a:blip r:embed="rId17"/>
              <a:stretch>
                <a:fillRect t="-449" b="-448"/>
              </a:stretch>
            </a:blipFill>
          </p:spPr>
        </p:sp>
      </p:grpSp>
      <p:grpSp>
        <p:nvGrpSpPr>
          <p:cNvPr id="35" name="Group 35"/>
          <p:cNvGrpSpPr/>
          <p:nvPr/>
        </p:nvGrpSpPr>
        <p:grpSpPr>
          <a:xfrm>
            <a:off x="9701212" y="8114852"/>
            <a:ext cx="321469" cy="262976"/>
            <a:chOff x="0" y="0"/>
            <a:chExt cx="428625" cy="350634"/>
          </a:xfrm>
        </p:grpSpPr>
        <p:sp>
          <p:nvSpPr>
            <p:cNvPr id="36" name="Freeform 36" descr="preencoded.png"/>
            <p:cNvSpPr/>
            <p:nvPr/>
          </p:nvSpPr>
          <p:spPr>
            <a:xfrm>
              <a:off x="0" y="0"/>
              <a:ext cx="428625" cy="350647"/>
            </a:xfrm>
            <a:custGeom>
              <a:avLst/>
              <a:gdLst/>
              <a:ahLst/>
              <a:cxnLst/>
              <a:rect l="l" t="t" r="r" b="b"/>
              <a:pathLst>
                <a:path w="428625" h="350647">
                  <a:moveTo>
                    <a:pt x="0" y="0"/>
                  </a:moveTo>
                  <a:lnTo>
                    <a:pt x="428625" y="0"/>
                  </a:lnTo>
                  <a:lnTo>
                    <a:pt x="428625" y="350647"/>
                  </a:lnTo>
                  <a:lnTo>
                    <a:pt x="0" y="350647"/>
                  </a:lnTo>
                  <a:lnTo>
                    <a:pt x="0" y="0"/>
                  </a:lnTo>
                  <a:close/>
                </a:path>
              </a:pathLst>
            </a:custGeom>
            <a:blipFill>
              <a:blip r:embed="rId18"/>
              <a:stretch>
                <a:fillRect t="-7" b="-7"/>
              </a:stretch>
            </a:blipFill>
          </p:spPr>
        </p:sp>
      </p:grpSp>
      <p:grpSp>
        <p:nvGrpSpPr>
          <p:cNvPr id="37" name="Group 37"/>
          <p:cNvGrpSpPr/>
          <p:nvPr/>
        </p:nvGrpSpPr>
        <p:grpSpPr>
          <a:xfrm>
            <a:off x="1000125" y="642938"/>
            <a:ext cx="16287750" cy="514350"/>
            <a:chOff x="0" y="0"/>
            <a:chExt cx="21717000" cy="685800"/>
          </a:xfrm>
        </p:grpSpPr>
        <p:sp>
          <p:nvSpPr>
            <p:cNvPr id="38" name="Freeform 38"/>
            <p:cNvSpPr/>
            <p:nvPr/>
          </p:nvSpPr>
          <p:spPr>
            <a:xfrm>
              <a:off x="0" y="0"/>
              <a:ext cx="21717000" cy="685800"/>
            </a:xfrm>
            <a:custGeom>
              <a:avLst/>
              <a:gdLst/>
              <a:ahLst/>
              <a:cxnLst/>
              <a:rect l="l" t="t" r="r" b="b"/>
              <a:pathLst>
                <a:path w="21717000" h="685800">
                  <a:moveTo>
                    <a:pt x="0" y="0"/>
                  </a:moveTo>
                  <a:lnTo>
                    <a:pt x="21717000" y="0"/>
                  </a:lnTo>
                  <a:lnTo>
                    <a:pt x="21717000" y="685800"/>
                  </a:lnTo>
                  <a:lnTo>
                    <a:pt x="0" y="685800"/>
                  </a:lnTo>
                  <a:close/>
                </a:path>
              </a:pathLst>
            </a:custGeom>
            <a:blipFill>
              <a:blip r:embed="rId19">
                <a:alphaModFix amt="0"/>
              </a:blip>
              <a:stretch>
                <a:fillRect t="-567026" b="-567026"/>
              </a:stretch>
            </a:blipFill>
          </p:spPr>
        </p:sp>
        <p:sp>
          <p:nvSpPr>
            <p:cNvPr id="39" name="TextBox 39"/>
            <p:cNvSpPr txBox="1"/>
            <p:nvPr/>
          </p:nvSpPr>
          <p:spPr>
            <a:xfrm>
              <a:off x="0" y="-133350"/>
              <a:ext cx="21717000" cy="819150"/>
            </a:xfrm>
            <a:prstGeom prst="rect">
              <a:avLst/>
            </a:prstGeom>
          </p:spPr>
          <p:txBody>
            <a:bodyPr lIns="0" tIns="0" rIns="0" bIns="0" rtlCol="0" anchor="ctr"/>
            <a:lstStyle/>
            <a:p>
              <a:pPr algn="l">
                <a:lnSpc>
                  <a:spcPts val="4050"/>
                </a:lnSpc>
              </a:pPr>
              <a:r>
                <a:rPr lang="en-US" sz="2700" b="1" spc="45">
                  <a:solidFill>
                    <a:srgbClr val="2C3E50"/>
                  </a:solidFill>
                  <a:latin typeface="Calibri (MS) Bold"/>
                  <a:ea typeface="Calibri (MS) Bold"/>
                  <a:cs typeface="Calibri (MS) Bold"/>
                  <a:sym typeface="Calibri (MS) Bold"/>
                </a:rPr>
                <a:t>KẾT LUẬN VÀ ĐỀ XUẤT PHÁT TRIỂN</a:t>
              </a:r>
            </a:p>
          </p:txBody>
        </p:sp>
      </p:grpSp>
      <p:grpSp>
        <p:nvGrpSpPr>
          <p:cNvPr id="40" name="Group 40"/>
          <p:cNvGrpSpPr/>
          <p:nvPr/>
        </p:nvGrpSpPr>
        <p:grpSpPr>
          <a:xfrm>
            <a:off x="1000125" y="1228725"/>
            <a:ext cx="17287875" cy="300038"/>
            <a:chOff x="0" y="0"/>
            <a:chExt cx="23050500" cy="400050"/>
          </a:xfrm>
        </p:grpSpPr>
        <p:sp>
          <p:nvSpPr>
            <p:cNvPr id="41" name="Freeform 41"/>
            <p:cNvSpPr/>
            <p:nvPr/>
          </p:nvSpPr>
          <p:spPr>
            <a:xfrm>
              <a:off x="0" y="0"/>
              <a:ext cx="23050500" cy="400050"/>
            </a:xfrm>
            <a:custGeom>
              <a:avLst/>
              <a:gdLst/>
              <a:ahLst/>
              <a:cxnLst/>
              <a:rect l="l" t="t" r="r" b="b"/>
              <a:pathLst>
                <a:path w="23050500" h="400050">
                  <a:moveTo>
                    <a:pt x="0" y="0"/>
                  </a:moveTo>
                  <a:lnTo>
                    <a:pt x="23050500" y="0"/>
                  </a:lnTo>
                  <a:lnTo>
                    <a:pt x="23050500" y="400050"/>
                  </a:lnTo>
                  <a:lnTo>
                    <a:pt x="0" y="400050"/>
                  </a:lnTo>
                  <a:close/>
                </a:path>
              </a:pathLst>
            </a:custGeom>
            <a:blipFill>
              <a:blip r:embed="rId19">
                <a:alphaModFix amt="0"/>
              </a:blip>
              <a:stretch>
                <a:fillRect t="-1072709" b="-1072709"/>
              </a:stretch>
            </a:blipFill>
          </p:spPr>
        </p:sp>
        <p:sp>
          <p:nvSpPr>
            <p:cNvPr id="42" name="TextBox 42"/>
            <p:cNvSpPr txBox="1"/>
            <p:nvPr/>
          </p:nvSpPr>
          <p:spPr>
            <a:xfrm>
              <a:off x="0" y="-66675"/>
              <a:ext cx="23050500" cy="466725"/>
            </a:xfrm>
            <a:prstGeom prst="rect">
              <a:avLst/>
            </a:prstGeom>
          </p:spPr>
          <p:txBody>
            <a:bodyPr lIns="0" tIns="0" rIns="0" bIns="0" rtlCol="0" anchor="ctr"/>
            <a:lstStyle/>
            <a:p>
              <a:pPr algn="l">
                <a:lnSpc>
                  <a:spcPts val="2362"/>
                </a:lnSpc>
              </a:pPr>
              <a:r>
                <a:rPr lang="en-US" sz="1575">
                  <a:solidFill>
                    <a:srgbClr val="007ACC"/>
                  </a:solidFill>
                  <a:latin typeface="Calibri (MS)"/>
                  <a:ea typeface="Calibri (MS)"/>
                  <a:cs typeface="Calibri (MS)"/>
                  <a:sym typeface="Calibri (MS)"/>
                </a:rPr>
                <a:t>Tổng kết kết quả thực hiện và định hướng nâng cấp hệ thống trong tương lai</a:t>
              </a:r>
            </a:p>
          </p:txBody>
        </p:sp>
      </p:grpSp>
      <p:grpSp>
        <p:nvGrpSpPr>
          <p:cNvPr id="43" name="Group 43"/>
          <p:cNvGrpSpPr/>
          <p:nvPr/>
        </p:nvGrpSpPr>
        <p:grpSpPr>
          <a:xfrm>
            <a:off x="1171575" y="2028825"/>
            <a:ext cx="4800600" cy="428625"/>
            <a:chOff x="0" y="0"/>
            <a:chExt cx="6400800" cy="571500"/>
          </a:xfrm>
        </p:grpSpPr>
        <p:sp>
          <p:nvSpPr>
            <p:cNvPr id="44" name="Freeform 44"/>
            <p:cNvSpPr/>
            <p:nvPr/>
          </p:nvSpPr>
          <p:spPr>
            <a:xfrm>
              <a:off x="0" y="0"/>
              <a:ext cx="6400800" cy="571500"/>
            </a:xfrm>
            <a:custGeom>
              <a:avLst/>
              <a:gdLst/>
              <a:ahLst/>
              <a:cxnLst/>
              <a:rect l="l" t="t" r="r" b="b"/>
              <a:pathLst>
                <a:path w="6400800" h="571500">
                  <a:moveTo>
                    <a:pt x="0" y="0"/>
                  </a:moveTo>
                  <a:lnTo>
                    <a:pt x="6400800" y="0"/>
                  </a:lnTo>
                  <a:lnTo>
                    <a:pt x="6400800" y="571500"/>
                  </a:lnTo>
                  <a:lnTo>
                    <a:pt x="0" y="571500"/>
                  </a:lnTo>
                  <a:close/>
                </a:path>
              </a:pathLst>
            </a:custGeom>
            <a:blipFill>
              <a:blip r:embed="rId19">
                <a:alphaModFix amt="0"/>
              </a:blip>
              <a:stretch>
                <a:fillRect t="-168232" b="-168232"/>
              </a:stretch>
            </a:blipFill>
          </p:spPr>
        </p:sp>
        <p:sp>
          <p:nvSpPr>
            <p:cNvPr id="45" name="TextBox 45"/>
            <p:cNvSpPr txBox="1"/>
            <p:nvPr/>
          </p:nvSpPr>
          <p:spPr>
            <a:xfrm>
              <a:off x="0" y="-114300"/>
              <a:ext cx="6400800" cy="685800"/>
            </a:xfrm>
            <a:prstGeom prst="rect">
              <a:avLst/>
            </a:prstGeom>
          </p:spPr>
          <p:txBody>
            <a:bodyPr lIns="0" tIns="0" rIns="0" bIns="0" rtlCol="0" anchor="ctr"/>
            <a:lstStyle/>
            <a:p>
              <a:pPr algn="l">
                <a:lnSpc>
                  <a:spcPts val="3375"/>
                </a:lnSpc>
              </a:pPr>
              <a:r>
                <a:rPr lang="en-US" sz="2250" b="1">
                  <a:solidFill>
                    <a:srgbClr val="2C3E50"/>
                  </a:solidFill>
                  <a:latin typeface="Calibri (MS) Bold"/>
                  <a:ea typeface="Calibri (MS) Bold"/>
                  <a:cs typeface="Calibri (MS) Bold"/>
                  <a:sym typeface="Calibri (MS) Bold"/>
                </a:rPr>
                <a:t>KẾT LUẬN CHUNG</a:t>
              </a:r>
            </a:p>
          </p:txBody>
        </p:sp>
      </p:grpSp>
      <p:grpSp>
        <p:nvGrpSpPr>
          <p:cNvPr id="46" name="Group 46"/>
          <p:cNvGrpSpPr/>
          <p:nvPr/>
        </p:nvGrpSpPr>
        <p:grpSpPr>
          <a:xfrm>
            <a:off x="1378744" y="3272952"/>
            <a:ext cx="4954905" cy="364331"/>
            <a:chOff x="0" y="0"/>
            <a:chExt cx="6606540" cy="485775"/>
          </a:xfrm>
        </p:grpSpPr>
        <p:sp>
          <p:nvSpPr>
            <p:cNvPr id="47" name="Freeform 47"/>
            <p:cNvSpPr/>
            <p:nvPr/>
          </p:nvSpPr>
          <p:spPr>
            <a:xfrm>
              <a:off x="0" y="0"/>
              <a:ext cx="6606540" cy="485776"/>
            </a:xfrm>
            <a:custGeom>
              <a:avLst/>
              <a:gdLst/>
              <a:ahLst/>
              <a:cxnLst/>
              <a:rect l="l" t="t" r="r" b="b"/>
              <a:pathLst>
                <a:path w="6606540" h="485776">
                  <a:moveTo>
                    <a:pt x="0" y="0"/>
                  </a:moveTo>
                  <a:lnTo>
                    <a:pt x="6606540" y="0"/>
                  </a:lnTo>
                  <a:lnTo>
                    <a:pt x="6606540" y="485776"/>
                  </a:lnTo>
                  <a:lnTo>
                    <a:pt x="0" y="485776"/>
                  </a:lnTo>
                  <a:close/>
                </a:path>
              </a:pathLst>
            </a:custGeom>
            <a:blipFill>
              <a:blip r:embed="rId19">
                <a:alphaModFix amt="0"/>
              </a:blip>
              <a:stretch>
                <a:fillRect t="-214996" b="-214995"/>
              </a:stretch>
            </a:blipFill>
          </p:spPr>
        </p:sp>
        <p:sp>
          <p:nvSpPr>
            <p:cNvPr id="48" name="TextBox 48"/>
            <p:cNvSpPr txBox="1"/>
            <p:nvPr/>
          </p:nvSpPr>
          <p:spPr>
            <a:xfrm>
              <a:off x="0" y="-95250"/>
              <a:ext cx="6606540" cy="581025"/>
            </a:xfrm>
            <a:prstGeom prst="rect">
              <a:avLst/>
            </a:prstGeom>
          </p:spPr>
          <p:txBody>
            <a:bodyPr lIns="0" tIns="0" rIns="0" bIns="0" rtlCol="0" anchor="ctr"/>
            <a:lstStyle/>
            <a:p>
              <a:pPr algn="l">
                <a:lnSpc>
                  <a:spcPts val="2869"/>
                </a:lnSpc>
              </a:pPr>
              <a:r>
                <a:rPr lang="en-US" sz="1912" b="1">
                  <a:solidFill>
                    <a:srgbClr val="2C3E50"/>
                  </a:solidFill>
                  <a:latin typeface="Calibri (MS) Bold"/>
                  <a:ea typeface="Calibri (MS) Bold"/>
                  <a:cs typeface="Calibri (MS) Bold"/>
                  <a:sym typeface="Calibri (MS) Bold"/>
                </a:rPr>
                <a:t>Thực thi Big Data</a:t>
              </a:r>
            </a:p>
          </p:txBody>
        </p:sp>
      </p:grpSp>
      <p:grpSp>
        <p:nvGrpSpPr>
          <p:cNvPr id="49" name="Group 49"/>
          <p:cNvGrpSpPr/>
          <p:nvPr/>
        </p:nvGrpSpPr>
        <p:grpSpPr>
          <a:xfrm>
            <a:off x="914400" y="3780158"/>
            <a:ext cx="7672388" cy="685800"/>
            <a:chOff x="0" y="0"/>
            <a:chExt cx="10229850" cy="914400"/>
          </a:xfrm>
        </p:grpSpPr>
        <p:sp>
          <p:nvSpPr>
            <p:cNvPr id="50" name="Freeform 50"/>
            <p:cNvSpPr/>
            <p:nvPr/>
          </p:nvSpPr>
          <p:spPr>
            <a:xfrm>
              <a:off x="0" y="0"/>
              <a:ext cx="10229850" cy="914400"/>
            </a:xfrm>
            <a:custGeom>
              <a:avLst/>
              <a:gdLst/>
              <a:ahLst/>
              <a:cxnLst/>
              <a:rect l="l" t="t" r="r" b="b"/>
              <a:pathLst>
                <a:path w="10229850" h="914400">
                  <a:moveTo>
                    <a:pt x="0" y="0"/>
                  </a:moveTo>
                  <a:lnTo>
                    <a:pt x="10229850" y="0"/>
                  </a:lnTo>
                  <a:lnTo>
                    <a:pt x="10229850" y="914400"/>
                  </a:lnTo>
                  <a:lnTo>
                    <a:pt x="0" y="914400"/>
                  </a:lnTo>
                  <a:close/>
                </a:path>
              </a:pathLst>
            </a:custGeom>
            <a:blipFill>
              <a:blip r:embed="rId19">
                <a:alphaModFix amt="0"/>
              </a:blip>
              <a:stretch>
                <a:fillRect t="-167988" b="-167988"/>
              </a:stretch>
            </a:blipFill>
          </p:spPr>
        </p:sp>
        <p:sp>
          <p:nvSpPr>
            <p:cNvPr id="51" name="TextBox 51"/>
            <p:cNvSpPr txBox="1"/>
            <p:nvPr/>
          </p:nvSpPr>
          <p:spPr>
            <a:xfrm>
              <a:off x="0" y="-104775"/>
              <a:ext cx="10229850"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Hệ thống </a:t>
              </a:r>
              <a:r>
                <a:rPr lang="en-US" sz="1687" b="1">
                  <a:solidFill>
                    <a:srgbClr val="007ACC"/>
                  </a:solidFill>
                  <a:latin typeface="Calibri (MS) Bold"/>
                  <a:ea typeface="Calibri (MS) Bold"/>
                  <a:cs typeface="Calibri (MS) Bold"/>
                  <a:sym typeface="Calibri (MS) Bold"/>
                </a:rPr>
                <a:t>Apache Hive</a:t>
              </a:r>
              <a:r>
                <a:rPr lang="en-US" sz="1687">
                  <a:solidFill>
                    <a:srgbClr val="4A5568"/>
                  </a:solidFill>
                  <a:latin typeface="Calibri (MS)"/>
                  <a:ea typeface="Calibri (MS)"/>
                  <a:cs typeface="Calibri (MS)"/>
                  <a:sym typeface="Calibri (MS)"/>
                </a:rPr>
                <a:t> đã thực thi thành công việc lưu trữ và truy vấn khối lượng lớn dữ liệu bán hàng trên nền tảng HDFS.</a:t>
              </a:r>
            </a:p>
          </p:txBody>
        </p:sp>
      </p:grpSp>
      <p:grpSp>
        <p:nvGrpSpPr>
          <p:cNvPr id="52" name="Group 52"/>
          <p:cNvGrpSpPr/>
          <p:nvPr/>
        </p:nvGrpSpPr>
        <p:grpSpPr>
          <a:xfrm>
            <a:off x="1378744" y="5668566"/>
            <a:ext cx="5829300" cy="364331"/>
            <a:chOff x="0" y="0"/>
            <a:chExt cx="7772400" cy="485775"/>
          </a:xfrm>
        </p:grpSpPr>
        <p:sp>
          <p:nvSpPr>
            <p:cNvPr id="53" name="Freeform 53"/>
            <p:cNvSpPr/>
            <p:nvPr/>
          </p:nvSpPr>
          <p:spPr>
            <a:xfrm>
              <a:off x="0" y="0"/>
              <a:ext cx="7772400" cy="485776"/>
            </a:xfrm>
            <a:custGeom>
              <a:avLst/>
              <a:gdLst/>
              <a:ahLst/>
              <a:cxnLst/>
              <a:rect l="l" t="t" r="r" b="b"/>
              <a:pathLst>
                <a:path w="7772400" h="485776">
                  <a:moveTo>
                    <a:pt x="0" y="0"/>
                  </a:moveTo>
                  <a:lnTo>
                    <a:pt x="7772400" y="0"/>
                  </a:lnTo>
                  <a:lnTo>
                    <a:pt x="7772400" y="485776"/>
                  </a:lnTo>
                  <a:lnTo>
                    <a:pt x="0" y="485776"/>
                  </a:lnTo>
                  <a:close/>
                </a:path>
              </a:pathLst>
            </a:custGeom>
            <a:blipFill>
              <a:blip r:embed="rId19">
                <a:alphaModFix amt="0"/>
              </a:blip>
              <a:stretch>
                <a:fillRect t="-261760" b="-261759"/>
              </a:stretch>
            </a:blipFill>
          </p:spPr>
        </p:sp>
        <p:sp>
          <p:nvSpPr>
            <p:cNvPr id="54" name="TextBox 54"/>
            <p:cNvSpPr txBox="1"/>
            <p:nvPr/>
          </p:nvSpPr>
          <p:spPr>
            <a:xfrm>
              <a:off x="0" y="-95250"/>
              <a:ext cx="7772400" cy="581025"/>
            </a:xfrm>
            <a:prstGeom prst="rect">
              <a:avLst/>
            </a:prstGeom>
          </p:spPr>
          <p:txBody>
            <a:bodyPr lIns="0" tIns="0" rIns="0" bIns="0" rtlCol="0" anchor="ctr"/>
            <a:lstStyle/>
            <a:p>
              <a:pPr algn="l">
                <a:lnSpc>
                  <a:spcPts val="2869"/>
                </a:lnSpc>
              </a:pPr>
              <a:r>
                <a:rPr lang="en-US" sz="1912" b="1">
                  <a:solidFill>
                    <a:srgbClr val="2C3E50"/>
                  </a:solidFill>
                  <a:latin typeface="Calibri (MS) Bold"/>
                  <a:ea typeface="Calibri (MS) Bold"/>
                  <a:cs typeface="Calibri (MS) Bold"/>
                  <a:sym typeface="Calibri (MS) Bold"/>
                </a:rPr>
                <a:t>Hỗ trợ ra quyết định</a:t>
              </a:r>
            </a:p>
          </p:txBody>
        </p:sp>
      </p:grpSp>
      <p:grpSp>
        <p:nvGrpSpPr>
          <p:cNvPr id="55" name="Group 55"/>
          <p:cNvGrpSpPr/>
          <p:nvPr/>
        </p:nvGrpSpPr>
        <p:grpSpPr>
          <a:xfrm>
            <a:off x="914400" y="6175772"/>
            <a:ext cx="7672388" cy="685800"/>
            <a:chOff x="0" y="0"/>
            <a:chExt cx="10229850" cy="914400"/>
          </a:xfrm>
        </p:grpSpPr>
        <p:sp>
          <p:nvSpPr>
            <p:cNvPr id="56" name="Freeform 56"/>
            <p:cNvSpPr/>
            <p:nvPr/>
          </p:nvSpPr>
          <p:spPr>
            <a:xfrm>
              <a:off x="0" y="0"/>
              <a:ext cx="10229850" cy="914400"/>
            </a:xfrm>
            <a:custGeom>
              <a:avLst/>
              <a:gdLst/>
              <a:ahLst/>
              <a:cxnLst/>
              <a:rect l="l" t="t" r="r" b="b"/>
              <a:pathLst>
                <a:path w="10229850" h="914400">
                  <a:moveTo>
                    <a:pt x="0" y="0"/>
                  </a:moveTo>
                  <a:lnTo>
                    <a:pt x="10229850" y="0"/>
                  </a:lnTo>
                  <a:lnTo>
                    <a:pt x="10229850" y="914400"/>
                  </a:lnTo>
                  <a:lnTo>
                    <a:pt x="0" y="914400"/>
                  </a:lnTo>
                  <a:close/>
                </a:path>
              </a:pathLst>
            </a:custGeom>
            <a:blipFill>
              <a:blip r:embed="rId19">
                <a:alphaModFix amt="0"/>
              </a:blip>
              <a:stretch>
                <a:fillRect t="-167988" b="-167988"/>
              </a:stretch>
            </a:blipFill>
          </p:spPr>
        </p:sp>
        <p:sp>
          <p:nvSpPr>
            <p:cNvPr id="57" name="TextBox 57"/>
            <p:cNvSpPr txBox="1"/>
            <p:nvPr/>
          </p:nvSpPr>
          <p:spPr>
            <a:xfrm>
              <a:off x="0" y="-104775"/>
              <a:ext cx="10229850"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Sự kết hợp giữa </a:t>
              </a:r>
              <a:r>
                <a:rPr lang="en-US" sz="1687" b="1">
                  <a:solidFill>
                    <a:srgbClr val="007ACC"/>
                  </a:solidFill>
                  <a:latin typeface="Calibri (MS) Bold"/>
                  <a:ea typeface="Calibri (MS) Bold"/>
                  <a:cs typeface="Calibri (MS) Bold"/>
                  <a:sym typeface="Calibri (MS) Bold"/>
                </a:rPr>
                <a:t>Python và HiveQL</a:t>
              </a:r>
              <a:r>
                <a:rPr lang="en-US" sz="1687">
                  <a:solidFill>
                    <a:srgbClr val="4A5568"/>
                  </a:solidFill>
                  <a:latin typeface="Calibri (MS)"/>
                  <a:ea typeface="Calibri (MS)"/>
                  <a:cs typeface="Calibri (MS)"/>
                  <a:sym typeface="Calibri (MS)"/>
                </a:rPr>
                <a:t> cung cấp nền tảng vững chắc cho việc phân tích chiến lược dựa trên dữ liệu thực tế.</a:t>
              </a:r>
            </a:p>
          </p:txBody>
        </p:sp>
      </p:grpSp>
      <p:grpSp>
        <p:nvGrpSpPr>
          <p:cNvPr id="58" name="Group 58"/>
          <p:cNvGrpSpPr/>
          <p:nvPr/>
        </p:nvGrpSpPr>
        <p:grpSpPr>
          <a:xfrm>
            <a:off x="1378744" y="8064179"/>
            <a:ext cx="4954905" cy="364331"/>
            <a:chOff x="0" y="0"/>
            <a:chExt cx="6606540" cy="485775"/>
          </a:xfrm>
        </p:grpSpPr>
        <p:sp>
          <p:nvSpPr>
            <p:cNvPr id="59" name="Freeform 59"/>
            <p:cNvSpPr/>
            <p:nvPr/>
          </p:nvSpPr>
          <p:spPr>
            <a:xfrm>
              <a:off x="0" y="0"/>
              <a:ext cx="6606540" cy="485776"/>
            </a:xfrm>
            <a:custGeom>
              <a:avLst/>
              <a:gdLst/>
              <a:ahLst/>
              <a:cxnLst/>
              <a:rect l="l" t="t" r="r" b="b"/>
              <a:pathLst>
                <a:path w="6606540" h="485776">
                  <a:moveTo>
                    <a:pt x="0" y="0"/>
                  </a:moveTo>
                  <a:lnTo>
                    <a:pt x="6606540" y="0"/>
                  </a:lnTo>
                  <a:lnTo>
                    <a:pt x="6606540" y="485776"/>
                  </a:lnTo>
                  <a:lnTo>
                    <a:pt x="0" y="485776"/>
                  </a:lnTo>
                  <a:close/>
                </a:path>
              </a:pathLst>
            </a:custGeom>
            <a:blipFill>
              <a:blip r:embed="rId19">
                <a:alphaModFix amt="0"/>
              </a:blip>
              <a:stretch>
                <a:fillRect t="-214996" b="-214995"/>
              </a:stretch>
            </a:blipFill>
          </p:spPr>
        </p:sp>
        <p:sp>
          <p:nvSpPr>
            <p:cNvPr id="60" name="TextBox 60"/>
            <p:cNvSpPr txBox="1"/>
            <p:nvPr/>
          </p:nvSpPr>
          <p:spPr>
            <a:xfrm>
              <a:off x="0" y="-95250"/>
              <a:ext cx="6606540" cy="581025"/>
            </a:xfrm>
            <a:prstGeom prst="rect">
              <a:avLst/>
            </a:prstGeom>
          </p:spPr>
          <p:txBody>
            <a:bodyPr lIns="0" tIns="0" rIns="0" bIns="0" rtlCol="0" anchor="ctr"/>
            <a:lstStyle/>
            <a:p>
              <a:pPr algn="l">
                <a:lnSpc>
                  <a:spcPts val="2869"/>
                </a:lnSpc>
              </a:pPr>
              <a:r>
                <a:rPr lang="en-US" sz="1912" b="1">
                  <a:solidFill>
                    <a:srgbClr val="2C3E50"/>
                  </a:solidFill>
                  <a:latin typeface="Calibri (MS) Bold"/>
                  <a:ea typeface="Calibri (MS) Bold"/>
                  <a:cs typeface="Calibri (MS) Bold"/>
                  <a:sym typeface="Calibri (MS) Bold"/>
                </a:rPr>
                <a:t>Kết quả phân tích</a:t>
              </a:r>
            </a:p>
          </p:txBody>
        </p:sp>
      </p:grpSp>
      <p:grpSp>
        <p:nvGrpSpPr>
          <p:cNvPr id="61" name="Group 61"/>
          <p:cNvGrpSpPr/>
          <p:nvPr/>
        </p:nvGrpSpPr>
        <p:grpSpPr>
          <a:xfrm>
            <a:off x="914400" y="8571386"/>
            <a:ext cx="7672388" cy="685800"/>
            <a:chOff x="0" y="0"/>
            <a:chExt cx="10229850" cy="914400"/>
          </a:xfrm>
        </p:grpSpPr>
        <p:sp>
          <p:nvSpPr>
            <p:cNvPr id="62" name="Freeform 62"/>
            <p:cNvSpPr/>
            <p:nvPr/>
          </p:nvSpPr>
          <p:spPr>
            <a:xfrm>
              <a:off x="0" y="0"/>
              <a:ext cx="10229850" cy="914400"/>
            </a:xfrm>
            <a:custGeom>
              <a:avLst/>
              <a:gdLst/>
              <a:ahLst/>
              <a:cxnLst/>
              <a:rect l="l" t="t" r="r" b="b"/>
              <a:pathLst>
                <a:path w="10229850" h="914400">
                  <a:moveTo>
                    <a:pt x="0" y="0"/>
                  </a:moveTo>
                  <a:lnTo>
                    <a:pt x="10229850" y="0"/>
                  </a:lnTo>
                  <a:lnTo>
                    <a:pt x="10229850" y="914400"/>
                  </a:lnTo>
                  <a:lnTo>
                    <a:pt x="0" y="914400"/>
                  </a:lnTo>
                  <a:close/>
                </a:path>
              </a:pathLst>
            </a:custGeom>
            <a:blipFill>
              <a:blip r:embed="rId19">
                <a:alphaModFix amt="0"/>
              </a:blip>
              <a:stretch>
                <a:fillRect t="-167988" b="-167988"/>
              </a:stretch>
            </a:blipFill>
          </p:spPr>
        </p:sp>
        <p:sp>
          <p:nvSpPr>
            <p:cNvPr id="63" name="TextBox 63"/>
            <p:cNvSpPr txBox="1"/>
            <p:nvPr/>
          </p:nvSpPr>
          <p:spPr>
            <a:xfrm>
              <a:off x="0" y="-104775"/>
              <a:ext cx="10229850"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Hoàn thành 10 kịch bản phân tích từ cơ bản đến nâng cao, mang lại cái nhìn toàn diện về hoạt động kinh doanh chuỗi siêu thị.</a:t>
              </a:r>
            </a:p>
          </p:txBody>
        </p:sp>
      </p:grpSp>
      <p:grpSp>
        <p:nvGrpSpPr>
          <p:cNvPr id="64" name="Group 64"/>
          <p:cNvGrpSpPr/>
          <p:nvPr/>
        </p:nvGrpSpPr>
        <p:grpSpPr>
          <a:xfrm>
            <a:off x="9958388" y="2028825"/>
            <a:ext cx="7200900" cy="428625"/>
            <a:chOff x="0" y="0"/>
            <a:chExt cx="9601200" cy="571500"/>
          </a:xfrm>
        </p:grpSpPr>
        <p:sp>
          <p:nvSpPr>
            <p:cNvPr id="65" name="Freeform 65"/>
            <p:cNvSpPr/>
            <p:nvPr/>
          </p:nvSpPr>
          <p:spPr>
            <a:xfrm>
              <a:off x="0" y="0"/>
              <a:ext cx="9601200" cy="571500"/>
            </a:xfrm>
            <a:custGeom>
              <a:avLst/>
              <a:gdLst/>
              <a:ahLst/>
              <a:cxnLst/>
              <a:rect l="l" t="t" r="r" b="b"/>
              <a:pathLst>
                <a:path w="9601200" h="571500">
                  <a:moveTo>
                    <a:pt x="0" y="0"/>
                  </a:moveTo>
                  <a:lnTo>
                    <a:pt x="9601200" y="0"/>
                  </a:lnTo>
                  <a:lnTo>
                    <a:pt x="9601200" y="571500"/>
                  </a:lnTo>
                  <a:lnTo>
                    <a:pt x="0" y="571500"/>
                  </a:lnTo>
                  <a:close/>
                </a:path>
              </a:pathLst>
            </a:custGeom>
            <a:blipFill>
              <a:blip r:embed="rId19">
                <a:alphaModFix amt="0"/>
              </a:blip>
              <a:stretch>
                <a:fillRect t="-277348" b="-277348"/>
              </a:stretch>
            </a:blipFill>
          </p:spPr>
        </p:sp>
        <p:sp>
          <p:nvSpPr>
            <p:cNvPr id="66" name="TextBox 66"/>
            <p:cNvSpPr txBox="1"/>
            <p:nvPr/>
          </p:nvSpPr>
          <p:spPr>
            <a:xfrm>
              <a:off x="0" y="-114300"/>
              <a:ext cx="9601200" cy="685800"/>
            </a:xfrm>
            <a:prstGeom prst="rect">
              <a:avLst/>
            </a:prstGeom>
          </p:spPr>
          <p:txBody>
            <a:bodyPr lIns="0" tIns="0" rIns="0" bIns="0" rtlCol="0" anchor="ctr"/>
            <a:lstStyle/>
            <a:p>
              <a:pPr algn="l">
                <a:lnSpc>
                  <a:spcPts val="3375"/>
                </a:lnSpc>
              </a:pPr>
              <a:r>
                <a:rPr lang="en-US" sz="2250" b="1">
                  <a:solidFill>
                    <a:srgbClr val="2C3E50"/>
                  </a:solidFill>
                  <a:latin typeface="Calibri (MS) Bold"/>
                  <a:ea typeface="Calibri (MS) Bold"/>
                  <a:cs typeface="Calibri (MS) Bold"/>
                  <a:sym typeface="Calibri (MS) Bold"/>
                </a:rPr>
                <a:t>ĐỊNH HƯỚNG PHÁT TRIỂN</a:t>
              </a:r>
            </a:p>
          </p:txBody>
        </p:sp>
      </p:grpSp>
      <p:grpSp>
        <p:nvGrpSpPr>
          <p:cNvPr id="67" name="Group 67"/>
          <p:cNvGrpSpPr/>
          <p:nvPr/>
        </p:nvGrpSpPr>
        <p:grpSpPr>
          <a:xfrm>
            <a:off x="10165556" y="3272952"/>
            <a:ext cx="4663440" cy="364331"/>
            <a:chOff x="0" y="0"/>
            <a:chExt cx="6217920" cy="485775"/>
          </a:xfrm>
        </p:grpSpPr>
        <p:sp>
          <p:nvSpPr>
            <p:cNvPr id="68" name="Freeform 68"/>
            <p:cNvSpPr/>
            <p:nvPr/>
          </p:nvSpPr>
          <p:spPr>
            <a:xfrm>
              <a:off x="0" y="0"/>
              <a:ext cx="6217920" cy="485776"/>
            </a:xfrm>
            <a:custGeom>
              <a:avLst/>
              <a:gdLst/>
              <a:ahLst/>
              <a:cxnLst/>
              <a:rect l="l" t="t" r="r" b="b"/>
              <a:pathLst>
                <a:path w="6217920" h="485776">
                  <a:moveTo>
                    <a:pt x="0" y="0"/>
                  </a:moveTo>
                  <a:lnTo>
                    <a:pt x="6217920" y="0"/>
                  </a:lnTo>
                  <a:lnTo>
                    <a:pt x="6217920" y="485776"/>
                  </a:lnTo>
                  <a:lnTo>
                    <a:pt x="0" y="485776"/>
                  </a:lnTo>
                  <a:close/>
                </a:path>
              </a:pathLst>
            </a:custGeom>
            <a:blipFill>
              <a:blip r:embed="rId19">
                <a:alphaModFix amt="0"/>
              </a:blip>
              <a:stretch>
                <a:fillRect t="-199408" b="-199407"/>
              </a:stretch>
            </a:blipFill>
          </p:spPr>
        </p:sp>
        <p:sp>
          <p:nvSpPr>
            <p:cNvPr id="69" name="TextBox 69"/>
            <p:cNvSpPr txBox="1"/>
            <p:nvPr/>
          </p:nvSpPr>
          <p:spPr>
            <a:xfrm>
              <a:off x="0" y="-95250"/>
              <a:ext cx="6217920" cy="581025"/>
            </a:xfrm>
            <a:prstGeom prst="rect">
              <a:avLst/>
            </a:prstGeom>
          </p:spPr>
          <p:txBody>
            <a:bodyPr lIns="0" tIns="0" rIns="0" bIns="0" rtlCol="0" anchor="ctr"/>
            <a:lstStyle/>
            <a:p>
              <a:pPr algn="l">
                <a:lnSpc>
                  <a:spcPts val="2869"/>
                </a:lnSpc>
              </a:pPr>
              <a:r>
                <a:rPr lang="en-US" sz="1912" b="1">
                  <a:solidFill>
                    <a:srgbClr val="2C3E50"/>
                  </a:solidFill>
                  <a:latin typeface="Calibri (MS) Bold"/>
                  <a:ea typeface="Calibri (MS) Bold"/>
                  <a:cs typeface="Calibri (MS) Bold"/>
                  <a:sym typeface="Calibri (MS) Bold"/>
                </a:rPr>
                <a:t>Tối ưu hiệu suất</a:t>
              </a:r>
            </a:p>
          </p:txBody>
        </p:sp>
      </p:grpSp>
      <p:grpSp>
        <p:nvGrpSpPr>
          <p:cNvPr id="70" name="Group 70"/>
          <p:cNvGrpSpPr/>
          <p:nvPr/>
        </p:nvGrpSpPr>
        <p:grpSpPr>
          <a:xfrm>
            <a:off x="9701212" y="3780158"/>
            <a:ext cx="7672388" cy="685800"/>
            <a:chOff x="0" y="0"/>
            <a:chExt cx="10229850" cy="914400"/>
          </a:xfrm>
        </p:grpSpPr>
        <p:sp>
          <p:nvSpPr>
            <p:cNvPr id="71" name="Freeform 71"/>
            <p:cNvSpPr/>
            <p:nvPr/>
          </p:nvSpPr>
          <p:spPr>
            <a:xfrm>
              <a:off x="0" y="0"/>
              <a:ext cx="10229850" cy="914400"/>
            </a:xfrm>
            <a:custGeom>
              <a:avLst/>
              <a:gdLst/>
              <a:ahLst/>
              <a:cxnLst/>
              <a:rect l="l" t="t" r="r" b="b"/>
              <a:pathLst>
                <a:path w="10229850" h="914400">
                  <a:moveTo>
                    <a:pt x="0" y="0"/>
                  </a:moveTo>
                  <a:lnTo>
                    <a:pt x="10229850" y="0"/>
                  </a:lnTo>
                  <a:lnTo>
                    <a:pt x="10229850" y="914400"/>
                  </a:lnTo>
                  <a:lnTo>
                    <a:pt x="0" y="914400"/>
                  </a:lnTo>
                  <a:close/>
                </a:path>
              </a:pathLst>
            </a:custGeom>
            <a:blipFill>
              <a:blip r:embed="rId19">
                <a:alphaModFix amt="0"/>
              </a:blip>
              <a:stretch>
                <a:fillRect t="-167988" b="-167988"/>
              </a:stretch>
            </a:blipFill>
          </p:spPr>
        </p:sp>
        <p:sp>
          <p:nvSpPr>
            <p:cNvPr id="72" name="TextBox 72"/>
            <p:cNvSpPr txBox="1"/>
            <p:nvPr/>
          </p:nvSpPr>
          <p:spPr>
            <a:xfrm>
              <a:off x="0" y="-104775"/>
              <a:ext cx="10229850"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Tích hợp </a:t>
              </a:r>
              <a:r>
                <a:rPr lang="en-US" sz="1687" b="1">
                  <a:solidFill>
                    <a:srgbClr val="E67E22"/>
                  </a:solidFill>
                  <a:latin typeface="Calibri (MS) Bold"/>
                  <a:ea typeface="Calibri (MS) Bold"/>
                  <a:cs typeface="Calibri (MS) Bold"/>
                  <a:sym typeface="Calibri (MS) Bold"/>
                </a:rPr>
                <a:t>Apache Spark SQL</a:t>
              </a:r>
              <a:r>
                <a:rPr lang="en-US" sz="1687">
                  <a:solidFill>
                    <a:srgbClr val="4A5568"/>
                  </a:solidFill>
                  <a:latin typeface="Calibri (MS)"/>
                  <a:ea typeface="Calibri (MS)"/>
                  <a:cs typeface="Calibri (MS)"/>
                  <a:sym typeface="Calibri (MS)"/>
                </a:rPr>
                <a:t> để tăng tốc độ xử lý dữ liệu theo thời gian thực (Real-time processing).</a:t>
              </a:r>
            </a:p>
          </p:txBody>
        </p:sp>
      </p:grpSp>
      <p:grpSp>
        <p:nvGrpSpPr>
          <p:cNvPr id="73" name="Group 73"/>
          <p:cNvGrpSpPr/>
          <p:nvPr/>
        </p:nvGrpSpPr>
        <p:grpSpPr>
          <a:xfrm>
            <a:off x="10165556" y="5668566"/>
            <a:ext cx="6120765" cy="364331"/>
            <a:chOff x="0" y="0"/>
            <a:chExt cx="8161020" cy="485775"/>
          </a:xfrm>
        </p:grpSpPr>
        <p:sp>
          <p:nvSpPr>
            <p:cNvPr id="74" name="Freeform 74"/>
            <p:cNvSpPr/>
            <p:nvPr/>
          </p:nvSpPr>
          <p:spPr>
            <a:xfrm>
              <a:off x="0" y="0"/>
              <a:ext cx="8161020" cy="485776"/>
            </a:xfrm>
            <a:custGeom>
              <a:avLst/>
              <a:gdLst/>
              <a:ahLst/>
              <a:cxnLst/>
              <a:rect l="l" t="t" r="r" b="b"/>
              <a:pathLst>
                <a:path w="8161020" h="485776">
                  <a:moveTo>
                    <a:pt x="0" y="0"/>
                  </a:moveTo>
                  <a:lnTo>
                    <a:pt x="8161020" y="0"/>
                  </a:lnTo>
                  <a:lnTo>
                    <a:pt x="8161020" y="485776"/>
                  </a:lnTo>
                  <a:lnTo>
                    <a:pt x="0" y="485776"/>
                  </a:lnTo>
                  <a:close/>
                </a:path>
              </a:pathLst>
            </a:custGeom>
            <a:blipFill>
              <a:blip r:embed="rId19">
                <a:alphaModFix amt="0"/>
              </a:blip>
              <a:stretch>
                <a:fillRect t="-277348" b="-277347"/>
              </a:stretch>
            </a:blipFill>
          </p:spPr>
        </p:sp>
        <p:sp>
          <p:nvSpPr>
            <p:cNvPr id="75" name="TextBox 75"/>
            <p:cNvSpPr txBox="1"/>
            <p:nvPr/>
          </p:nvSpPr>
          <p:spPr>
            <a:xfrm>
              <a:off x="0" y="-95250"/>
              <a:ext cx="8161020" cy="581025"/>
            </a:xfrm>
            <a:prstGeom prst="rect">
              <a:avLst/>
            </a:prstGeom>
          </p:spPr>
          <p:txBody>
            <a:bodyPr lIns="0" tIns="0" rIns="0" bIns="0" rtlCol="0" anchor="ctr"/>
            <a:lstStyle/>
            <a:p>
              <a:pPr algn="l">
                <a:lnSpc>
                  <a:spcPts val="2869"/>
                </a:lnSpc>
              </a:pPr>
              <a:r>
                <a:rPr lang="en-US" sz="1912" b="1">
                  <a:solidFill>
                    <a:srgbClr val="2C3E50"/>
                  </a:solidFill>
                  <a:latin typeface="Calibri (MS) Bold"/>
                  <a:ea typeface="Calibri (MS) Bold"/>
                  <a:cs typeface="Calibri (MS) Bold"/>
                  <a:sym typeface="Calibri (MS) Bold"/>
                </a:rPr>
                <a:t>Trực quan hóa dữ liệu</a:t>
              </a:r>
            </a:p>
          </p:txBody>
        </p:sp>
      </p:grpSp>
      <p:grpSp>
        <p:nvGrpSpPr>
          <p:cNvPr id="76" name="Group 76"/>
          <p:cNvGrpSpPr/>
          <p:nvPr/>
        </p:nvGrpSpPr>
        <p:grpSpPr>
          <a:xfrm>
            <a:off x="9701212" y="6175772"/>
            <a:ext cx="7672388" cy="685800"/>
            <a:chOff x="0" y="0"/>
            <a:chExt cx="10229850" cy="914400"/>
          </a:xfrm>
        </p:grpSpPr>
        <p:sp>
          <p:nvSpPr>
            <p:cNvPr id="77" name="Freeform 77"/>
            <p:cNvSpPr/>
            <p:nvPr/>
          </p:nvSpPr>
          <p:spPr>
            <a:xfrm>
              <a:off x="0" y="0"/>
              <a:ext cx="10229850" cy="914400"/>
            </a:xfrm>
            <a:custGeom>
              <a:avLst/>
              <a:gdLst/>
              <a:ahLst/>
              <a:cxnLst/>
              <a:rect l="l" t="t" r="r" b="b"/>
              <a:pathLst>
                <a:path w="10229850" h="914400">
                  <a:moveTo>
                    <a:pt x="0" y="0"/>
                  </a:moveTo>
                  <a:lnTo>
                    <a:pt x="10229850" y="0"/>
                  </a:lnTo>
                  <a:lnTo>
                    <a:pt x="10229850" y="914400"/>
                  </a:lnTo>
                  <a:lnTo>
                    <a:pt x="0" y="914400"/>
                  </a:lnTo>
                  <a:close/>
                </a:path>
              </a:pathLst>
            </a:custGeom>
            <a:blipFill>
              <a:blip r:embed="rId19">
                <a:alphaModFix amt="0"/>
              </a:blip>
              <a:stretch>
                <a:fillRect t="-167988" b="-167988"/>
              </a:stretch>
            </a:blipFill>
          </p:spPr>
        </p:sp>
        <p:sp>
          <p:nvSpPr>
            <p:cNvPr id="78" name="TextBox 78"/>
            <p:cNvSpPr txBox="1"/>
            <p:nvPr/>
          </p:nvSpPr>
          <p:spPr>
            <a:xfrm>
              <a:off x="0" y="-104775"/>
              <a:ext cx="10229850"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Kết nối với các công cụ BI như </a:t>
              </a:r>
              <a:r>
                <a:rPr lang="en-US" sz="1687" b="1">
                  <a:solidFill>
                    <a:srgbClr val="E67E22"/>
                  </a:solidFill>
                  <a:latin typeface="Calibri (MS) Bold"/>
                  <a:ea typeface="Calibri (MS) Bold"/>
                  <a:cs typeface="Calibri (MS) Bold"/>
                  <a:sym typeface="Calibri (MS) Bold"/>
                </a:rPr>
                <a:t>Tableau hoặc Power BI</a:t>
              </a:r>
              <a:r>
                <a:rPr lang="en-US" sz="1687">
                  <a:solidFill>
                    <a:srgbClr val="4A5568"/>
                  </a:solidFill>
                  <a:latin typeface="Calibri (MS)"/>
                  <a:ea typeface="Calibri (MS)"/>
                  <a:cs typeface="Calibri (MS)"/>
                  <a:sym typeface="Calibri (MS)"/>
                </a:rPr>
                <a:t> để tự động hóa các Dashboard báo cáo trực quan.</a:t>
              </a:r>
            </a:p>
          </p:txBody>
        </p:sp>
      </p:grpSp>
      <p:grpSp>
        <p:nvGrpSpPr>
          <p:cNvPr id="79" name="Group 79"/>
          <p:cNvGrpSpPr/>
          <p:nvPr/>
        </p:nvGrpSpPr>
        <p:grpSpPr>
          <a:xfrm>
            <a:off x="10165556" y="8064179"/>
            <a:ext cx="5537835" cy="364331"/>
            <a:chOff x="0" y="0"/>
            <a:chExt cx="7383780" cy="485775"/>
          </a:xfrm>
        </p:grpSpPr>
        <p:sp>
          <p:nvSpPr>
            <p:cNvPr id="80" name="Freeform 80"/>
            <p:cNvSpPr/>
            <p:nvPr/>
          </p:nvSpPr>
          <p:spPr>
            <a:xfrm>
              <a:off x="0" y="0"/>
              <a:ext cx="7383780" cy="485776"/>
            </a:xfrm>
            <a:custGeom>
              <a:avLst/>
              <a:gdLst/>
              <a:ahLst/>
              <a:cxnLst/>
              <a:rect l="l" t="t" r="r" b="b"/>
              <a:pathLst>
                <a:path w="7383780" h="485776">
                  <a:moveTo>
                    <a:pt x="0" y="0"/>
                  </a:moveTo>
                  <a:lnTo>
                    <a:pt x="7383780" y="0"/>
                  </a:lnTo>
                  <a:lnTo>
                    <a:pt x="7383780" y="485776"/>
                  </a:lnTo>
                  <a:lnTo>
                    <a:pt x="0" y="485776"/>
                  </a:lnTo>
                  <a:close/>
                </a:path>
              </a:pathLst>
            </a:custGeom>
            <a:blipFill>
              <a:blip r:embed="rId19">
                <a:alphaModFix amt="0"/>
              </a:blip>
              <a:stretch>
                <a:fillRect t="-246172" b="-246171"/>
              </a:stretch>
            </a:blipFill>
          </p:spPr>
        </p:sp>
        <p:sp>
          <p:nvSpPr>
            <p:cNvPr id="81" name="TextBox 81"/>
            <p:cNvSpPr txBox="1"/>
            <p:nvPr/>
          </p:nvSpPr>
          <p:spPr>
            <a:xfrm>
              <a:off x="0" y="-95250"/>
              <a:ext cx="7383780" cy="581025"/>
            </a:xfrm>
            <a:prstGeom prst="rect">
              <a:avLst/>
            </a:prstGeom>
          </p:spPr>
          <p:txBody>
            <a:bodyPr lIns="0" tIns="0" rIns="0" bIns="0" rtlCol="0" anchor="ctr"/>
            <a:lstStyle/>
            <a:p>
              <a:pPr algn="l">
                <a:lnSpc>
                  <a:spcPts val="2869"/>
                </a:lnSpc>
              </a:pPr>
              <a:r>
                <a:rPr lang="en-US" sz="1912" b="1">
                  <a:solidFill>
                    <a:srgbClr val="2C3E50"/>
                  </a:solidFill>
                  <a:latin typeface="Calibri (MS) Bold"/>
                  <a:ea typeface="Calibri (MS) Bold"/>
                  <a:cs typeface="Calibri (MS) Bold"/>
                  <a:sym typeface="Calibri (MS) Bold"/>
                </a:rPr>
                <a:t>Tự động hóa báo cáo</a:t>
              </a:r>
            </a:p>
          </p:txBody>
        </p:sp>
      </p:grpSp>
      <p:grpSp>
        <p:nvGrpSpPr>
          <p:cNvPr id="82" name="Group 82"/>
          <p:cNvGrpSpPr/>
          <p:nvPr/>
        </p:nvGrpSpPr>
        <p:grpSpPr>
          <a:xfrm>
            <a:off x="9701212" y="8571386"/>
            <a:ext cx="7672388" cy="685800"/>
            <a:chOff x="0" y="0"/>
            <a:chExt cx="10229850" cy="914400"/>
          </a:xfrm>
        </p:grpSpPr>
        <p:sp>
          <p:nvSpPr>
            <p:cNvPr id="83" name="Freeform 83"/>
            <p:cNvSpPr/>
            <p:nvPr/>
          </p:nvSpPr>
          <p:spPr>
            <a:xfrm>
              <a:off x="0" y="0"/>
              <a:ext cx="10229850" cy="914400"/>
            </a:xfrm>
            <a:custGeom>
              <a:avLst/>
              <a:gdLst/>
              <a:ahLst/>
              <a:cxnLst/>
              <a:rect l="l" t="t" r="r" b="b"/>
              <a:pathLst>
                <a:path w="10229850" h="914400">
                  <a:moveTo>
                    <a:pt x="0" y="0"/>
                  </a:moveTo>
                  <a:lnTo>
                    <a:pt x="10229850" y="0"/>
                  </a:lnTo>
                  <a:lnTo>
                    <a:pt x="10229850" y="914400"/>
                  </a:lnTo>
                  <a:lnTo>
                    <a:pt x="0" y="914400"/>
                  </a:lnTo>
                  <a:close/>
                </a:path>
              </a:pathLst>
            </a:custGeom>
            <a:blipFill>
              <a:blip r:embed="rId19">
                <a:alphaModFix amt="0"/>
              </a:blip>
              <a:stretch>
                <a:fillRect t="-167988" b="-167988"/>
              </a:stretch>
            </a:blipFill>
          </p:spPr>
        </p:sp>
        <p:sp>
          <p:nvSpPr>
            <p:cNvPr id="84" name="TextBox 84"/>
            <p:cNvSpPr txBox="1"/>
            <p:nvPr/>
          </p:nvSpPr>
          <p:spPr>
            <a:xfrm>
              <a:off x="0" y="-104775"/>
              <a:ext cx="10229850" cy="1019175"/>
            </a:xfrm>
            <a:prstGeom prst="rect">
              <a:avLst/>
            </a:prstGeom>
          </p:spPr>
          <p:txBody>
            <a:bodyPr lIns="0" tIns="0" rIns="0" bIns="0" rtlCol="0" anchor="ctr"/>
            <a:lstStyle/>
            <a:p>
              <a:pPr algn="l">
                <a:lnSpc>
                  <a:spcPts val="2700"/>
                </a:lnSpc>
              </a:pPr>
              <a:r>
                <a:rPr lang="en-US" sz="1687">
                  <a:solidFill>
                    <a:srgbClr val="4A5568"/>
                  </a:solidFill>
                  <a:latin typeface="Calibri (MS)"/>
                  <a:ea typeface="Calibri (MS)"/>
                  <a:cs typeface="Calibri (MS)"/>
                  <a:sym typeface="Calibri (MS)"/>
                </a:rPr>
                <a:t>Xây dựng quy trình ETL tự động từ khâu thu thập dữ liệu thô đến khâu xuất báo cáo định kỳ phục vụ ban quản trị.</a:t>
              </a:r>
            </a:p>
          </p:txBody>
        </p:sp>
      </p:gr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3493</Words>
  <Application>Microsoft Office PowerPoint</Application>
  <PresentationFormat>Custom</PresentationFormat>
  <Paragraphs>427</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Calibri (MS)</vt:lpstr>
      <vt:lpstr>Roboto Bold</vt:lpstr>
      <vt:lpstr>Calibri</vt:lpstr>
      <vt:lpstr>Roboto</vt:lpstr>
      <vt:lpstr>Arial</vt:lpstr>
      <vt:lpstr>Calibri (MS) Bold</vt:lpstr>
      <vt:lpstr>Calibri (MS)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Phân tích hoạt động kinh doanh chuỗi siêu thị điện máy trên nền tảng Big Data.pptx</dc:title>
  <cp:lastModifiedBy>HOÀNG XUÂN DUẨN</cp:lastModifiedBy>
  <cp:revision>2</cp:revision>
  <dcterms:created xsi:type="dcterms:W3CDTF">2006-08-16T00:00:00Z</dcterms:created>
  <dcterms:modified xsi:type="dcterms:W3CDTF">2026-05-16T00:40:12Z</dcterms:modified>
  <dc:identifier>DAHJyKlzjc4</dc:identifier>
</cp:coreProperties>
</file>